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3" r:id="rId4"/>
  </p:sldMasterIdLst>
  <p:notesMasterIdLst>
    <p:notesMasterId r:id="rId23"/>
  </p:notesMasterIdLst>
  <p:handoutMasterIdLst>
    <p:handoutMasterId r:id="rId24"/>
  </p:handoutMasterIdLst>
  <p:sldIdLst>
    <p:sldId id="2147483588" r:id="rId5"/>
    <p:sldId id="261" r:id="rId6"/>
    <p:sldId id="2147483594" r:id="rId7"/>
    <p:sldId id="2147483595" r:id="rId8"/>
    <p:sldId id="2147483596" r:id="rId9"/>
    <p:sldId id="258" r:id="rId10"/>
    <p:sldId id="2147483593" r:id="rId11"/>
    <p:sldId id="2147483592" r:id="rId12"/>
    <p:sldId id="267" r:id="rId13"/>
    <p:sldId id="268" r:id="rId14"/>
    <p:sldId id="265" r:id="rId15"/>
    <p:sldId id="266" r:id="rId16"/>
    <p:sldId id="262" r:id="rId17"/>
    <p:sldId id="257" r:id="rId18"/>
    <p:sldId id="259" r:id="rId19"/>
    <p:sldId id="260" r:id="rId20"/>
    <p:sldId id="2147483590" r:id="rId21"/>
    <p:sldId id="2147483589" r:id="rId22"/>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BE9EFC9-63B6-4798-95D7-52D9C8B766B9}">
          <p14:sldIdLst>
            <p14:sldId id="2147483588"/>
            <p14:sldId id="261"/>
            <p14:sldId id="2147483594"/>
            <p14:sldId id="2147483595"/>
            <p14:sldId id="2147483596"/>
          </p14:sldIdLst>
        </p14:section>
        <p14:section name="Idea Generation" id="{B96A5FE2-773A-4025-80DD-FF8D5BB9837E}">
          <p14:sldIdLst>
            <p14:sldId id="258"/>
            <p14:sldId id="2147483593"/>
          </p14:sldIdLst>
        </p14:section>
        <p14:section name="Fridays Showcase" id="{814F4134-E03E-4837-A19C-17D4049C92FD}">
          <p14:sldIdLst>
            <p14:sldId id="2147483592"/>
            <p14:sldId id="267"/>
            <p14:sldId id="268"/>
          </p14:sldIdLst>
        </p14:section>
        <p14:section name="Old Slides" id="{5269ED06-FDDD-49A1-B116-B292FED82577}">
          <p14:sldIdLst>
            <p14:sldId id="265"/>
            <p14:sldId id="266"/>
            <p14:sldId id="262"/>
            <p14:sldId id="257"/>
            <p14:sldId id="259"/>
            <p14:sldId id="260"/>
            <p14:sldId id="2147483590"/>
            <p14:sldId id="214748358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26F92F-9F0B-2E4D-8A50-51BC3BEDCD2B}" name="Landsberg, Bridgette" initials="LB" userId="S::bridgette.landsberg@capco.com::58f4da37-4ac2-47d5-8afa-7500231f36e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346"/>
    <a:srgbClr val="005F65"/>
    <a:srgbClr val="7F7F7F"/>
    <a:srgbClr val="47B6BC"/>
    <a:srgbClr val="477274"/>
    <a:srgbClr val="009AA2"/>
    <a:srgbClr val="478C90"/>
    <a:srgbClr val="003B3E"/>
    <a:srgbClr val="1C1C1B"/>
    <a:srgbClr val="2121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073D76-6A63-534B-8CF9-15FD9303D4A4}" v="49" dt="2026-03-13T20:57:57.217"/>
  </p1510:revLst>
</p1510:revInfo>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170" autoAdjust="0"/>
    <p:restoredTop sz="96695" autoAdjust="0"/>
  </p:normalViewPr>
  <p:slideViewPr>
    <p:cSldViewPr snapToGrid="0" snapToObjects="1">
      <p:cViewPr>
        <p:scale>
          <a:sx n="180" d="100"/>
          <a:sy n="180" d="100"/>
        </p:scale>
        <p:origin x="384" y="-112"/>
      </p:cViewPr>
      <p:guideLst/>
    </p:cSldViewPr>
  </p:slideViewPr>
  <p:outlineViewPr>
    <p:cViewPr>
      <p:scale>
        <a:sx n="33" d="100"/>
        <a:sy n="33" d="100"/>
      </p:scale>
      <p:origin x="0" y="-6342"/>
    </p:cViewPr>
  </p:outlineViewPr>
  <p:notesTextViewPr>
    <p:cViewPr>
      <p:scale>
        <a:sx n="150" d="100"/>
        <a:sy n="150" d="100"/>
      </p:scale>
      <p:origin x="0" y="0"/>
    </p:cViewPr>
  </p:notesTextViewPr>
  <p:notesViewPr>
    <p:cSldViewPr snapToGrid="0" snapToObjects="1">
      <p:cViewPr varScale="1">
        <p:scale>
          <a:sx n="96" d="100"/>
          <a:sy n="96" d="100"/>
        </p:scale>
        <p:origin x="2480"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 Hanni" userId="e0e25460-4aed-424c-b6a5-67d9ff1186bb" providerId="ADAL" clId="{4A6B8F0A-B8F4-5AB4-BAC0-269DEF45D672}"/>
    <pc:docChg chg="undo redo custSel addSld delSld modSld sldOrd modSection">
      <pc:chgData name="Sha, Hanni" userId="e0e25460-4aed-424c-b6a5-67d9ff1186bb" providerId="ADAL" clId="{4A6B8F0A-B8F4-5AB4-BAC0-269DEF45D672}" dt="2026-03-13T20:58:06.932" v="1984" actId="478"/>
      <pc:docMkLst>
        <pc:docMk/>
      </pc:docMkLst>
      <pc:sldChg chg="addSp delSp modSp mod ord">
        <pc:chgData name="Sha, Hanni" userId="e0e25460-4aed-424c-b6a5-67d9ff1186bb" providerId="ADAL" clId="{4A6B8F0A-B8F4-5AB4-BAC0-269DEF45D672}" dt="2026-03-13T18:29:55.926" v="1296" actId="1076"/>
        <pc:sldMkLst>
          <pc:docMk/>
          <pc:sldMk cId="3327679942" sldId="258"/>
        </pc:sldMkLst>
        <pc:spChg chg="mod">
          <ac:chgData name="Sha, Hanni" userId="e0e25460-4aed-424c-b6a5-67d9ff1186bb" providerId="ADAL" clId="{4A6B8F0A-B8F4-5AB4-BAC0-269DEF45D672}" dt="2026-03-13T18:06:26.239" v="1221" actId="313"/>
          <ac:spMkLst>
            <pc:docMk/>
            <pc:sldMk cId="3327679942" sldId="258"/>
            <ac:spMk id="2" creationId="{B4B583B5-4203-388B-8B40-ABF33BCB5C88}"/>
          </ac:spMkLst>
        </pc:spChg>
        <pc:spChg chg="mod">
          <ac:chgData name="Sha, Hanni" userId="e0e25460-4aed-424c-b6a5-67d9ff1186bb" providerId="ADAL" clId="{4A6B8F0A-B8F4-5AB4-BAC0-269DEF45D672}" dt="2026-03-13T18:29:55.926" v="1296" actId="1076"/>
          <ac:spMkLst>
            <pc:docMk/>
            <pc:sldMk cId="3327679942" sldId="258"/>
            <ac:spMk id="3" creationId="{3B4A2764-BF56-88FA-4AA9-960F495C02D0}"/>
          </ac:spMkLst>
        </pc:spChg>
        <pc:spChg chg="mod">
          <ac:chgData name="Sha, Hanni" userId="e0e25460-4aed-424c-b6a5-67d9ff1186bb" providerId="ADAL" clId="{4A6B8F0A-B8F4-5AB4-BAC0-269DEF45D672}" dt="2026-03-13T18:07:27.715" v="1260" actId="1076"/>
          <ac:spMkLst>
            <pc:docMk/>
            <pc:sldMk cId="3327679942" sldId="258"/>
            <ac:spMk id="4" creationId="{4EDCC731-C87D-14B8-47D8-36167D712673}"/>
          </ac:spMkLst>
        </pc:spChg>
        <pc:spChg chg="mod">
          <ac:chgData name="Sha, Hanni" userId="e0e25460-4aed-424c-b6a5-67d9ff1186bb" providerId="ADAL" clId="{4A6B8F0A-B8F4-5AB4-BAC0-269DEF45D672}" dt="2026-03-13T18:07:27.715" v="1260" actId="1076"/>
          <ac:spMkLst>
            <pc:docMk/>
            <pc:sldMk cId="3327679942" sldId="258"/>
            <ac:spMk id="7" creationId="{6BCA4737-43FA-1F0C-11B6-57B27F7BA253}"/>
          </ac:spMkLst>
        </pc:spChg>
        <pc:spChg chg="mod">
          <ac:chgData name="Sha, Hanni" userId="e0e25460-4aed-424c-b6a5-67d9ff1186bb" providerId="ADAL" clId="{4A6B8F0A-B8F4-5AB4-BAC0-269DEF45D672}" dt="2026-03-13T18:07:27.715" v="1260" actId="1076"/>
          <ac:spMkLst>
            <pc:docMk/>
            <pc:sldMk cId="3327679942" sldId="258"/>
            <ac:spMk id="8" creationId="{EAFC5BDB-77F2-6848-38B4-3DAB01ADC003}"/>
          </ac:spMkLst>
        </pc:spChg>
        <pc:spChg chg="mod">
          <ac:chgData name="Sha, Hanni" userId="e0e25460-4aed-424c-b6a5-67d9ff1186bb" providerId="ADAL" clId="{4A6B8F0A-B8F4-5AB4-BAC0-269DEF45D672}" dt="2026-03-13T18:07:27.715" v="1260" actId="1076"/>
          <ac:spMkLst>
            <pc:docMk/>
            <pc:sldMk cId="3327679942" sldId="258"/>
            <ac:spMk id="10" creationId="{2B722EEF-53E9-8690-BC0D-166B5561F48F}"/>
          </ac:spMkLst>
        </pc:spChg>
        <pc:spChg chg="mod">
          <ac:chgData name="Sha, Hanni" userId="e0e25460-4aed-424c-b6a5-67d9ff1186bb" providerId="ADAL" clId="{4A6B8F0A-B8F4-5AB4-BAC0-269DEF45D672}" dt="2026-03-13T18:07:27.715" v="1260" actId="1076"/>
          <ac:spMkLst>
            <pc:docMk/>
            <pc:sldMk cId="3327679942" sldId="258"/>
            <ac:spMk id="13" creationId="{182BF541-ED75-89F3-B46C-67DE09FEE7F5}"/>
          </ac:spMkLst>
        </pc:spChg>
        <pc:spChg chg="mod">
          <ac:chgData name="Sha, Hanni" userId="e0e25460-4aed-424c-b6a5-67d9ff1186bb" providerId="ADAL" clId="{4A6B8F0A-B8F4-5AB4-BAC0-269DEF45D672}" dt="2026-03-13T18:07:27.715" v="1260" actId="1076"/>
          <ac:spMkLst>
            <pc:docMk/>
            <pc:sldMk cId="3327679942" sldId="258"/>
            <ac:spMk id="19" creationId="{D686B337-7BBC-1D83-5EAA-78F751EC5F08}"/>
          </ac:spMkLst>
        </pc:spChg>
        <pc:spChg chg="mod">
          <ac:chgData name="Sha, Hanni" userId="e0e25460-4aed-424c-b6a5-67d9ff1186bb" providerId="ADAL" clId="{4A6B8F0A-B8F4-5AB4-BAC0-269DEF45D672}" dt="2026-03-13T18:07:27.715" v="1260" actId="1076"/>
          <ac:spMkLst>
            <pc:docMk/>
            <pc:sldMk cId="3327679942" sldId="258"/>
            <ac:spMk id="20" creationId="{CA2069F1-44D1-62F0-21F7-8A80775C3A52}"/>
          </ac:spMkLst>
        </pc:spChg>
        <pc:spChg chg="mod">
          <ac:chgData name="Sha, Hanni" userId="e0e25460-4aed-424c-b6a5-67d9ff1186bb" providerId="ADAL" clId="{4A6B8F0A-B8F4-5AB4-BAC0-269DEF45D672}" dt="2026-03-13T18:07:27.715" v="1260" actId="1076"/>
          <ac:spMkLst>
            <pc:docMk/>
            <pc:sldMk cId="3327679942" sldId="258"/>
            <ac:spMk id="21" creationId="{3709C1BD-C689-A242-A325-4268ECC4CD5A}"/>
          </ac:spMkLst>
        </pc:spChg>
        <pc:spChg chg="mod">
          <ac:chgData name="Sha, Hanni" userId="e0e25460-4aed-424c-b6a5-67d9ff1186bb" providerId="ADAL" clId="{4A6B8F0A-B8F4-5AB4-BAC0-269DEF45D672}" dt="2026-03-13T18:07:27.715" v="1260" actId="1076"/>
          <ac:spMkLst>
            <pc:docMk/>
            <pc:sldMk cId="3327679942" sldId="258"/>
            <ac:spMk id="23" creationId="{04D72B9D-75D5-8728-236C-B15C4C8092C8}"/>
          </ac:spMkLst>
        </pc:spChg>
        <pc:spChg chg="del">
          <ac:chgData name="Sha, Hanni" userId="e0e25460-4aed-424c-b6a5-67d9ff1186bb" providerId="ADAL" clId="{4A6B8F0A-B8F4-5AB4-BAC0-269DEF45D672}" dt="2026-03-13T18:06:51.524" v="1223" actId="21"/>
          <ac:spMkLst>
            <pc:docMk/>
            <pc:sldMk cId="3327679942" sldId="258"/>
            <ac:spMk id="25" creationId="{DF3935F2-9E38-A906-6286-DEFFD931F75C}"/>
          </ac:spMkLst>
        </pc:spChg>
        <pc:spChg chg="add del mod">
          <ac:chgData name="Sha, Hanni" userId="e0e25460-4aed-424c-b6a5-67d9ff1186bb" providerId="ADAL" clId="{4A6B8F0A-B8F4-5AB4-BAC0-269DEF45D672}" dt="2026-03-13T18:06:57.497" v="1225" actId="478"/>
          <ac:spMkLst>
            <pc:docMk/>
            <pc:sldMk cId="3327679942" sldId="258"/>
            <ac:spMk id="26" creationId="{33E21CB3-FAE1-5E2A-9CF8-2A794F343624}"/>
          </ac:spMkLst>
        </pc:spChg>
        <pc:spChg chg="mod">
          <ac:chgData name="Sha, Hanni" userId="e0e25460-4aed-424c-b6a5-67d9ff1186bb" providerId="ADAL" clId="{4A6B8F0A-B8F4-5AB4-BAC0-269DEF45D672}" dt="2026-03-13T18:07:27.715" v="1260" actId="1076"/>
          <ac:spMkLst>
            <pc:docMk/>
            <pc:sldMk cId="3327679942" sldId="258"/>
            <ac:spMk id="37" creationId="{ED943FCF-F3D3-5CD7-9EB1-DAD15842CAF0}"/>
          </ac:spMkLst>
        </pc:spChg>
      </pc:sldChg>
      <pc:sldChg chg="addSp delSp modSp mod ord">
        <pc:chgData name="Sha, Hanni" userId="e0e25460-4aed-424c-b6a5-67d9ff1186bb" providerId="ADAL" clId="{4A6B8F0A-B8F4-5AB4-BAC0-269DEF45D672}" dt="2026-03-13T20:58:06.932" v="1984" actId="478"/>
        <pc:sldMkLst>
          <pc:docMk/>
          <pc:sldMk cId="3717187334" sldId="261"/>
        </pc:sldMkLst>
        <pc:spChg chg="mod">
          <ac:chgData name="Sha, Hanni" userId="e0e25460-4aed-424c-b6a5-67d9ff1186bb" providerId="ADAL" clId="{4A6B8F0A-B8F4-5AB4-BAC0-269DEF45D672}" dt="2026-03-13T15:19:33.576" v="864" actId="948"/>
          <ac:spMkLst>
            <pc:docMk/>
            <pc:sldMk cId="3717187334" sldId="261"/>
            <ac:spMk id="2" creationId="{AE685424-4E64-634E-6603-34BC4BBC6184}"/>
          </ac:spMkLst>
        </pc:spChg>
        <pc:spChg chg="mod">
          <ac:chgData name="Sha, Hanni" userId="e0e25460-4aed-424c-b6a5-67d9ff1186bb" providerId="ADAL" clId="{4A6B8F0A-B8F4-5AB4-BAC0-269DEF45D672}" dt="2026-03-13T15:25:00.938" v="969" actId="20577"/>
          <ac:spMkLst>
            <pc:docMk/>
            <pc:sldMk cId="3717187334" sldId="261"/>
            <ac:spMk id="3" creationId="{B41D20AF-32EF-E6DB-A6C9-7DD7F6510351}"/>
          </ac:spMkLst>
        </pc:spChg>
        <pc:spChg chg="add del mod">
          <ac:chgData name="Sha, Hanni" userId="e0e25460-4aed-424c-b6a5-67d9ff1186bb" providerId="ADAL" clId="{4A6B8F0A-B8F4-5AB4-BAC0-269DEF45D672}" dt="2026-03-13T20:58:06.932" v="1984" actId="478"/>
          <ac:spMkLst>
            <pc:docMk/>
            <pc:sldMk cId="3717187334" sldId="261"/>
            <ac:spMk id="4" creationId="{54621866-0B31-2416-DF8E-8F525F99B293}"/>
          </ac:spMkLst>
        </pc:spChg>
        <pc:spChg chg="mod">
          <ac:chgData name="Sha, Hanni" userId="e0e25460-4aed-424c-b6a5-67d9ff1186bb" providerId="ADAL" clId="{4A6B8F0A-B8F4-5AB4-BAC0-269DEF45D672}" dt="2026-03-13T12:46:13.358" v="534" actId="1076"/>
          <ac:spMkLst>
            <pc:docMk/>
            <pc:sldMk cId="3717187334" sldId="261"/>
            <ac:spMk id="8" creationId="{6925FB4B-42EB-50F5-0A5B-33C1680BB3AF}"/>
          </ac:spMkLst>
        </pc:spChg>
        <pc:spChg chg="mod">
          <ac:chgData name="Sha, Hanni" userId="e0e25460-4aed-424c-b6a5-67d9ff1186bb" providerId="ADAL" clId="{4A6B8F0A-B8F4-5AB4-BAC0-269DEF45D672}" dt="2026-03-13T15:22:40.895" v="926" actId="20577"/>
          <ac:spMkLst>
            <pc:docMk/>
            <pc:sldMk cId="3717187334" sldId="261"/>
            <ac:spMk id="9" creationId="{30E5EB53-FE4F-5A87-1672-5107BFFDDB24}"/>
          </ac:spMkLst>
        </pc:spChg>
        <pc:spChg chg="mod">
          <ac:chgData name="Sha, Hanni" userId="e0e25460-4aed-424c-b6a5-67d9ff1186bb" providerId="ADAL" clId="{4A6B8F0A-B8F4-5AB4-BAC0-269DEF45D672}" dt="2026-03-13T12:46:07.747" v="533" actId="1076"/>
          <ac:spMkLst>
            <pc:docMk/>
            <pc:sldMk cId="3717187334" sldId="261"/>
            <ac:spMk id="12" creationId="{3B8D330B-DCC3-647C-3E53-2A0D059D3CD0}"/>
          </ac:spMkLst>
        </pc:spChg>
        <pc:spChg chg="mod">
          <ac:chgData name="Sha, Hanni" userId="e0e25460-4aed-424c-b6a5-67d9ff1186bb" providerId="ADAL" clId="{4A6B8F0A-B8F4-5AB4-BAC0-269DEF45D672}" dt="2026-03-13T12:46:07.747" v="533" actId="1076"/>
          <ac:spMkLst>
            <pc:docMk/>
            <pc:sldMk cId="3717187334" sldId="261"/>
            <ac:spMk id="17" creationId="{24B5B909-4817-4F2D-2119-39ECB49C64DD}"/>
          </ac:spMkLst>
        </pc:spChg>
        <pc:spChg chg="mod">
          <ac:chgData name="Sha, Hanni" userId="e0e25460-4aed-424c-b6a5-67d9ff1186bb" providerId="ADAL" clId="{4A6B8F0A-B8F4-5AB4-BAC0-269DEF45D672}" dt="2026-03-13T12:46:07.747" v="533" actId="1076"/>
          <ac:spMkLst>
            <pc:docMk/>
            <pc:sldMk cId="3717187334" sldId="261"/>
            <ac:spMk id="18" creationId="{314D12A5-5A43-ADEE-1B0E-C90F5156978E}"/>
          </ac:spMkLst>
        </pc:spChg>
        <pc:spChg chg="mod">
          <ac:chgData name="Sha, Hanni" userId="e0e25460-4aed-424c-b6a5-67d9ff1186bb" providerId="ADAL" clId="{4A6B8F0A-B8F4-5AB4-BAC0-269DEF45D672}" dt="2026-03-13T12:46:07.747" v="533" actId="1076"/>
          <ac:spMkLst>
            <pc:docMk/>
            <pc:sldMk cId="3717187334" sldId="261"/>
            <ac:spMk id="19" creationId="{9ABD7AA4-9C39-8E0A-DC52-884A5E61DF86}"/>
          </ac:spMkLst>
        </pc:spChg>
        <pc:spChg chg="mod">
          <ac:chgData name="Sha, Hanni" userId="e0e25460-4aed-424c-b6a5-67d9ff1186bb" providerId="ADAL" clId="{4A6B8F0A-B8F4-5AB4-BAC0-269DEF45D672}" dt="2026-03-13T12:46:07.747" v="533" actId="1076"/>
          <ac:spMkLst>
            <pc:docMk/>
            <pc:sldMk cId="3717187334" sldId="261"/>
            <ac:spMk id="23" creationId="{1FC8AB20-CC62-16DD-C43D-CFEC18F3CA55}"/>
          </ac:spMkLst>
        </pc:spChg>
        <pc:grpChg chg="mod">
          <ac:chgData name="Sha, Hanni" userId="e0e25460-4aed-424c-b6a5-67d9ff1186bb" providerId="ADAL" clId="{4A6B8F0A-B8F4-5AB4-BAC0-269DEF45D672}" dt="2026-03-13T15:26:10.724" v="1001" actId="14100"/>
          <ac:grpSpMkLst>
            <pc:docMk/>
            <pc:sldMk cId="3717187334" sldId="261"/>
            <ac:grpSpMk id="10" creationId="{7330A2A9-DD2F-AEDB-9576-BAA6E2F34B63}"/>
          </ac:grpSpMkLst>
        </pc:grpChg>
        <pc:graphicFrameChg chg="modGraphic">
          <ac:chgData name="Sha, Hanni" userId="e0e25460-4aed-424c-b6a5-67d9ff1186bb" providerId="ADAL" clId="{4A6B8F0A-B8F4-5AB4-BAC0-269DEF45D672}" dt="2026-03-13T15:29:39.085" v="1099" actId="113"/>
          <ac:graphicFrameMkLst>
            <pc:docMk/>
            <pc:sldMk cId="3717187334" sldId="261"/>
            <ac:graphicFrameMk id="13" creationId="{B87DE21F-9084-6802-F28D-9A47BC45CBAC}"/>
          </ac:graphicFrameMkLst>
        </pc:graphicFrameChg>
        <pc:picChg chg="mod">
          <ac:chgData name="Sha, Hanni" userId="e0e25460-4aed-424c-b6a5-67d9ff1186bb" providerId="ADAL" clId="{4A6B8F0A-B8F4-5AB4-BAC0-269DEF45D672}" dt="2026-03-13T12:46:07.747" v="533" actId="1076"/>
          <ac:picMkLst>
            <pc:docMk/>
            <pc:sldMk cId="3717187334" sldId="261"/>
            <ac:picMk id="14" creationId="{2656CCF8-D54E-46D7-BA32-F63EB04D69CC}"/>
          </ac:picMkLst>
        </pc:picChg>
        <pc:picChg chg="mod">
          <ac:chgData name="Sha, Hanni" userId="e0e25460-4aed-424c-b6a5-67d9ff1186bb" providerId="ADAL" clId="{4A6B8F0A-B8F4-5AB4-BAC0-269DEF45D672}" dt="2026-03-13T12:46:07.747" v="533" actId="1076"/>
          <ac:picMkLst>
            <pc:docMk/>
            <pc:sldMk cId="3717187334" sldId="261"/>
            <ac:picMk id="15" creationId="{A895555A-3CDF-0B08-5211-75AA31B17F66}"/>
          </ac:picMkLst>
        </pc:picChg>
        <pc:picChg chg="mod">
          <ac:chgData name="Sha, Hanni" userId="e0e25460-4aed-424c-b6a5-67d9ff1186bb" providerId="ADAL" clId="{4A6B8F0A-B8F4-5AB4-BAC0-269DEF45D672}" dt="2026-03-13T12:46:07.747" v="533" actId="1076"/>
          <ac:picMkLst>
            <pc:docMk/>
            <pc:sldMk cId="3717187334" sldId="261"/>
            <ac:picMk id="16" creationId="{0A64D0C9-946F-102C-768A-0EB701CD3223}"/>
          </ac:picMkLst>
        </pc:picChg>
      </pc:sldChg>
      <pc:sldChg chg="addSp delSp modSp del mod">
        <pc:chgData name="Sha, Hanni" userId="e0e25460-4aed-424c-b6a5-67d9ff1186bb" providerId="ADAL" clId="{4A6B8F0A-B8F4-5AB4-BAC0-269DEF45D672}" dt="2026-03-13T12:50:12.764" v="649" actId="2696"/>
        <pc:sldMkLst>
          <pc:docMk/>
          <pc:sldMk cId="3562710742" sldId="264"/>
        </pc:sldMkLst>
        <pc:spChg chg="mod">
          <ac:chgData name="Sha, Hanni" userId="e0e25460-4aed-424c-b6a5-67d9ff1186bb" providerId="ADAL" clId="{4A6B8F0A-B8F4-5AB4-BAC0-269DEF45D672}" dt="2026-03-12T14:14:16.310" v="445" actId="20577"/>
          <ac:spMkLst>
            <pc:docMk/>
            <pc:sldMk cId="3562710742" sldId="264"/>
            <ac:spMk id="2" creationId="{2E0FC749-AB43-0C75-73B1-1836F7BA1FD2}"/>
          </ac:spMkLst>
        </pc:spChg>
        <pc:spChg chg="mod">
          <ac:chgData name="Sha, Hanni" userId="e0e25460-4aed-424c-b6a5-67d9ff1186bb" providerId="ADAL" clId="{4A6B8F0A-B8F4-5AB4-BAC0-269DEF45D672}" dt="2026-03-12T14:22:05.930" v="450" actId="20577"/>
          <ac:spMkLst>
            <pc:docMk/>
            <pc:sldMk cId="3562710742" sldId="264"/>
            <ac:spMk id="4" creationId="{F5DE6043-5BCE-43B6-6CB1-81D2ADDACDEC}"/>
          </ac:spMkLst>
        </pc:spChg>
        <pc:spChg chg="add del mod">
          <ac:chgData name="Sha, Hanni" userId="e0e25460-4aed-424c-b6a5-67d9ff1186bb" providerId="ADAL" clId="{4A6B8F0A-B8F4-5AB4-BAC0-269DEF45D672}" dt="2026-03-13T12:46:21.551" v="535" actId="21"/>
          <ac:spMkLst>
            <pc:docMk/>
            <pc:sldMk cId="3562710742" sldId="264"/>
            <ac:spMk id="6" creationId="{2D8B63DC-99B8-1406-4AC9-47BACA8EAA7B}"/>
          </ac:spMkLst>
        </pc:spChg>
        <pc:spChg chg="add del">
          <ac:chgData name="Sha, Hanni" userId="e0e25460-4aed-424c-b6a5-67d9ff1186bb" providerId="ADAL" clId="{4A6B8F0A-B8F4-5AB4-BAC0-269DEF45D672}" dt="2026-03-13T12:46:21.551" v="535" actId="21"/>
          <ac:spMkLst>
            <pc:docMk/>
            <pc:sldMk cId="3562710742" sldId="264"/>
            <ac:spMk id="9" creationId="{CEA5D898-A13E-9C56-5A44-7D0FEC8FA68C}"/>
          </ac:spMkLst>
        </pc:spChg>
      </pc:sldChg>
      <pc:sldChg chg="add del">
        <pc:chgData name="Sha, Hanni" userId="e0e25460-4aed-424c-b6a5-67d9ff1186bb" providerId="ADAL" clId="{4A6B8F0A-B8F4-5AB4-BAC0-269DEF45D672}" dt="2026-03-13T20:58:00.014" v="1982" actId="2696"/>
        <pc:sldMkLst>
          <pc:docMk/>
          <pc:sldMk cId="4015601547" sldId="2147483587"/>
        </pc:sldMkLst>
      </pc:sldChg>
      <pc:sldChg chg="add">
        <pc:chgData name="Sha, Hanni" userId="e0e25460-4aed-424c-b6a5-67d9ff1186bb" providerId="ADAL" clId="{4A6B8F0A-B8F4-5AB4-BAC0-269DEF45D672}" dt="2026-03-13T20:57:57.215" v="1981"/>
        <pc:sldMkLst>
          <pc:docMk/>
          <pc:sldMk cId="2938372874" sldId="2147483588"/>
        </pc:sldMkLst>
      </pc:sldChg>
      <pc:sldChg chg="addSp modSp mod">
        <pc:chgData name="Sha, Hanni" userId="e0e25460-4aed-424c-b6a5-67d9ff1186bb" providerId="ADAL" clId="{4A6B8F0A-B8F4-5AB4-BAC0-269DEF45D672}" dt="2026-03-13T19:53:06.872" v="1944" actId="20577"/>
        <pc:sldMkLst>
          <pc:docMk/>
          <pc:sldMk cId="669473364" sldId="2147483592"/>
        </pc:sldMkLst>
        <pc:spChg chg="mod">
          <ac:chgData name="Sha, Hanni" userId="e0e25460-4aed-424c-b6a5-67d9ff1186bb" providerId="ADAL" clId="{4A6B8F0A-B8F4-5AB4-BAC0-269DEF45D672}" dt="2026-03-10T03:32:13.717" v="393" actId="20577"/>
          <ac:spMkLst>
            <pc:docMk/>
            <pc:sldMk cId="669473364" sldId="2147483592"/>
            <ac:spMk id="2" creationId="{E93FCF81-7C59-25F1-156A-339CA3EBF2B2}"/>
          </ac:spMkLst>
        </pc:spChg>
        <pc:spChg chg="add mod">
          <ac:chgData name="Sha, Hanni" userId="e0e25460-4aed-424c-b6a5-67d9ff1186bb" providerId="ADAL" clId="{4A6B8F0A-B8F4-5AB4-BAC0-269DEF45D672}" dt="2026-03-13T19:53:06.872" v="1944" actId="20577"/>
          <ac:spMkLst>
            <pc:docMk/>
            <pc:sldMk cId="669473364" sldId="2147483592"/>
            <ac:spMk id="4" creationId="{AC9BBEA4-F035-3109-FE86-7CB53AB7A97E}"/>
          </ac:spMkLst>
        </pc:spChg>
        <pc:spChg chg="mod">
          <ac:chgData name="Sha, Hanni" userId="e0e25460-4aed-424c-b6a5-67d9ff1186bb" providerId="ADAL" clId="{4A6B8F0A-B8F4-5AB4-BAC0-269DEF45D672}" dt="2026-03-09T14:54:03.968" v="3" actId="1076"/>
          <ac:spMkLst>
            <pc:docMk/>
            <pc:sldMk cId="669473364" sldId="2147483592"/>
            <ac:spMk id="21" creationId="{342D5A8E-BEA3-52D1-2E6D-E3C4BAF8CB8F}"/>
          </ac:spMkLst>
        </pc:spChg>
      </pc:sldChg>
      <pc:sldChg chg="addSp delSp modSp new mod ord">
        <pc:chgData name="Sha, Hanni" userId="e0e25460-4aed-424c-b6a5-67d9ff1186bb" providerId="ADAL" clId="{4A6B8F0A-B8F4-5AB4-BAC0-269DEF45D672}" dt="2026-03-13T18:35:03.076" v="1677" actId="20577"/>
        <pc:sldMkLst>
          <pc:docMk/>
          <pc:sldMk cId="2315985533" sldId="2147483593"/>
        </pc:sldMkLst>
        <pc:spChg chg="mod">
          <ac:chgData name="Sha, Hanni" userId="e0e25460-4aed-424c-b6a5-67d9ff1186bb" providerId="ADAL" clId="{4A6B8F0A-B8F4-5AB4-BAC0-269DEF45D672}" dt="2026-03-13T18:27:04.744" v="1293" actId="20577"/>
          <ac:spMkLst>
            <pc:docMk/>
            <pc:sldMk cId="2315985533" sldId="2147483593"/>
            <ac:spMk id="2" creationId="{9BC6DC3C-7661-9790-0738-A25C5BBDD3EE}"/>
          </ac:spMkLst>
        </pc:spChg>
        <pc:spChg chg="add mod">
          <ac:chgData name="Sha, Hanni" userId="e0e25460-4aed-424c-b6a5-67d9ff1186bb" providerId="ADAL" clId="{4A6B8F0A-B8F4-5AB4-BAC0-269DEF45D672}" dt="2026-03-13T18:30:30.845" v="1325" actId="20577"/>
          <ac:spMkLst>
            <pc:docMk/>
            <pc:sldMk cId="2315985533" sldId="2147483593"/>
            <ac:spMk id="4" creationId="{272FE07D-86E8-824E-FEA4-89266DC5074F}"/>
          </ac:spMkLst>
        </pc:spChg>
        <pc:spChg chg="add del mod">
          <ac:chgData name="Sha, Hanni" userId="e0e25460-4aed-424c-b6a5-67d9ff1186bb" providerId="ADAL" clId="{4A6B8F0A-B8F4-5AB4-BAC0-269DEF45D672}" dt="2026-03-13T18:30:48.776" v="1330"/>
          <ac:spMkLst>
            <pc:docMk/>
            <pc:sldMk cId="2315985533" sldId="2147483593"/>
            <ac:spMk id="5" creationId="{1B7EA265-B20C-1943-1A32-1DCCAB6AB739}"/>
          </ac:spMkLst>
        </pc:spChg>
        <pc:spChg chg="add del mod">
          <ac:chgData name="Sha, Hanni" userId="e0e25460-4aed-424c-b6a5-67d9ff1186bb" providerId="ADAL" clId="{4A6B8F0A-B8F4-5AB4-BAC0-269DEF45D672}" dt="2026-03-13T18:30:46.308" v="1328" actId="478"/>
          <ac:spMkLst>
            <pc:docMk/>
            <pc:sldMk cId="2315985533" sldId="2147483593"/>
            <ac:spMk id="6" creationId="{E8399337-E489-7F8A-4BFA-E138A1C76E99}"/>
          </ac:spMkLst>
        </pc:spChg>
        <pc:spChg chg="add mod">
          <ac:chgData name="Sha, Hanni" userId="e0e25460-4aed-424c-b6a5-67d9ff1186bb" providerId="ADAL" clId="{4A6B8F0A-B8F4-5AB4-BAC0-269DEF45D672}" dt="2026-03-13T18:35:03.076" v="1677" actId="20577"/>
          <ac:spMkLst>
            <pc:docMk/>
            <pc:sldMk cId="2315985533" sldId="2147483593"/>
            <ac:spMk id="7" creationId="{FDFE7756-761A-07BE-3F77-08F1D78066BC}"/>
          </ac:spMkLst>
        </pc:spChg>
        <pc:spChg chg="add mod">
          <ac:chgData name="Sha, Hanni" userId="e0e25460-4aed-424c-b6a5-67d9ff1186bb" providerId="ADAL" clId="{4A6B8F0A-B8F4-5AB4-BAC0-269DEF45D672}" dt="2026-03-13T18:34:44.336" v="1621" actId="1076"/>
          <ac:spMkLst>
            <pc:docMk/>
            <pc:sldMk cId="2315985533" sldId="2147483593"/>
            <ac:spMk id="8" creationId="{134789ED-CFE9-601D-AE04-0702CE7F402A}"/>
          </ac:spMkLst>
        </pc:spChg>
      </pc:sldChg>
      <pc:sldChg chg="addSp delSp modSp new add del mod ord">
        <pc:chgData name="Sha, Hanni" userId="e0e25460-4aed-424c-b6a5-67d9ff1186bb" providerId="ADAL" clId="{4A6B8F0A-B8F4-5AB4-BAC0-269DEF45D672}" dt="2026-03-13T20:09:21.558" v="1972" actId="20577"/>
        <pc:sldMkLst>
          <pc:docMk/>
          <pc:sldMk cId="4144281130" sldId="2147483594"/>
        </pc:sldMkLst>
        <pc:spChg chg="mod">
          <ac:chgData name="Sha, Hanni" userId="e0e25460-4aed-424c-b6a5-67d9ff1186bb" providerId="ADAL" clId="{4A6B8F0A-B8F4-5AB4-BAC0-269DEF45D672}" dt="2026-03-13T12:50:01.083" v="648" actId="1076"/>
          <ac:spMkLst>
            <pc:docMk/>
            <pc:sldMk cId="4144281130" sldId="2147483594"/>
            <ac:spMk id="2" creationId="{DE46AEF6-EE7F-DC8B-7A0F-D846ABE70FBC}"/>
          </ac:spMkLst>
        </pc:spChg>
        <pc:spChg chg="del mod">
          <ac:chgData name="Sha, Hanni" userId="e0e25460-4aed-424c-b6a5-67d9ff1186bb" providerId="ADAL" clId="{4A6B8F0A-B8F4-5AB4-BAC0-269DEF45D672}" dt="2026-03-13T12:47:17.292" v="548" actId="478"/>
          <ac:spMkLst>
            <pc:docMk/>
            <pc:sldMk cId="4144281130" sldId="2147483594"/>
            <ac:spMk id="3" creationId="{475BA0C3-5B08-CDC2-99DB-BB24AA07C641}"/>
          </ac:spMkLst>
        </pc:spChg>
        <pc:spChg chg="add mod">
          <ac:chgData name="Sha, Hanni" userId="e0e25460-4aed-424c-b6a5-67d9ff1186bb" providerId="ADAL" clId="{4A6B8F0A-B8F4-5AB4-BAC0-269DEF45D672}" dt="2026-03-13T12:53:12.656" v="758" actId="1076"/>
          <ac:spMkLst>
            <pc:docMk/>
            <pc:sldMk cId="4144281130" sldId="2147483594"/>
            <ac:spMk id="5" creationId="{F7FB5001-1BE1-740A-2182-3B9012DD2749}"/>
          </ac:spMkLst>
        </pc:spChg>
        <pc:spChg chg="add mod">
          <ac:chgData name="Sha, Hanni" userId="e0e25460-4aed-424c-b6a5-67d9ff1186bb" providerId="ADAL" clId="{4A6B8F0A-B8F4-5AB4-BAC0-269DEF45D672}" dt="2026-03-13T12:55:09.585" v="760" actId="20577"/>
          <ac:spMkLst>
            <pc:docMk/>
            <pc:sldMk cId="4144281130" sldId="2147483594"/>
            <ac:spMk id="7" creationId="{0799A046-8997-C28E-552F-7CE1647B1142}"/>
          </ac:spMkLst>
        </pc:spChg>
        <pc:spChg chg="add del mod">
          <ac:chgData name="Sha, Hanni" userId="e0e25460-4aed-424c-b6a5-67d9ff1186bb" providerId="ADAL" clId="{4A6B8F0A-B8F4-5AB4-BAC0-269DEF45D672}" dt="2026-03-13T12:47:18.460" v="549" actId="478"/>
          <ac:spMkLst>
            <pc:docMk/>
            <pc:sldMk cId="4144281130" sldId="2147483594"/>
            <ac:spMk id="9" creationId="{A3DAFCEE-3346-728A-F6A9-3A8641803DB8}"/>
          </ac:spMkLst>
        </pc:spChg>
        <pc:spChg chg="add mod">
          <ac:chgData name="Sha, Hanni" userId="e0e25460-4aed-424c-b6a5-67d9ff1186bb" providerId="ADAL" clId="{4A6B8F0A-B8F4-5AB4-BAC0-269DEF45D672}" dt="2026-03-13T19:45:32.547" v="1728" actId="20577"/>
          <ac:spMkLst>
            <pc:docMk/>
            <pc:sldMk cId="4144281130" sldId="2147483594"/>
            <ac:spMk id="10" creationId="{59DD54B1-2BD0-AB6A-C08E-D0CDBD4958B0}"/>
          </ac:spMkLst>
        </pc:spChg>
        <pc:graphicFrameChg chg="add mod modGraphic">
          <ac:chgData name="Sha, Hanni" userId="e0e25460-4aed-424c-b6a5-67d9ff1186bb" providerId="ADAL" clId="{4A6B8F0A-B8F4-5AB4-BAC0-269DEF45D672}" dt="2026-03-13T19:45:48.031" v="1738" actId="20577"/>
          <ac:graphicFrameMkLst>
            <pc:docMk/>
            <pc:sldMk cId="4144281130" sldId="2147483594"/>
            <ac:graphicFrameMk id="4" creationId="{BB28957D-EEFA-3B8D-EF81-FD66C4A31F6E}"/>
          </ac:graphicFrameMkLst>
        </pc:graphicFrameChg>
        <pc:graphicFrameChg chg="add mod modGraphic">
          <ac:chgData name="Sha, Hanni" userId="e0e25460-4aed-424c-b6a5-67d9ff1186bb" providerId="ADAL" clId="{4A6B8F0A-B8F4-5AB4-BAC0-269DEF45D672}" dt="2026-03-13T20:09:21.558" v="1972" actId="20577"/>
          <ac:graphicFrameMkLst>
            <pc:docMk/>
            <pc:sldMk cId="4144281130" sldId="2147483594"/>
            <ac:graphicFrameMk id="6" creationId="{366039D2-E9C3-D999-1689-D09D26D73145}"/>
          </ac:graphicFrameMkLst>
        </pc:graphicFrameChg>
      </pc:sldChg>
      <pc:sldChg chg="addSp modSp add mod ord">
        <pc:chgData name="Sha, Hanni" userId="e0e25460-4aed-424c-b6a5-67d9ff1186bb" providerId="ADAL" clId="{4A6B8F0A-B8F4-5AB4-BAC0-269DEF45D672}" dt="2026-03-13T19:45:59.271" v="1739"/>
        <pc:sldMkLst>
          <pc:docMk/>
          <pc:sldMk cId="2071409988" sldId="2147483595"/>
        </pc:sldMkLst>
        <pc:spChg chg="mod">
          <ac:chgData name="Sha, Hanni" userId="e0e25460-4aed-424c-b6a5-67d9ff1186bb" providerId="ADAL" clId="{4A6B8F0A-B8F4-5AB4-BAC0-269DEF45D672}" dt="2026-03-13T12:51:50.149" v="754" actId="1076"/>
          <ac:spMkLst>
            <pc:docMk/>
            <pc:sldMk cId="2071409988" sldId="2147483595"/>
            <ac:spMk id="2" creationId="{0888AD07-2F10-FE17-3E74-0C90D0DF4551}"/>
          </ac:spMkLst>
        </pc:spChg>
        <pc:spChg chg="mod">
          <ac:chgData name="Sha, Hanni" userId="e0e25460-4aed-424c-b6a5-67d9ff1186bb" providerId="ADAL" clId="{4A6B8F0A-B8F4-5AB4-BAC0-269DEF45D672}" dt="2026-03-13T12:52:52.220" v="756" actId="20577"/>
          <ac:spMkLst>
            <pc:docMk/>
            <pc:sldMk cId="2071409988" sldId="2147483595"/>
            <ac:spMk id="3" creationId="{F6439083-2DDC-F012-1B9D-95F11472379F}"/>
          </ac:spMkLst>
        </pc:spChg>
        <pc:spChg chg="add mod">
          <ac:chgData name="Sha, Hanni" userId="e0e25460-4aed-424c-b6a5-67d9ff1186bb" providerId="ADAL" clId="{4A6B8F0A-B8F4-5AB4-BAC0-269DEF45D672}" dt="2026-03-13T19:45:59.271" v="1739"/>
          <ac:spMkLst>
            <pc:docMk/>
            <pc:sldMk cId="2071409988" sldId="2147483595"/>
            <ac:spMk id="16" creationId="{0964CB55-4891-1020-A4C3-7BB9A5748E01}"/>
          </ac:spMkLst>
        </pc:spChg>
        <pc:spChg chg="mod">
          <ac:chgData name="Sha, Hanni" userId="e0e25460-4aed-424c-b6a5-67d9ff1186bb" providerId="ADAL" clId="{4A6B8F0A-B8F4-5AB4-BAC0-269DEF45D672}" dt="2026-03-13T12:38:49.819" v="478" actId="1076"/>
          <ac:spMkLst>
            <pc:docMk/>
            <pc:sldMk cId="2071409988" sldId="2147483595"/>
            <ac:spMk id="19" creationId="{DB27D92A-4AAD-BB3F-A6FB-9B630362CE65}"/>
          </ac:spMkLst>
        </pc:spChg>
      </pc:sldChg>
      <pc:sldChg chg="addSp delSp modSp add mod ord">
        <pc:chgData name="Sha, Hanni" userId="e0e25460-4aed-424c-b6a5-67d9ff1186bb" providerId="ADAL" clId="{4A6B8F0A-B8F4-5AB4-BAC0-269DEF45D672}" dt="2026-03-13T20:16:39.398" v="1980" actId="20577"/>
        <pc:sldMkLst>
          <pc:docMk/>
          <pc:sldMk cId="1956990757" sldId="2147483596"/>
        </pc:sldMkLst>
        <pc:spChg chg="mod">
          <ac:chgData name="Sha, Hanni" userId="e0e25460-4aed-424c-b6a5-67d9ff1186bb" providerId="ADAL" clId="{4A6B8F0A-B8F4-5AB4-BAC0-269DEF45D672}" dt="2026-03-13T19:46:24.872" v="1744" actId="1076"/>
          <ac:spMkLst>
            <pc:docMk/>
            <pc:sldMk cId="1956990757" sldId="2147483596"/>
            <ac:spMk id="2" creationId="{1B951BF6-E648-0772-D61B-F506B297972E}"/>
          </ac:spMkLst>
        </pc:spChg>
        <pc:spChg chg="del mod">
          <ac:chgData name="Sha, Hanni" userId="e0e25460-4aed-424c-b6a5-67d9ff1186bb" providerId="ADAL" clId="{4A6B8F0A-B8F4-5AB4-BAC0-269DEF45D672}" dt="2026-03-13T19:46:20.933" v="1742" actId="478"/>
          <ac:spMkLst>
            <pc:docMk/>
            <pc:sldMk cId="1956990757" sldId="2147483596"/>
            <ac:spMk id="3" creationId="{9A11423C-4388-E494-4F20-36063E5BE39E}"/>
          </ac:spMkLst>
        </pc:spChg>
        <pc:spChg chg="mod">
          <ac:chgData name="Sha, Hanni" userId="e0e25460-4aed-424c-b6a5-67d9ff1186bb" providerId="ADAL" clId="{4A6B8F0A-B8F4-5AB4-BAC0-269DEF45D672}" dt="2026-03-13T19:46:55.424" v="1757" actId="20577"/>
          <ac:spMkLst>
            <pc:docMk/>
            <pc:sldMk cId="1956990757" sldId="2147483596"/>
            <ac:spMk id="4" creationId="{9AC3EE09-D3A4-875C-366C-F83376312EE9}"/>
          </ac:spMkLst>
        </pc:spChg>
        <pc:spChg chg="mod">
          <ac:chgData name="Sha, Hanni" userId="e0e25460-4aed-424c-b6a5-67d9ff1186bb" providerId="ADAL" clId="{4A6B8F0A-B8F4-5AB4-BAC0-269DEF45D672}" dt="2026-03-13T19:46:32.381" v="1745" actId="1076"/>
          <ac:spMkLst>
            <pc:docMk/>
            <pc:sldMk cId="1956990757" sldId="2147483596"/>
            <ac:spMk id="6" creationId="{52839175-B120-1350-9AF5-A590D3D7F844}"/>
          </ac:spMkLst>
        </pc:spChg>
        <pc:spChg chg="mod">
          <ac:chgData name="Sha, Hanni" userId="e0e25460-4aed-424c-b6a5-67d9ff1186bb" providerId="ADAL" clId="{4A6B8F0A-B8F4-5AB4-BAC0-269DEF45D672}" dt="2026-03-13T19:51:47.898" v="1815" actId="20577"/>
          <ac:spMkLst>
            <pc:docMk/>
            <pc:sldMk cId="1956990757" sldId="2147483596"/>
            <ac:spMk id="8" creationId="{E02136D8-7CCC-3526-9D28-B4F84CA37DD1}"/>
          </ac:spMkLst>
        </pc:spChg>
        <pc:spChg chg="add del mod">
          <ac:chgData name="Sha, Hanni" userId="e0e25460-4aed-424c-b6a5-67d9ff1186bb" providerId="ADAL" clId="{4A6B8F0A-B8F4-5AB4-BAC0-269DEF45D672}" dt="2026-03-13T19:46:22.421" v="1743" actId="478"/>
          <ac:spMkLst>
            <pc:docMk/>
            <pc:sldMk cId="1956990757" sldId="2147483596"/>
            <ac:spMk id="9" creationId="{804E7DB7-37FC-C200-72B7-BEBEBB84CCAA}"/>
          </ac:spMkLst>
        </pc:spChg>
        <pc:spChg chg="mod">
          <ac:chgData name="Sha, Hanni" userId="e0e25460-4aed-424c-b6a5-67d9ff1186bb" providerId="ADAL" clId="{4A6B8F0A-B8F4-5AB4-BAC0-269DEF45D672}" dt="2026-03-13T19:46:32.381" v="1745" actId="1076"/>
          <ac:spMkLst>
            <pc:docMk/>
            <pc:sldMk cId="1956990757" sldId="2147483596"/>
            <ac:spMk id="11" creationId="{FCBC7B05-811A-9222-BD38-46FF2198745B}"/>
          </ac:spMkLst>
        </pc:spChg>
        <pc:spChg chg="mod">
          <ac:chgData name="Sha, Hanni" userId="e0e25460-4aed-424c-b6a5-67d9ff1186bb" providerId="ADAL" clId="{4A6B8F0A-B8F4-5AB4-BAC0-269DEF45D672}" dt="2026-03-13T20:16:39.398" v="1980" actId="20577"/>
          <ac:spMkLst>
            <pc:docMk/>
            <pc:sldMk cId="1956990757" sldId="2147483596"/>
            <ac:spMk id="12" creationId="{ED649245-8420-63D7-D18F-C88F0511BEEB}"/>
          </ac:spMkLst>
        </pc:spChg>
        <pc:spChg chg="mod">
          <ac:chgData name="Sha, Hanni" userId="e0e25460-4aed-424c-b6a5-67d9ff1186bb" providerId="ADAL" clId="{4A6B8F0A-B8F4-5AB4-BAC0-269DEF45D672}" dt="2026-03-13T19:51:33.589" v="1812" actId="20577"/>
          <ac:spMkLst>
            <pc:docMk/>
            <pc:sldMk cId="1956990757" sldId="2147483596"/>
            <ac:spMk id="24" creationId="{132BE187-88E5-FA93-D8CF-1610D9FB19E1}"/>
          </ac:spMkLst>
        </pc:spChg>
        <pc:spChg chg="mod">
          <ac:chgData name="Sha, Hanni" userId="e0e25460-4aed-424c-b6a5-67d9ff1186bb" providerId="ADAL" clId="{4A6B8F0A-B8F4-5AB4-BAC0-269DEF45D672}" dt="2026-03-13T19:46:32.381" v="1745" actId="1076"/>
          <ac:spMkLst>
            <pc:docMk/>
            <pc:sldMk cId="1956990757" sldId="2147483596"/>
            <ac:spMk id="27" creationId="{3896F0DF-50BB-C52B-0958-292DB91330A5}"/>
          </ac:spMkLst>
        </pc:spChg>
        <pc:cxnChg chg="mod">
          <ac:chgData name="Sha, Hanni" userId="e0e25460-4aed-424c-b6a5-67d9ff1186bb" providerId="ADAL" clId="{4A6B8F0A-B8F4-5AB4-BAC0-269DEF45D672}" dt="2026-03-13T19:46:32.381" v="1745" actId="1076"/>
          <ac:cxnSpMkLst>
            <pc:docMk/>
            <pc:sldMk cId="1956990757" sldId="2147483596"/>
            <ac:cxnSpMk id="14" creationId="{EC6F81F5-F147-BDD5-4CD2-60786C352A29}"/>
          </ac:cxnSpMkLst>
        </pc:cxnChg>
        <pc:cxnChg chg="mod">
          <ac:chgData name="Sha, Hanni" userId="e0e25460-4aed-424c-b6a5-67d9ff1186bb" providerId="ADAL" clId="{4A6B8F0A-B8F4-5AB4-BAC0-269DEF45D672}" dt="2026-03-13T19:46:32.381" v="1745" actId="1076"/>
          <ac:cxnSpMkLst>
            <pc:docMk/>
            <pc:sldMk cId="1956990757" sldId="2147483596"/>
            <ac:cxnSpMk id="33" creationId="{CE54F2CB-A743-E46B-6475-0A810B599B78}"/>
          </ac:cxnSpMkLst>
        </pc:cxnChg>
      </pc:sldChg>
    </pc:docChg>
  </pc:docChgLst>
  <pc:docChgLst>
    <pc:chgData name="Woods, Ryan" userId="b1514425-9b69-4374-b8af-4283cb07dbbc" providerId="ADAL" clId="{654AEECC-F757-45CF-8A9B-4D6F613CD1DA}"/>
    <pc:docChg chg="undo custSel addSld modSld sldOrd modSection">
      <pc:chgData name="Woods, Ryan" userId="b1514425-9b69-4374-b8af-4283cb07dbbc" providerId="ADAL" clId="{654AEECC-F757-45CF-8A9B-4D6F613CD1DA}" dt="2026-03-07T00:59:07.374" v="409" actId="1076"/>
      <pc:docMkLst>
        <pc:docMk/>
      </pc:docMkLst>
      <pc:sldChg chg="delSp modSp mod">
        <pc:chgData name="Woods, Ryan" userId="b1514425-9b69-4374-b8af-4283cb07dbbc" providerId="ADAL" clId="{654AEECC-F757-45CF-8A9B-4D6F613CD1DA}" dt="2026-03-07T00:11:51.135" v="158" actId="478"/>
        <pc:sldMkLst>
          <pc:docMk/>
          <pc:sldMk cId="3327679942" sldId="258"/>
        </pc:sldMkLst>
        <pc:spChg chg="mod">
          <ac:chgData name="Woods, Ryan" userId="b1514425-9b69-4374-b8af-4283cb07dbbc" providerId="ADAL" clId="{654AEECC-F757-45CF-8A9B-4D6F613CD1DA}" dt="2026-03-07T00:11:16.890" v="151" actId="1035"/>
          <ac:spMkLst>
            <pc:docMk/>
            <pc:sldMk cId="3327679942" sldId="258"/>
            <ac:spMk id="4" creationId="{4EDCC731-C87D-14B8-47D8-36167D712673}"/>
          </ac:spMkLst>
        </pc:spChg>
        <pc:spChg chg="mod">
          <ac:chgData name="Woods, Ryan" userId="b1514425-9b69-4374-b8af-4283cb07dbbc" providerId="ADAL" clId="{654AEECC-F757-45CF-8A9B-4D6F613CD1DA}" dt="2026-03-07T00:11:16.890" v="151" actId="1035"/>
          <ac:spMkLst>
            <pc:docMk/>
            <pc:sldMk cId="3327679942" sldId="258"/>
            <ac:spMk id="5" creationId="{C9784958-6906-96E6-E7A3-EC9DC3B342A5}"/>
          </ac:spMkLst>
        </pc:spChg>
        <pc:spChg chg="mod">
          <ac:chgData name="Woods, Ryan" userId="b1514425-9b69-4374-b8af-4283cb07dbbc" providerId="ADAL" clId="{654AEECC-F757-45CF-8A9B-4D6F613CD1DA}" dt="2026-03-07T00:11:16.890" v="151" actId="1035"/>
          <ac:spMkLst>
            <pc:docMk/>
            <pc:sldMk cId="3327679942" sldId="258"/>
            <ac:spMk id="6" creationId="{5686F00C-BC62-1AA8-9FE3-5E55476D6F75}"/>
          </ac:spMkLst>
        </pc:spChg>
        <pc:spChg chg="mod">
          <ac:chgData name="Woods, Ryan" userId="b1514425-9b69-4374-b8af-4283cb07dbbc" providerId="ADAL" clId="{654AEECC-F757-45CF-8A9B-4D6F613CD1DA}" dt="2026-03-07T00:11:16.890" v="151" actId="1035"/>
          <ac:spMkLst>
            <pc:docMk/>
            <pc:sldMk cId="3327679942" sldId="258"/>
            <ac:spMk id="7" creationId="{6BCA4737-43FA-1F0C-11B6-57B27F7BA253}"/>
          </ac:spMkLst>
        </pc:spChg>
        <pc:spChg chg="mod">
          <ac:chgData name="Woods, Ryan" userId="b1514425-9b69-4374-b8af-4283cb07dbbc" providerId="ADAL" clId="{654AEECC-F757-45CF-8A9B-4D6F613CD1DA}" dt="2026-03-07T00:11:16.890" v="151" actId="1035"/>
          <ac:spMkLst>
            <pc:docMk/>
            <pc:sldMk cId="3327679942" sldId="258"/>
            <ac:spMk id="9" creationId="{2FAEEE23-70FC-C009-D09C-3138044F571E}"/>
          </ac:spMkLst>
        </pc:spChg>
        <pc:spChg chg="mod">
          <ac:chgData name="Woods, Ryan" userId="b1514425-9b69-4374-b8af-4283cb07dbbc" providerId="ADAL" clId="{654AEECC-F757-45CF-8A9B-4D6F613CD1DA}" dt="2026-03-07T00:11:16.890" v="151" actId="1035"/>
          <ac:spMkLst>
            <pc:docMk/>
            <pc:sldMk cId="3327679942" sldId="258"/>
            <ac:spMk id="10" creationId="{2B722EEF-53E9-8690-BC0D-166B5561F48F}"/>
          </ac:spMkLst>
        </pc:spChg>
        <pc:spChg chg="mod">
          <ac:chgData name="Woods, Ryan" userId="b1514425-9b69-4374-b8af-4283cb07dbbc" providerId="ADAL" clId="{654AEECC-F757-45CF-8A9B-4D6F613CD1DA}" dt="2026-03-07T00:11:16.890" v="151" actId="1035"/>
          <ac:spMkLst>
            <pc:docMk/>
            <pc:sldMk cId="3327679942" sldId="258"/>
            <ac:spMk id="12" creationId="{C573990E-6348-AA6F-A01B-D25E9D2107C3}"/>
          </ac:spMkLst>
        </pc:spChg>
        <pc:spChg chg="mod">
          <ac:chgData name="Woods, Ryan" userId="b1514425-9b69-4374-b8af-4283cb07dbbc" providerId="ADAL" clId="{654AEECC-F757-45CF-8A9B-4D6F613CD1DA}" dt="2026-03-07T00:11:16.890" v="151" actId="1035"/>
          <ac:spMkLst>
            <pc:docMk/>
            <pc:sldMk cId="3327679942" sldId="258"/>
            <ac:spMk id="22" creationId="{5C399D47-A0D8-AE13-73B7-C1B4D3F18172}"/>
          </ac:spMkLst>
        </pc:spChg>
        <pc:spChg chg="mod">
          <ac:chgData name="Woods, Ryan" userId="b1514425-9b69-4374-b8af-4283cb07dbbc" providerId="ADAL" clId="{654AEECC-F757-45CF-8A9B-4D6F613CD1DA}" dt="2026-03-07T00:11:16.890" v="151" actId="1035"/>
          <ac:spMkLst>
            <pc:docMk/>
            <pc:sldMk cId="3327679942" sldId="258"/>
            <ac:spMk id="23" creationId="{04D72B9D-75D5-8728-236C-B15C4C8092C8}"/>
          </ac:spMkLst>
        </pc:spChg>
        <pc:spChg chg="mod">
          <ac:chgData name="Woods, Ryan" userId="b1514425-9b69-4374-b8af-4283cb07dbbc" providerId="ADAL" clId="{654AEECC-F757-45CF-8A9B-4D6F613CD1DA}" dt="2026-03-07T00:11:16.890" v="151" actId="1035"/>
          <ac:spMkLst>
            <pc:docMk/>
            <pc:sldMk cId="3327679942" sldId="258"/>
            <ac:spMk id="38" creationId="{5B6D82E5-D0A7-2A53-2638-8C08EFBC6C1A}"/>
          </ac:spMkLst>
        </pc:spChg>
      </pc:sldChg>
      <pc:sldChg chg="addSp delSp modSp mod">
        <pc:chgData name="Woods, Ryan" userId="b1514425-9b69-4374-b8af-4283cb07dbbc" providerId="ADAL" clId="{654AEECC-F757-45CF-8A9B-4D6F613CD1DA}" dt="2026-03-06T23:55:56.381" v="28" actId="478"/>
        <pc:sldMkLst>
          <pc:docMk/>
          <pc:sldMk cId="3717187334" sldId="261"/>
        </pc:sldMkLst>
        <pc:spChg chg="add mod">
          <ac:chgData name="Woods, Ryan" userId="b1514425-9b69-4374-b8af-4283cb07dbbc" providerId="ADAL" clId="{654AEECC-F757-45CF-8A9B-4D6F613CD1DA}" dt="2026-03-06T23:55:41.767" v="27" actId="1076"/>
          <ac:spMkLst>
            <pc:docMk/>
            <pc:sldMk cId="3717187334" sldId="261"/>
            <ac:spMk id="2" creationId="{AE685424-4E64-634E-6603-34BC4BBC6184}"/>
          </ac:spMkLst>
        </pc:spChg>
        <pc:spChg chg="mod">
          <ac:chgData name="Woods, Ryan" userId="b1514425-9b69-4374-b8af-4283cb07dbbc" providerId="ADAL" clId="{654AEECC-F757-45CF-8A9B-4D6F613CD1DA}" dt="2026-03-06T23:55:35.701" v="24" actId="14100"/>
          <ac:spMkLst>
            <pc:docMk/>
            <pc:sldMk cId="3717187334" sldId="261"/>
            <ac:spMk id="18" creationId="{314D12A5-5A43-ADEE-1B0E-C90F5156978E}"/>
          </ac:spMkLst>
        </pc:spChg>
        <pc:spChg chg="mod">
          <ac:chgData name="Woods, Ryan" userId="b1514425-9b69-4374-b8af-4283cb07dbbc" providerId="ADAL" clId="{654AEECC-F757-45CF-8A9B-4D6F613CD1DA}" dt="2026-03-06T23:55:36.289" v="25" actId="1035"/>
          <ac:spMkLst>
            <pc:docMk/>
            <pc:sldMk cId="3717187334" sldId="261"/>
            <ac:spMk id="23" creationId="{1FC8AB20-CC62-16DD-C43D-CFEC18F3CA55}"/>
          </ac:spMkLst>
        </pc:spChg>
      </pc:sldChg>
      <pc:sldChg chg="addSp delSp modSp mod">
        <pc:chgData name="Woods, Ryan" userId="b1514425-9b69-4374-b8af-4283cb07dbbc" providerId="ADAL" clId="{654AEECC-F757-45CF-8A9B-4D6F613CD1DA}" dt="2026-03-07T00:53:40.821" v="353"/>
        <pc:sldMkLst>
          <pc:docMk/>
          <pc:sldMk cId="645781322" sldId="267"/>
        </pc:sldMkLst>
        <pc:spChg chg="mod">
          <ac:chgData name="Woods, Ryan" userId="b1514425-9b69-4374-b8af-4283cb07dbbc" providerId="ADAL" clId="{654AEECC-F757-45CF-8A9B-4D6F613CD1DA}" dt="2026-03-07T00:53:40.821" v="353"/>
          <ac:spMkLst>
            <pc:docMk/>
            <pc:sldMk cId="645781322" sldId="267"/>
            <ac:spMk id="2" creationId="{EA05B275-3FDB-507F-6046-6F89F0BE9012}"/>
          </ac:spMkLst>
        </pc:spChg>
        <pc:spChg chg="mod">
          <ac:chgData name="Woods, Ryan" userId="b1514425-9b69-4374-b8af-4283cb07dbbc" providerId="ADAL" clId="{654AEECC-F757-45CF-8A9B-4D6F613CD1DA}" dt="2026-03-07T00:53:21.860" v="351"/>
          <ac:spMkLst>
            <pc:docMk/>
            <pc:sldMk cId="645781322" sldId="267"/>
            <ac:spMk id="3" creationId="{DA81836F-32DD-7A33-32E1-3557D7F4EEED}"/>
          </ac:spMkLst>
        </pc:spChg>
        <pc:spChg chg="add mod">
          <ac:chgData name="Woods, Ryan" userId="b1514425-9b69-4374-b8af-4283cb07dbbc" providerId="ADAL" clId="{654AEECC-F757-45CF-8A9B-4D6F613CD1DA}" dt="2026-03-07T00:52:44.980" v="345" actId="2711"/>
          <ac:spMkLst>
            <pc:docMk/>
            <pc:sldMk cId="645781322" sldId="267"/>
            <ac:spMk id="4" creationId="{1E138BB9-2CC7-7EE1-D11A-9CAD671B2D54}"/>
          </ac:spMkLst>
        </pc:spChg>
        <pc:spChg chg="mod">
          <ac:chgData name="Woods, Ryan" userId="b1514425-9b69-4374-b8af-4283cb07dbbc" providerId="ADAL" clId="{654AEECC-F757-45CF-8A9B-4D6F613CD1DA}" dt="2026-03-07T00:52:44.980" v="345" actId="2711"/>
          <ac:spMkLst>
            <pc:docMk/>
            <pc:sldMk cId="645781322" sldId="267"/>
            <ac:spMk id="5" creationId="{2F05B01E-5DEC-96B5-A9A2-5471B3428109}"/>
          </ac:spMkLst>
        </pc:spChg>
        <pc:spChg chg="add mod">
          <ac:chgData name="Woods, Ryan" userId="b1514425-9b69-4374-b8af-4283cb07dbbc" providerId="ADAL" clId="{654AEECC-F757-45CF-8A9B-4D6F613CD1DA}" dt="2026-03-07T00:52:56.378" v="347" actId="1076"/>
          <ac:spMkLst>
            <pc:docMk/>
            <pc:sldMk cId="645781322" sldId="267"/>
            <ac:spMk id="6" creationId="{60856D65-BEAF-4524-85EE-0E96757760BE}"/>
          </ac:spMkLst>
        </pc:spChg>
        <pc:spChg chg="mod">
          <ac:chgData name="Woods, Ryan" userId="b1514425-9b69-4374-b8af-4283cb07dbbc" providerId="ADAL" clId="{654AEECC-F757-45CF-8A9B-4D6F613CD1DA}" dt="2026-03-07T00:52:44.980" v="345" actId="2711"/>
          <ac:spMkLst>
            <pc:docMk/>
            <pc:sldMk cId="645781322" sldId="267"/>
            <ac:spMk id="9" creationId="{00C47460-221F-0D36-93A7-350FFF4C350D}"/>
          </ac:spMkLst>
        </pc:spChg>
        <pc:spChg chg="mod">
          <ac:chgData name="Woods, Ryan" userId="b1514425-9b69-4374-b8af-4283cb07dbbc" providerId="ADAL" clId="{654AEECC-F757-45CF-8A9B-4D6F613CD1DA}" dt="2026-03-07T00:52:44.980" v="345" actId="2711"/>
          <ac:spMkLst>
            <pc:docMk/>
            <pc:sldMk cId="645781322" sldId="267"/>
            <ac:spMk id="11" creationId="{CB26C521-338A-7D5B-84D3-ED183CB3559B}"/>
          </ac:spMkLst>
        </pc:spChg>
        <pc:spChg chg="mod">
          <ac:chgData name="Woods, Ryan" userId="b1514425-9b69-4374-b8af-4283cb07dbbc" providerId="ADAL" clId="{654AEECC-F757-45CF-8A9B-4D6F613CD1DA}" dt="2026-03-07T00:53:04.838" v="350" actId="1076"/>
          <ac:spMkLst>
            <pc:docMk/>
            <pc:sldMk cId="645781322" sldId="267"/>
            <ac:spMk id="16" creationId="{21FEDC4F-2C76-99DC-6B77-7054B9FE8336}"/>
          </ac:spMkLst>
        </pc:spChg>
        <pc:cxnChg chg="mod">
          <ac:chgData name="Woods, Ryan" userId="b1514425-9b69-4374-b8af-4283cb07dbbc" providerId="ADAL" clId="{654AEECC-F757-45CF-8A9B-4D6F613CD1DA}" dt="2026-03-07T00:52:44.980" v="345" actId="2711"/>
          <ac:cxnSpMkLst>
            <pc:docMk/>
            <pc:sldMk cId="645781322" sldId="267"/>
            <ac:cxnSpMk id="8" creationId="{A4B209FB-5CD7-ED42-4DB9-B19426BFFFD3}"/>
          </ac:cxnSpMkLst>
        </pc:cxnChg>
        <pc:cxnChg chg="mod">
          <ac:chgData name="Woods, Ryan" userId="b1514425-9b69-4374-b8af-4283cb07dbbc" providerId="ADAL" clId="{654AEECC-F757-45CF-8A9B-4D6F613CD1DA}" dt="2026-03-07T00:52:44.980" v="345" actId="2711"/>
          <ac:cxnSpMkLst>
            <pc:docMk/>
            <pc:sldMk cId="645781322" sldId="267"/>
            <ac:cxnSpMk id="13" creationId="{248B0148-D809-9804-8B95-55C2C6CE9FC1}"/>
          </ac:cxnSpMkLst>
        </pc:cxnChg>
      </pc:sldChg>
      <pc:sldChg chg="addSp delSp modSp mod">
        <pc:chgData name="Woods, Ryan" userId="b1514425-9b69-4374-b8af-4283cb07dbbc" providerId="ADAL" clId="{654AEECC-F757-45CF-8A9B-4D6F613CD1DA}" dt="2026-03-07T00:59:07.374" v="409" actId="1076"/>
        <pc:sldMkLst>
          <pc:docMk/>
          <pc:sldMk cId="3885231280" sldId="268"/>
        </pc:sldMkLst>
        <pc:spChg chg="mod">
          <ac:chgData name="Woods, Ryan" userId="b1514425-9b69-4374-b8af-4283cb07dbbc" providerId="ADAL" clId="{654AEECC-F757-45CF-8A9B-4D6F613CD1DA}" dt="2026-03-07T00:59:02.960" v="408" actId="2711"/>
          <ac:spMkLst>
            <pc:docMk/>
            <pc:sldMk cId="3885231280" sldId="268"/>
            <ac:spMk id="2" creationId="{6EAA3621-B51B-3F1C-0874-81F690F484CF}"/>
          </ac:spMkLst>
        </pc:spChg>
        <pc:spChg chg="mod">
          <ac:chgData name="Woods, Ryan" userId="b1514425-9b69-4374-b8af-4283cb07dbbc" providerId="ADAL" clId="{654AEECC-F757-45CF-8A9B-4D6F613CD1DA}" dt="2026-03-07T00:59:02.960" v="408" actId="2711"/>
          <ac:spMkLst>
            <pc:docMk/>
            <pc:sldMk cId="3885231280" sldId="268"/>
            <ac:spMk id="3" creationId="{3B7908A9-316D-04A8-E2C2-ED1AC05CAD7F}"/>
          </ac:spMkLst>
        </pc:spChg>
        <pc:spChg chg="mod">
          <ac:chgData name="Woods, Ryan" userId="b1514425-9b69-4374-b8af-4283cb07dbbc" providerId="ADAL" clId="{654AEECC-F757-45CF-8A9B-4D6F613CD1DA}" dt="2026-03-07T00:59:02.960" v="408" actId="2711"/>
          <ac:spMkLst>
            <pc:docMk/>
            <pc:sldMk cId="3885231280" sldId="268"/>
            <ac:spMk id="5" creationId="{C35EEFAA-F93B-1166-CE9B-077152DE62BA}"/>
          </ac:spMkLst>
        </pc:spChg>
        <pc:spChg chg="mod">
          <ac:chgData name="Woods, Ryan" userId="b1514425-9b69-4374-b8af-4283cb07dbbc" providerId="ADAL" clId="{654AEECC-F757-45CF-8A9B-4D6F613CD1DA}" dt="2026-03-07T00:59:02.960" v="408" actId="2711"/>
          <ac:spMkLst>
            <pc:docMk/>
            <pc:sldMk cId="3885231280" sldId="268"/>
            <ac:spMk id="9" creationId="{B648DBBF-20CA-09FD-589C-F24E4366531D}"/>
          </ac:spMkLst>
        </pc:spChg>
        <pc:spChg chg="add mod">
          <ac:chgData name="Woods, Ryan" userId="b1514425-9b69-4374-b8af-4283cb07dbbc" providerId="ADAL" clId="{654AEECC-F757-45CF-8A9B-4D6F613CD1DA}" dt="2026-03-07T00:59:02.960" v="408" actId="2711"/>
          <ac:spMkLst>
            <pc:docMk/>
            <pc:sldMk cId="3885231280" sldId="268"/>
            <ac:spMk id="10" creationId="{79B12E05-4965-5548-C1B6-EE9AB04A7BD0}"/>
          </ac:spMkLst>
        </pc:spChg>
        <pc:spChg chg="mod">
          <ac:chgData name="Woods, Ryan" userId="b1514425-9b69-4374-b8af-4283cb07dbbc" providerId="ADAL" clId="{654AEECC-F757-45CF-8A9B-4D6F613CD1DA}" dt="2026-03-07T00:59:02.960" v="408" actId="2711"/>
          <ac:spMkLst>
            <pc:docMk/>
            <pc:sldMk cId="3885231280" sldId="268"/>
            <ac:spMk id="11" creationId="{E604FC04-A294-8D58-D0CC-9F993C4C7291}"/>
          </ac:spMkLst>
        </pc:spChg>
        <pc:spChg chg="add mod">
          <ac:chgData name="Woods, Ryan" userId="b1514425-9b69-4374-b8af-4283cb07dbbc" providerId="ADAL" clId="{654AEECC-F757-45CF-8A9B-4D6F613CD1DA}" dt="2026-03-07T00:59:07.374" v="409" actId="1076"/>
          <ac:spMkLst>
            <pc:docMk/>
            <pc:sldMk cId="3885231280" sldId="268"/>
            <ac:spMk id="12" creationId="{D98962D6-C9D0-5089-5C51-FCAC37826D8E}"/>
          </ac:spMkLst>
        </pc:spChg>
        <pc:spChg chg="mod">
          <ac:chgData name="Woods, Ryan" userId="b1514425-9b69-4374-b8af-4283cb07dbbc" providerId="ADAL" clId="{654AEECC-F757-45CF-8A9B-4D6F613CD1DA}" dt="2026-03-07T00:59:02.960" v="408" actId="2711"/>
          <ac:spMkLst>
            <pc:docMk/>
            <pc:sldMk cId="3885231280" sldId="268"/>
            <ac:spMk id="16" creationId="{49F0F04B-C920-473B-F5D8-20C3C4131D0A}"/>
          </ac:spMkLst>
        </pc:spChg>
        <pc:cxnChg chg="mod">
          <ac:chgData name="Woods, Ryan" userId="b1514425-9b69-4374-b8af-4283cb07dbbc" providerId="ADAL" clId="{654AEECC-F757-45CF-8A9B-4D6F613CD1DA}" dt="2026-03-07T00:59:02.960" v="408" actId="2711"/>
          <ac:cxnSpMkLst>
            <pc:docMk/>
            <pc:sldMk cId="3885231280" sldId="268"/>
            <ac:cxnSpMk id="8" creationId="{1B23A584-28F4-07A8-9527-70930450164A}"/>
          </ac:cxnSpMkLst>
        </pc:cxnChg>
        <pc:cxnChg chg="mod">
          <ac:chgData name="Woods, Ryan" userId="b1514425-9b69-4374-b8af-4283cb07dbbc" providerId="ADAL" clId="{654AEECC-F757-45CF-8A9B-4D6F613CD1DA}" dt="2026-03-07T00:59:02.960" v="408" actId="2711"/>
          <ac:cxnSpMkLst>
            <pc:docMk/>
            <pc:sldMk cId="3885231280" sldId="268"/>
            <ac:cxnSpMk id="13" creationId="{8AC0AAFF-1900-7762-B9BD-DFFA4ACEDDAB}"/>
          </ac:cxnSpMkLst>
        </pc:cxnChg>
      </pc:sldChg>
      <pc:sldChg chg="modSp mod ord">
        <pc:chgData name="Woods, Ryan" userId="b1514425-9b69-4374-b8af-4283cb07dbbc" providerId="ADAL" clId="{654AEECC-F757-45CF-8A9B-4D6F613CD1DA}" dt="2026-03-07T00:36:53.845" v="308"/>
        <pc:sldMkLst>
          <pc:docMk/>
          <pc:sldMk cId="735244205" sldId="2147483589"/>
        </pc:sldMkLst>
        <pc:spChg chg="mod">
          <ac:chgData name="Woods, Ryan" userId="b1514425-9b69-4374-b8af-4283cb07dbbc" providerId="ADAL" clId="{654AEECC-F757-45CF-8A9B-4D6F613CD1DA}" dt="2026-03-07T00:14:11.120" v="185" actId="1076"/>
          <ac:spMkLst>
            <pc:docMk/>
            <pc:sldMk cId="735244205" sldId="2147483589"/>
            <ac:spMk id="4" creationId="{2E0879D7-0D36-AB9E-862F-16D7E6134730}"/>
          </ac:spMkLst>
        </pc:spChg>
      </pc:sldChg>
      <pc:sldChg chg="addSp delSp modSp add mod ord">
        <pc:chgData name="Woods, Ryan" userId="b1514425-9b69-4374-b8af-4283cb07dbbc" providerId="ADAL" clId="{654AEECC-F757-45CF-8A9B-4D6F613CD1DA}" dt="2026-03-07T00:36:59.091" v="309" actId="478"/>
        <pc:sldMkLst>
          <pc:docMk/>
          <pc:sldMk cId="669473364" sldId="2147483592"/>
        </pc:sldMkLst>
        <pc:spChg chg="add mod">
          <ac:chgData name="Woods, Ryan" userId="b1514425-9b69-4374-b8af-4283cb07dbbc" providerId="ADAL" clId="{654AEECC-F757-45CF-8A9B-4D6F613CD1DA}" dt="2026-03-07T00:34:00.200" v="274" actId="14100"/>
          <ac:spMkLst>
            <pc:docMk/>
            <pc:sldMk cId="669473364" sldId="2147483592"/>
            <ac:spMk id="6" creationId="{33707628-8D81-8B78-26A5-92460A93B5AB}"/>
          </ac:spMkLst>
        </pc:spChg>
        <pc:spChg chg="add mod">
          <ac:chgData name="Woods, Ryan" userId="b1514425-9b69-4374-b8af-4283cb07dbbc" providerId="ADAL" clId="{654AEECC-F757-45CF-8A9B-4D6F613CD1DA}" dt="2026-03-07T00:36:33.880" v="303" actId="14100"/>
          <ac:spMkLst>
            <pc:docMk/>
            <pc:sldMk cId="669473364" sldId="2147483592"/>
            <ac:spMk id="8" creationId="{DE7CBD54-4585-800A-9E53-FBB3B282E1B4}"/>
          </ac:spMkLst>
        </pc:spChg>
        <pc:spChg chg="mod">
          <ac:chgData name="Woods, Ryan" userId="b1514425-9b69-4374-b8af-4283cb07dbbc" providerId="ADAL" clId="{654AEECC-F757-45CF-8A9B-4D6F613CD1DA}" dt="2026-03-07T00:35:05.620" v="284" actId="1076"/>
          <ac:spMkLst>
            <pc:docMk/>
            <pc:sldMk cId="669473364" sldId="2147483592"/>
            <ac:spMk id="10" creationId="{BB658508-F4BE-D7D6-67FC-D36FB2A8FE8E}"/>
          </ac:spMkLst>
        </pc:spChg>
        <pc:spChg chg="mod">
          <ac:chgData name="Woods, Ryan" userId="b1514425-9b69-4374-b8af-4283cb07dbbc" providerId="ADAL" clId="{654AEECC-F757-45CF-8A9B-4D6F613CD1DA}" dt="2026-03-07T00:35:05.620" v="284" actId="1076"/>
          <ac:spMkLst>
            <pc:docMk/>
            <pc:sldMk cId="669473364" sldId="2147483592"/>
            <ac:spMk id="12" creationId="{3D24F4F8-9450-070D-D51E-2F59A30A2964}"/>
          </ac:spMkLst>
        </pc:spChg>
        <pc:spChg chg="mod">
          <ac:chgData name="Woods, Ryan" userId="b1514425-9b69-4374-b8af-4283cb07dbbc" providerId="ADAL" clId="{654AEECC-F757-45CF-8A9B-4D6F613CD1DA}" dt="2026-03-07T00:34:48.463" v="282" actId="1076"/>
          <ac:spMkLst>
            <pc:docMk/>
            <pc:sldMk cId="669473364" sldId="2147483592"/>
            <ac:spMk id="21" creationId="{342D5A8E-BEA3-52D1-2E6D-E3C4BAF8CB8F}"/>
          </ac:spMkLst>
        </pc:spChg>
        <pc:spChg chg="mod">
          <ac:chgData name="Woods, Ryan" userId="b1514425-9b69-4374-b8af-4283cb07dbbc" providerId="ADAL" clId="{654AEECC-F757-45CF-8A9B-4D6F613CD1DA}" dt="2026-03-07T00:34:48.463" v="282" actId="1076"/>
          <ac:spMkLst>
            <pc:docMk/>
            <pc:sldMk cId="669473364" sldId="2147483592"/>
            <ac:spMk id="22" creationId="{4CE862CC-B687-81D8-5209-ED060DA862B0}"/>
          </ac:spMkLst>
        </pc:spChg>
        <pc:cxnChg chg="add mod">
          <ac:chgData name="Woods, Ryan" userId="b1514425-9b69-4374-b8af-4283cb07dbbc" providerId="ADAL" clId="{654AEECC-F757-45CF-8A9B-4D6F613CD1DA}" dt="2026-03-07T00:36:39.563" v="304" actId="1076"/>
          <ac:cxnSpMkLst>
            <pc:docMk/>
            <pc:sldMk cId="669473364" sldId="2147483592"/>
            <ac:cxnSpMk id="13" creationId="{3E1DA298-80E7-D1C9-D8D4-242F9F2B4F90}"/>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2ED6D1-07B9-0A42-A27C-34D814EA2D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951DB9-4CB8-2741-8664-70D4FFAC02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A0D1C6-B41D-4148-AA5A-BA40E51CC204}" type="datetimeFigureOut">
              <a:rPr lang="en-US" smtClean="0"/>
              <a:t>3/9/26</a:t>
            </a:fld>
            <a:endParaRPr lang="en-US"/>
          </a:p>
        </p:txBody>
      </p:sp>
      <p:sp>
        <p:nvSpPr>
          <p:cNvPr id="4" name="Footer Placeholder 3">
            <a:extLst>
              <a:ext uri="{FF2B5EF4-FFF2-40B4-BE49-F238E27FC236}">
                <a16:creationId xmlns:a16="http://schemas.microsoft.com/office/drawing/2014/main" id="{E7C876BD-6035-8747-A207-EBA3847C7A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3AC1351-4D53-9D4D-AB8D-BC94A1FBA2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03659A-8A94-9E4F-9C14-A28B34B02048}" type="slidenum">
              <a:rPr lang="en-US" smtClean="0"/>
              <a:t>‹#›</a:t>
            </a:fld>
            <a:endParaRPr lang="en-US"/>
          </a:p>
        </p:txBody>
      </p:sp>
    </p:spTree>
    <p:extLst>
      <p:ext uri="{BB962C8B-B14F-4D97-AF65-F5344CB8AC3E}">
        <p14:creationId xmlns:p14="http://schemas.microsoft.com/office/powerpoint/2010/main" val="32064887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F8AA97-E068-7A42-802E-2E600B147BB0}"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1B1CE9-2D24-3244-9893-CE744E9841FC}" type="slidenum">
              <a:rPr lang="en-US" smtClean="0"/>
              <a:t>‹#›</a:t>
            </a:fld>
            <a:endParaRPr lang="en-US"/>
          </a:p>
        </p:txBody>
      </p:sp>
    </p:spTree>
    <p:extLst>
      <p:ext uri="{BB962C8B-B14F-4D97-AF65-F5344CB8AC3E}">
        <p14:creationId xmlns:p14="http://schemas.microsoft.com/office/powerpoint/2010/main" val="530748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E7046-A634-CD74-BD6E-2B74F1192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AE13CD-96A8-0ED9-AB11-43E51E7E3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5A869-9B62-F237-BD42-AECBBAF77E9B}"/>
              </a:ext>
            </a:extLst>
          </p:cNvPr>
          <p:cNvSpPr>
            <a:spLocks noGrp="1"/>
          </p:cNvSpPr>
          <p:nvPr>
            <p:ph type="body" idx="1"/>
          </p:nvPr>
        </p:nvSpPr>
        <p:spPr/>
        <p:txBody>
          <a:bodyPr/>
          <a:lstStyle/>
          <a:p>
            <a:r>
              <a:rPr lang="en-US"/>
              <a:t>Target 15M to 30M</a:t>
            </a:r>
          </a:p>
          <a:p>
            <a:r>
              <a:rPr lang="en-US"/>
              <a:t>How we scale </a:t>
            </a:r>
          </a:p>
        </p:txBody>
      </p:sp>
      <p:sp>
        <p:nvSpPr>
          <p:cNvPr id="4" name="Slide Number Placeholder 3">
            <a:extLst>
              <a:ext uri="{FF2B5EF4-FFF2-40B4-BE49-F238E27FC236}">
                <a16:creationId xmlns:a16="http://schemas.microsoft.com/office/drawing/2014/main" id="{88A48BEF-51A4-6A79-E900-7749638B614E}"/>
              </a:ext>
            </a:extLst>
          </p:cNvPr>
          <p:cNvSpPr>
            <a:spLocks noGrp="1"/>
          </p:cNvSpPr>
          <p:nvPr>
            <p:ph type="sldNum" sz="quarter" idx="5"/>
          </p:nvPr>
        </p:nvSpPr>
        <p:spPr/>
        <p:txBody>
          <a:bodyPr/>
          <a:lstStyle/>
          <a:p>
            <a:fld id="{A31B1CE9-2D24-3244-9893-CE744E9841FC}" type="slidenum">
              <a:rPr lang="en-US" smtClean="0"/>
              <a:t>1</a:t>
            </a:fld>
            <a:endParaRPr lang="en-US"/>
          </a:p>
        </p:txBody>
      </p:sp>
    </p:spTree>
    <p:extLst>
      <p:ext uri="{BB962C8B-B14F-4D97-AF65-F5344CB8AC3E}">
        <p14:creationId xmlns:p14="http://schemas.microsoft.com/office/powerpoint/2010/main" val="2255813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B1CE9-2D24-3244-9893-CE744E9841FC}" type="slidenum">
              <a:rPr lang="en-US" smtClean="0"/>
              <a:t>2</a:t>
            </a:fld>
            <a:endParaRPr lang="en-US"/>
          </a:p>
        </p:txBody>
      </p:sp>
    </p:spTree>
    <p:extLst>
      <p:ext uri="{BB962C8B-B14F-4D97-AF65-F5344CB8AC3E}">
        <p14:creationId xmlns:p14="http://schemas.microsoft.com/office/powerpoint/2010/main" val="500831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70421-2A17-B126-D90D-BC8601C86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109E0-87F3-07B6-835C-72F57CE1D4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9D823-2F80-FE78-473B-0060FB7716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57D926-06A3-E781-99E0-8FB795B49A0A}"/>
              </a:ext>
            </a:extLst>
          </p:cNvPr>
          <p:cNvSpPr>
            <a:spLocks noGrp="1"/>
          </p:cNvSpPr>
          <p:nvPr>
            <p:ph type="sldNum" sz="quarter" idx="5"/>
          </p:nvPr>
        </p:nvSpPr>
        <p:spPr/>
        <p:txBody>
          <a:bodyPr/>
          <a:lstStyle/>
          <a:p>
            <a:fld id="{A31B1CE9-2D24-3244-9893-CE744E9841FC}" type="slidenum">
              <a:rPr lang="en-US" smtClean="0"/>
              <a:t>8</a:t>
            </a:fld>
            <a:endParaRPr lang="en-US"/>
          </a:p>
        </p:txBody>
      </p:sp>
    </p:spTree>
    <p:extLst>
      <p:ext uri="{BB962C8B-B14F-4D97-AF65-F5344CB8AC3E}">
        <p14:creationId xmlns:p14="http://schemas.microsoft.com/office/powerpoint/2010/main" val="1831558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B1CE9-2D24-3244-9893-CE744E9841FC}" type="slidenum">
              <a:rPr lang="en-US" smtClean="0"/>
              <a:t>11</a:t>
            </a:fld>
            <a:endParaRPr lang="en-US"/>
          </a:p>
        </p:txBody>
      </p:sp>
    </p:spTree>
    <p:extLst>
      <p:ext uri="{BB962C8B-B14F-4D97-AF65-F5344CB8AC3E}">
        <p14:creationId xmlns:p14="http://schemas.microsoft.com/office/powerpoint/2010/main" val="3026494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33264-37C9-C380-3A8F-CF223FC1C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3EB87-BB93-E430-0522-F7A2E4CED2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A29DD-7784-DB58-C9A6-20CA15527E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BCE04F-DB89-71B8-1C71-59BB7D8BB7E7}"/>
              </a:ext>
            </a:extLst>
          </p:cNvPr>
          <p:cNvSpPr>
            <a:spLocks noGrp="1"/>
          </p:cNvSpPr>
          <p:nvPr>
            <p:ph type="sldNum" sz="quarter" idx="5"/>
          </p:nvPr>
        </p:nvSpPr>
        <p:spPr/>
        <p:txBody>
          <a:bodyPr/>
          <a:lstStyle/>
          <a:p>
            <a:fld id="{A31B1CE9-2D24-3244-9893-CE744E9841FC}" type="slidenum">
              <a:rPr lang="en-US" smtClean="0"/>
              <a:t>12</a:t>
            </a:fld>
            <a:endParaRPr lang="en-US"/>
          </a:p>
        </p:txBody>
      </p:sp>
    </p:spTree>
    <p:extLst>
      <p:ext uri="{BB962C8B-B14F-4D97-AF65-F5344CB8AC3E}">
        <p14:creationId xmlns:p14="http://schemas.microsoft.com/office/powerpoint/2010/main" val="604969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B1CE9-2D24-3244-9893-CE744E9841FC}" type="slidenum">
              <a:rPr lang="en-US" smtClean="0"/>
              <a:t>14</a:t>
            </a:fld>
            <a:endParaRPr lang="en-US"/>
          </a:p>
        </p:txBody>
      </p:sp>
    </p:spTree>
    <p:extLst>
      <p:ext uri="{BB962C8B-B14F-4D97-AF65-F5344CB8AC3E}">
        <p14:creationId xmlns:p14="http://schemas.microsoft.com/office/powerpoint/2010/main" val="3343298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B1CE9-2D24-3244-9893-CE744E9841FC}" type="slidenum">
              <a:rPr lang="en-US" smtClean="0"/>
              <a:t>15</a:t>
            </a:fld>
            <a:endParaRPr lang="en-US"/>
          </a:p>
        </p:txBody>
      </p:sp>
    </p:spTree>
    <p:extLst>
      <p:ext uri="{BB962C8B-B14F-4D97-AF65-F5344CB8AC3E}">
        <p14:creationId xmlns:p14="http://schemas.microsoft.com/office/powerpoint/2010/main" val="2287954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9D02E-61C4-22F7-91EA-675388CBD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29A2EE-0DDA-0A3F-74BB-E350BA73E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111031-6BD3-C433-7B3A-E3C113D1E6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0DB39C-9AED-F39B-55FF-D514BED19EF4}"/>
              </a:ext>
            </a:extLst>
          </p:cNvPr>
          <p:cNvSpPr>
            <a:spLocks noGrp="1"/>
          </p:cNvSpPr>
          <p:nvPr>
            <p:ph type="sldNum" sz="quarter" idx="5"/>
          </p:nvPr>
        </p:nvSpPr>
        <p:spPr/>
        <p:txBody>
          <a:bodyPr/>
          <a:lstStyle/>
          <a:p>
            <a:fld id="{A31B1CE9-2D24-3244-9893-CE744E9841FC}" type="slidenum">
              <a:rPr lang="en-US" smtClean="0"/>
              <a:t>17</a:t>
            </a:fld>
            <a:endParaRPr lang="en-US"/>
          </a:p>
        </p:txBody>
      </p:sp>
    </p:spTree>
    <p:extLst>
      <p:ext uri="{BB962C8B-B14F-4D97-AF65-F5344CB8AC3E}">
        <p14:creationId xmlns:p14="http://schemas.microsoft.com/office/powerpoint/2010/main" val="3822597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31B1CE9-2D24-3244-9893-CE744E9841FC}" type="slidenum">
              <a:rPr lang="en-US" smtClean="0"/>
              <a:t>18</a:t>
            </a:fld>
            <a:endParaRPr lang="en-US"/>
          </a:p>
        </p:txBody>
      </p:sp>
    </p:spTree>
    <p:extLst>
      <p:ext uri="{BB962C8B-B14F-4D97-AF65-F5344CB8AC3E}">
        <p14:creationId xmlns:p14="http://schemas.microsoft.com/office/powerpoint/2010/main" val="11583442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6.jpeg"/><Relationship Id="rId1" Type="http://schemas.openxmlformats.org/officeDocument/2006/relationships/slideMaster" Target="../slideMasters/slideMaster1.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hyperlink" Target="https://www.linkedin.com/company/capco" TargetMode="External"/><Relationship Id="rId18" Type="http://schemas.openxmlformats.org/officeDocument/2006/relationships/image" Target="../media/image32.svg"/><Relationship Id="rId3" Type="http://schemas.openxmlformats.org/officeDocument/2006/relationships/image" Target="../media/image22.svg"/><Relationship Id="rId7" Type="http://schemas.openxmlformats.org/officeDocument/2006/relationships/hyperlink" Target="https://www.youtube.com/capco_global" TargetMode="External"/><Relationship Id="rId12" Type="http://schemas.openxmlformats.org/officeDocument/2006/relationships/image" Target="../media/image28.svg"/><Relationship Id="rId17" Type="http://schemas.openxmlformats.org/officeDocument/2006/relationships/image" Target="../media/image31.png"/><Relationship Id="rId2" Type="http://schemas.openxmlformats.org/officeDocument/2006/relationships/image" Target="../media/image21.png"/><Relationship Id="rId16" Type="http://schemas.openxmlformats.org/officeDocument/2006/relationships/hyperlink" Target="https://www.capco.com/" TargetMode="External"/><Relationship Id="rId1" Type="http://schemas.openxmlformats.org/officeDocument/2006/relationships/slideMaster" Target="../slideMasters/slideMaster1.xml"/><Relationship Id="rId6" Type="http://schemas.openxmlformats.org/officeDocument/2006/relationships/image" Target="../media/image24.svg"/><Relationship Id="rId11" Type="http://schemas.openxmlformats.org/officeDocument/2006/relationships/image" Target="../media/image27.png"/><Relationship Id="rId5" Type="http://schemas.openxmlformats.org/officeDocument/2006/relationships/image" Target="../media/image23.png"/><Relationship Id="rId15" Type="http://schemas.openxmlformats.org/officeDocument/2006/relationships/image" Target="../media/image30.svg"/><Relationship Id="rId10" Type="http://schemas.openxmlformats.org/officeDocument/2006/relationships/hyperlink" Target="https://www.instagram.com/lifeatcapco/" TargetMode="External"/><Relationship Id="rId19" Type="http://schemas.openxmlformats.org/officeDocument/2006/relationships/hyperlink" Target="http://www.capco.com/" TargetMode="External"/><Relationship Id="rId4" Type="http://schemas.openxmlformats.org/officeDocument/2006/relationships/hyperlink" Target="https://www.facebook.com/capcoglobal" TargetMode="External"/><Relationship Id="rId9" Type="http://schemas.openxmlformats.org/officeDocument/2006/relationships/image" Target="../media/image26.svg"/><Relationship Id="rId14" Type="http://schemas.openxmlformats.org/officeDocument/2006/relationships/image" Target="../media/image29.png"/></Relationships>
</file>

<file path=ppt/slideLayouts/_rels/slideLayout37.xml.rels><?xml version="1.0" encoding="UTF-8" standalone="yes"?>
<Relationships xmlns="http://schemas.openxmlformats.org/package/2006/relationships"><Relationship Id="rId8" Type="http://schemas.openxmlformats.org/officeDocument/2006/relationships/hyperlink" Target="https://www.youtube.com/capco_global" TargetMode="External"/><Relationship Id="rId13" Type="http://schemas.openxmlformats.org/officeDocument/2006/relationships/image" Target="../media/image28.svg"/><Relationship Id="rId18" Type="http://schemas.openxmlformats.org/officeDocument/2006/relationships/image" Target="../media/image35.png"/><Relationship Id="rId3" Type="http://schemas.openxmlformats.org/officeDocument/2006/relationships/image" Target="../media/image34.svg"/><Relationship Id="rId7" Type="http://schemas.openxmlformats.org/officeDocument/2006/relationships/image" Target="../media/image24.svg"/><Relationship Id="rId12" Type="http://schemas.openxmlformats.org/officeDocument/2006/relationships/image" Target="../media/image27.png"/><Relationship Id="rId17" Type="http://schemas.openxmlformats.org/officeDocument/2006/relationships/hyperlink" Target="https://www.capco.com/" TargetMode="External"/><Relationship Id="rId2" Type="http://schemas.openxmlformats.org/officeDocument/2006/relationships/image" Target="../media/image33.png"/><Relationship Id="rId16" Type="http://schemas.openxmlformats.org/officeDocument/2006/relationships/image" Target="../media/image30.sv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hyperlink" Target="https://www.instagram.com/lifeatcapco/" TargetMode="External"/><Relationship Id="rId5" Type="http://schemas.openxmlformats.org/officeDocument/2006/relationships/hyperlink" Target="https://www.facebook.com/capcoglobal" TargetMode="External"/><Relationship Id="rId15" Type="http://schemas.openxmlformats.org/officeDocument/2006/relationships/image" Target="../media/image29.png"/><Relationship Id="rId10" Type="http://schemas.openxmlformats.org/officeDocument/2006/relationships/image" Target="../media/image26.svg"/><Relationship Id="rId19" Type="http://schemas.openxmlformats.org/officeDocument/2006/relationships/image" Target="../media/image36.svg"/><Relationship Id="rId4" Type="http://schemas.openxmlformats.org/officeDocument/2006/relationships/hyperlink" Target="http://www.capco.com/" TargetMode="External"/><Relationship Id="rId9" Type="http://schemas.openxmlformats.org/officeDocument/2006/relationships/image" Target="../media/image25.png"/><Relationship Id="rId14" Type="http://schemas.openxmlformats.org/officeDocument/2006/relationships/hyperlink" Target="https://www.linkedin.com/company/capco" TargetMode="External"/></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7.png"/><Relationship Id="rId18" Type="http://schemas.openxmlformats.org/officeDocument/2006/relationships/hyperlink" Target="https://www.capco.com/" TargetMode="External"/><Relationship Id="rId3" Type="http://schemas.openxmlformats.org/officeDocument/2006/relationships/image" Target="../media/image21.png"/><Relationship Id="rId7" Type="http://schemas.openxmlformats.org/officeDocument/2006/relationships/image" Target="../media/image23.png"/><Relationship Id="rId12" Type="http://schemas.openxmlformats.org/officeDocument/2006/relationships/hyperlink" Target="https://www.instagram.com/lifeatcapco/" TargetMode="External"/><Relationship Id="rId17" Type="http://schemas.openxmlformats.org/officeDocument/2006/relationships/image" Target="../media/image30.svg"/><Relationship Id="rId2" Type="http://schemas.openxmlformats.org/officeDocument/2006/relationships/image" Target="../media/image6.jpeg"/><Relationship Id="rId16" Type="http://schemas.openxmlformats.org/officeDocument/2006/relationships/image" Target="../media/image29.png"/><Relationship Id="rId20" Type="http://schemas.openxmlformats.org/officeDocument/2006/relationships/image" Target="../media/image32.svg"/><Relationship Id="rId1" Type="http://schemas.openxmlformats.org/officeDocument/2006/relationships/slideMaster" Target="../slideMasters/slideMaster1.xml"/><Relationship Id="rId6" Type="http://schemas.openxmlformats.org/officeDocument/2006/relationships/hyperlink" Target="https://www.facebook.com/capcoglobal" TargetMode="External"/><Relationship Id="rId11" Type="http://schemas.openxmlformats.org/officeDocument/2006/relationships/image" Target="../media/image26.svg"/><Relationship Id="rId5" Type="http://schemas.openxmlformats.org/officeDocument/2006/relationships/hyperlink" Target="http://www.capco.com/" TargetMode="External"/><Relationship Id="rId15" Type="http://schemas.openxmlformats.org/officeDocument/2006/relationships/hyperlink" Target="https://www.linkedin.com/company/capco" TargetMode="External"/><Relationship Id="rId10" Type="http://schemas.openxmlformats.org/officeDocument/2006/relationships/image" Target="../media/image25.png"/><Relationship Id="rId19" Type="http://schemas.openxmlformats.org/officeDocument/2006/relationships/image" Target="../media/image31.png"/><Relationship Id="rId4" Type="http://schemas.openxmlformats.org/officeDocument/2006/relationships/image" Target="../media/image22.svg"/><Relationship Id="rId9" Type="http://schemas.openxmlformats.org/officeDocument/2006/relationships/hyperlink" Target="https://www.youtube.com/capco_global" TargetMode="External"/><Relationship Id="rId14" Type="http://schemas.openxmlformats.org/officeDocument/2006/relationships/image" Target="../media/image28.sv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7.png"/><Relationship Id="rId18" Type="http://schemas.openxmlformats.org/officeDocument/2006/relationships/hyperlink" Target="https://www.capco.com/" TargetMode="External"/><Relationship Id="rId3" Type="http://schemas.openxmlformats.org/officeDocument/2006/relationships/image" Target="../media/image21.png"/><Relationship Id="rId7" Type="http://schemas.openxmlformats.org/officeDocument/2006/relationships/image" Target="../media/image23.png"/><Relationship Id="rId12" Type="http://schemas.openxmlformats.org/officeDocument/2006/relationships/hyperlink" Target="https://www.instagram.com/lifeatcapco/" TargetMode="External"/><Relationship Id="rId17" Type="http://schemas.openxmlformats.org/officeDocument/2006/relationships/image" Target="../media/image30.svg"/><Relationship Id="rId2" Type="http://schemas.openxmlformats.org/officeDocument/2006/relationships/image" Target="../media/image7.jpeg"/><Relationship Id="rId16" Type="http://schemas.openxmlformats.org/officeDocument/2006/relationships/image" Target="../media/image29.png"/><Relationship Id="rId20" Type="http://schemas.openxmlformats.org/officeDocument/2006/relationships/image" Target="../media/image32.svg"/><Relationship Id="rId1" Type="http://schemas.openxmlformats.org/officeDocument/2006/relationships/slideMaster" Target="../slideMasters/slideMaster1.xml"/><Relationship Id="rId6" Type="http://schemas.openxmlformats.org/officeDocument/2006/relationships/hyperlink" Target="https://www.facebook.com/capcoglobal" TargetMode="External"/><Relationship Id="rId11" Type="http://schemas.openxmlformats.org/officeDocument/2006/relationships/image" Target="../media/image26.svg"/><Relationship Id="rId5" Type="http://schemas.openxmlformats.org/officeDocument/2006/relationships/hyperlink" Target="http://www.capco.com/" TargetMode="External"/><Relationship Id="rId15" Type="http://schemas.openxmlformats.org/officeDocument/2006/relationships/hyperlink" Target="https://www.linkedin.com/company/capco" TargetMode="External"/><Relationship Id="rId10" Type="http://schemas.openxmlformats.org/officeDocument/2006/relationships/image" Target="../media/image25.png"/><Relationship Id="rId19" Type="http://schemas.openxmlformats.org/officeDocument/2006/relationships/image" Target="../media/image31.png"/><Relationship Id="rId4" Type="http://schemas.openxmlformats.org/officeDocument/2006/relationships/image" Target="../media/image22.svg"/><Relationship Id="rId9" Type="http://schemas.openxmlformats.org/officeDocument/2006/relationships/hyperlink" Target="https://www.youtube.com/capco_global" TargetMode="External"/><Relationship Id="rId14" Type="http://schemas.openxmlformats.org/officeDocument/2006/relationships/image" Target="../media/image28.sv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7.png"/><Relationship Id="rId18" Type="http://schemas.openxmlformats.org/officeDocument/2006/relationships/hyperlink" Target="https://www.capco.com/" TargetMode="External"/><Relationship Id="rId3" Type="http://schemas.openxmlformats.org/officeDocument/2006/relationships/image" Target="../media/image33.png"/><Relationship Id="rId7" Type="http://schemas.openxmlformats.org/officeDocument/2006/relationships/image" Target="../media/image23.png"/><Relationship Id="rId12" Type="http://schemas.openxmlformats.org/officeDocument/2006/relationships/hyperlink" Target="https://www.instagram.com/lifeatcapco/" TargetMode="External"/><Relationship Id="rId17" Type="http://schemas.openxmlformats.org/officeDocument/2006/relationships/image" Target="../media/image30.svg"/><Relationship Id="rId2" Type="http://schemas.openxmlformats.org/officeDocument/2006/relationships/image" Target="../media/image8.jpg"/><Relationship Id="rId16" Type="http://schemas.openxmlformats.org/officeDocument/2006/relationships/image" Target="../media/image29.png"/><Relationship Id="rId20" Type="http://schemas.openxmlformats.org/officeDocument/2006/relationships/image" Target="../media/image36.svg"/><Relationship Id="rId1" Type="http://schemas.openxmlformats.org/officeDocument/2006/relationships/slideMaster" Target="../slideMasters/slideMaster1.xml"/><Relationship Id="rId6" Type="http://schemas.openxmlformats.org/officeDocument/2006/relationships/hyperlink" Target="https://www.facebook.com/capcoglobal" TargetMode="External"/><Relationship Id="rId11" Type="http://schemas.openxmlformats.org/officeDocument/2006/relationships/image" Target="../media/image26.svg"/><Relationship Id="rId5" Type="http://schemas.openxmlformats.org/officeDocument/2006/relationships/hyperlink" Target="http://www.capco.com/" TargetMode="External"/><Relationship Id="rId15" Type="http://schemas.openxmlformats.org/officeDocument/2006/relationships/hyperlink" Target="https://www.linkedin.com/company/capco" TargetMode="External"/><Relationship Id="rId10" Type="http://schemas.openxmlformats.org/officeDocument/2006/relationships/image" Target="../media/image25.png"/><Relationship Id="rId19" Type="http://schemas.openxmlformats.org/officeDocument/2006/relationships/image" Target="../media/image35.png"/><Relationship Id="rId4" Type="http://schemas.openxmlformats.org/officeDocument/2006/relationships/image" Target="../media/image34.svg"/><Relationship Id="rId9" Type="http://schemas.openxmlformats.org/officeDocument/2006/relationships/hyperlink" Target="https://www.youtube.com/capco_global" TargetMode="External"/><Relationship Id="rId14" Type="http://schemas.openxmlformats.org/officeDocument/2006/relationships/image" Target="../media/image28.sv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7.png"/><Relationship Id="rId18" Type="http://schemas.openxmlformats.org/officeDocument/2006/relationships/hyperlink" Target="https://www.capco.com/" TargetMode="External"/><Relationship Id="rId3" Type="http://schemas.openxmlformats.org/officeDocument/2006/relationships/image" Target="../media/image33.png"/><Relationship Id="rId7" Type="http://schemas.openxmlformats.org/officeDocument/2006/relationships/image" Target="../media/image23.png"/><Relationship Id="rId12" Type="http://schemas.openxmlformats.org/officeDocument/2006/relationships/hyperlink" Target="https://www.instagram.com/lifeatcapco/" TargetMode="External"/><Relationship Id="rId17" Type="http://schemas.openxmlformats.org/officeDocument/2006/relationships/image" Target="../media/image30.svg"/><Relationship Id="rId2" Type="http://schemas.openxmlformats.org/officeDocument/2006/relationships/image" Target="../media/image9.jpeg"/><Relationship Id="rId16" Type="http://schemas.openxmlformats.org/officeDocument/2006/relationships/image" Target="../media/image29.png"/><Relationship Id="rId20" Type="http://schemas.openxmlformats.org/officeDocument/2006/relationships/image" Target="../media/image36.svg"/><Relationship Id="rId1" Type="http://schemas.openxmlformats.org/officeDocument/2006/relationships/slideMaster" Target="../slideMasters/slideMaster1.xml"/><Relationship Id="rId6" Type="http://schemas.openxmlformats.org/officeDocument/2006/relationships/hyperlink" Target="https://www.facebook.com/capcoglobal" TargetMode="External"/><Relationship Id="rId11" Type="http://schemas.openxmlformats.org/officeDocument/2006/relationships/image" Target="../media/image26.svg"/><Relationship Id="rId5" Type="http://schemas.openxmlformats.org/officeDocument/2006/relationships/hyperlink" Target="http://www.capco.com/" TargetMode="External"/><Relationship Id="rId15" Type="http://schemas.openxmlformats.org/officeDocument/2006/relationships/hyperlink" Target="https://www.linkedin.com/company/capco" TargetMode="External"/><Relationship Id="rId10" Type="http://schemas.openxmlformats.org/officeDocument/2006/relationships/image" Target="../media/image25.png"/><Relationship Id="rId19" Type="http://schemas.openxmlformats.org/officeDocument/2006/relationships/image" Target="../media/image35.png"/><Relationship Id="rId4" Type="http://schemas.openxmlformats.org/officeDocument/2006/relationships/image" Target="../media/image34.svg"/><Relationship Id="rId9" Type="http://schemas.openxmlformats.org/officeDocument/2006/relationships/hyperlink" Target="https://www.youtube.com/capco_global" TargetMode="External"/><Relationship Id="rId14" Type="http://schemas.openxmlformats.org/officeDocument/2006/relationships/image" Target="../media/image28.sv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hyperlink" Target="https://www.linkedin.com/company/capco" TargetMode="External"/><Relationship Id="rId18" Type="http://schemas.openxmlformats.org/officeDocument/2006/relationships/image" Target="../media/image32.svg"/><Relationship Id="rId3" Type="http://schemas.openxmlformats.org/officeDocument/2006/relationships/image" Target="../media/image22.svg"/><Relationship Id="rId7" Type="http://schemas.openxmlformats.org/officeDocument/2006/relationships/hyperlink" Target="https://www.youtube.com/capco_global" TargetMode="External"/><Relationship Id="rId12" Type="http://schemas.openxmlformats.org/officeDocument/2006/relationships/image" Target="../media/image28.svg"/><Relationship Id="rId17" Type="http://schemas.openxmlformats.org/officeDocument/2006/relationships/image" Target="../media/image31.png"/><Relationship Id="rId2" Type="http://schemas.openxmlformats.org/officeDocument/2006/relationships/image" Target="../media/image21.png"/><Relationship Id="rId16" Type="http://schemas.openxmlformats.org/officeDocument/2006/relationships/hyperlink" Target="https://www.capco.com/" TargetMode="External"/><Relationship Id="rId1" Type="http://schemas.openxmlformats.org/officeDocument/2006/relationships/slideMaster" Target="../slideMasters/slideMaster1.xml"/><Relationship Id="rId6" Type="http://schemas.openxmlformats.org/officeDocument/2006/relationships/image" Target="../media/image24.svg"/><Relationship Id="rId11" Type="http://schemas.openxmlformats.org/officeDocument/2006/relationships/image" Target="../media/image27.png"/><Relationship Id="rId5" Type="http://schemas.openxmlformats.org/officeDocument/2006/relationships/image" Target="../media/image23.png"/><Relationship Id="rId15" Type="http://schemas.openxmlformats.org/officeDocument/2006/relationships/image" Target="../media/image30.svg"/><Relationship Id="rId10" Type="http://schemas.openxmlformats.org/officeDocument/2006/relationships/hyperlink" Target="https://www.instagram.com/lifeatcapco/" TargetMode="External"/><Relationship Id="rId4" Type="http://schemas.openxmlformats.org/officeDocument/2006/relationships/hyperlink" Target="https://www.facebook.com/capcoglobal" TargetMode="External"/><Relationship Id="rId9" Type="http://schemas.openxmlformats.org/officeDocument/2006/relationships/image" Target="../media/image26.svg"/><Relationship Id="rId14" Type="http://schemas.openxmlformats.org/officeDocument/2006/relationships/image" Target="../media/image29.pn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hyperlink" Target="https://www.linkedin.com/company/capco" TargetMode="External"/><Relationship Id="rId18" Type="http://schemas.openxmlformats.org/officeDocument/2006/relationships/image" Target="../media/image36.svg"/><Relationship Id="rId3" Type="http://schemas.openxmlformats.org/officeDocument/2006/relationships/image" Target="../media/image34.svg"/><Relationship Id="rId7" Type="http://schemas.openxmlformats.org/officeDocument/2006/relationships/hyperlink" Target="https://www.youtube.com/capco_global" TargetMode="External"/><Relationship Id="rId12" Type="http://schemas.openxmlformats.org/officeDocument/2006/relationships/image" Target="../media/image28.svg"/><Relationship Id="rId17" Type="http://schemas.openxmlformats.org/officeDocument/2006/relationships/image" Target="../media/image35.png"/><Relationship Id="rId2" Type="http://schemas.openxmlformats.org/officeDocument/2006/relationships/image" Target="../media/image33.png"/><Relationship Id="rId16" Type="http://schemas.openxmlformats.org/officeDocument/2006/relationships/hyperlink" Target="https://www.capco.com/" TargetMode="External"/><Relationship Id="rId1" Type="http://schemas.openxmlformats.org/officeDocument/2006/relationships/slideMaster" Target="../slideMasters/slideMaster1.xml"/><Relationship Id="rId6" Type="http://schemas.openxmlformats.org/officeDocument/2006/relationships/image" Target="../media/image24.svg"/><Relationship Id="rId11" Type="http://schemas.openxmlformats.org/officeDocument/2006/relationships/image" Target="../media/image27.png"/><Relationship Id="rId5" Type="http://schemas.openxmlformats.org/officeDocument/2006/relationships/image" Target="../media/image23.png"/><Relationship Id="rId15" Type="http://schemas.openxmlformats.org/officeDocument/2006/relationships/image" Target="../media/image30.svg"/><Relationship Id="rId10" Type="http://schemas.openxmlformats.org/officeDocument/2006/relationships/hyperlink" Target="https://www.instagram.com/lifeatcapco/" TargetMode="External"/><Relationship Id="rId4" Type="http://schemas.openxmlformats.org/officeDocument/2006/relationships/hyperlink" Target="https://www.facebook.com/capcoglobal" TargetMode="External"/><Relationship Id="rId9" Type="http://schemas.openxmlformats.org/officeDocument/2006/relationships/image" Target="../media/image26.svg"/><Relationship Id="rId14" Type="http://schemas.openxmlformats.org/officeDocument/2006/relationships/image" Target="../media/image29.png"/></Relationships>
</file>

<file path=ppt/slideLayouts/_rels/slideLayout44.xml.rels><?xml version="1.0" encoding="UTF-8" standalone="yes"?>
<Relationships xmlns="http://schemas.openxmlformats.org/package/2006/relationships"><Relationship Id="rId8" Type="http://schemas.openxmlformats.org/officeDocument/2006/relationships/hyperlink" Target="https://www.youtube.com/capco_global" TargetMode="External"/><Relationship Id="rId13" Type="http://schemas.openxmlformats.org/officeDocument/2006/relationships/image" Target="../media/image28.svg"/><Relationship Id="rId18"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4.svg"/><Relationship Id="rId12" Type="http://schemas.openxmlformats.org/officeDocument/2006/relationships/image" Target="../media/image27.png"/><Relationship Id="rId17" Type="http://schemas.openxmlformats.org/officeDocument/2006/relationships/hyperlink" Target="https://www.capco.com/" TargetMode="External"/><Relationship Id="rId2" Type="http://schemas.openxmlformats.org/officeDocument/2006/relationships/image" Target="../media/image6.jpeg"/><Relationship Id="rId16" Type="http://schemas.openxmlformats.org/officeDocument/2006/relationships/image" Target="../media/image30.sv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hyperlink" Target="https://www.instagram.com/lifeatcapco/" TargetMode="External"/><Relationship Id="rId5" Type="http://schemas.openxmlformats.org/officeDocument/2006/relationships/hyperlink" Target="https://www.facebook.com/capcoglobal" TargetMode="External"/><Relationship Id="rId15" Type="http://schemas.openxmlformats.org/officeDocument/2006/relationships/image" Target="../media/image29.png"/><Relationship Id="rId10" Type="http://schemas.openxmlformats.org/officeDocument/2006/relationships/image" Target="../media/image26.svg"/><Relationship Id="rId19" Type="http://schemas.openxmlformats.org/officeDocument/2006/relationships/image" Target="../media/image32.svg"/><Relationship Id="rId4" Type="http://schemas.openxmlformats.org/officeDocument/2006/relationships/image" Target="../media/image22.svg"/><Relationship Id="rId9" Type="http://schemas.openxmlformats.org/officeDocument/2006/relationships/image" Target="../media/image25.png"/><Relationship Id="rId14" Type="http://schemas.openxmlformats.org/officeDocument/2006/relationships/hyperlink" Target="https://www.linkedin.com/company/capco" TargetMode="External"/></Relationships>
</file>

<file path=ppt/slideLayouts/_rels/slideLayout45.xml.rels><?xml version="1.0" encoding="UTF-8" standalone="yes"?>
<Relationships xmlns="http://schemas.openxmlformats.org/package/2006/relationships"><Relationship Id="rId8" Type="http://schemas.openxmlformats.org/officeDocument/2006/relationships/hyperlink" Target="https://www.youtube.com/capco_global" TargetMode="External"/><Relationship Id="rId13" Type="http://schemas.openxmlformats.org/officeDocument/2006/relationships/image" Target="../media/image28.svg"/><Relationship Id="rId18"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4.svg"/><Relationship Id="rId12" Type="http://schemas.openxmlformats.org/officeDocument/2006/relationships/image" Target="../media/image27.png"/><Relationship Id="rId17" Type="http://schemas.openxmlformats.org/officeDocument/2006/relationships/hyperlink" Target="https://www.capco.com/" TargetMode="External"/><Relationship Id="rId2" Type="http://schemas.openxmlformats.org/officeDocument/2006/relationships/image" Target="../media/image7.jpeg"/><Relationship Id="rId16" Type="http://schemas.openxmlformats.org/officeDocument/2006/relationships/image" Target="../media/image30.sv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hyperlink" Target="https://www.instagram.com/lifeatcapco/" TargetMode="External"/><Relationship Id="rId5" Type="http://schemas.openxmlformats.org/officeDocument/2006/relationships/hyperlink" Target="https://www.facebook.com/capcoglobal" TargetMode="External"/><Relationship Id="rId15" Type="http://schemas.openxmlformats.org/officeDocument/2006/relationships/image" Target="../media/image29.png"/><Relationship Id="rId10" Type="http://schemas.openxmlformats.org/officeDocument/2006/relationships/image" Target="../media/image26.svg"/><Relationship Id="rId19" Type="http://schemas.openxmlformats.org/officeDocument/2006/relationships/image" Target="../media/image32.svg"/><Relationship Id="rId4" Type="http://schemas.openxmlformats.org/officeDocument/2006/relationships/image" Target="../media/image22.svg"/><Relationship Id="rId9" Type="http://schemas.openxmlformats.org/officeDocument/2006/relationships/image" Target="../media/image25.png"/><Relationship Id="rId14" Type="http://schemas.openxmlformats.org/officeDocument/2006/relationships/hyperlink" Target="https://www.linkedin.com/company/capco" TargetMode="External"/></Relationships>
</file>

<file path=ppt/slideLayouts/_rels/slideLayout46.xml.rels><?xml version="1.0" encoding="UTF-8" standalone="yes"?>
<Relationships xmlns="http://schemas.openxmlformats.org/package/2006/relationships"><Relationship Id="rId8" Type="http://schemas.openxmlformats.org/officeDocument/2006/relationships/hyperlink" Target="https://www.youtube.com/capco_global" TargetMode="External"/><Relationship Id="rId13" Type="http://schemas.openxmlformats.org/officeDocument/2006/relationships/image" Target="../media/image28.svg"/><Relationship Id="rId18" Type="http://schemas.openxmlformats.org/officeDocument/2006/relationships/image" Target="../media/image35.png"/><Relationship Id="rId3" Type="http://schemas.openxmlformats.org/officeDocument/2006/relationships/image" Target="../media/image33.png"/><Relationship Id="rId7" Type="http://schemas.openxmlformats.org/officeDocument/2006/relationships/image" Target="../media/image24.svg"/><Relationship Id="rId12" Type="http://schemas.openxmlformats.org/officeDocument/2006/relationships/image" Target="../media/image27.png"/><Relationship Id="rId17" Type="http://schemas.openxmlformats.org/officeDocument/2006/relationships/hyperlink" Target="https://www.capco.com/" TargetMode="External"/><Relationship Id="rId2" Type="http://schemas.openxmlformats.org/officeDocument/2006/relationships/image" Target="../media/image8.jpg"/><Relationship Id="rId16" Type="http://schemas.openxmlformats.org/officeDocument/2006/relationships/image" Target="../media/image30.sv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hyperlink" Target="https://www.instagram.com/lifeatcapco/" TargetMode="External"/><Relationship Id="rId5" Type="http://schemas.openxmlformats.org/officeDocument/2006/relationships/hyperlink" Target="https://www.facebook.com/capcoglobal" TargetMode="External"/><Relationship Id="rId15" Type="http://schemas.openxmlformats.org/officeDocument/2006/relationships/image" Target="../media/image29.png"/><Relationship Id="rId10" Type="http://schemas.openxmlformats.org/officeDocument/2006/relationships/image" Target="../media/image26.svg"/><Relationship Id="rId19" Type="http://schemas.openxmlformats.org/officeDocument/2006/relationships/image" Target="../media/image36.svg"/><Relationship Id="rId4" Type="http://schemas.openxmlformats.org/officeDocument/2006/relationships/image" Target="../media/image34.svg"/><Relationship Id="rId9" Type="http://schemas.openxmlformats.org/officeDocument/2006/relationships/image" Target="../media/image25.png"/><Relationship Id="rId14" Type="http://schemas.openxmlformats.org/officeDocument/2006/relationships/hyperlink" Target="https://www.linkedin.com/company/capco" TargetMode="External"/></Relationships>
</file>

<file path=ppt/slideLayouts/_rels/slideLayout47.xml.rels><?xml version="1.0" encoding="UTF-8" standalone="yes"?>
<Relationships xmlns="http://schemas.openxmlformats.org/package/2006/relationships"><Relationship Id="rId8" Type="http://schemas.openxmlformats.org/officeDocument/2006/relationships/hyperlink" Target="https://www.youtube.com/capco_global" TargetMode="External"/><Relationship Id="rId13" Type="http://schemas.openxmlformats.org/officeDocument/2006/relationships/image" Target="../media/image28.svg"/><Relationship Id="rId18" Type="http://schemas.openxmlformats.org/officeDocument/2006/relationships/image" Target="../media/image35.png"/><Relationship Id="rId3" Type="http://schemas.openxmlformats.org/officeDocument/2006/relationships/image" Target="../media/image33.png"/><Relationship Id="rId7" Type="http://schemas.openxmlformats.org/officeDocument/2006/relationships/image" Target="../media/image24.svg"/><Relationship Id="rId12" Type="http://schemas.openxmlformats.org/officeDocument/2006/relationships/image" Target="../media/image27.png"/><Relationship Id="rId17" Type="http://schemas.openxmlformats.org/officeDocument/2006/relationships/hyperlink" Target="https://www.capco.com/" TargetMode="External"/><Relationship Id="rId2" Type="http://schemas.openxmlformats.org/officeDocument/2006/relationships/image" Target="../media/image9.jpeg"/><Relationship Id="rId16" Type="http://schemas.openxmlformats.org/officeDocument/2006/relationships/image" Target="../media/image30.sv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hyperlink" Target="https://www.instagram.com/lifeatcapco/" TargetMode="External"/><Relationship Id="rId5" Type="http://schemas.openxmlformats.org/officeDocument/2006/relationships/hyperlink" Target="https://www.facebook.com/capcoglobal" TargetMode="External"/><Relationship Id="rId15" Type="http://schemas.openxmlformats.org/officeDocument/2006/relationships/image" Target="../media/image29.png"/><Relationship Id="rId10" Type="http://schemas.openxmlformats.org/officeDocument/2006/relationships/image" Target="../media/image26.svg"/><Relationship Id="rId19" Type="http://schemas.openxmlformats.org/officeDocument/2006/relationships/image" Target="../media/image36.svg"/><Relationship Id="rId4" Type="http://schemas.openxmlformats.org/officeDocument/2006/relationships/image" Target="../media/image34.svg"/><Relationship Id="rId9" Type="http://schemas.openxmlformats.org/officeDocument/2006/relationships/image" Target="../media/image25.png"/><Relationship Id="rId14" Type="http://schemas.openxmlformats.org/officeDocument/2006/relationships/hyperlink" Target="https://www.linkedin.com/company/capco" TargetMode="Externa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3EFA89F-1975-4B07-89C5-B31C56C1BA44}"/>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11" name="Freeform: Shape 10">
              <a:extLst>
                <a:ext uri="{FF2B5EF4-FFF2-40B4-BE49-F238E27FC236}">
                  <a16:creationId xmlns:a16="http://schemas.microsoft.com/office/drawing/2014/main" id="{84E3E9D9-5964-4311-A041-B9F91395C865}"/>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12" name="Freeform: Shape 11">
              <a:extLst>
                <a:ext uri="{FF2B5EF4-FFF2-40B4-BE49-F238E27FC236}">
                  <a16:creationId xmlns:a16="http://schemas.microsoft.com/office/drawing/2014/main" id="{D20D1630-BEF4-4E3F-8F83-7BEF28BA7E1D}"/>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14" name="Freeform: Shape 13">
              <a:extLst>
                <a:ext uri="{FF2B5EF4-FFF2-40B4-BE49-F238E27FC236}">
                  <a16:creationId xmlns:a16="http://schemas.microsoft.com/office/drawing/2014/main" id="{775BFA70-46D5-4F99-A050-D6DB73B947CD}"/>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16" name="Freeform: Shape 15">
              <a:extLst>
                <a:ext uri="{FF2B5EF4-FFF2-40B4-BE49-F238E27FC236}">
                  <a16:creationId xmlns:a16="http://schemas.microsoft.com/office/drawing/2014/main" id="{C268457A-F3A7-4A24-AE86-779CBC65712F}"/>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19" name="Freeform: Shape 18">
              <a:extLst>
                <a:ext uri="{FF2B5EF4-FFF2-40B4-BE49-F238E27FC236}">
                  <a16:creationId xmlns:a16="http://schemas.microsoft.com/office/drawing/2014/main" id="{C05B3D25-F158-4888-A710-D9AD48632443}"/>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20" name="Graphic 19">
            <a:extLst>
              <a:ext uri="{FF2B5EF4-FFF2-40B4-BE49-F238E27FC236}">
                <a16:creationId xmlns:a16="http://schemas.microsoft.com/office/drawing/2014/main" id="{5EADD56E-007D-4B2B-82D1-DC0571B5D2E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00592" y="6241691"/>
            <a:ext cx="1204913" cy="155425"/>
          </a:xfrm>
          <a:prstGeom prst="rect">
            <a:avLst/>
          </a:prstGeom>
        </p:spPr>
      </p:pic>
      <p:sp>
        <p:nvSpPr>
          <p:cNvPr id="18" name="Picture Placeholder 23">
            <a:extLst>
              <a:ext uri="{FF2B5EF4-FFF2-40B4-BE49-F238E27FC236}">
                <a16:creationId xmlns:a16="http://schemas.microsoft.com/office/drawing/2014/main" id="{24C4BE84-8A7F-8E4E-8AEF-D1E6C1AD1575}"/>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tx1"/>
                </a:solidFill>
              </a:defRPr>
            </a:lvl1pPr>
          </a:lstStyle>
          <a:p>
            <a:r>
              <a:rPr lang="en-GB" dirty="0"/>
              <a:t>Place client logo here if needed</a:t>
            </a:r>
          </a:p>
        </p:txBody>
      </p:sp>
      <p:sp>
        <p:nvSpPr>
          <p:cNvPr id="13" name="Title 1">
            <a:extLst>
              <a:ext uri="{FF2B5EF4-FFF2-40B4-BE49-F238E27FC236}">
                <a16:creationId xmlns:a16="http://schemas.microsoft.com/office/drawing/2014/main" id="{B8AB4D45-658E-6049-822F-6377ACE02F38}"/>
              </a:ext>
            </a:extLst>
          </p:cNvPr>
          <p:cNvSpPr>
            <a:spLocks noGrp="1"/>
          </p:cNvSpPr>
          <p:nvPr>
            <p:ph type="title" hasCustomPrompt="1"/>
          </p:nvPr>
        </p:nvSpPr>
        <p:spPr>
          <a:xfrm>
            <a:off x="1085548" y="4755595"/>
            <a:ext cx="5394105" cy="720197"/>
          </a:xfrm>
          <a:blipFill dpi="0" rotWithShape="1">
            <a:blip r:embed="rId4"/>
            <a:srcRect/>
            <a:stretch>
              <a:fillRect t="80000" b="16000"/>
            </a:stretch>
          </a:blipFill>
        </p:spPr>
        <p:txBody>
          <a:bodyPr vert="horz" wrap="none" lIns="0" tIns="0" rIns="0" bIns="274320" rtlCol="0" anchor="b">
            <a:spAutoFit/>
          </a:bodyPr>
          <a:lstStyle>
            <a:lvl1pPr>
              <a:defRPr lang="en-GB" sz="3200" u="none" cap="none" baseline="0" dirty="0">
                <a:uFill>
                  <a:solidFill>
                    <a:schemeClr val="accent1"/>
                  </a:solidFill>
                </a:uFill>
              </a:defRPr>
            </a:lvl1pPr>
          </a:lstStyle>
          <a:p>
            <a:pPr lvl="0"/>
            <a:r>
              <a:rPr lang="en-US" dirty="0"/>
              <a:t>Presentation title goes here</a:t>
            </a:r>
            <a:endParaRPr lang="en-GB" dirty="0"/>
          </a:p>
        </p:txBody>
      </p:sp>
      <p:sp>
        <p:nvSpPr>
          <p:cNvPr id="15" name="Text Placeholder 3">
            <a:extLst>
              <a:ext uri="{FF2B5EF4-FFF2-40B4-BE49-F238E27FC236}">
                <a16:creationId xmlns:a16="http://schemas.microsoft.com/office/drawing/2014/main" id="{0F02F0D9-362D-7C41-9BC4-39FFDBB3132D}"/>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50000"/>
                  </a:schemeClr>
                </a:solidFill>
                <a:latin typeface="Century Gothic" panose="020B0502020202020204" pitchFamily="34" charset="0"/>
              </a:defRPr>
            </a:lvl1pPr>
          </a:lstStyle>
          <a:p>
            <a:pPr lvl="0"/>
            <a:r>
              <a:rPr lang="en-US" dirty="0"/>
              <a:t>Subtitle goes here</a:t>
            </a:r>
          </a:p>
        </p:txBody>
      </p:sp>
      <p:sp>
        <p:nvSpPr>
          <p:cNvPr id="3" name="Text Placeholder 2">
            <a:extLst>
              <a:ext uri="{FF2B5EF4-FFF2-40B4-BE49-F238E27FC236}">
                <a16:creationId xmlns:a16="http://schemas.microsoft.com/office/drawing/2014/main" id="{97019D08-9373-EC47-B920-8FE5EF9F8665}"/>
              </a:ext>
            </a:extLst>
          </p:cNvPr>
          <p:cNvSpPr>
            <a:spLocks noGrp="1"/>
          </p:cNvSpPr>
          <p:nvPr>
            <p:ph type="body" sz="quarter" idx="14" hasCustomPrompt="1"/>
          </p:nvPr>
        </p:nvSpPr>
        <p:spPr>
          <a:xfrm>
            <a:off x="8341270"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5" name="Text Placeholder 4">
            <a:extLst>
              <a:ext uri="{FF2B5EF4-FFF2-40B4-BE49-F238E27FC236}">
                <a16:creationId xmlns:a16="http://schemas.microsoft.com/office/drawing/2014/main" id="{09FA1A14-8C57-C547-B2E7-25836164BF46}"/>
              </a:ext>
            </a:extLst>
          </p:cNvPr>
          <p:cNvSpPr>
            <a:spLocks noGrp="1"/>
          </p:cNvSpPr>
          <p:nvPr>
            <p:ph type="body" sz="quarter" idx="15" hasCustomPrompt="1"/>
          </p:nvPr>
        </p:nvSpPr>
        <p:spPr>
          <a:xfrm>
            <a:off x="8341270"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10" name="Text Placeholder 9">
            <a:extLst>
              <a:ext uri="{FF2B5EF4-FFF2-40B4-BE49-F238E27FC236}">
                <a16:creationId xmlns:a16="http://schemas.microsoft.com/office/drawing/2014/main" id="{2FFDB0C6-EF22-FE4A-B905-24FE19A1DAE9}"/>
              </a:ext>
            </a:extLst>
          </p:cNvPr>
          <p:cNvSpPr>
            <a:spLocks noGrp="1"/>
          </p:cNvSpPr>
          <p:nvPr>
            <p:ph type="body" sz="quarter" idx="16" hasCustomPrompt="1"/>
          </p:nvPr>
        </p:nvSpPr>
        <p:spPr>
          <a:xfrm>
            <a:off x="8341270"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Tree>
    <p:extLst>
      <p:ext uri="{BB962C8B-B14F-4D97-AF65-F5344CB8AC3E}">
        <p14:creationId xmlns:p14="http://schemas.microsoft.com/office/powerpoint/2010/main" val="1598593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chemeClr val="tx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8687F9E-FB0B-4A93-A8CB-697A87C22ADF}"/>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13" name="Freeform: Shape 12">
              <a:extLst>
                <a:ext uri="{FF2B5EF4-FFF2-40B4-BE49-F238E27FC236}">
                  <a16:creationId xmlns:a16="http://schemas.microsoft.com/office/drawing/2014/main" id="{761DC9FF-EB62-41E8-B299-9167CC092E0A}"/>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14" name="Freeform: Shape 13">
              <a:extLst>
                <a:ext uri="{FF2B5EF4-FFF2-40B4-BE49-F238E27FC236}">
                  <a16:creationId xmlns:a16="http://schemas.microsoft.com/office/drawing/2014/main" id="{1BF9FB7D-7EE9-4663-8E66-3BDA73C1F263}"/>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18" name="Freeform: Shape 17">
              <a:extLst>
                <a:ext uri="{FF2B5EF4-FFF2-40B4-BE49-F238E27FC236}">
                  <a16:creationId xmlns:a16="http://schemas.microsoft.com/office/drawing/2014/main" id="{9C9DB120-D9B4-4E0A-97E4-A0374420F771}"/>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19" name="Freeform: Shape 18">
              <a:extLst>
                <a:ext uri="{FF2B5EF4-FFF2-40B4-BE49-F238E27FC236}">
                  <a16:creationId xmlns:a16="http://schemas.microsoft.com/office/drawing/2014/main" id="{046F621E-6A36-4CBD-B751-B1C95B227F65}"/>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20" name="Freeform: Shape 19">
              <a:extLst>
                <a:ext uri="{FF2B5EF4-FFF2-40B4-BE49-F238E27FC236}">
                  <a16:creationId xmlns:a16="http://schemas.microsoft.com/office/drawing/2014/main" id="{E09AB93F-0096-4017-A3AB-A1E87680A3EA}"/>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21" name="Graphic 20">
            <a:extLst>
              <a:ext uri="{FF2B5EF4-FFF2-40B4-BE49-F238E27FC236}">
                <a16:creationId xmlns:a16="http://schemas.microsoft.com/office/drawing/2014/main" id="{D86B059C-232A-4A7F-9806-D82FA1ADACB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00592" y="6241691"/>
            <a:ext cx="1204913" cy="155425"/>
          </a:xfrm>
          <a:prstGeom prst="rect">
            <a:avLst/>
          </a:prstGeom>
        </p:spPr>
      </p:pic>
      <p:sp>
        <p:nvSpPr>
          <p:cNvPr id="10" name="Title 1">
            <a:extLst>
              <a:ext uri="{FF2B5EF4-FFF2-40B4-BE49-F238E27FC236}">
                <a16:creationId xmlns:a16="http://schemas.microsoft.com/office/drawing/2014/main" id="{B0B33B06-31A6-4D31-AE2E-97D9B2B3F2E6}"/>
              </a:ext>
            </a:extLst>
          </p:cNvPr>
          <p:cNvSpPr>
            <a:spLocks noGrp="1"/>
          </p:cNvSpPr>
          <p:nvPr>
            <p:ph type="title" hasCustomPrompt="1"/>
          </p:nvPr>
        </p:nvSpPr>
        <p:spPr>
          <a:xfrm>
            <a:off x="1085548" y="4755595"/>
            <a:ext cx="5394105" cy="720197"/>
          </a:xfrm>
          <a:blipFill dpi="0" rotWithShape="1">
            <a:blip r:embed="rId4"/>
            <a:srcRect/>
            <a:stretch>
              <a:fillRect t="80000" b="16000"/>
            </a:stretch>
          </a:blipFill>
        </p:spPr>
        <p:txBody>
          <a:bodyPr vert="horz" wrap="none" lIns="0" tIns="0" rIns="0" bIns="274320" rtlCol="0" anchor="b">
            <a:spAutoFit/>
          </a:bodyPr>
          <a:lstStyle>
            <a:lvl1pPr>
              <a:defRPr lang="en-GB" sz="3200" u="none" cap="none" baseline="0" dirty="0">
                <a:solidFill>
                  <a:schemeClr val="bg1"/>
                </a:solidFill>
                <a:uFill>
                  <a:solidFill>
                    <a:schemeClr val="accent1"/>
                  </a:solidFill>
                </a:uFill>
              </a:defRPr>
            </a:lvl1pPr>
          </a:lstStyle>
          <a:p>
            <a:pPr lvl="0"/>
            <a:r>
              <a:rPr lang="en-US" dirty="0"/>
              <a:t>Presentation title goes here</a:t>
            </a:r>
            <a:endParaRPr lang="en-GB" dirty="0"/>
          </a:p>
        </p:txBody>
      </p:sp>
      <p:sp>
        <p:nvSpPr>
          <p:cNvPr id="11" name="Text Placeholder 3">
            <a:extLst>
              <a:ext uri="{FF2B5EF4-FFF2-40B4-BE49-F238E27FC236}">
                <a16:creationId xmlns:a16="http://schemas.microsoft.com/office/drawing/2014/main" id="{5E150238-E68B-4742-9D98-AD50CA73D981}"/>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75000"/>
                  </a:schemeClr>
                </a:solidFill>
                <a:latin typeface="Century Gothic" panose="020B0502020202020204" pitchFamily="34" charset="0"/>
              </a:defRPr>
            </a:lvl1pPr>
          </a:lstStyle>
          <a:p>
            <a:pPr lvl="0"/>
            <a:r>
              <a:rPr lang="en-US" dirty="0"/>
              <a:t>Subtitle goes here</a:t>
            </a:r>
          </a:p>
        </p:txBody>
      </p:sp>
      <p:sp>
        <p:nvSpPr>
          <p:cNvPr id="9" name="Text Placeholder 2">
            <a:extLst>
              <a:ext uri="{FF2B5EF4-FFF2-40B4-BE49-F238E27FC236}">
                <a16:creationId xmlns:a16="http://schemas.microsoft.com/office/drawing/2014/main" id="{58075BD1-D4DA-44D8-BEEC-045D2740876B}"/>
              </a:ext>
            </a:extLst>
          </p:cNvPr>
          <p:cNvSpPr>
            <a:spLocks noGrp="1"/>
          </p:cNvSpPr>
          <p:nvPr>
            <p:ph type="body" sz="quarter" idx="14" hasCustomPrompt="1"/>
          </p:nvPr>
        </p:nvSpPr>
        <p:spPr>
          <a:xfrm>
            <a:off x="8338761"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16" name="Text Placeholder 4">
            <a:extLst>
              <a:ext uri="{FF2B5EF4-FFF2-40B4-BE49-F238E27FC236}">
                <a16:creationId xmlns:a16="http://schemas.microsoft.com/office/drawing/2014/main" id="{0E40ED74-5B2D-4667-B898-1B6AABCDD123}"/>
              </a:ext>
            </a:extLst>
          </p:cNvPr>
          <p:cNvSpPr>
            <a:spLocks noGrp="1"/>
          </p:cNvSpPr>
          <p:nvPr>
            <p:ph type="body" sz="quarter" idx="15" hasCustomPrompt="1"/>
          </p:nvPr>
        </p:nvSpPr>
        <p:spPr>
          <a:xfrm>
            <a:off x="8338761"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17" name="Text Placeholder 9">
            <a:extLst>
              <a:ext uri="{FF2B5EF4-FFF2-40B4-BE49-F238E27FC236}">
                <a16:creationId xmlns:a16="http://schemas.microsoft.com/office/drawing/2014/main" id="{7A71F9A6-961B-4047-9742-B59B9337D93B}"/>
              </a:ext>
            </a:extLst>
          </p:cNvPr>
          <p:cNvSpPr>
            <a:spLocks noGrp="1"/>
          </p:cNvSpPr>
          <p:nvPr>
            <p:ph type="body" sz="quarter" idx="16" hasCustomPrompt="1"/>
          </p:nvPr>
        </p:nvSpPr>
        <p:spPr>
          <a:xfrm>
            <a:off x="8338761"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
        <p:nvSpPr>
          <p:cNvPr id="2" name="Picture Placeholder 23">
            <a:extLst>
              <a:ext uri="{FF2B5EF4-FFF2-40B4-BE49-F238E27FC236}">
                <a16:creationId xmlns:a16="http://schemas.microsoft.com/office/drawing/2014/main" id="{A3A67A03-8799-D380-B0A9-804572BEA5DD}"/>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bg1"/>
                </a:solidFill>
              </a:defRPr>
            </a:lvl1pPr>
          </a:lstStyle>
          <a:p>
            <a:r>
              <a:rPr lang="en-GB" dirty="0"/>
              <a:t>Place client logo here if needed</a:t>
            </a:r>
          </a:p>
        </p:txBody>
      </p:sp>
    </p:spTree>
    <p:extLst>
      <p:ext uri="{BB962C8B-B14F-4D97-AF65-F5344CB8AC3E}">
        <p14:creationId xmlns:p14="http://schemas.microsoft.com/office/powerpoint/2010/main" val="1797898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148DE2E-8BDC-4E36-9D7F-4A5E3AEB964C}"/>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grpSp>
        <p:nvGrpSpPr>
          <p:cNvPr id="10" name="Group 9">
            <a:extLst>
              <a:ext uri="{FF2B5EF4-FFF2-40B4-BE49-F238E27FC236}">
                <a16:creationId xmlns:a16="http://schemas.microsoft.com/office/drawing/2014/main" id="{D75B2052-6BCD-43D1-8A51-E12BD2A28685}"/>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17" name="Freeform: Shape 16">
              <a:extLst>
                <a:ext uri="{FF2B5EF4-FFF2-40B4-BE49-F238E27FC236}">
                  <a16:creationId xmlns:a16="http://schemas.microsoft.com/office/drawing/2014/main" id="{9EC5D55B-F1F7-4B7F-B264-7F995F80510B}"/>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19" name="Freeform: Shape 18">
              <a:extLst>
                <a:ext uri="{FF2B5EF4-FFF2-40B4-BE49-F238E27FC236}">
                  <a16:creationId xmlns:a16="http://schemas.microsoft.com/office/drawing/2014/main" id="{B8E515F4-DC9E-47F8-8543-4FDBF82B9681}"/>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20" name="Freeform: Shape 19">
              <a:extLst>
                <a:ext uri="{FF2B5EF4-FFF2-40B4-BE49-F238E27FC236}">
                  <a16:creationId xmlns:a16="http://schemas.microsoft.com/office/drawing/2014/main" id="{5B2C71D2-960F-4A9A-B8F7-F9B11797C3AE}"/>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21" name="Freeform: Shape 20">
              <a:extLst>
                <a:ext uri="{FF2B5EF4-FFF2-40B4-BE49-F238E27FC236}">
                  <a16:creationId xmlns:a16="http://schemas.microsoft.com/office/drawing/2014/main" id="{FB90DF89-5E51-4B40-BFB7-E1D917EA44AA}"/>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22" name="Freeform: Shape 21">
              <a:extLst>
                <a:ext uri="{FF2B5EF4-FFF2-40B4-BE49-F238E27FC236}">
                  <a16:creationId xmlns:a16="http://schemas.microsoft.com/office/drawing/2014/main" id="{DDD6550B-0913-4C97-8A69-60037CF09958}"/>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23" name="Graphic 22">
            <a:extLst>
              <a:ext uri="{FF2B5EF4-FFF2-40B4-BE49-F238E27FC236}">
                <a16:creationId xmlns:a16="http://schemas.microsoft.com/office/drawing/2014/main" id="{FB7EB010-7D8E-4D69-B4F4-4021B25FA1DF}"/>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00592" y="6241691"/>
            <a:ext cx="1204913" cy="155425"/>
          </a:xfrm>
          <a:prstGeom prst="rect">
            <a:avLst/>
          </a:prstGeom>
        </p:spPr>
      </p:pic>
      <p:sp>
        <p:nvSpPr>
          <p:cNvPr id="13" name="Title 1">
            <a:extLst>
              <a:ext uri="{FF2B5EF4-FFF2-40B4-BE49-F238E27FC236}">
                <a16:creationId xmlns:a16="http://schemas.microsoft.com/office/drawing/2014/main" id="{B8AB4D45-658E-6049-822F-6377ACE02F38}"/>
              </a:ext>
            </a:extLst>
          </p:cNvPr>
          <p:cNvSpPr>
            <a:spLocks noGrp="1"/>
          </p:cNvSpPr>
          <p:nvPr>
            <p:ph type="title" hasCustomPrompt="1"/>
          </p:nvPr>
        </p:nvSpPr>
        <p:spPr>
          <a:xfrm>
            <a:off x="1085548" y="4755595"/>
            <a:ext cx="5394105" cy="720197"/>
          </a:xfrm>
          <a:blipFill dpi="0" rotWithShape="1">
            <a:blip r:embed="rId5"/>
            <a:srcRect/>
            <a:stretch>
              <a:fillRect t="80000" b="16000"/>
            </a:stretch>
          </a:blipFill>
        </p:spPr>
        <p:txBody>
          <a:bodyPr vert="horz" wrap="none" lIns="0" tIns="0" rIns="0" bIns="274320" rtlCol="0" anchor="b">
            <a:spAutoFit/>
          </a:bodyPr>
          <a:lstStyle>
            <a:lvl1pPr>
              <a:defRPr lang="en-GB" sz="3200" u="none" cap="none" baseline="0" dirty="0">
                <a:uFill>
                  <a:solidFill>
                    <a:schemeClr val="accent1"/>
                  </a:solidFill>
                </a:uFill>
              </a:defRPr>
            </a:lvl1pPr>
          </a:lstStyle>
          <a:p>
            <a:pPr lvl="0"/>
            <a:r>
              <a:rPr lang="en-US" dirty="0"/>
              <a:t>Presentation title goes here</a:t>
            </a:r>
            <a:endParaRPr lang="en-GB" dirty="0"/>
          </a:p>
        </p:txBody>
      </p:sp>
      <p:sp>
        <p:nvSpPr>
          <p:cNvPr id="15" name="Text Placeholder 3">
            <a:extLst>
              <a:ext uri="{FF2B5EF4-FFF2-40B4-BE49-F238E27FC236}">
                <a16:creationId xmlns:a16="http://schemas.microsoft.com/office/drawing/2014/main" id="{0F02F0D9-362D-7C41-9BC4-39FFDBB3132D}"/>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50000"/>
                  </a:schemeClr>
                </a:solidFill>
                <a:latin typeface="Century Gothic" panose="020B0502020202020204" pitchFamily="34" charset="0"/>
              </a:defRPr>
            </a:lvl1pPr>
          </a:lstStyle>
          <a:p>
            <a:pPr lvl="0"/>
            <a:r>
              <a:rPr lang="en-US" dirty="0"/>
              <a:t>Subtitle goes here</a:t>
            </a:r>
          </a:p>
        </p:txBody>
      </p:sp>
      <p:sp>
        <p:nvSpPr>
          <p:cNvPr id="12" name="Text Placeholder 2">
            <a:extLst>
              <a:ext uri="{FF2B5EF4-FFF2-40B4-BE49-F238E27FC236}">
                <a16:creationId xmlns:a16="http://schemas.microsoft.com/office/drawing/2014/main" id="{8D8FD65E-EA83-40BA-8C85-BD6868311BD0}"/>
              </a:ext>
            </a:extLst>
          </p:cNvPr>
          <p:cNvSpPr>
            <a:spLocks noGrp="1"/>
          </p:cNvSpPr>
          <p:nvPr>
            <p:ph type="body" sz="quarter" idx="14" hasCustomPrompt="1"/>
          </p:nvPr>
        </p:nvSpPr>
        <p:spPr>
          <a:xfrm>
            <a:off x="8341270"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14" name="Text Placeholder 4">
            <a:extLst>
              <a:ext uri="{FF2B5EF4-FFF2-40B4-BE49-F238E27FC236}">
                <a16:creationId xmlns:a16="http://schemas.microsoft.com/office/drawing/2014/main" id="{0A26A899-58C5-4C45-9F23-84FE7AB29F30}"/>
              </a:ext>
            </a:extLst>
          </p:cNvPr>
          <p:cNvSpPr>
            <a:spLocks noGrp="1"/>
          </p:cNvSpPr>
          <p:nvPr>
            <p:ph type="body" sz="quarter" idx="15" hasCustomPrompt="1"/>
          </p:nvPr>
        </p:nvSpPr>
        <p:spPr>
          <a:xfrm>
            <a:off x="8341270"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16" name="Text Placeholder 9">
            <a:extLst>
              <a:ext uri="{FF2B5EF4-FFF2-40B4-BE49-F238E27FC236}">
                <a16:creationId xmlns:a16="http://schemas.microsoft.com/office/drawing/2014/main" id="{8C33C9A8-71B8-44BE-AA5B-4E51D188E490}"/>
              </a:ext>
            </a:extLst>
          </p:cNvPr>
          <p:cNvSpPr>
            <a:spLocks noGrp="1"/>
          </p:cNvSpPr>
          <p:nvPr>
            <p:ph type="body" sz="quarter" idx="16" hasCustomPrompt="1"/>
          </p:nvPr>
        </p:nvSpPr>
        <p:spPr>
          <a:xfrm>
            <a:off x="8341270"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
        <p:nvSpPr>
          <p:cNvPr id="2" name="Picture Placeholder 23">
            <a:extLst>
              <a:ext uri="{FF2B5EF4-FFF2-40B4-BE49-F238E27FC236}">
                <a16:creationId xmlns:a16="http://schemas.microsoft.com/office/drawing/2014/main" id="{E9176865-81FF-42CB-B914-39723D63DA65}"/>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tx1"/>
                </a:solidFill>
              </a:defRPr>
            </a:lvl1pPr>
          </a:lstStyle>
          <a:p>
            <a:r>
              <a:rPr lang="en-GB" dirty="0"/>
              <a:t>Place client logo here if needed</a:t>
            </a:r>
          </a:p>
        </p:txBody>
      </p:sp>
    </p:spTree>
    <p:extLst>
      <p:ext uri="{BB962C8B-B14F-4D97-AF65-F5344CB8AC3E}">
        <p14:creationId xmlns:p14="http://schemas.microsoft.com/office/powerpoint/2010/main" val="861585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A3BA9917-222A-420F-8AA3-8BCDD222E471}"/>
              </a:ext>
              <a:ext uri="{C183D7F6-B498-43B3-948B-1728B52AA6E4}">
                <adec:decorative xmlns:adec="http://schemas.microsoft.com/office/drawing/2017/decorative" val="1"/>
              </a:ext>
            </a:extLst>
          </p:cNvPr>
          <p:cNvPicPr>
            <a:picLocks noChangeAspect="1"/>
          </p:cNvPicPr>
          <p:nvPr userDrawn="1"/>
        </p:nvPicPr>
        <p:blipFill rotWithShape="1">
          <a:blip r:embed="rId2" cstate="email">
            <a:grayscl/>
            <a:alphaModFix amt="80000"/>
            <a:extLst>
              <a:ext uri="{28A0092B-C50C-407E-A947-70E740481C1C}">
                <a14:useLocalDpi xmlns:a14="http://schemas.microsoft.com/office/drawing/2010/main"/>
              </a:ext>
            </a:extLst>
          </a:blip>
          <a:srcRect l="-2"/>
          <a:stretch/>
        </p:blipFill>
        <p:spPr>
          <a:xfrm>
            <a:off x="0" y="0"/>
            <a:ext cx="12192000" cy="6858000"/>
          </a:xfrm>
          <a:prstGeom prst="rect">
            <a:avLst/>
          </a:prstGeom>
        </p:spPr>
      </p:pic>
      <p:grpSp>
        <p:nvGrpSpPr>
          <p:cNvPr id="10" name="Group 9">
            <a:extLst>
              <a:ext uri="{FF2B5EF4-FFF2-40B4-BE49-F238E27FC236}">
                <a16:creationId xmlns:a16="http://schemas.microsoft.com/office/drawing/2014/main" id="{D75B2052-6BCD-43D1-8A51-E12BD2A28685}"/>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17" name="Freeform: Shape 16">
              <a:extLst>
                <a:ext uri="{FF2B5EF4-FFF2-40B4-BE49-F238E27FC236}">
                  <a16:creationId xmlns:a16="http://schemas.microsoft.com/office/drawing/2014/main" id="{9EC5D55B-F1F7-4B7F-B264-7F995F80510B}"/>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19" name="Freeform: Shape 18">
              <a:extLst>
                <a:ext uri="{FF2B5EF4-FFF2-40B4-BE49-F238E27FC236}">
                  <a16:creationId xmlns:a16="http://schemas.microsoft.com/office/drawing/2014/main" id="{B8E515F4-DC9E-47F8-8543-4FDBF82B9681}"/>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20" name="Freeform: Shape 19">
              <a:extLst>
                <a:ext uri="{FF2B5EF4-FFF2-40B4-BE49-F238E27FC236}">
                  <a16:creationId xmlns:a16="http://schemas.microsoft.com/office/drawing/2014/main" id="{5B2C71D2-960F-4A9A-B8F7-F9B11797C3AE}"/>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21" name="Freeform: Shape 20">
              <a:extLst>
                <a:ext uri="{FF2B5EF4-FFF2-40B4-BE49-F238E27FC236}">
                  <a16:creationId xmlns:a16="http://schemas.microsoft.com/office/drawing/2014/main" id="{FB90DF89-5E51-4B40-BFB7-E1D917EA44AA}"/>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22" name="Freeform: Shape 21">
              <a:extLst>
                <a:ext uri="{FF2B5EF4-FFF2-40B4-BE49-F238E27FC236}">
                  <a16:creationId xmlns:a16="http://schemas.microsoft.com/office/drawing/2014/main" id="{DDD6550B-0913-4C97-8A69-60037CF09958}"/>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26" name="Graphic 25">
            <a:extLst>
              <a:ext uri="{FF2B5EF4-FFF2-40B4-BE49-F238E27FC236}">
                <a16:creationId xmlns:a16="http://schemas.microsoft.com/office/drawing/2014/main" id="{8A9B20E4-FDB6-458A-8018-5AB812F7D66A}"/>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00592" y="6241691"/>
            <a:ext cx="1204913" cy="155425"/>
          </a:xfrm>
          <a:prstGeom prst="rect">
            <a:avLst/>
          </a:prstGeom>
        </p:spPr>
      </p:pic>
      <p:sp>
        <p:nvSpPr>
          <p:cNvPr id="13" name="Title 1">
            <a:extLst>
              <a:ext uri="{FF2B5EF4-FFF2-40B4-BE49-F238E27FC236}">
                <a16:creationId xmlns:a16="http://schemas.microsoft.com/office/drawing/2014/main" id="{B8AB4D45-658E-6049-822F-6377ACE02F38}"/>
              </a:ext>
            </a:extLst>
          </p:cNvPr>
          <p:cNvSpPr>
            <a:spLocks noGrp="1"/>
          </p:cNvSpPr>
          <p:nvPr>
            <p:ph type="title" hasCustomPrompt="1"/>
          </p:nvPr>
        </p:nvSpPr>
        <p:spPr>
          <a:xfrm>
            <a:off x="1085548" y="4755595"/>
            <a:ext cx="5394105" cy="720197"/>
          </a:xfrm>
          <a:blipFill dpi="0" rotWithShape="1">
            <a:blip r:embed="rId5"/>
            <a:srcRect/>
            <a:stretch>
              <a:fillRect t="80000" b="16000"/>
            </a:stretch>
          </a:blipFill>
        </p:spPr>
        <p:txBody>
          <a:bodyPr vert="horz" wrap="none" lIns="0" tIns="0" rIns="0" bIns="274320" rtlCol="0" anchor="b">
            <a:spAutoFit/>
          </a:bodyPr>
          <a:lstStyle>
            <a:lvl1pPr>
              <a:defRPr lang="en-GB" sz="3200" u="none" dirty="0">
                <a:uFill>
                  <a:solidFill>
                    <a:schemeClr val="accent1"/>
                  </a:solidFill>
                </a:uFill>
              </a:defRPr>
            </a:lvl1pPr>
          </a:lstStyle>
          <a:p>
            <a:pPr lvl="0"/>
            <a:r>
              <a:rPr lang="en-US" dirty="0"/>
              <a:t>Presentation title goes here</a:t>
            </a:r>
            <a:endParaRPr lang="en-GB" dirty="0"/>
          </a:p>
        </p:txBody>
      </p:sp>
      <p:sp>
        <p:nvSpPr>
          <p:cNvPr id="15" name="Text Placeholder 3">
            <a:extLst>
              <a:ext uri="{FF2B5EF4-FFF2-40B4-BE49-F238E27FC236}">
                <a16:creationId xmlns:a16="http://schemas.microsoft.com/office/drawing/2014/main" id="{0F02F0D9-362D-7C41-9BC4-39FFDBB3132D}"/>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50000"/>
                  </a:schemeClr>
                </a:solidFill>
                <a:latin typeface="Century Gothic" panose="020B0502020202020204" pitchFamily="34" charset="0"/>
              </a:defRPr>
            </a:lvl1pPr>
          </a:lstStyle>
          <a:p>
            <a:pPr lvl="0"/>
            <a:r>
              <a:rPr lang="en-US" dirty="0"/>
              <a:t>Subtitle goes here</a:t>
            </a:r>
          </a:p>
        </p:txBody>
      </p:sp>
      <p:sp>
        <p:nvSpPr>
          <p:cNvPr id="12" name="Text Placeholder 2">
            <a:extLst>
              <a:ext uri="{FF2B5EF4-FFF2-40B4-BE49-F238E27FC236}">
                <a16:creationId xmlns:a16="http://schemas.microsoft.com/office/drawing/2014/main" id="{8D8FD65E-EA83-40BA-8C85-BD6868311BD0}"/>
              </a:ext>
            </a:extLst>
          </p:cNvPr>
          <p:cNvSpPr>
            <a:spLocks noGrp="1"/>
          </p:cNvSpPr>
          <p:nvPr>
            <p:ph type="body" sz="quarter" idx="14" hasCustomPrompt="1"/>
          </p:nvPr>
        </p:nvSpPr>
        <p:spPr>
          <a:xfrm>
            <a:off x="8341270"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14" name="Text Placeholder 4">
            <a:extLst>
              <a:ext uri="{FF2B5EF4-FFF2-40B4-BE49-F238E27FC236}">
                <a16:creationId xmlns:a16="http://schemas.microsoft.com/office/drawing/2014/main" id="{0A26A899-58C5-4C45-9F23-84FE7AB29F30}"/>
              </a:ext>
            </a:extLst>
          </p:cNvPr>
          <p:cNvSpPr>
            <a:spLocks noGrp="1"/>
          </p:cNvSpPr>
          <p:nvPr>
            <p:ph type="body" sz="quarter" idx="15" hasCustomPrompt="1"/>
          </p:nvPr>
        </p:nvSpPr>
        <p:spPr>
          <a:xfrm>
            <a:off x="8341270"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16" name="Text Placeholder 9">
            <a:extLst>
              <a:ext uri="{FF2B5EF4-FFF2-40B4-BE49-F238E27FC236}">
                <a16:creationId xmlns:a16="http://schemas.microsoft.com/office/drawing/2014/main" id="{8C33C9A8-71B8-44BE-AA5B-4E51D188E490}"/>
              </a:ext>
            </a:extLst>
          </p:cNvPr>
          <p:cNvSpPr>
            <a:spLocks noGrp="1"/>
          </p:cNvSpPr>
          <p:nvPr>
            <p:ph type="body" sz="quarter" idx="16" hasCustomPrompt="1"/>
          </p:nvPr>
        </p:nvSpPr>
        <p:spPr>
          <a:xfrm>
            <a:off x="8341270"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
        <p:nvSpPr>
          <p:cNvPr id="2" name="Picture Placeholder 23">
            <a:extLst>
              <a:ext uri="{FF2B5EF4-FFF2-40B4-BE49-F238E27FC236}">
                <a16:creationId xmlns:a16="http://schemas.microsoft.com/office/drawing/2014/main" id="{99C6FFB7-A614-773E-5080-C36A62A8EF3C}"/>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tx1"/>
                </a:solidFill>
              </a:defRPr>
            </a:lvl1pPr>
          </a:lstStyle>
          <a:p>
            <a:r>
              <a:rPr lang="en-GB" dirty="0"/>
              <a:t>Place client logo here if needed</a:t>
            </a:r>
          </a:p>
        </p:txBody>
      </p:sp>
    </p:spTree>
    <p:extLst>
      <p:ext uri="{BB962C8B-B14F-4D97-AF65-F5344CB8AC3E}">
        <p14:creationId xmlns:p14="http://schemas.microsoft.com/office/powerpoint/2010/main" val="1205124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5">
    <p:bg>
      <p:bgPr>
        <a:solidFill>
          <a:schemeClr val="tx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BD2800B-45A3-4CAA-8BE1-DB38704AAE7B}"/>
              </a:ext>
              <a:ext uri="{C183D7F6-B498-43B3-948B-1728B52AA6E4}">
                <adec:decorative xmlns:adec="http://schemas.microsoft.com/office/drawing/2017/decorative" val="1"/>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rcRect/>
          <a:stretch/>
        </p:blipFill>
        <p:spPr>
          <a:xfrm>
            <a:off x="5013" y="-5"/>
            <a:ext cx="12181973" cy="6858000"/>
          </a:xfrm>
          <a:prstGeom prst="rect">
            <a:avLst/>
          </a:prstGeom>
        </p:spPr>
      </p:pic>
      <p:grpSp>
        <p:nvGrpSpPr>
          <p:cNvPr id="31" name="Group 30">
            <a:extLst>
              <a:ext uri="{FF2B5EF4-FFF2-40B4-BE49-F238E27FC236}">
                <a16:creationId xmlns:a16="http://schemas.microsoft.com/office/drawing/2014/main" id="{7AF0178D-E788-4736-90BC-AF8ECE6E25EE}"/>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32" name="Freeform: Shape 31">
              <a:extLst>
                <a:ext uri="{FF2B5EF4-FFF2-40B4-BE49-F238E27FC236}">
                  <a16:creationId xmlns:a16="http://schemas.microsoft.com/office/drawing/2014/main" id="{DC941E64-F765-4286-A42B-1BC3A24F1ACC}"/>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33" name="Freeform: Shape 32">
              <a:extLst>
                <a:ext uri="{FF2B5EF4-FFF2-40B4-BE49-F238E27FC236}">
                  <a16:creationId xmlns:a16="http://schemas.microsoft.com/office/drawing/2014/main" id="{C2968466-31E3-45BC-9B20-6E2AB47D061D}"/>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34" name="Freeform: Shape 33">
              <a:extLst>
                <a:ext uri="{FF2B5EF4-FFF2-40B4-BE49-F238E27FC236}">
                  <a16:creationId xmlns:a16="http://schemas.microsoft.com/office/drawing/2014/main" id="{7F808203-117E-494A-83AB-562ED723FFE9}"/>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35" name="Freeform: Shape 34">
              <a:extLst>
                <a:ext uri="{FF2B5EF4-FFF2-40B4-BE49-F238E27FC236}">
                  <a16:creationId xmlns:a16="http://schemas.microsoft.com/office/drawing/2014/main" id="{D3EC798F-9315-4D1D-948C-C990DF323F07}"/>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36" name="Freeform: Shape 35">
              <a:extLst>
                <a:ext uri="{FF2B5EF4-FFF2-40B4-BE49-F238E27FC236}">
                  <a16:creationId xmlns:a16="http://schemas.microsoft.com/office/drawing/2014/main" id="{C7A66205-67DC-443D-9414-D6FC3080E355}"/>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18" name="Graphic 17">
            <a:extLst>
              <a:ext uri="{FF2B5EF4-FFF2-40B4-BE49-F238E27FC236}">
                <a16:creationId xmlns:a16="http://schemas.microsoft.com/office/drawing/2014/main" id="{3EDCC51B-B038-4B6C-9051-68E49E742CC6}"/>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00592" y="6241691"/>
            <a:ext cx="1204913" cy="155425"/>
          </a:xfrm>
          <a:prstGeom prst="rect">
            <a:avLst/>
          </a:prstGeom>
        </p:spPr>
      </p:pic>
      <p:sp>
        <p:nvSpPr>
          <p:cNvPr id="25" name="Title 1">
            <a:extLst>
              <a:ext uri="{FF2B5EF4-FFF2-40B4-BE49-F238E27FC236}">
                <a16:creationId xmlns:a16="http://schemas.microsoft.com/office/drawing/2014/main" id="{9AC95E5F-E4C2-4214-966D-946B7833AB3A}"/>
              </a:ext>
            </a:extLst>
          </p:cNvPr>
          <p:cNvSpPr>
            <a:spLocks noGrp="1"/>
          </p:cNvSpPr>
          <p:nvPr>
            <p:ph type="title" hasCustomPrompt="1"/>
          </p:nvPr>
        </p:nvSpPr>
        <p:spPr>
          <a:xfrm>
            <a:off x="1085548" y="4755595"/>
            <a:ext cx="5394105" cy="720197"/>
          </a:xfrm>
          <a:blipFill dpi="0" rotWithShape="1">
            <a:blip r:embed="rId5"/>
            <a:srcRect/>
            <a:stretch>
              <a:fillRect t="80000" b="16000"/>
            </a:stretch>
          </a:blipFill>
        </p:spPr>
        <p:txBody>
          <a:bodyPr vert="horz" wrap="none" lIns="0" tIns="0" rIns="0" bIns="274320" rtlCol="0" anchor="b">
            <a:spAutoFit/>
          </a:bodyPr>
          <a:lstStyle>
            <a:lvl1pPr>
              <a:defRPr lang="en-GB" sz="3200" u="none" dirty="0">
                <a:solidFill>
                  <a:schemeClr val="bg1"/>
                </a:solidFill>
                <a:uFill>
                  <a:solidFill>
                    <a:schemeClr val="accent1"/>
                  </a:solidFill>
                </a:uFill>
              </a:defRPr>
            </a:lvl1pPr>
          </a:lstStyle>
          <a:p>
            <a:pPr lvl="0"/>
            <a:r>
              <a:rPr lang="en-US" dirty="0"/>
              <a:t>Presentation title goes here</a:t>
            </a:r>
            <a:endParaRPr lang="en-GB" dirty="0"/>
          </a:p>
        </p:txBody>
      </p:sp>
      <p:sp>
        <p:nvSpPr>
          <p:cNvPr id="26" name="Text Placeholder 3">
            <a:extLst>
              <a:ext uri="{FF2B5EF4-FFF2-40B4-BE49-F238E27FC236}">
                <a16:creationId xmlns:a16="http://schemas.microsoft.com/office/drawing/2014/main" id="{7E285B1B-D9E4-430E-A1C6-FEDA9D9E3683}"/>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75000"/>
                  </a:schemeClr>
                </a:solidFill>
                <a:latin typeface="Century Gothic" panose="020B0502020202020204" pitchFamily="34" charset="0"/>
              </a:defRPr>
            </a:lvl1pPr>
          </a:lstStyle>
          <a:p>
            <a:pPr lvl="0"/>
            <a:r>
              <a:rPr lang="en-US" dirty="0"/>
              <a:t>Subtitle goes here</a:t>
            </a:r>
          </a:p>
        </p:txBody>
      </p:sp>
      <p:sp>
        <p:nvSpPr>
          <p:cNvPr id="28" name="Text Placeholder 2">
            <a:extLst>
              <a:ext uri="{FF2B5EF4-FFF2-40B4-BE49-F238E27FC236}">
                <a16:creationId xmlns:a16="http://schemas.microsoft.com/office/drawing/2014/main" id="{078DABAB-B018-4B06-A8AD-EB985D1C8C9C}"/>
              </a:ext>
            </a:extLst>
          </p:cNvPr>
          <p:cNvSpPr>
            <a:spLocks noGrp="1"/>
          </p:cNvSpPr>
          <p:nvPr>
            <p:ph type="body" sz="quarter" idx="14" hasCustomPrompt="1"/>
          </p:nvPr>
        </p:nvSpPr>
        <p:spPr>
          <a:xfrm>
            <a:off x="8338761"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29" name="Text Placeholder 4">
            <a:extLst>
              <a:ext uri="{FF2B5EF4-FFF2-40B4-BE49-F238E27FC236}">
                <a16:creationId xmlns:a16="http://schemas.microsoft.com/office/drawing/2014/main" id="{0DD79F07-8A50-4B0D-BDBB-4367D1D12FA0}"/>
              </a:ext>
            </a:extLst>
          </p:cNvPr>
          <p:cNvSpPr>
            <a:spLocks noGrp="1"/>
          </p:cNvSpPr>
          <p:nvPr>
            <p:ph type="body" sz="quarter" idx="15" hasCustomPrompt="1"/>
          </p:nvPr>
        </p:nvSpPr>
        <p:spPr>
          <a:xfrm>
            <a:off x="8338761"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30" name="Text Placeholder 9">
            <a:extLst>
              <a:ext uri="{FF2B5EF4-FFF2-40B4-BE49-F238E27FC236}">
                <a16:creationId xmlns:a16="http://schemas.microsoft.com/office/drawing/2014/main" id="{342390CD-71FF-409A-998F-CAD5E4F3C6A7}"/>
              </a:ext>
            </a:extLst>
          </p:cNvPr>
          <p:cNvSpPr>
            <a:spLocks noGrp="1"/>
          </p:cNvSpPr>
          <p:nvPr>
            <p:ph type="body" sz="quarter" idx="16" hasCustomPrompt="1"/>
          </p:nvPr>
        </p:nvSpPr>
        <p:spPr>
          <a:xfrm>
            <a:off x="8338761"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
        <p:nvSpPr>
          <p:cNvPr id="2" name="Picture Placeholder 23">
            <a:extLst>
              <a:ext uri="{FF2B5EF4-FFF2-40B4-BE49-F238E27FC236}">
                <a16:creationId xmlns:a16="http://schemas.microsoft.com/office/drawing/2014/main" id="{1D833EF4-E747-5BFC-D08B-359A0FD90AB7}"/>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bg1"/>
                </a:solidFill>
              </a:defRPr>
            </a:lvl1pPr>
          </a:lstStyle>
          <a:p>
            <a:r>
              <a:rPr lang="en-GB" dirty="0"/>
              <a:t>Place client logo here if needed</a:t>
            </a:r>
          </a:p>
        </p:txBody>
      </p:sp>
    </p:spTree>
    <p:extLst>
      <p:ext uri="{BB962C8B-B14F-4D97-AF65-F5344CB8AC3E}">
        <p14:creationId xmlns:p14="http://schemas.microsoft.com/office/powerpoint/2010/main" val="801310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6">
    <p:bg>
      <p:bgPr>
        <a:solidFill>
          <a:schemeClr val="tx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40560121-3C8F-45BC-8638-80F5DC784486}"/>
              </a:ext>
              <a:ext uri="{C183D7F6-B498-43B3-948B-1728B52AA6E4}">
                <adec:decorative xmlns:adec="http://schemas.microsoft.com/office/drawing/2017/decorative" val="1"/>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3" b="7813"/>
          <a:stretch/>
        </p:blipFill>
        <p:spPr>
          <a:xfrm>
            <a:off x="-1" y="-5"/>
            <a:ext cx="12191999" cy="6858000"/>
          </a:xfrm>
          <a:prstGeom prst="rect">
            <a:avLst/>
          </a:prstGeom>
        </p:spPr>
      </p:pic>
      <p:grpSp>
        <p:nvGrpSpPr>
          <p:cNvPr id="31" name="Group 30">
            <a:extLst>
              <a:ext uri="{FF2B5EF4-FFF2-40B4-BE49-F238E27FC236}">
                <a16:creationId xmlns:a16="http://schemas.microsoft.com/office/drawing/2014/main" id="{7AF0178D-E788-4736-90BC-AF8ECE6E25EE}"/>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32" name="Freeform: Shape 31">
              <a:extLst>
                <a:ext uri="{FF2B5EF4-FFF2-40B4-BE49-F238E27FC236}">
                  <a16:creationId xmlns:a16="http://schemas.microsoft.com/office/drawing/2014/main" id="{DC941E64-F765-4286-A42B-1BC3A24F1ACC}"/>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33" name="Freeform: Shape 32">
              <a:extLst>
                <a:ext uri="{FF2B5EF4-FFF2-40B4-BE49-F238E27FC236}">
                  <a16:creationId xmlns:a16="http://schemas.microsoft.com/office/drawing/2014/main" id="{C2968466-31E3-45BC-9B20-6E2AB47D061D}"/>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34" name="Freeform: Shape 33">
              <a:extLst>
                <a:ext uri="{FF2B5EF4-FFF2-40B4-BE49-F238E27FC236}">
                  <a16:creationId xmlns:a16="http://schemas.microsoft.com/office/drawing/2014/main" id="{7F808203-117E-494A-83AB-562ED723FFE9}"/>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35" name="Freeform: Shape 34">
              <a:extLst>
                <a:ext uri="{FF2B5EF4-FFF2-40B4-BE49-F238E27FC236}">
                  <a16:creationId xmlns:a16="http://schemas.microsoft.com/office/drawing/2014/main" id="{D3EC798F-9315-4D1D-948C-C990DF323F07}"/>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36" name="Freeform: Shape 35">
              <a:extLst>
                <a:ext uri="{FF2B5EF4-FFF2-40B4-BE49-F238E27FC236}">
                  <a16:creationId xmlns:a16="http://schemas.microsoft.com/office/drawing/2014/main" id="{C7A66205-67DC-443D-9414-D6FC3080E355}"/>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16" name="Graphic 15">
            <a:extLst>
              <a:ext uri="{FF2B5EF4-FFF2-40B4-BE49-F238E27FC236}">
                <a16:creationId xmlns:a16="http://schemas.microsoft.com/office/drawing/2014/main" id="{D02F153D-FDEB-4A09-92EF-CA9239B69928}"/>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00592" y="6241691"/>
            <a:ext cx="1204913" cy="155425"/>
          </a:xfrm>
          <a:prstGeom prst="rect">
            <a:avLst/>
          </a:prstGeom>
        </p:spPr>
      </p:pic>
      <p:sp>
        <p:nvSpPr>
          <p:cNvPr id="25" name="Title 1">
            <a:extLst>
              <a:ext uri="{FF2B5EF4-FFF2-40B4-BE49-F238E27FC236}">
                <a16:creationId xmlns:a16="http://schemas.microsoft.com/office/drawing/2014/main" id="{9AC95E5F-E4C2-4214-966D-946B7833AB3A}"/>
              </a:ext>
            </a:extLst>
          </p:cNvPr>
          <p:cNvSpPr>
            <a:spLocks noGrp="1"/>
          </p:cNvSpPr>
          <p:nvPr>
            <p:ph type="title" hasCustomPrompt="1"/>
          </p:nvPr>
        </p:nvSpPr>
        <p:spPr>
          <a:xfrm>
            <a:off x="1085548" y="4755595"/>
            <a:ext cx="5394105" cy="720197"/>
          </a:xfrm>
          <a:blipFill dpi="0" rotWithShape="1">
            <a:blip r:embed="rId5"/>
            <a:srcRect/>
            <a:stretch>
              <a:fillRect t="80000" b="16000"/>
            </a:stretch>
          </a:blipFill>
        </p:spPr>
        <p:txBody>
          <a:bodyPr vert="horz" wrap="none" lIns="0" tIns="0" rIns="0" bIns="274320" rtlCol="0" anchor="b">
            <a:spAutoFit/>
          </a:bodyPr>
          <a:lstStyle>
            <a:lvl1pPr>
              <a:defRPr lang="en-GB" sz="3200" u="none" dirty="0">
                <a:solidFill>
                  <a:schemeClr val="bg1"/>
                </a:solidFill>
                <a:uFill>
                  <a:solidFill>
                    <a:schemeClr val="accent1"/>
                  </a:solidFill>
                </a:uFill>
              </a:defRPr>
            </a:lvl1pPr>
          </a:lstStyle>
          <a:p>
            <a:pPr lvl="0"/>
            <a:r>
              <a:rPr lang="en-US" dirty="0"/>
              <a:t>Presentation title goes here</a:t>
            </a:r>
            <a:endParaRPr lang="en-GB" dirty="0"/>
          </a:p>
        </p:txBody>
      </p:sp>
      <p:sp>
        <p:nvSpPr>
          <p:cNvPr id="26" name="Text Placeholder 3">
            <a:extLst>
              <a:ext uri="{FF2B5EF4-FFF2-40B4-BE49-F238E27FC236}">
                <a16:creationId xmlns:a16="http://schemas.microsoft.com/office/drawing/2014/main" id="{7E285B1B-D9E4-430E-A1C6-FEDA9D9E3683}"/>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75000"/>
                  </a:schemeClr>
                </a:solidFill>
                <a:latin typeface="Century Gothic" panose="020B0502020202020204" pitchFamily="34" charset="0"/>
              </a:defRPr>
            </a:lvl1pPr>
          </a:lstStyle>
          <a:p>
            <a:pPr lvl="0"/>
            <a:r>
              <a:rPr lang="en-US" dirty="0"/>
              <a:t>Subtitle goes here</a:t>
            </a:r>
          </a:p>
        </p:txBody>
      </p:sp>
      <p:sp>
        <p:nvSpPr>
          <p:cNvPr id="28" name="Text Placeholder 2">
            <a:extLst>
              <a:ext uri="{FF2B5EF4-FFF2-40B4-BE49-F238E27FC236}">
                <a16:creationId xmlns:a16="http://schemas.microsoft.com/office/drawing/2014/main" id="{078DABAB-B018-4B06-A8AD-EB985D1C8C9C}"/>
              </a:ext>
            </a:extLst>
          </p:cNvPr>
          <p:cNvSpPr>
            <a:spLocks noGrp="1"/>
          </p:cNvSpPr>
          <p:nvPr>
            <p:ph type="body" sz="quarter" idx="14" hasCustomPrompt="1"/>
          </p:nvPr>
        </p:nvSpPr>
        <p:spPr>
          <a:xfrm>
            <a:off x="8338761"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29" name="Text Placeholder 4">
            <a:extLst>
              <a:ext uri="{FF2B5EF4-FFF2-40B4-BE49-F238E27FC236}">
                <a16:creationId xmlns:a16="http://schemas.microsoft.com/office/drawing/2014/main" id="{0DD79F07-8A50-4B0D-BDBB-4367D1D12FA0}"/>
              </a:ext>
            </a:extLst>
          </p:cNvPr>
          <p:cNvSpPr>
            <a:spLocks noGrp="1"/>
          </p:cNvSpPr>
          <p:nvPr>
            <p:ph type="body" sz="quarter" idx="15" hasCustomPrompt="1"/>
          </p:nvPr>
        </p:nvSpPr>
        <p:spPr>
          <a:xfrm>
            <a:off x="8338761"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30" name="Text Placeholder 9">
            <a:extLst>
              <a:ext uri="{FF2B5EF4-FFF2-40B4-BE49-F238E27FC236}">
                <a16:creationId xmlns:a16="http://schemas.microsoft.com/office/drawing/2014/main" id="{342390CD-71FF-409A-998F-CAD5E4F3C6A7}"/>
              </a:ext>
            </a:extLst>
          </p:cNvPr>
          <p:cNvSpPr>
            <a:spLocks noGrp="1"/>
          </p:cNvSpPr>
          <p:nvPr>
            <p:ph type="body" sz="quarter" idx="16" hasCustomPrompt="1"/>
          </p:nvPr>
        </p:nvSpPr>
        <p:spPr>
          <a:xfrm>
            <a:off x="8338761"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
        <p:nvSpPr>
          <p:cNvPr id="2" name="Picture Placeholder 23">
            <a:extLst>
              <a:ext uri="{FF2B5EF4-FFF2-40B4-BE49-F238E27FC236}">
                <a16:creationId xmlns:a16="http://schemas.microsoft.com/office/drawing/2014/main" id="{44C8C3C2-30AF-A88D-094B-FBEE9C073AE3}"/>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bg1"/>
                </a:solidFill>
              </a:defRPr>
            </a:lvl1pPr>
          </a:lstStyle>
          <a:p>
            <a:r>
              <a:rPr lang="en-GB" dirty="0"/>
              <a:t>Place client logo here if needed</a:t>
            </a:r>
          </a:p>
        </p:txBody>
      </p:sp>
    </p:spTree>
    <p:extLst>
      <p:ext uri="{BB962C8B-B14F-4D97-AF65-F5344CB8AC3E}">
        <p14:creationId xmlns:p14="http://schemas.microsoft.com/office/powerpoint/2010/main" val="3668924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 1">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842B89-6434-4A3A-B049-8E8800951E22}"/>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782872" y="2427879"/>
            <a:ext cx="4626266" cy="664797"/>
          </a:xfrm>
          <a:blipFill dpi="0" rotWithShape="1">
            <a:blip r:embed="rId2"/>
            <a:srcRect/>
            <a:stretch>
              <a:fillRect l="20000" t="80000" r="20000" b="16000"/>
            </a:stretch>
          </a:blipFill>
        </p:spPr>
        <p:txBody>
          <a:bodyPr wrap="none" bIns="274320" anchor="b">
            <a:spAutoFit/>
          </a:bodyPr>
          <a:lstStyle>
            <a:lvl1pPr algn="ctr">
              <a:defRPr sz="2800" b="0" u="none" baseline="0">
                <a:solidFill>
                  <a:schemeClr val="accent3"/>
                </a:solidFill>
                <a:uFill>
                  <a:solidFill>
                    <a:schemeClr val="accent1"/>
                  </a:solidFill>
                </a:uFill>
              </a:defRPr>
            </a:lvl1pPr>
          </a:lstStyle>
          <a:p>
            <a:r>
              <a:rPr lang="en-US" dirty="0"/>
              <a:t>Divider slide title goes here</a:t>
            </a:r>
            <a:endParaRPr lang="en-GB" dirty="0"/>
          </a:p>
        </p:txBody>
      </p:sp>
      <p:sp>
        <p:nvSpPr>
          <p:cNvPr id="5" name="TextBox 4">
            <a:extLst>
              <a:ext uri="{FF2B5EF4-FFF2-40B4-BE49-F238E27FC236}">
                <a16:creationId xmlns:a16="http://schemas.microsoft.com/office/drawing/2014/main" id="{270D0A6A-D4AA-79AF-A472-62EDEDD51ADC}"/>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924099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2">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A988C22-FD43-453E-B622-F08A115595BE}"/>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479103" y="2427879"/>
            <a:ext cx="5233804" cy="664797"/>
          </a:xfrm>
          <a:blipFill dpi="0" rotWithShape="1">
            <a:blip r:embed="rId2"/>
            <a:srcRect/>
            <a:stretch>
              <a:fillRect l="20000" t="80000" r="20000" b="16000"/>
            </a:stretch>
          </a:blipFill>
        </p:spPr>
        <p:txBody>
          <a:bodyPr wrap="none" bIns="274320" anchor="b">
            <a:spAutoFit/>
          </a:bodyPr>
          <a:lstStyle>
            <a:lvl1pPr algn="ctr">
              <a:defRPr sz="2800" b="0" u="none" baseline="0">
                <a:solidFill>
                  <a:schemeClr val="bg1"/>
                </a:solidFill>
                <a:uFill>
                  <a:solidFill>
                    <a:schemeClr val="accent1"/>
                  </a:solidFill>
                </a:uFill>
              </a:defRPr>
            </a:lvl1pPr>
          </a:lstStyle>
          <a:p>
            <a:r>
              <a:rPr lang="en-US" dirty="0"/>
              <a:t>Divider slide title goes here</a:t>
            </a:r>
            <a:endParaRPr lang="en-GB" dirty="0"/>
          </a:p>
        </p:txBody>
      </p:sp>
      <p:sp>
        <p:nvSpPr>
          <p:cNvPr id="3" name="TextBox 2">
            <a:extLst>
              <a:ext uri="{FF2B5EF4-FFF2-40B4-BE49-F238E27FC236}">
                <a16:creationId xmlns:a16="http://schemas.microsoft.com/office/drawing/2014/main" id="{1207F6F0-A519-7A0E-C0EB-C78D8AF66243}"/>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915903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3">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41C5A2-4BF5-4E3A-B1E1-6002F69D5743}"/>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sp>
        <p:nvSpPr>
          <p:cNvPr id="9" name="TextBox 8">
            <a:extLst>
              <a:ext uri="{FF2B5EF4-FFF2-40B4-BE49-F238E27FC236}">
                <a16:creationId xmlns:a16="http://schemas.microsoft.com/office/drawing/2014/main" id="{DFF00D75-40A8-4C32-9517-3F5B6838121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782872" y="2427879"/>
            <a:ext cx="4626266" cy="664797"/>
          </a:xfrm>
          <a:blipFill dpi="0" rotWithShape="1">
            <a:blip r:embed="rId3"/>
            <a:srcRect/>
            <a:stretch>
              <a:fillRect l="20000" t="80000" r="20000" b="16000"/>
            </a:stretch>
          </a:blipFill>
        </p:spPr>
        <p:txBody>
          <a:bodyPr wrap="none" bIns="274320" anchor="b">
            <a:spAutoFit/>
          </a:bodyPr>
          <a:lstStyle>
            <a:lvl1pPr algn="ctr">
              <a:defRPr sz="2800" b="0" u="none" baseline="0">
                <a:solidFill>
                  <a:schemeClr val="accent3"/>
                </a:solidFill>
                <a:uFill>
                  <a:solidFill>
                    <a:schemeClr val="accent1"/>
                  </a:solidFill>
                </a:uFill>
              </a:defRPr>
            </a:lvl1pPr>
          </a:lstStyle>
          <a:p>
            <a:r>
              <a:rPr lang="en-US" dirty="0"/>
              <a:t>Divider slide title goes here</a:t>
            </a:r>
            <a:endParaRPr lang="en-GB" dirty="0"/>
          </a:p>
        </p:txBody>
      </p:sp>
      <p:sp>
        <p:nvSpPr>
          <p:cNvPr id="3" name="TextBox 2">
            <a:extLst>
              <a:ext uri="{FF2B5EF4-FFF2-40B4-BE49-F238E27FC236}">
                <a16:creationId xmlns:a16="http://schemas.microsoft.com/office/drawing/2014/main" id="{15DD5CF0-01E0-DB39-B3E2-B6398D14BF1A}"/>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851033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Divider 4">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DCE3932-D351-41C6-AF8E-0B2D85A0E6DD}"/>
              </a:ext>
              <a:ext uri="{C183D7F6-B498-43B3-948B-1728B52AA6E4}">
                <adec:decorative xmlns:adec="http://schemas.microsoft.com/office/drawing/2017/decorative" val="1"/>
              </a:ext>
            </a:extLst>
          </p:cNvPr>
          <p:cNvPicPr>
            <a:picLocks noChangeAspect="1"/>
          </p:cNvPicPr>
          <p:nvPr userDrawn="1"/>
        </p:nvPicPr>
        <p:blipFill rotWithShape="1">
          <a:blip r:embed="rId2" cstate="email">
            <a:grayscl/>
            <a:alphaModFix amt="80000"/>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9" name="TextBox 8">
            <a:extLst>
              <a:ext uri="{FF2B5EF4-FFF2-40B4-BE49-F238E27FC236}">
                <a16:creationId xmlns:a16="http://schemas.microsoft.com/office/drawing/2014/main" id="{DFF00D75-40A8-4C32-9517-3F5B6838121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782872" y="2427879"/>
            <a:ext cx="4626266" cy="664797"/>
          </a:xfrm>
          <a:blipFill dpi="0" rotWithShape="1">
            <a:blip r:embed="rId3"/>
            <a:srcRect/>
            <a:stretch>
              <a:fillRect l="20000" t="80000" r="20000" b="16000"/>
            </a:stretch>
          </a:blipFill>
        </p:spPr>
        <p:txBody>
          <a:bodyPr wrap="none" bIns="274320" anchor="b">
            <a:spAutoFit/>
          </a:bodyPr>
          <a:lstStyle>
            <a:lvl1pPr algn="ctr">
              <a:defRPr sz="2800" b="0" u="none" baseline="0">
                <a:solidFill>
                  <a:schemeClr val="accent3"/>
                </a:solidFill>
                <a:uFill>
                  <a:solidFill>
                    <a:schemeClr val="accent1"/>
                  </a:solidFill>
                </a:uFill>
              </a:defRPr>
            </a:lvl1pPr>
          </a:lstStyle>
          <a:p>
            <a:r>
              <a:rPr lang="en-US" dirty="0"/>
              <a:t>Divider slide title goes here</a:t>
            </a:r>
            <a:endParaRPr lang="en-GB" dirty="0"/>
          </a:p>
        </p:txBody>
      </p:sp>
      <p:sp>
        <p:nvSpPr>
          <p:cNvPr id="2" name="TextBox 1">
            <a:extLst>
              <a:ext uri="{FF2B5EF4-FFF2-40B4-BE49-F238E27FC236}">
                <a16:creationId xmlns:a16="http://schemas.microsoft.com/office/drawing/2014/main" id="{636C76BA-E99A-A7F3-9B59-18494BC27B93}"/>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485465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ivider 5">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A26DB37-DAB3-450A-8219-7F566491027F}"/>
              </a:ext>
              <a:ext uri="{C183D7F6-B498-43B3-948B-1728B52AA6E4}">
                <adec:decorative xmlns:adec="http://schemas.microsoft.com/office/drawing/2017/decorative" val="1"/>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rcRect/>
          <a:stretch/>
        </p:blipFill>
        <p:spPr>
          <a:xfrm>
            <a:off x="5013" y="-5"/>
            <a:ext cx="12181973" cy="6858000"/>
          </a:xfrm>
          <a:prstGeom prst="rect">
            <a:avLst/>
          </a:prstGeom>
        </p:spPr>
      </p:pic>
      <p:sp>
        <p:nvSpPr>
          <p:cNvPr id="7" name="TextBox 6">
            <a:extLst>
              <a:ext uri="{FF2B5EF4-FFF2-40B4-BE49-F238E27FC236}">
                <a16:creationId xmlns:a16="http://schemas.microsoft.com/office/drawing/2014/main" id="{E66BFADD-8E3E-462E-8C5E-D84EFF3444A2}"/>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479103" y="2427879"/>
            <a:ext cx="5233804" cy="664797"/>
          </a:xfrm>
          <a:blipFill dpi="0" rotWithShape="1">
            <a:blip r:embed="rId3"/>
            <a:srcRect/>
            <a:stretch>
              <a:fillRect l="20000" t="80000" r="20000" b="16000"/>
            </a:stretch>
          </a:blipFill>
        </p:spPr>
        <p:txBody>
          <a:bodyPr wrap="none" bIns="274320" anchor="b">
            <a:spAutoFit/>
          </a:bodyPr>
          <a:lstStyle>
            <a:lvl1pPr algn="ctr">
              <a:defRPr sz="2800" b="0" u="none" baseline="0">
                <a:solidFill>
                  <a:schemeClr val="bg1"/>
                </a:solidFill>
                <a:uFill>
                  <a:solidFill>
                    <a:schemeClr val="accent1"/>
                  </a:solidFill>
                </a:uFill>
              </a:defRPr>
            </a:lvl1pPr>
          </a:lstStyle>
          <a:p>
            <a:r>
              <a:rPr lang="en-US" dirty="0"/>
              <a:t>Divider slide title goes here</a:t>
            </a:r>
            <a:endParaRPr lang="en-GB" dirty="0"/>
          </a:p>
        </p:txBody>
      </p:sp>
      <p:sp>
        <p:nvSpPr>
          <p:cNvPr id="2" name="TextBox 1">
            <a:extLst>
              <a:ext uri="{FF2B5EF4-FFF2-40B4-BE49-F238E27FC236}">
                <a16:creationId xmlns:a16="http://schemas.microsoft.com/office/drawing/2014/main" id="{1B586A2C-C411-25C2-DB2A-15F8563232B3}"/>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545280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Divider 6">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BFEFE9A-8949-43BD-B8EA-A1FEE7AE3251}"/>
              </a:ext>
              <a:ext uri="{C183D7F6-B498-43B3-948B-1728B52AA6E4}">
                <adec:decorative xmlns:adec="http://schemas.microsoft.com/office/drawing/2017/decorative" val="1"/>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3" b="7813"/>
          <a:stretch/>
        </p:blipFill>
        <p:spPr>
          <a:xfrm>
            <a:off x="-1" y="-5"/>
            <a:ext cx="12191999" cy="6858000"/>
          </a:xfrm>
          <a:prstGeom prst="rect">
            <a:avLst/>
          </a:prstGeom>
        </p:spPr>
      </p:pic>
      <p:sp>
        <p:nvSpPr>
          <p:cNvPr id="7" name="TextBox 6">
            <a:extLst>
              <a:ext uri="{FF2B5EF4-FFF2-40B4-BE49-F238E27FC236}">
                <a16:creationId xmlns:a16="http://schemas.microsoft.com/office/drawing/2014/main" id="{7A988C22-FD43-453E-B622-F08A115595BE}"/>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479103" y="2427879"/>
            <a:ext cx="5233804" cy="664797"/>
          </a:xfrm>
          <a:blipFill dpi="0" rotWithShape="1">
            <a:blip r:embed="rId3"/>
            <a:srcRect/>
            <a:stretch>
              <a:fillRect l="20000" t="80000" r="20000" b="16000"/>
            </a:stretch>
          </a:blipFill>
        </p:spPr>
        <p:txBody>
          <a:bodyPr wrap="none" bIns="274320" anchor="b">
            <a:spAutoFit/>
          </a:bodyPr>
          <a:lstStyle>
            <a:lvl1pPr algn="ctr">
              <a:defRPr sz="2800" b="0" u="none" baseline="0">
                <a:solidFill>
                  <a:schemeClr val="bg1"/>
                </a:solidFill>
                <a:uFill>
                  <a:solidFill>
                    <a:schemeClr val="accent1"/>
                  </a:solidFill>
                </a:uFill>
              </a:defRPr>
            </a:lvl1pPr>
          </a:lstStyle>
          <a:p>
            <a:r>
              <a:rPr lang="en-US" dirty="0"/>
              <a:t>Divider slide title goes here</a:t>
            </a:r>
            <a:endParaRPr lang="en-GB" dirty="0"/>
          </a:p>
        </p:txBody>
      </p:sp>
      <p:sp>
        <p:nvSpPr>
          <p:cNvPr id="2" name="TextBox 1">
            <a:extLst>
              <a:ext uri="{FF2B5EF4-FFF2-40B4-BE49-F238E27FC236}">
                <a16:creationId xmlns:a16="http://schemas.microsoft.com/office/drawing/2014/main" id="{1B72329F-0B4C-A5B2-F5B3-6574C2B697E4}"/>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990047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1">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EDEC939-85AE-4BE5-8FAB-5CD31FFF7BBA}"/>
              </a:ext>
              <a:ext uri="{C183D7F6-B498-43B3-948B-1728B52AA6E4}">
                <adec:decorative xmlns:adec="http://schemas.microsoft.com/office/drawing/2017/decorative" val="1"/>
              </a:ext>
            </a:extLst>
          </p:cNvPr>
          <p:cNvSpPr/>
          <p:nvPr userDrawn="1"/>
        </p:nvSpPr>
        <p:spPr>
          <a:xfrm>
            <a:off x="4800600" y="0"/>
            <a:ext cx="73914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5C9D780F-C3B6-4FD6-A35A-E53E78DFDF2B}"/>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7" name="Title 1">
            <a:extLst>
              <a:ext uri="{FF2B5EF4-FFF2-40B4-BE49-F238E27FC236}">
                <a16:creationId xmlns:a16="http://schemas.microsoft.com/office/drawing/2014/main" id="{9A8A817F-A3BB-A541-B694-B7C012DBAA20}"/>
              </a:ext>
            </a:extLst>
          </p:cNvPr>
          <p:cNvSpPr>
            <a:spLocks noGrp="1"/>
          </p:cNvSpPr>
          <p:nvPr>
            <p:ph type="title" hasCustomPrompt="1"/>
          </p:nvPr>
        </p:nvSpPr>
        <p:spPr>
          <a:xfrm>
            <a:off x="659438" y="1628775"/>
            <a:ext cx="3481722" cy="664797"/>
          </a:xfrm>
          <a:blipFill dpi="0" rotWithShape="1">
            <a:blip r:embed="rId2"/>
            <a:srcRect/>
            <a:stretch>
              <a:fillRect l="20000" t="80000" r="20000" b="16000"/>
            </a:stretch>
          </a:blipFill>
        </p:spPr>
        <p:txBody>
          <a:bodyPr wrap="none" bIns="274320" anchor="b">
            <a:spAutoFit/>
          </a:bodyPr>
          <a:lstStyle>
            <a:lvl1pPr algn="ctr">
              <a:defRPr sz="2800" b="0" u="none" baseline="0">
                <a:solidFill>
                  <a:schemeClr val="bg1"/>
                </a:solidFill>
                <a:uFill>
                  <a:solidFill>
                    <a:schemeClr val="accent1"/>
                  </a:solidFill>
                </a:uFill>
              </a:defRPr>
            </a:lvl1pPr>
          </a:lstStyle>
          <a:p>
            <a:r>
              <a:rPr lang="en-US" dirty="0"/>
              <a:t>Table of contents</a:t>
            </a:r>
            <a:endParaRPr lang="en-GB" dirty="0"/>
          </a:p>
        </p:txBody>
      </p:sp>
      <p:sp>
        <p:nvSpPr>
          <p:cNvPr id="2" name="TextBox 1">
            <a:extLst>
              <a:ext uri="{FF2B5EF4-FFF2-40B4-BE49-F238E27FC236}">
                <a16:creationId xmlns:a16="http://schemas.microsoft.com/office/drawing/2014/main" id="{DC35439D-DE79-2FF4-0719-26137C4A3F52}"/>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4272250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Agenda 2">
    <p:bg>
      <p:bgPr>
        <a:solidFill>
          <a:schemeClr val="tx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02F074B-01AE-403A-B072-3BA8AF0A4FFF}"/>
              </a:ext>
              <a:ext uri="{C183D7F6-B498-43B3-948B-1728B52AA6E4}">
                <adec:decorative xmlns:adec="http://schemas.microsoft.com/office/drawing/2017/decorative" val="1"/>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3" b="7813"/>
          <a:stretch/>
        </p:blipFill>
        <p:spPr>
          <a:xfrm>
            <a:off x="-1" y="-5"/>
            <a:ext cx="12191999" cy="6858000"/>
          </a:xfrm>
          <a:prstGeom prst="rect">
            <a:avLst/>
          </a:prstGeom>
        </p:spPr>
      </p:pic>
      <p:sp>
        <p:nvSpPr>
          <p:cNvPr id="16" name="Rectangle 15">
            <a:extLst>
              <a:ext uri="{FF2B5EF4-FFF2-40B4-BE49-F238E27FC236}">
                <a16:creationId xmlns:a16="http://schemas.microsoft.com/office/drawing/2014/main" id="{6F2D2211-0AAD-4892-8D07-53F00A70A20D}"/>
              </a:ext>
              <a:ext uri="{C183D7F6-B498-43B3-948B-1728B52AA6E4}">
                <adec:decorative xmlns:adec="http://schemas.microsoft.com/office/drawing/2017/decorative" val="1"/>
              </a:ext>
            </a:extLst>
          </p:cNvPr>
          <p:cNvSpPr/>
          <p:nvPr userDrawn="1"/>
        </p:nvSpPr>
        <p:spPr>
          <a:xfrm>
            <a:off x="4800600" y="0"/>
            <a:ext cx="73914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9B621346-FD56-42F3-8F70-CF5FFF5D188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7" name="Title 1">
            <a:extLst>
              <a:ext uri="{FF2B5EF4-FFF2-40B4-BE49-F238E27FC236}">
                <a16:creationId xmlns:a16="http://schemas.microsoft.com/office/drawing/2014/main" id="{9A8A817F-A3BB-A541-B694-B7C012DBAA20}"/>
              </a:ext>
            </a:extLst>
          </p:cNvPr>
          <p:cNvSpPr>
            <a:spLocks noGrp="1"/>
          </p:cNvSpPr>
          <p:nvPr>
            <p:ph type="title" hasCustomPrompt="1"/>
          </p:nvPr>
        </p:nvSpPr>
        <p:spPr>
          <a:xfrm>
            <a:off x="659438" y="1628775"/>
            <a:ext cx="3481722" cy="664797"/>
          </a:xfrm>
          <a:blipFill dpi="0" rotWithShape="1">
            <a:blip r:embed="rId3"/>
            <a:srcRect/>
            <a:stretch>
              <a:fillRect l="20000" t="80000" r="20000" b="16000"/>
            </a:stretch>
          </a:blipFill>
        </p:spPr>
        <p:txBody>
          <a:bodyPr wrap="none" bIns="274320" anchor="b">
            <a:spAutoFit/>
          </a:bodyPr>
          <a:lstStyle>
            <a:lvl1pPr algn="ctr">
              <a:defRPr sz="2800" b="0" u="none" baseline="0">
                <a:solidFill>
                  <a:schemeClr val="bg1"/>
                </a:solidFill>
                <a:uFill>
                  <a:solidFill>
                    <a:schemeClr val="accent1"/>
                  </a:solidFill>
                </a:uFill>
              </a:defRPr>
            </a:lvl1pPr>
          </a:lstStyle>
          <a:p>
            <a:r>
              <a:rPr lang="en-US" dirty="0"/>
              <a:t>Table of contents</a:t>
            </a:r>
            <a:endParaRPr lang="en-GB" dirty="0"/>
          </a:p>
        </p:txBody>
      </p:sp>
      <p:sp>
        <p:nvSpPr>
          <p:cNvPr id="2" name="TextBox 1">
            <a:extLst>
              <a:ext uri="{FF2B5EF4-FFF2-40B4-BE49-F238E27FC236}">
                <a16:creationId xmlns:a16="http://schemas.microsoft.com/office/drawing/2014/main" id="{2A6C79A3-8009-0411-ADCC-58CED091265C}"/>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009446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Black">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C01DEBC-3116-4ECA-94EF-E93345C8AE3F}"/>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13" name="Title Placeholder 1">
            <a:extLst>
              <a:ext uri="{FF2B5EF4-FFF2-40B4-BE49-F238E27FC236}">
                <a16:creationId xmlns:a16="http://schemas.microsoft.com/office/drawing/2014/main" id="{6C8ADDC2-4C84-FA48-BA04-D0FA072E2AA1}"/>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bg1"/>
                </a:solidFill>
              </a:defRPr>
            </a:lvl1pPr>
          </a:lstStyle>
          <a:p>
            <a:r>
              <a:rPr lang="en-US"/>
              <a:t>Click to edit Master title style</a:t>
            </a:r>
            <a:endParaRPr lang="en-GB" dirty="0"/>
          </a:p>
        </p:txBody>
      </p:sp>
      <p:sp>
        <p:nvSpPr>
          <p:cNvPr id="14" name="Text Placeholder 7">
            <a:extLst>
              <a:ext uri="{FF2B5EF4-FFF2-40B4-BE49-F238E27FC236}">
                <a16:creationId xmlns:a16="http://schemas.microsoft.com/office/drawing/2014/main" id="{1386D10F-E62E-174F-95D7-9B1BE0041276}"/>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dirty="0"/>
              <a:t>Subtitle goes here</a:t>
            </a:r>
          </a:p>
        </p:txBody>
      </p:sp>
      <p:sp>
        <p:nvSpPr>
          <p:cNvPr id="5" name="Text Placeholder 2">
            <a:extLst>
              <a:ext uri="{FF2B5EF4-FFF2-40B4-BE49-F238E27FC236}">
                <a16:creationId xmlns:a16="http://schemas.microsoft.com/office/drawing/2014/main" id="{E1E67912-0475-384F-A008-F57CB6F2F1F6}"/>
              </a:ext>
            </a:extLst>
          </p:cNvPr>
          <p:cNvSpPr>
            <a:spLocks noGrp="1"/>
          </p:cNvSpPr>
          <p:nvPr>
            <p:ph idx="1"/>
          </p:nvPr>
        </p:nvSpPr>
        <p:spPr>
          <a:xfrm>
            <a:off x="542647" y="1629968"/>
            <a:ext cx="11090275" cy="4608513"/>
          </a:xfrm>
          <a:prstGeom prst="rect">
            <a:avLst/>
          </a:prstGeom>
        </p:spPr>
        <p:txBody>
          <a:bodyPr vert="horz" lIns="0" tIns="0" rIns="0" bIns="0" rtlCol="0">
            <a:noAutofit/>
          </a:bodyPr>
          <a:lstStyle>
            <a:lvl1pPr>
              <a:defRPr b="0" i="0">
                <a:solidFill>
                  <a:schemeClr val="bg1"/>
                </a:solidFill>
                <a:latin typeface="+mn-lt"/>
              </a:defRPr>
            </a:lvl1pPr>
            <a:lvl2pPr>
              <a:defRPr b="0" i="0">
                <a:solidFill>
                  <a:schemeClr val="bg1"/>
                </a:solidFill>
                <a:latin typeface="+mn-lt"/>
              </a:defRPr>
            </a:lvl2pPr>
            <a:lvl3pPr>
              <a:buClr>
                <a:schemeClr val="accent5"/>
              </a:buClr>
              <a:defRPr b="0" i="0">
                <a:solidFill>
                  <a:schemeClr val="bg1"/>
                </a:solidFill>
                <a:latin typeface="+mn-lt"/>
              </a:defRPr>
            </a:lvl3pPr>
            <a:lvl4pPr>
              <a:buClr>
                <a:schemeClr val="accent5"/>
              </a:buClr>
              <a:defRPr b="0" i="0">
                <a:solidFill>
                  <a:schemeClr val="bg1"/>
                </a:solidFill>
                <a:latin typeface="+mn-lt"/>
              </a:defRPr>
            </a:lvl4pPr>
            <a:lvl5pPr>
              <a:buClr>
                <a:schemeClr val="accent5"/>
              </a:buCl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extBox 1">
            <a:extLst>
              <a:ext uri="{FF2B5EF4-FFF2-40B4-BE49-F238E27FC236}">
                <a16:creationId xmlns:a16="http://schemas.microsoft.com/office/drawing/2014/main" id="{08E1AEA2-BE50-540A-7B5E-D1E2010E1641}"/>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114749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wo Content Black">
    <p:bg>
      <p:bgPr>
        <a:solidFill>
          <a:schemeClr val="tx1"/>
        </a:soli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55AB2767-9D6B-4D29-8789-1E4E964FE745}"/>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8" name="Title Placeholder 1">
            <a:extLst>
              <a:ext uri="{FF2B5EF4-FFF2-40B4-BE49-F238E27FC236}">
                <a16:creationId xmlns:a16="http://schemas.microsoft.com/office/drawing/2014/main" id="{F44C7811-ECC7-4E4E-AFCB-53079BD19807}"/>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bg1"/>
                </a:solidFill>
              </a:defRPr>
            </a:lvl1pPr>
          </a:lstStyle>
          <a:p>
            <a:r>
              <a:rPr lang="en-US"/>
              <a:t>Click to edit Master title style</a:t>
            </a:r>
            <a:endParaRPr lang="en-GB"/>
          </a:p>
        </p:txBody>
      </p:sp>
      <p:sp>
        <p:nvSpPr>
          <p:cNvPr id="10" name="Text Placeholder 7">
            <a:extLst>
              <a:ext uri="{FF2B5EF4-FFF2-40B4-BE49-F238E27FC236}">
                <a16:creationId xmlns:a16="http://schemas.microsoft.com/office/drawing/2014/main" id="{7491D4D4-DFC5-BF42-9AB0-781CE13ECFB1}"/>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a:t>Subtitle goes here</a:t>
            </a:r>
          </a:p>
        </p:txBody>
      </p:sp>
      <p:sp>
        <p:nvSpPr>
          <p:cNvPr id="11" name="Text Placeholder 2">
            <a:extLst>
              <a:ext uri="{FF2B5EF4-FFF2-40B4-BE49-F238E27FC236}">
                <a16:creationId xmlns:a16="http://schemas.microsoft.com/office/drawing/2014/main" id="{B25676AD-22D9-4FBC-B440-877E120B2E8F}"/>
              </a:ext>
            </a:extLst>
          </p:cNvPr>
          <p:cNvSpPr>
            <a:spLocks noGrp="1"/>
          </p:cNvSpPr>
          <p:nvPr>
            <p:ph idx="11"/>
          </p:nvPr>
        </p:nvSpPr>
        <p:spPr>
          <a:xfrm>
            <a:off x="542648" y="1629968"/>
            <a:ext cx="5065776" cy="4608513"/>
          </a:xfrm>
          <a:prstGeom prst="rect">
            <a:avLst/>
          </a:prstGeom>
        </p:spPr>
        <p:txBody>
          <a:bodyPr vert="horz" lIns="0" tIns="0" rIns="0" bIns="0" rtlCol="0">
            <a:noAutofit/>
          </a:bodyPr>
          <a:lstStyle>
            <a:lvl1pPr>
              <a:defRPr b="0" i="0">
                <a:solidFill>
                  <a:schemeClr val="bg1"/>
                </a:solidFill>
                <a:latin typeface="+mn-lt"/>
              </a:defRPr>
            </a:lvl1pPr>
            <a:lvl2pPr>
              <a:defRPr b="0" i="0">
                <a:solidFill>
                  <a:schemeClr val="bg1"/>
                </a:solidFill>
                <a:latin typeface="+mn-lt"/>
              </a:defRPr>
            </a:lvl2pPr>
            <a:lvl3pPr>
              <a:buClr>
                <a:schemeClr val="accent5"/>
              </a:buClr>
              <a:defRPr b="0" i="0">
                <a:solidFill>
                  <a:schemeClr val="bg1"/>
                </a:solidFill>
                <a:latin typeface="+mn-lt"/>
              </a:defRPr>
            </a:lvl3pPr>
            <a:lvl4pPr>
              <a:buClr>
                <a:schemeClr val="accent5"/>
              </a:buClr>
              <a:defRPr b="0" i="0">
                <a:solidFill>
                  <a:schemeClr val="bg1"/>
                </a:solidFill>
                <a:latin typeface="+mn-lt"/>
              </a:defRPr>
            </a:lvl4pPr>
            <a:lvl5pPr>
              <a:buClr>
                <a:schemeClr val="accent5"/>
              </a:buCl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2">
            <a:extLst>
              <a:ext uri="{FF2B5EF4-FFF2-40B4-BE49-F238E27FC236}">
                <a16:creationId xmlns:a16="http://schemas.microsoft.com/office/drawing/2014/main" id="{EB42C910-6145-46AD-A679-868F9239CED2}"/>
              </a:ext>
            </a:extLst>
          </p:cNvPr>
          <p:cNvSpPr>
            <a:spLocks noGrp="1"/>
          </p:cNvSpPr>
          <p:nvPr>
            <p:ph idx="12"/>
          </p:nvPr>
        </p:nvSpPr>
        <p:spPr>
          <a:xfrm>
            <a:off x="6575870" y="1629968"/>
            <a:ext cx="5065776" cy="4608513"/>
          </a:xfrm>
          <a:prstGeom prst="rect">
            <a:avLst/>
          </a:prstGeom>
        </p:spPr>
        <p:txBody>
          <a:bodyPr vert="horz" lIns="0" tIns="0" rIns="0" bIns="0" rtlCol="0">
            <a:noAutofit/>
          </a:bodyPr>
          <a:lstStyle>
            <a:lvl1pPr>
              <a:defRPr b="0" i="0">
                <a:solidFill>
                  <a:schemeClr val="bg1"/>
                </a:solidFill>
                <a:latin typeface="+mn-lt"/>
              </a:defRPr>
            </a:lvl1pPr>
            <a:lvl2pPr>
              <a:defRPr b="0" i="0">
                <a:solidFill>
                  <a:schemeClr val="bg1"/>
                </a:solidFill>
                <a:latin typeface="+mn-lt"/>
              </a:defRPr>
            </a:lvl2pPr>
            <a:lvl3pPr>
              <a:buClr>
                <a:schemeClr val="accent5"/>
              </a:buClr>
              <a:defRPr b="0" i="0">
                <a:solidFill>
                  <a:schemeClr val="bg1"/>
                </a:solidFill>
                <a:latin typeface="+mn-lt"/>
              </a:defRPr>
            </a:lvl3pPr>
            <a:lvl4pPr>
              <a:buClr>
                <a:schemeClr val="accent5"/>
              </a:buClr>
              <a:defRPr b="0" i="0">
                <a:solidFill>
                  <a:schemeClr val="bg1"/>
                </a:solidFill>
                <a:latin typeface="+mn-lt"/>
              </a:defRPr>
            </a:lvl4pPr>
            <a:lvl5pPr>
              <a:buClr>
                <a:schemeClr val="accent5"/>
              </a:buCl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1BDC1FBC-7DEE-D04C-6D66-D3BF34B753A8}"/>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6266064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Only Black">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4691081-69FD-4D59-A5BC-51E826AFA60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13" name="Title Placeholder 1">
            <a:extLst>
              <a:ext uri="{FF2B5EF4-FFF2-40B4-BE49-F238E27FC236}">
                <a16:creationId xmlns:a16="http://schemas.microsoft.com/office/drawing/2014/main" id="{6C8ADDC2-4C84-FA48-BA04-D0FA072E2AA1}"/>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bg1"/>
                </a:solidFill>
              </a:defRPr>
            </a:lvl1pPr>
          </a:lstStyle>
          <a:p>
            <a:r>
              <a:rPr lang="en-US"/>
              <a:t>Click to edit Master title style</a:t>
            </a:r>
            <a:endParaRPr lang="en-GB" dirty="0"/>
          </a:p>
        </p:txBody>
      </p:sp>
      <p:sp>
        <p:nvSpPr>
          <p:cNvPr id="14" name="Text Placeholder 7">
            <a:extLst>
              <a:ext uri="{FF2B5EF4-FFF2-40B4-BE49-F238E27FC236}">
                <a16:creationId xmlns:a16="http://schemas.microsoft.com/office/drawing/2014/main" id="{1386D10F-E62E-174F-95D7-9B1BE0041276}"/>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dirty="0"/>
              <a:t>Subtitle goes here</a:t>
            </a:r>
          </a:p>
        </p:txBody>
      </p:sp>
      <p:sp>
        <p:nvSpPr>
          <p:cNvPr id="2" name="TextBox 1">
            <a:extLst>
              <a:ext uri="{FF2B5EF4-FFF2-40B4-BE49-F238E27FC236}">
                <a16:creationId xmlns:a16="http://schemas.microsoft.com/office/drawing/2014/main" id="{5DE5AAE8-F9E3-285B-2CE5-3F3222DC8F74}"/>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4670662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nk Black">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BEF94D5-5946-4398-B434-18D1ECCF59B9}"/>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2" name="TextBox 1">
            <a:extLst>
              <a:ext uri="{FF2B5EF4-FFF2-40B4-BE49-F238E27FC236}">
                <a16:creationId xmlns:a16="http://schemas.microsoft.com/office/drawing/2014/main" id="{1CEC351B-8063-79B6-2CEC-3CDD1708A63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499417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ntent White">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5CE49E90-5CFA-4F45-AB72-151510CE825F}"/>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9" name="Title Placeholder 1">
            <a:extLst>
              <a:ext uri="{FF2B5EF4-FFF2-40B4-BE49-F238E27FC236}">
                <a16:creationId xmlns:a16="http://schemas.microsoft.com/office/drawing/2014/main" id="{6D7443DB-B06E-4E5F-A4BC-D9AA9DF68064}"/>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tx1"/>
                </a:solidFill>
              </a:defRPr>
            </a:lvl1pPr>
          </a:lstStyle>
          <a:p>
            <a:r>
              <a:rPr lang="en-US"/>
              <a:t>Click to edit Master title style</a:t>
            </a:r>
            <a:endParaRPr lang="en-GB"/>
          </a:p>
        </p:txBody>
      </p:sp>
      <p:sp>
        <p:nvSpPr>
          <p:cNvPr id="10" name="Text Placeholder 7">
            <a:extLst>
              <a:ext uri="{FF2B5EF4-FFF2-40B4-BE49-F238E27FC236}">
                <a16:creationId xmlns:a16="http://schemas.microsoft.com/office/drawing/2014/main" id="{DE602716-57DF-48F3-AE26-B41D3C0A77A0}"/>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7" name="Text Placeholder 2">
            <a:extLst>
              <a:ext uri="{FF2B5EF4-FFF2-40B4-BE49-F238E27FC236}">
                <a16:creationId xmlns:a16="http://schemas.microsoft.com/office/drawing/2014/main" id="{C6B67007-3E56-6F41-A1C4-064534E2833A}"/>
              </a:ext>
            </a:extLst>
          </p:cNvPr>
          <p:cNvSpPr>
            <a:spLocks noGrp="1"/>
          </p:cNvSpPr>
          <p:nvPr>
            <p:ph idx="1"/>
          </p:nvPr>
        </p:nvSpPr>
        <p:spPr>
          <a:xfrm>
            <a:off x="542647" y="1629968"/>
            <a:ext cx="11090275" cy="4608513"/>
          </a:xfrm>
          <a:prstGeom prst="rect">
            <a:avLst/>
          </a:prstGeom>
        </p:spPr>
        <p:txBody>
          <a:bodyPr vert="horz" lIns="0" tIns="0" rIns="0" bIns="0" rtlCol="0">
            <a:noAutofit/>
          </a:bodyPr>
          <a:lstStyle>
            <a:lvl1pPr>
              <a:defRPr b="0" i="0">
                <a:solidFill>
                  <a:schemeClr val="accent3"/>
                </a:solidFill>
                <a:latin typeface="+mn-lt"/>
              </a:defRPr>
            </a:lvl1pPr>
            <a:lvl2pPr>
              <a:defRPr b="0" i="0">
                <a:solidFill>
                  <a:schemeClr val="accent3"/>
                </a:solidFill>
                <a:latin typeface="+mn-lt"/>
              </a:defRPr>
            </a:lvl2pPr>
            <a:lvl3pPr>
              <a:buClr>
                <a:schemeClr val="accent5"/>
              </a:buClr>
              <a:defRPr b="0" i="0">
                <a:solidFill>
                  <a:schemeClr val="accent3"/>
                </a:solidFill>
                <a:latin typeface="+mn-lt"/>
              </a:defRPr>
            </a:lvl3pPr>
            <a:lvl4pPr>
              <a:buClr>
                <a:schemeClr val="accent5"/>
              </a:buClr>
              <a:defRPr b="0" i="0">
                <a:solidFill>
                  <a:schemeClr val="accent3"/>
                </a:solidFill>
                <a:latin typeface="+mn-lt"/>
              </a:defRPr>
            </a:lvl4pPr>
            <a:lvl5pPr>
              <a:buClr>
                <a:schemeClr val="accent5"/>
              </a:buClr>
              <a:defRPr b="0" i="0">
                <a:solidFill>
                  <a:schemeClr val="accent3"/>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9715A0FA-C7F7-F72E-FEFD-69C2B6451A0F}"/>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7210908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wo Content White">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E5D48C8-2827-45EB-B799-2B3A1101346A}"/>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11" name="Title Placeholder 1">
            <a:extLst>
              <a:ext uri="{FF2B5EF4-FFF2-40B4-BE49-F238E27FC236}">
                <a16:creationId xmlns:a16="http://schemas.microsoft.com/office/drawing/2014/main" id="{AA9D364F-6233-41C6-8712-D9A0BE2AA920}"/>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tx1"/>
                </a:solidFill>
              </a:defRPr>
            </a:lvl1pPr>
          </a:lstStyle>
          <a:p>
            <a:r>
              <a:rPr lang="en-US"/>
              <a:t>Click to edit Master title style</a:t>
            </a:r>
            <a:endParaRPr lang="en-GB"/>
          </a:p>
        </p:txBody>
      </p:sp>
      <p:sp>
        <p:nvSpPr>
          <p:cNvPr id="13" name="Text Placeholder 7">
            <a:extLst>
              <a:ext uri="{FF2B5EF4-FFF2-40B4-BE49-F238E27FC236}">
                <a16:creationId xmlns:a16="http://schemas.microsoft.com/office/drawing/2014/main" id="{36D93810-B0D3-46A3-B739-FEA6E7EBD401}"/>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7" name="Text Placeholder 2">
            <a:extLst>
              <a:ext uri="{FF2B5EF4-FFF2-40B4-BE49-F238E27FC236}">
                <a16:creationId xmlns:a16="http://schemas.microsoft.com/office/drawing/2014/main" id="{03A16CAE-1742-48F2-80DC-4B8C5EABF2C0}"/>
              </a:ext>
            </a:extLst>
          </p:cNvPr>
          <p:cNvSpPr>
            <a:spLocks noGrp="1"/>
          </p:cNvSpPr>
          <p:nvPr>
            <p:ph idx="11"/>
          </p:nvPr>
        </p:nvSpPr>
        <p:spPr>
          <a:xfrm>
            <a:off x="542648" y="1629968"/>
            <a:ext cx="5065776" cy="4608513"/>
          </a:xfrm>
          <a:prstGeom prst="rect">
            <a:avLst/>
          </a:prstGeom>
        </p:spPr>
        <p:txBody>
          <a:bodyPr vert="horz" lIns="0" tIns="0" rIns="0" bIns="0" rtlCol="0">
            <a:noAutofit/>
          </a:bodyPr>
          <a:lstStyle>
            <a:lvl1pPr>
              <a:defRPr b="0" i="0">
                <a:solidFill>
                  <a:schemeClr val="accent3"/>
                </a:solidFill>
                <a:latin typeface="+mn-lt"/>
              </a:defRPr>
            </a:lvl1pPr>
            <a:lvl2pPr>
              <a:defRPr b="0" i="0">
                <a:solidFill>
                  <a:schemeClr val="accent3"/>
                </a:solidFill>
                <a:latin typeface="+mn-lt"/>
              </a:defRPr>
            </a:lvl2pPr>
            <a:lvl3pPr>
              <a:buClr>
                <a:schemeClr val="accent5"/>
              </a:buClr>
              <a:defRPr b="0" i="0">
                <a:solidFill>
                  <a:schemeClr val="accent3"/>
                </a:solidFill>
                <a:latin typeface="+mn-lt"/>
              </a:defRPr>
            </a:lvl3pPr>
            <a:lvl4pPr>
              <a:buClr>
                <a:schemeClr val="accent5"/>
              </a:buClr>
              <a:defRPr b="0" i="0">
                <a:solidFill>
                  <a:schemeClr val="accent3"/>
                </a:solidFill>
                <a:latin typeface="+mn-lt"/>
              </a:defRPr>
            </a:lvl4pPr>
            <a:lvl5pPr>
              <a:buClr>
                <a:schemeClr val="accent5"/>
              </a:buClr>
              <a:defRPr b="0" i="0">
                <a:solidFill>
                  <a:schemeClr val="accent3"/>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2">
            <a:extLst>
              <a:ext uri="{FF2B5EF4-FFF2-40B4-BE49-F238E27FC236}">
                <a16:creationId xmlns:a16="http://schemas.microsoft.com/office/drawing/2014/main" id="{6E4F60C4-48B6-475F-BFD4-A3405129D3F5}"/>
              </a:ext>
            </a:extLst>
          </p:cNvPr>
          <p:cNvSpPr>
            <a:spLocks noGrp="1"/>
          </p:cNvSpPr>
          <p:nvPr>
            <p:ph idx="12"/>
          </p:nvPr>
        </p:nvSpPr>
        <p:spPr>
          <a:xfrm>
            <a:off x="6575870" y="1629968"/>
            <a:ext cx="5065776" cy="4608513"/>
          </a:xfrm>
          <a:prstGeom prst="rect">
            <a:avLst/>
          </a:prstGeom>
        </p:spPr>
        <p:txBody>
          <a:bodyPr vert="horz" lIns="0" tIns="0" rIns="0" bIns="0" rtlCol="0">
            <a:noAutofit/>
          </a:bodyPr>
          <a:lstStyle>
            <a:lvl1pPr>
              <a:defRPr b="0" i="0">
                <a:solidFill>
                  <a:schemeClr val="accent3"/>
                </a:solidFill>
                <a:latin typeface="+mn-lt"/>
              </a:defRPr>
            </a:lvl1pPr>
            <a:lvl2pPr>
              <a:defRPr b="0" i="0">
                <a:solidFill>
                  <a:schemeClr val="accent3"/>
                </a:solidFill>
                <a:latin typeface="+mn-lt"/>
              </a:defRPr>
            </a:lvl2pPr>
            <a:lvl3pPr>
              <a:buClr>
                <a:schemeClr val="accent5"/>
              </a:buClr>
              <a:defRPr b="0" i="0">
                <a:solidFill>
                  <a:schemeClr val="accent3"/>
                </a:solidFill>
                <a:latin typeface="+mn-lt"/>
              </a:defRPr>
            </a:lvl3pPr>
            <a:lvl4pPr>
              <a:buClr>
                <a:schemeClr val="accent5"/>
              </a:buClr>
              <a:defRPr b="0" i="0">
                <a:solidFill>
                  <a:schemeClr val="accent3"/>
                </a:solidFill>
                <a:latin typeface="+mn-lt"/>
              </a:defRPr>
            </a:lvl4pPr>
            <a:lvl5pPr>
              <a:buClr>
                <a:schemeClr val="accent5"/>
              </a:buClr>
              <a:defRPr b="0" i="0">
                <a:solidFill>
                  <a:schemeClr val="accent3"/>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C70D864A-B365-E58E-3586-950F1BF2A282}"/>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8310409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Only Whit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8A7548-AA16-3593-93A7-1F1ABD9CBA3A}"/>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Placeholder 1">
            <a:extLst>
              <a:ext uri="{FF2B5EF4-FFF2-40B4-BE49-F238E27FC236}">
                <a16:creationId xmlns:a16="http://schemas.microsoft.com/office/drawing/2014/main" id="{5EBAC850-E144-452B-A918-94BB62332DBA}"/>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tx1"/>
                </a:solidFill>
              </a:defRPr>
            </a:lvl1pPr>
          </a:lstStyle>
          <a:p>
            <a:r>
              <a:rPr lang="en-US"/>
              <a:t>Click to edit Master title style</a:t>
            </a:r>
            <a:endParaRPr lang="en-GB" dirty="0"/>
          </a:p>
        </p:txBody>
      </p:sp>
      <p:sp>
        <p:nvSpPr>
          <p:cNvPr id="9" name="Text Placeholder 7">
            <a:extLst>
              <a:ext uri="{FF2B5EF4-FFF2-40B4-BE49-F238E27FC236}">
                <a16:creationId xmlns:a16="http://schemas.microsoft.com/office/drawing/2014/main" id="{A433161F-4F8F-42B9-84A4-AD534575A867}"/>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dirty="0"/>
              <a:t>Subtitle goes here</a:t>
            </a:r>
          </a:p>
        </p:txBody>
      </p:sp>
      <p:sp>
        <p:nvSpPr>
          <p:cNvPr id="4" name="TextBox 3">
            <a:extLst>
              <a:ext uri="{FF2B5EF4-FFF2-40B4-BE49-F238E27FC236}">
                <a16:creationId xmlns:a16="http://schemas.microsoft.com/office/drawing/2014/main" id="{3AD05BC8-84DE-BA7F-01A7-2DE8B0BA5791}"/>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6205999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Whit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728CCB-E3FE-4CB6-9A67-6E08B07E1044}"/>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2" name="TextBox 1">
            <a:extLst>
              <a:ext uri="{FF2B5EF4-FFF2-40B4-BE49-F238E27FC236}">
                <a16:creationId xmlns:a16="http://schemas.microsoft.com/office/drawing/2014/main" id="{F371300C-31D9-A960-132B-4008BB71B29D}"/>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8347206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Header">
    <p:bg>
      <p:bgPr>
        <a:solidFill>
          <a:schemeClr val="tx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53E47E5-0E7A-47D3-AC9D-FFF1F9055268}"/>
              </a:ext>
              <a:ext uri="{C183D7F6-B498-43B3-948B-1728B52AA6E4}">
                <adec:decorative xmlns:adec="http://schemas.microsoft.com/office/drawing/2017/decorative" val="1"/>
              </a:ext>
            </a:extLst>
          </p:cNvPr>
          <p:cNvPicPr>
            <a:picLocks/>
          </p:cNvPicPr>
          <p:nvPr userDrawn="1"/>
        </p:nvPicPr>
        <p:blipFill rotWithShape="1">
          <a:blip r:embed="rId2">
            <a:extLst>
              <a:ext uri="{28A0092B-C50C-407E-A947-70E740481C1C}">
                <a14:useLocalDpi xmlns:a14="http://schemas.microsoft.com/office/drawing/2010/main" val="0"/>
              </a:ext>
            </a:extLst>
          </a:blip>
          <a:srcRect t="75" b="75"/>
          <a:stretch/>
        </p:blipFill>
        <p:spPr>
          <a:xfrm>
            <a:off x="0" y="-1"/>
            <a:ext cx="12192000" cy="6858000"/>
          </a:xfrm>
          <a:prstGeom prst="rect">
            <a:avLst/>
          </a:prstGeom>
        </p:spPr>
      </p:pic>
      <p:sp>
        <p:nvSpPr>
          <p:cNvPr id="13" name="Rectangle 12">
            <a:extLst>
              <a:ext uri="{FF2B5EF4-FFF2-40B4-BE49-F238E27FC236}">
                <a16:creationId xmlns:a16="http://schemas.microsoft.com/office/drawing/2014/main" id="{15830C04-824F-4446-BF96-66F3759BFDC2}"/>
              </a:ext>
              <a:ext uri="{C183D7F6-B498-43B3-948B-1728B52AA6E4}">
                <adec:decorative xmlns:adec="http://schemas.microsoft.com/office/drawing/2017/decorative" val="1"/>
              </a:ext>
            </a:extLst>
          </p:cNvPr>
          <p:cNvSpPr/>
          <p:nvPr userDrawn="1"/>
        </p:nvSpPr>
        <p:spPr>
          <a:xfrm>
            <a:off x="0" y="1374775"/>
            <a:ext cx="12192000" cy="5483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7322154-4559-4860-AD81-A183BF19A2F2}"/>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9" name="Title Placeholder 1">
            <a:extLst>
              <a:ext uri="{FF2B5EF4-FFF2-40B4-BE49-F238E27FC236}">
                <a16:creationId xmlns:a16="http://schemas.microsoft.com/office/drawing/2014/main" id="{DACC7256-B7E9-4862-8DD8-559B79F4E829}"/>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bg1"/>
                </a:solidFill>
              </a:defRPr>
            </a:lvl1pPr>
          </a:lstStyle>
          <a:p>
            <a:r>
              <a:rPr lang="en-US"/>
              <a:t>Click to edit Master title style</a:t>
            </a:r>
            <a:endParaRPr lang="en-GB"/>
          </a:p>
        </p:txBody>
      </p:sp>
      <p:sp>
        <p:nvSpPr>
          <p:cNvPr id="10" name="Text Placeholder 7">
            <a:extLst>
              <a:ext uri="{FF2B5EF4-FFF2-40B4-BE49-F238E27FC236}">
                <a16:creationId xmlns:a16="http://schemas.microsoft.com/office/drawing/2014/main" id="{A0CEA65A-B7A1-4C50-8002-0B775AFACAC5}"/>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a:t>Subtitle goes here</a:t>
            </a:r>
          </a:p>
        </p:txBody>
      </p:sp>
      <p:sp>
        <p:nvSpPr>
          <p:cNvPr id="7" name="Text Placeholder 2">
            <a:extLst>
              <a:ext uri="{FF2B5EF4-FFF2-40B4-BE49-F238E27FC236}">
                <a16:creationId xmlns:a16="http://schemas.microsoft.com/office/drawing/2014/main" id="{C6B67007-3E56-6F41-A1C4-064534E2833A}"/>
              </a:ext>
            </a:extLst>
          </p:cNvPr>
          <p:cNvSpPr>
            <a:spLocks noGrp="1"/>
          </p:cNvSpPr>
          <p:nvPr>
            <p:ph idx="1"/>
          </p:nvPr>
        </p:nvSpPr>
        <p:spPr>
          <a:xfrm>
            <a:off x="542647" y="1629968"/>
            <a:ext cx="11090275" cy="4608513"/>
          </a:xfrm>
          <a:prstGeom prst="rect">
            <a:avLst/>
          </a:prstGeom>
        </p:spPr>
        <p:txBody>
          <a:bodyPr vert="horz" lIns="0" tIns="0" rIns="0" bIns="0" rtlCol="0">
            <a:noAutofit/>
          </a:bodyPr>
          <a:lstStyle>
            <a:lvl1pPr>
              <a:defRPr b="0" i="0">
                <a:solidFill>
                  <a:schemeClr val="accent3"/>
                </a:solidFill>
                <a:latin typeface="+mn-lt"/>
              </a:defRPr>
            </a:lvl1pPr>
            <a:lvl2pPr>
              <a:defRPr b="0" i="0">
                <a:solidFill>
                  <a:schemeClr val="accent3"/>
                </a:solidFill>
                <a:latin typeface="+mn-lt"/>
              </a:defRPr>
            </a:lvl2pPr>
            <a:lvl3pPr>
              <a:buClr>
                <a:schemeClr val="accent5"/>
              </a:buClr>
              <a:defRPr b="0" i="0">
                <a:solidFill>
                  <a:schemeClr val="accent3"/>
                </a:solidFill>
                <a:latin typeface="+mn-lt"/>
              </a:defRPr>
            </a:lvl3pPr>
            <a:lvl4pPr>
              <a:buClr>
                <a:schemeClr val="accent5"/>
              </a:buClr>
              <a:defRPr b="0" i="0">
                <a:solidFill>
                  <a:schemeClr val="accent3"/>
                </a:solidFill>
                <a:latin typeface="+mn-lt"/>
              </a:defRPr>
            </a:lvl4pPr>
            <a:lvl5pPr>
              <a:buClr>
                <a:schemeClr val="accent5"/>
              </a:buClr>
              <a:defRPr b="0" i="0">
                <a:solidFill>
                  <a:schemeClr val="accent3"/>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C4478881-64C2-0651-4B4F-2058783F6216}"/>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3633255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Only Header">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ECE8E6C-72F7-4817-8AED-69C1E2869C7D}"/>
              </a:ext>
              <a:ext uri="{C183D7F6-B498-43B3-948B-1728B52AA6E4}">
                <adec:decorative xmlns:adec="http://schemas.microsoft.com/office/drawing/2017/decorative" val="1"/>
              </a:ext>
            </a:extLst>
          </p:cNvPr>
          <p:cNvPicPr>
            <a:picLocks/>
          </p:cNvPicPr>
          <p:nvPr userDrawn="1"/>
        </p:nvPicPr>
        <p:blipFill rotWithShape="1">
          <a:blip r:embed="rId2">
            <a:extLst>
              <a:ext uri="{28A0092B-C50C-407E-A947-70E740481C1C}">
                <a14:useLocalDpi xmlns:a14="http://schemas.microsoft.com/office/drawing/2010/main" val="0"/>
              </a:ext>
            </a:extLst>
          </a:blip>
          <a:srcRect t="75" b="75"/>
          <a:stretch/>
        </p:blipFill>
        <p:spPr>
          <a:xfrm>
            <a:off x="0" y="-1"/>
            <a:ext cx="12192000" cy="6858000"/>
          </a:xfrm>
          <a:prstGeom prst="rect">
            <a:avLst/>
          </a:prstGeom>
        </p:spPr>
      </p:pic>
      <p:sp>
        <p:nvSpPr>
          <p:cNvPr id="2" name="Rectangle 1">
            <a:extLst>
              <a:ext uri="{FF2B5EF4-FFF2-40B4-BE49-F238E27FC236}">
                <a16:creationId xmlns:a16="http://schemas.microsoft.com/office/drawing/2014/main" id="{ADB2BCC8-D8C7-4311-8E24-9D7D2AB45E3A}"/>
              </a:ext>
              <a:ext uri="{C183D7F6-B498-43B3-948B-1728B52AA6E4}">
                <adec:decorative xmlns:adec="http://schemas.microsoft.com/office/drawing/2017/decorative" val="1"/>
              </a:ext>
            </a:extLst>
          </p:cNvPr>
          <p:cNvSpPr/>
          <p:nvPr userDrawn="1"/>
        </p:nvSpPr>
        <p:spPr>
          <a:xfrm>
            <a:off x="0" y="1374775"/>
            <a:ext cx="12192000" cy="5483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E513B6A-6C28-46E0-93D0-6A847CF6B47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9" name="Title Placeholder 1">
            <a:extLst>
              <a:ext uri="{FF2B5EF4-FFF2-40B4-BE49-F238E27FC236}">
                <a16:creationId xmlns:a16="http://schemas.microsoft.com/office/drawing/2014/main" id="{DACC7256-B7E9-4862-8DD8-559B79F4E829}"/>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bg1"/>
                </a:solidFill>
              </a:defRPr>
            </a:lvl1pPr>
          </a:lstStyle>
          <a:p>
            <a:r>
              <a:rPr lang="en-US"/>
              <a:t>Click to edit Master title style</a:t>
            </a:r>
            <a:endParaRPr lang="en-GB"/>
          </a:p>
        </p:txBody>
      </p:sp>
      <p:sp>
        <p:nvSpPr>
          <p:cNvPr id="10" name="Text Placeholder 7">
            <a:extLst>
              <a:ext uri="{FF2B5EF4-FFF2-40B4-BE49-F238E27FC236}">
                <a16:creationId xmlns:a16="http://schemas.microsoft.com/office/drawing/2014/main" id="{A0CEA65A-B7A1-4C50-8002-0B775AFACAC5}"/>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a:t>Subtitle goes here</a:t>
            </a:r>
          </a:p>
        </p:txBody>
      </p:sp>
      <p:sp>
        <p:nvSpPr>
          <p:cNvPr id="3" name="TextBox 2">
            <a:extLst>
              <a:ext uri="{FF2B5EF4-FFF2-40B4-BE49-F238E27FC236}">
                <a16:creationId xmlns:a16="http://schemas.microsoft.com/office/drawing/2014/main" id="{702BF8CD-7065-AB49-69E5-A4C2881D884F}"/>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0474094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amp; Small Image">
    <p:spTree>
      <p:nvGrpSpPr>
        <p:cNvPr id="1" name=""/>
        <p:cNvGrpSpPr/>
        <p:nvPr/>
      </p:nvGrpSpPr>
      <p:grpSpPr>
        <a:xfrm>
          <a:off x="0" y="0"/>
          <a:ext cx="0" cy="0"/>
          <a:chOff x="0" y="0"/>
          <a:chExt cx="0" cy="0"/>
        </a:xfrm>
      </p:grpSpPr>
      <p:sp>
        <p:nvSpPr>
          <p:cNvPr id="12" name="Picture Placeholder 6">
            <a:extLst>
              <a:ext uri="{FF2B5EF4-FFF2-40B4-BE49-F238E27FC236}">
                <a16:creationId xmlns:a16="http://schemas.microsoft.com/office/drawing/2014/main" id="{536A26BA-6333-454B-9129-A69F99259A6E}"/>
              </a:ext>
              <a:ext uri="{C183D7F6-B498-43B3-948B-1728B52AA6E4}">
                <adec:decorative xmlns:adec="http://schemas.microsoft.com/office/drawing/2017/decorative" val="1"/>
              </a:ext>
            </a:extLst>
          </p:cNvPr>
          <p:cNvSpPr>
            <a:spLocks noGrp="1"/>
          </p:cNvSpPr>
          <p:nvPr>
            <p:ph type="pic" sz="quarter" idx="17"/>
          </p:nvPr>
        </p:nvSpPr>
        <p:spPr>
          <a:xfrm>
            <a:off x="0" y="0"/>
            <a:ext cx="4541003" cy="6858000"/>
          </a:xfrm>
          <a:solidFill>
            <a:schemeClr val="tx1"/>
          </a:solidFill>
          <a:ln>
            <a:noFill/>
          </a:ln>
        </p:spPr>
        <p:txBody>
          <a:bodyPr anchor="ctr"/>
          <a:lstStyle>
            <a:lvl1pPr algn="ctr">
              <a:defRPr b="0" i="0">
                <a:solidFill>
                  <a:schemeClr val="bg1"/>
                </a:solidFill>
              </a:defRPr>
            </a:lvl1pPr>
          </a:lstStyle>
          <a:p>
            <a:r>
              <a:rPr lang="en-US"/>
              <a:t>Click icon to add picture</a:t>
            </a:r>
          </a:p>
        </p:txBody>
      </p:sp>
      <p:sp>
        <p:nvSpPr>
          <p:cNvPr id="11" name="TextBox 10">
            <a:extLst>
              <a:ext uri="{FF2B5EF4-FFF2-40B4-BE49-F238E27FC236}">
                <a16:creationId xmlns:a16="http://schemas.microsoft.com/office/drawing/2014/main" id="{3272E8A5-F9DB-784E-A892-32E597B71BEA}"/>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2" name="Title 1">
            <a:extLst>
              <a:ext uri="{FF2B5EF4-FFF2-40B4-BE49-F238E27FC236}">
                <a16:creationId xmlns:a16="http://schemas.microsoft.com/office/drawing/2014/main" id="{15144576-850E-414C-8E25-EB0EBE7F76E5}"/>
              </a:ext>
            </a:extLst>
          </p:cNvPr>
          <p:cNvSpPr>
            <a:spLocks noGrp="1"/>
          </p:cNvSpPr>
          <p:nvPr>
            <p:ph type="title" hasCustomPrompt="1"/>
          </p:nvPr>
        </p:nvSpPr>
        <p:spPr>
          <a:xfrm>
            <a:off x="5021629" y="381387"/>
            <a:ext cx="6619330" cy="664797"/>
          </a:xfrm>
        </p:spPr>
        <p:txBody>
          <a:bodyPr>
            <a:spAutoFit/>
          </a:bodyPr>
          <a:lstStyle>
            <a:lvl1pPr>
              <a:lnSpc>
                <a:spcPct val="90000"/>
              </a:lnSpc>
              <a:defRPr/>
            </a:lvl1pPr>
          </a:lstStyle>
          <a:p>
            <a:r>
              <a:rPr lang="en-US"/>
              <a:t>Click to edit Master title style</a:t>
            </a:r>
            <a:br>
              <a:rPr lang="en-US"/>
            </a:br>
            <a:r>
              <a:rPr lang="en-US"/>
              <a:t>can be two lines</a:t>
            </a:r>
            <a:endParaRPr lang="en-GB"/>
          </a:p>
        </p:txBody>
      </p:sp>
      <p:sp>
        <p:nvSpPr>
          <p:cNvPr id="9" name="Text Placeholder 7">
            <a:extLst>
              <a:ext uri="{FF2B5EF4-FFF2-40B4-BE49-F238E27FC236}">
                <a16:creationId xmlns:a16="http://schemas.microsoft.com/office/drawing/2014/main" id="{16173A2D-3D12-7546-ABC9-798CE57B7ED9}"/>
              </a:ext>
            </a:extLst>
          </p:cNvPr>
          <p:cNvSpPr>
            <a:spLocks noGrp="1"/>
          </p:cNvSpPr>
          <p:nvPr>
            <p:ph type="body" sz="quarter" idx="10" hasCustomPrompt="1"/>
          </p:nvPr>
        </p:nvSpPr>
        <p:spPr>
          <a:xfrm>
            <a:off x="5021629" y="1157250"/>
            <a:ext cx="6619330" cy="276999"/>
          </a:xfrm>
        </p:spPr>
        <p:txBody>
          <a:bodyPr>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13" name="Content Placeholder 2">
            <a:extLst>
              <a:ext uri="{FF2B5EF4-FFF2-40B4-BE49-F238E27FC236}">
                <a16:creationId xmlns:a16="http://schemas.microsoft.com/office/drawing/2014/main" id="{565FB3A7-DFC6-4198-A420-238EEE862C3E}"/>
              </a:ext>
            </a:extLst>
          </p:cNvPr>
          <p:cNvSpPr>
            <a:spLocks noGrp="1"/>
          </p:cNvSpPr>
          <p:nvPr>
            <p:ph idx="16"/>
          </p:nvPr>
        </p:nvSpPr>
        <p:spPr>
          <a:xfrm>
            <a:off x="5021629" y="1641777"/>
            <a:ext cx="6619687" cy="4608513"/>
          </a:xfrm>
        </p:spPr>
        <p:txBody>
          <a:bodyPr>
            <a:noAutofit/>
          </a:bodyPr>
          <a:lstStyle>
            <a:lvl1pPr>
              <a:defRPr sz="1200" b="0" i="0"/>
            </a:lvl1pPr>
            <a:lvl2pPr>
              <a:defRPr sz="1100" b="0" i="0"/>
            </a:lvl2pPr>
            <a:lvl3pPr>
              <a:buClr>
                <a:schemeClr val="accent5"/>
              </a:buClr>
              <a:defRPr sz="1100" b="0" i="0"/>
            </a:lvl3pPr>
            <a:lvl4pPr>
              <a:buClr>
                <a:schemeClr val="accent5"/>
              </a:buClr>
              <a:defRPr sz="1000" b="0" i="0"/>
            </a:lvl4pPr>
            <a:lvl5pPr>
              <a:buClr>
                <a:schemeClr val="accent5"/>
              </a:buClr>
              <a:defRPr sz="10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extBox 2">
            <a:extLst>
              <a:ext uri="{FF2B5EF4-FFF2-40B4-BE49-F238E27FC236}">
                <a16:creationId xmlns:a16="http://schemas.microsoft.com/office/drawing/2014/main" id="{78569AA7-A78B-BE98-02C8-B2FB3749FF2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407629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amp; Large Image">
    <p:spTree>
      <p:nvGrpSpPr>
        <p:cNvPr id="1" name=""/>
        <p:cNvGrpSpPr/>
        <p:nvPr/>
      </p:nvGrpSpPr>
      <p:grpSpPr>
        <a:xfrm>
          <a:off x="0" y="0"/>
          <a:ext cx="0" cy="0"/>
          <a:chOff x="0" y="0"/>
          <a:chExt cx="0" cy="0"/>
        </a:xfrm>
      </p:grpSpPr>
      <p:sp>
        <p:nvSpPr>
          <p:cNvPr id="17" name="Picture Placeholder 12">
            <a:extLst>
              <a:ext uri="{FF2B5EF4-FFF2-40B4-BE49-F238E27FC236}">
                <a16:creationId xmlns:a16="http://schemas.microsoft.com/office/drawing/2014/main" id="{F2852101-96E6-48D2-9B72-9BAD8CA88EA3}"/>
              </a:ext>
              <a:ext uri="{C183D7F6-B498-43B3-948B-1728B52AA6E4}">
                <adec:decorative xmlns:adec="http://schemas.microsoft.com/office/drawing/2017/decorative" val="1"/>
              </a:ext>
            </a:extLst>
          </p:cNvPr>
          <p:cNvSpPr>
            <a:spLocks noGrp="1"/>
          </p:cNvSpPr>
          <p:nvPr>
            <p:ph type="pic" sz="quarter" idx="14"/>
          </p:nvPr>
        </p:nvSpPr>
        <p:spPr>
          <a:xfrm>
            <a:off x="0" y="0"/>
            <a:ext cx="6614784" cy="6858000"/>
          </a:xfrm>
          <a:solidFill>
            <a:schemeClr val="tx1"/>
          </a:solidFill>
        </p:spPr>
        <p:txBody>
          <a:bodyPr anchor="ctr"/>
          <a:lstStyle>
            <a:lvl1pPr algn="ctr">
              <a:defRPr b="0" i="0">
                <a:solidFill>
                  <a:schemeClr val="bg1"/>
                </a:solidFill>
              </a:defRPr>
            </a:lvl1pPr>
          </a:lstStyle>
          <a:p>
            <a:r>
              <a:rPr lang="en-US"/>
              <a:t>Click icon to add picture</a:t>
            </a:r>
            <a:endParaRPr lang="en-GB"/>
          </a:p>
        </p:txBody>
      </p:sp>
      <p:sp>
        <p:nvSpPr>
          <p:cNvPr id="9" name="TextBox 8">
            <a:extLst>
              <a:ext uri="{FF2B5EF4-FFF2-40B4-BE49-F238E27FC236}">
                <a16:creationId xmlns:a16="http://schemas.microsoft.com/office/drawing/2014/main" id="{CE78A84B-6B7F-3F4B-A48C-24529EB0BEC2}"/>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16" name="Title 1">
            <a:extLst>
              <a:ext uri="{FF2B5EF4-FFF2-40B4-BE49-F238E27FC236}">
                <a16:creationId xmlns:a16="http://schemas.microsoft.com/office/drawing/2014/main" id="{43599993-ECCA-48C1-8E41-BB20F5CF0EC9}"/>
              </a:ext>
            </a:extLst>
          </p:cNvPr>
          <p:cNvSpPr>
            <a:spLocks noGrp="1"/>
          </p:cNvSpPr>
          <p:nvPr>
            <p:ph type="title" hasCustomPrompt="1"/>
          </p:nvPr>
        </p:nvSpPr>
        <p:spPr>
          <a:xfrm>
            <a:off x="6953249" y="365125"/>
            <a:ext cx="4691996" cy="664797"/>
          </a:xfrm>
        </p:spPr>
        <p:txBody>
          <a:bodyPr anchor="t" anchorCtr="0">
            <a:spAutoFit/>
          </a:bodyPr>
          <a:lstStyle>
            <a:lvl1pPr>
              <a:lnSpc>
                <a:spcPct val="90000"/>
              </a:lnSpc>
              <a:defRPr/>
            </a:lvl1pPr>
          </a:lstStyle>
          <a:p>
            <a:r>
              <a:rPr lang="en-US"/>
              <a:t>Click to edit Master title style can be two lines</a:t>
            </a:r>
            <a:endParaRPr lang="en-GB"/>
          </a:p>
        </p:txBody>
      </p:sp>
      <p:sp>
        <p:nvSpPr>
          <p:cNvPr id="18" name="Text Placeholder 7">
            <a:extLst>
              <a:ext uri="{FF2B5EF4-FFF2-40B4-BE49-F238E27FC236}">
                <a16:creationId xmlns:a16="http://schemas.microsoft.com/office/drawing/2014/main" id="{9FA1314A-625E-4943-B43C-FDC9D623B4A8}"/>
              </a:ext>
            </a:extLst>
          </p:cNvPr>
          <p:cNvSpPr>
            <a:spLocks noGrp="1"/>
          </p:cNvSpPr>
          <p:nvPr>
            <p:ph type="body" sz="quarter" idx="10" hasCustomPrompt="1"/>
          </p:nvPr>
        </p:nvSpPr>
        <p:spPr>
          <a:xfrm>
            <a:off x="6949142" y="1144329"/>
            <a:ext cx="4691995" cy="276999"/>
          </a:xfrm>
        </p:spPr>
        <p:txBody>
          <a:bodyPr anchor="t" anchorCtr="0">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13" name="Content Placeholder 2">
            <a:extLst>
              <a:ext uri="{FF2B5EF4-FFF2-40B4-BE49-F238E27FC236}">
                <a16:creationId xmlns:a16="http://schemas.microsoft.com/office/drawing/2014/main" id="{565FB3A7-DFC6-4198-A420-238EEE862C3E}"/>
              </a:ext>
            </a:extLst>
          </p:cNvPr>
          <p:cNvSpPr>
            <a:spLocks noGrp="1"/>
          </p:cNvSpPr>
          <p:nvPr>
            <p:ph idx="16"/>
          </p:nvPr>
        </p:nvSpPr>
        <p:spPr>
          <a:xfrm>
            <a:off x="6949142" y="1641777"/>
            <a:ext cx="4692174" cy="4608513"/>
          </a:xfrm>
        </p:spPr>
        <p:txBody>
          <a:bodyPr>
            <a:noAutofit/>
          </a:bodyPr>
          <a:lstStyle>
            <a:lvl1pPr>
              <a:defRPr sz="1200" b="0" i="0"/>
            </a:lvl1pPr>
            <a:lvl2pPr>
              <a:defRPr sz="1100" b="0" i="0"/>
            </a:lvl2pPr>
            <a:lvl3pPr>
              <a:buClr>
                <a:schemeClr val="accent5"/>
              </a:buClr>
              <a:defRPr sz="1100" b="0" i="0"/>
            </a:lvl3pPr>
            <a:lvl4pPr>
              <a:buClr>
                <a:schemeClr val="accent5"/>
              </a:buClr>
              <a:defRPr sz="1000" b="0" i="0"/>
            </a:lvl4pPr>
            <a:lvl5pPr>
              <a:buClr>
                <a:schemeClr val="accent5"/>
              </a:buClr>
              <a:defRPr sz="10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F6E611D8-C88F-55DC-AF50-DDC1AFA72B86}"/>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6926672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ustom Layout 1">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17639EE-8135-4BFC-9D3A-6AEB76BC34EF}"/>
              </a:ext>
              <a:ext uri="{C183D7F6-B498-43B3-948B-1728B52AA6E4}">
                <adec:decorative xmlns:adec="http://schemas.microsoft.com/office/drawing/2017/decorative" val="1"/>
              </a:ext>
            </a:extLst>
          </p:cNvPr>
          <p:cNvPicPr>
            <a:picLocks noChangeAspect="1"/>
          </p:cNvPicPr>
          <p:nvPr userDrawn="1"/>
        </p:nvPicPr>
        <p:blipFill rotWithShape="1">
          <a:blip r:embed="rId2" cstate="email">
            <a:grayscl/>
            <a:alphaModFix amt="80000"/>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13" name="TextBox 12">
            <a:extLst>
              <a:ext uri="{FF2B5EF4-FFF2-40B4-BE49-F238E27FC236}">
                <a16:creationId xmlns:a16="http://schemas.microsoft.com/office/drawing/2014/main" id="{C2BD9DA9-DCBB-48EF-9512-AFC0D25F250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10" name="Title Placeholder 1">
            <a:extLst>
              <a:ext uri="{FF2B5EF4-FFF2-40B4-BE49-F238E27FC236}">
                <a16:creationId xmlns:a16="http://schemas.microsoft.com/office/drawing/2014/main" id="{F99AAA5E-5BA8-4FC1-B51B-ACBC0A983C09}"/>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tx1"/>
                </a:solidFill>
              </a:defRPr>
            </a:lvl1pPr>
          </a:lstStyle>
          <a:p>
            <a:r>
              <a:rPr lang="en-US"/>
              <a:t>Click to edit Master title style</a:t>
            </a:r>
            <a:endParaRPr lang="en-GB"/>
          </a:p>
        </p:txBody>
      </p:sp>
      <p:sp>
        <p:nvSpPr>
          <p:cNvPr id="11" name="Text Placeholder 7">
            <a:extLst>
              <a:ext uri="{FF2B5EF4-FFF2-40B4-BE49-F238E27FC236}">
                <a16:creationId xmlns:a16="http://schemas.microsoft.com/office/drawing/2014/main" id="{37934683-6931-4841-BFED-E8B53DEDE6F0}"/>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7" name="Text Placeholder 2">
            <a:extLst>
              <a:ext uri="{FF2B5EF4-FFF2-40B4-BE49-F238E27FC236}">
                <a16:creationId xmlns:a16="http://schemas.microsoft.com/office/drawing/2014/main" id="{C6B67007-3E56-6F41-A1C4-064534E2833A}"/>
              </a:ext>
            </a:extLst>
          </p:cNvPr>
          <p:cNvSpPr>
            <a:spLocks noGrp="1"/>
          </p:cNvSpPr>
          <p:nvPr>
            <p:ph idx="1"/>
          </p:nvPr>
        </p:nvSpPr>
        <p:spPr>
          <a:xfrm>
            <a:off x="542647" y="1629968"/>
            <a:ext cx="11090275" cy="4608513"/>
          </a:xfrm>
          <a:prstGeom prst="rect">
            <a:avLst/>
          </a:prstGeom>
        </p:spPr>
        <p:txBody>
          <a:bodyPr vert="horz" lIns="0" tIns="0" rIns="0" bIns="0" rtlCol="0">
            <a:noAutofit/>
          </a:bodyPr>
          <a:lstStyle>
            <a:lvl1pPr>
              <a:defRPr b="0" i="0">
                <a:solidFill>
                  <a:schemeClr val="accent3"/>
                </a:solidFill>
                <a:latin typeface="+mn-lt"/>
              </a:defRPr>
            </a:lvl1pPr>
            <a:lvl2pPr>
              <a:defRPr b="0" i="0">
                <a:solidFill>
                  <a:schemeClr val="accent3"/>
                </a:solidFill>
                <a:latin typeface="+mn-lt"/>
              </a:defRPr>
            </a:lvl2pPr>
            <a:lvl3pPr>
              <a:buClr>
                <a:schemeClr val="accent5"/>
              </a:buClr>
              <a:defRPr b="0" i="0">
                <a:solidFill>
                  <a:schemeClr val="accent3"/>
                </a:solidFill>
                <a:latin typeface="+mn-lt"/>
              </a:defRPr>
            </a:lvl3pPr>
            <a:lvl4pPr>
              <a:buClr>
                <a:schemeClr val="accent5"/>
              </a:buClr>
              <a:defRPr b="0" i="0">
                <a:solidFill>
                  <a:schemeClr val="accent3"/>
                </a:solidFill>
                <a:latin typeface="+mn-lt"/>
              </a:defRPr>
            </a:lvl4pPr>
            <a:lvl5pPr>
              <a:buClr>
                <a:schemeClr val="accent5"/>
              </a:buClr>
              <a:defRPr b="0" i="0">
                <a:solidFill>
                  <a:schemeClr val="accent3"/>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CFF20600-BE81-AA9C-9C47-AE21A42A89F8}"/>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5350665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Content Black">
    <p:bg>
      <p:bgPr>
        <a:solidFill>
          <a:schemeClr val="tx1"/>
        </a:solidFill>
        <a:effectLst/>
      </p:bgPr>
    </p:bg>
    <p:spTree>
      <p:nvGrpSpPr>
        <p:cNvPr id="1" name=""/>
        <p:cNvGrpSpPr/>
        <p:nvPr/>
      </p:nvGrpSpPr>
      <p:grpSpPr>
        <a:xfrm>
          <a:off x="0" y="0"/>
          <a:ext cx="0" cy="0"/>
          <a:chOff x="0" y="0"/>
          <a:chExt cx="0" cy="0"/>
        </a:xfrm>
      </p:grpSpPr>
      <p:sp>
        <p:nvSpPr>
          <p:cNvPr id="15" name="Picture Placeholder 16">
            <a:extLst>
              <a:ext uri="{FF2B5EF4-FFF2-40B4-BE49-F238E27FC236}">
                <a16:creationId xmlns:a16="http://schemas.microsoft.com/office/drawing/2014/main" id="{76CE307B-7B41-40F2-9134-2FDAD5AB9EED}"/>
              </a:ext>
              <a:ext uri="{C183D7F6-B498-43B3-948B-1728B52AA6E4}">
                <adec:decorative xmlns:adec="http://schemas.microsoft.com/office/drawing/2017/decorative" val="1"/>
              </a:ext>
            </a:extLst>
          </p:cNvPr>
          <p:cNvSpPr>
            <a:spLocks noGrp="1"/>
          </p:cNvSpPr>
          <p:nvPr>
            <p:ph type="pic" sz="quarter" idx="14" hasCustomPrompt="1"/>
          </p:nvPr>
        </p:nvSpPr>
        <p:spPr>
          <a:xfrm rot="5400000">
            <a:off x="2926672" y="3414014"/>
            <a:ext cx="4480560" cy="27432"/>
          </a:xfrm>
          <a:solidFill>
            <a:schemeClr val="accent3"/>
          </a:solidFill>
          <a:ln>
            <a:noFill/>
          </a:ln>
        </p:spPr>
        <p:txBody>
          <a:bodyPr/>
          <a:lstStyle>
            <a:lvl1pPr>
              <a:defRPr b="0" i="0"/>
            </a:lvl1pPr>
          </a:lstStyle>
          <a:p>
            <a:r>
              <a:rPr lang="en-US" dirty="0"/>
              <a:t> </a:t>
            </a:r>
          </a:p>
        </p:txBody>
      </p:sp>
      <p:sp>
        <p:nvSpPr>
          <p:cNvPr id="16" name="Title Placeholder 1">
            <a:extLst>
              <a:ext uri="{FF2B5EF4-FFF2-40B4-BE49-F238E27FC236}">
                <a16:creationId xmlns:a16="http://schemas.microsoft.com/office/drawing/2014/main" id="{356C258B-25D3-4ED4-A295-CDBBDD1287FA}"/>
              </a:ext>
            </a:extLst>
          </p:cNvPr>
          <p:cNvSpPr>
            <a:spLocks noGrp="1"/>
          </p:cNvSpPr>
          <p:nvPr>
            <p:ph type="title" hasCustomPrompt="1"/>
          </p:nvPr>
        </p:nvSpPr>
        <p:spPr>
          <a:xfrm>
            <a:off x="546755" y="1187450"/>
            <a:ext cx="4087158" cy="664797"/>
          </a:xfrm>
          <a:prstGeom prst="rect">
            <a:avLst/>
          </a:prstGeom>
        </p:spPr>
        <p:txBody>
          <a:bodyPr vert="horz" lIns="0" tIns="0" rIns="0" bIns="0" rtlCol="0" anchor="t" anchorCtr="0">
            <a:spAutoFit/>
          </a:bodyPr>
          <a:lstStyle>
            <a:lvl1pPr algn="r">
              <a:lnSpc>
                <a:spcPct val="90000"/>
              </a:lnSpc>
              <a:defRPr cap="none" baseline="0">
                <a:solidFill>
                  <a:schemeClr val="bg1"/>
                </a:solidFill>
              </a:defRPr>
            </a:lvl1pPr>
          </a:lstStyle>
          <a:p>
            <a:r>
              <a:rPr lang="en-US" dirty="0"/>
              <a:t>Click to edit Master title style can be two lines</a:t>
            </a:r>
            <a:endParaRPr lang="en-GB" dirty="0"/>
          </a:p>
        </p:txBody>
      </p:sp>
      <p:sp>
        <p:nvSpPr>
          <p:cNvPr id="17" name="Text Placeholder 7">
            <a:extLst>
              <a:ext uri="{FF2B5EF4-FFF2-40B4-BE49-F238E27FC236}">
                <a16:creationId xmlns:a16="http://schemas.microsoft.com/office/drawing/2014/main" id="{DC61FCC4-7FF4-4D39-9D8F-EF7944B82E62}"/>
              </a:ext>
            </a:extLst>
          </p:cNvPr>
          <p:cNvSpPr>
            <a:spLocks noGrp="1"/>
          </p:cNvSpPr>
          <p:nvPr>
            <p:ph type="body" sz="quarter" idx="15" hasCustomPrompt="1"/>
          </p:nvPr>
        </p:nvSpPr>
        <p:spPr>
          <a:xfrm>
            <a:off x="546755" y="1982999"/>
            <a:ext cx="4087158" cy="276999"/>
          </a:xfrm>
        </p:spPr>
        <p:txBody>
          <a:bodyPr wrap="square" anchor="t" anchorCtr="0">
            <a:spAutoFit/>
          </a:bodyPr>
          <a:lstStyle>
            <a:lvl1pPr algn="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dirty="0"/>
              <a:t>Subtitle goes here</a:t>
            </a:r>
          </a:p>
        </p:txBody>
      </p:sp>
      <p:sp>
        <p:nvSpPr>
          <p:cNvPr id="9" name="Text Placeholder 8">
            <a:extLst>
              <a:ext uri="{FF2B5EF4-FFF2-40B4-BE49-F238E27FC236}">
                <a16:creationId xmlns:a16="http://schemas.microsoft.com/office/drawing/2014/main" id="{06474618-5F3F-452B-8D18-95E07FD6C432}"/>
              </a:ext>
            </a:extLst>
          </p:cNvPr>
          <p:cNvSpPr>
            <a:spLocks noGrp="1"/>
          </p:cNvSpPr>
          <p:nvPr>
            <p:ph type="body" sz="quarter" idx="11"/>
          </p:nvPr>
        </p:nvSpPr>
        <p:spPr>
          <a:xfrm>
            <a:off x="5743575" y="1187450"/>
            <a:ext cx="5898072" cy="2241550"/>
          </a:xfrm>
        </p:spPr>
        <p:txBody>
          <a:bodyPr>
            <a:normAutofit/>
          </a:bodyPr>
          <a:lstStyle>
            <a:lvl1pPr>
              <a:defRPr sz="1200" b="0" i="0">
                <a:solidFill>
                  <a:schemeClr val="bg1"/>
                </a:solidFill>
              </a:defRPr>
            </a:lvl1pPr>
            <a:lvl2pPr>
              <a:defRPr sz="1100" b="0" i="0">
                <a:solidFill>
                  <a:schemeClr val="bg1"/>
                </a:solidFill>
              </a:defRPr>
            </a:lvl2pPr>
            <a:lvl3pPr>
              <a:buClr>
                <a:schemeClr val="accent5"/>
              </a:buClr>
              <a:defRPr sz="1100" b="0" i="0">
                <a:solidFill>
                  <a:schemeClr val="bg1"/>
                </a:solidFill>
              </a:defRPr>
            </a:lvl3pPr>
            <a:lvl4pPr>
              <a:buClr>
                <a:schemeClr val="accent5"/>
              </a:buClr>
              <a:defRPr sz="1000" b="0" i="0">
                <a:solidFill>
                  <a:schemeClr val="bg1"/>
                </a:solidFill>
              </a:defRPr>
            </a:lvl4pPr>
            <a:lvl5pPr>
              <a:buClr>
                <a:schemeClr val="accent5"/>
              </a:buClr>
              <a:defRPr sz="1000" b="0" i="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8">
            <a:extLst>
              <a:ext uri="{FF2B5EF4-FFF2-40B4-BE49-F238E27FC236}">
                <a16:creationId xmlns:a16="http://schemas.microsoft.com/office/drawing/2014/main" id="{D0633ECB-BC07-45B8-A9BD-06F698C4F3A7}"/>
              </a:ext>
            </a:extLst>
          </p:cNvPr>
          <p:cNvSpPr>
            <a:spLocks noGrp="1"/>
          </p:cNvSpPr>
          <p:nvPr>
            <p:ph type="body" sz="quarter" idx="13"/>
          </p:nvPr>
        </p:nvSpPr>
        <p:spPr>
          <a:xfrm>
            <a:off x="5743575" y="3713673"/>
            <a:ext cx="5898072" cy="2241550"/>
          </a:xfrm>
        </p:spPr>
        <p:txBody>
          <a:bodyPr>
            <a:normAutofit/>
          </a:bodyPr>
          <a:lstStyle>
            <a:lvl1pPr>
              <a:defRPr sz="1200" b="0" i="0">
                <a:solidFill>
                  <a:schemeClr val="bg1"/>
                </a:solidFill>
              </a:defRPr>
            </a:lvl1pPr>
            <a:lvl2pPr>
              <a:defRPr sz="1100" b="0" i="0">
                <a:solidFill>
                  <a:schemeClr val="bg1"/>
                </a:solidFill>
              </a:defRPr>
            </a:lvl2pPr>
            <a:lvl3pPr>
              <a:buClr>
                <a:schemeClr val="accent5"/>
              </a:buClr>
              <a:defRPr sz="1100" b="0" i="0">
                <a:solidFill>
                  <a:schemeClr val="bg1"/>
                </a:solidFill>
              </a:defRPr>
            </a:lvl3pPr>
            <a:lvl4pPr>
              <a:buClr>
                <a:schemeClr val="accent5"/>
              </a:buClr>
              <a:defRPr sz="1000" b="0" i="0">
                <a:solidFill>
                  <a:schemeClr val="bg1"/>
                </a:solidFill>
              </a:defRPr>
            </a:lvl4pPr>
            <a:lvl5pPr>
              <a:buClr>
                <a:schemeClr val="accent5"/>
              </a:buClr>
              <a:defRPr sz="1000" b="0" i="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522959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Content White">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CC390D2B-B1AA-4E1A-9146-D0936DD1ADC1}"/>
              </a:ext>
            </a:extLst>
          </p:cNvPr>
          <p:cNvSpPr>
            <a:spLocks noGrp="1"/>
          </p:cNvSpPr>
          <p:nvPr>
            <p:ph type="pic" sz="quarter" idx="14" hasCustomPrompt="1"/>
          </p:nvPr>
        </p:nvSpPr>
        <p:spPr>
          <a:xfrm rot="5400000">
            <a:off x="2925604" y="3415284"/>
            <a:ext cx="4480560" cy="27432"/>
          </a:xfrm>
          <a:solidFill>
            <a:schemeClr val="bg1">
              <a:lumMod val="85000"/>
            </a:schemeClr>
          </a:solidFill>
          <a:ln>
            <a:noFill/>
          </a:ln>
        </p:spPr>
        <p:txBody>
          <a:bodyPr/>
          <a:lstStyle>
            <a:lvl1pPr>
              <a:defRPr b="0" i="0"/>
            </a:lvl1pPr>
          </a:lstStyle>
          <a:p>
            <a:r>
              <a:rPr lang="en-US" dirty="0"/>
              <a:t> </a:t>
            </a:r>
          </a:p>
        </p:txBody>
      </p:sp>
      <p:sp>
        <p:nvSpPr>
          <p:cNvPr id="13" name="Title Placeholder 1">
            <a:extLst>
              <a:ext uri="{FF2B5EF4-FFF2-40B4-BE49-F238E27FC236}">
                <a16:creationId xmlns:a16="http://schemas.microsoft.com/office/drawing/2014/main" id="{05068985-C2C0-4801-9E87-E1490F64C956}"/>
              </a:ext>
            </a:extLst>
          </p:cNvPr>
          <p:cNvSpPr>
            <a:spLocks noGrp="1"/>
          </p:cNvSpPr>
          <p:nvPr>
            <p:ph type="title" hasCustomPrompt="1"/>
          </p:nvPr>
        </p:nvSpPr>
        <p:spPr>
          <a:xfrm>
            <a:off x="546755" y="1187450"/>
            <a:ext cx="4087158" cy="642936"/>
          </a:xfrm>
          <a:prstGeom prst="rect">
            <a:avLst/>
          </a:prstGeom>
        </p:spPr>
        <p:txBody>
          <a:bodyPr vert="horz" lIns="0" tIns="0" rIns="0" bIns="0" rtlCol="0" anchor="t" anchorCtr="0">
            <a:noAutofit/>
          </a:bodyPr>
          <a:lstStyle>
            <a:lvl1pPr algn="r">
              <a:lnSpc>
                <a:spcPct val="90000"/>
              </a:lnSpc>
              <a:defRPr cap="none" baseline="0">
                <a:solidFill>
                  <a:schemeClr val="tx1"/>
                </a:solidFill>
              </a:defRPr>
            </a:lvl1pPr>
          </a:lstStyle>
          <a:p>
            <a:r>
              <a:rPr lang="en-US" dirty="0"/>
              <a:t>Click to edit Master title style can be two lines</a:t>
            </a:r>
            <a:endParaRPr lang="en-GB" dirty="0"/>
          </a:p>
        </p:txBody>
      </p:sp>
      <p:sp>
        <p:nvSpPr>
          <p:cNvPr id="18" name="Text Placeholder 7">
            <a:extLst>
              <a:ext uri="{FF2B5EF4-FFF2-40B4-BE49-F238E27FC236}">
                <a16:creationId xmlns:a16="http://schemas.microsoft.com/office/drawing/2014/main" id="{180A09E2-04B2-432D-9462-4896B04332F8}"/>
              </a:ext>
            </a:extLst>
          </p:cNvPr>
          <p:cNvSpPr>
            <a:spLocks noGrp="1"/>
          </p:cNvSpPr>
          <p:nvPr>
            <p:ph type="body" sz="quarter" idx="15" hasCustomPrompt="1"/>
          </p:nvPr>
        </p:nvSpPr>
        <p:spPr>
          <a:xfrm>
            <a:off x="546755" y="1967261"/>
            <a:ext cx="4087158" cy="276999"/>
          </a:xfrm>
        </p:spPr>
        <p:txBody>
          <a:bodyPr wrap="square" anchor="t" anchorCtr="0">
            <a:spAutoFit/>
          </a:bodyPr>
          <a:lstStyle>
            <a:lvl1pPr algn="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dirty="0"/>
              <a:t>Subtitle goes here</a:t>
            </a:r>
          </a:p>
        </p:txBody>
      </p:sp>
      <p:sp>
        <p:nvSpPr>
          <p:cNvPr id="10" name="Text Placeholder 8">
            <a:extLst>
              <a:ext uri="{FF2B5EF4-FFF2-40B4-BE49-F238E27FC236}">
                <a16:creationId xmlns:a16="http://schemas.microsoft.com/office/drawing/2014/main" id="{850B5BAD-6C1D-4697-8ABA-6976187FDB6F}"/>
              </a:ext>
            </a:extLst>
          </p:cNvPr>
          <p:cNvSpPr>
            <a:spLocks noGrp="1"/>
          </p:cNvSpPr>
          <p:nvPr>
            <p:ph type="body" sz="quarter" idx="11"/>
          </p:nvPr>
        </p:nvSpPr>
        <p:spPr>
          <a:xfrm>
            <a:off x="5743575" y="1187450"/>
            <a:ext cx="5678488" cy="2241550"/>
          </a:xfrm>
        </p:spPr>
        <p:txBody>
          <a:bodyPr>
            <a:normAutofit/>
          </a:bodyPr>
          <a:lstStyle>
            <a:lvl1pPr>
              <a:defRPr sz="1200" b="0" i="0">
                <a:solidFill>
                  <a:schemeClr val="accent3"/>
                </a:solidFill>
              </a:defRPr>
            </a:lvl1pPr>
            <a:lvl2pPr>
              <a:defRPr sz="1100" b="0" i="0">
                <a:solidFill>
                  <a:schemeClr val="accent3"/>
                </a:solidFill>
              </a:defRPr>
            </a:lvl2pPr>
            <a:lvl3pPr>
              <a:buClr>
                <a:schemeClr val="accent5"/>
              </a:buClr>
              <a:defRPr sz="1100" b="0" i="0">
                <a:solidFill>
                  <a:schemeClr val="accent3"/>
                </a:solidFill>
              </a:defRPr>
            </a:lvl3pPr>
            <a:lvl4pPr>
              <a:buClr>
                <a:schemeClr val="accent5"/>
              </a:buClr>
              <a:defRPr sz="1000" b="0" i="0">
                <a:solidFill>
                  <a:schemeClr val="accent3"/>
                </a:solidFill>
              </a:defRPr>
            </a:lvl4pPr>
            <a:lvl5pPr>
              <a:buClr>
                <a:schemeClr val="accent5"/>
              </a:buClr>
              <a:defRPr sz="1000" b="0" i="0">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8">
            <a:extLst>
              <a:ext uri="{FF2B5EF4-FFF2-40B4-BE49-F238E27FC236}">
                <a16:creationId xmlns:a16="http://schemas.microsoft.com/office/drawing/2014/main" id="{5119AA07-E8E3-498D-BD9D-3FC258E79060}"/>
              </a:ext>
            </a:extLst>
          </p:cNvPr>
          <p:cNvSpPr>
            <a:spLocks noGrp="1"/>
          </p:cNvSpPr>
          <p:nvPr>
            <p:ph type="body" sz="quarter" idx="13"/>
          </p:nvPr>
        </p:nvSpPr>
        <p:spPr>
          <a:xfrm>
            <a:off x="5743575" y="3713673"/>
            <a:ext cx="5678488" cy="2241550"/>
          </a:xfrm>
        </p:spPr>
        <p:txBody>
          <a:bodyPr>
            <a:normAutofit/>
          </a:bodyPr>
          <a:lstStyle>
            <a:lvl1pPr>
              <a:defRPr sz="1200" b="0" i="0">
                <a:solidFill>
                  <a:schemeClr val="accent3"/>
                </a:solidFill>
              </a:defRPr>
            </a:lvl1pPr>
            <a:lvl2pPr>
              <a:defRPr sz="1100" b="0" i="0">
                <a:solidFill>
                  <a:schemeClr val="accent3"/>
                </a:solidFill>
              </a:defRPr>
            </a:lvl2pPr>
            <a:lvl3pPr>
              <a:buClr>
                <a:schemeClr val="accent5"/>
              </a:buClr>
              <a:defRPr sz="1100" b="0" i="0">
                <a:solidFill>
                  <a:schemeClr val="accent3"/>
                </a:solidFill>
              </a:defRPr>
            </a:lvl3pPr>
            <a:lvl4pPr>
              <a:buClr>
                <a:schemeClr val="accent5"/>
              </a:buClr>
              <a:defRPr sz="1000" b="0" i="0">
                <a:solidFill>
                  <a:schemeClr val="accent3"/>
                </a:solidFill>
              </a:defRPr>
            </a:lvl4pPr>
            <a:lvl5pPr>
              <a:buClr>
                <a:schemeClr val="accent5"/>
              </a:buClr>
              <a:defRPr sz="1000" b="0" i="0">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12078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Capco Services and Solution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172B90-F3DC-43C0-89F3-8DE17A9513CD}"/>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sp>
        <p:nvSpPr>
          <p:cNvPr id="84" name="Rounded Rectangle 108">
            <a:extLst>
              <a:ext uri="{FF2B5EF4-FFF2-40B4-BE49-F238E27FC236}">
                <a16:creationId xmlns:a16="http://schemas.microsoft.com/office/drawing/2014/main" id="{7F0C0FF5-EEC1-4AF1-AB65-8EF5754F59F5}"/>
              </a:ext>
              <a:ext uri="{C183D7F6-B498-43B3-948B-1728B52AA6E4}">
                <adec:decorative xmlns:adec="http://schemas.microsoft.com/office/drawing/2017/decorative" val="1"/>
              </a:ext>
            </a:extLst>
          </p:cNvPr>
          <p:cNvSpPr/>
          <p:nvPr/>
        </p:nvSpPr>
        <p:spPr>
          <a:xfrm>
            <a:off x="1891622" y="5207602"/>
            <a:ext cx="9755428" cy="1030878"/>
          </a:xfrm>
          <a:prstGeom prst="roundRect">
            <a:avLst>
              <a:gd name="adj"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38" name="Rectangle 137">
            <a:extLst>
              <a:ext uri="{FF2B5EF4-FFF2-40B4-BE49-F238E27FC236}">
                <a16:creationId xmlns:a16="http://schemas.microsoft.com/office/drawing/2014/main" id="{FA2DCC52-43A7-4E07-B2A4-CDBD69D784CC}"/>
              </a:ext>
              <a:ext uri="{C183D7F6-B498-43B3-948B-1728B52AA6E4}">
                <adec:decorative xmlns:adec="http://schemas.microsoft.com/office/drawing/2017/decorative" val="1"/>
              </a:ext>
            </a:extLst>
          </p:cNvPr>
          <p:cNvSpPr/>
          <p:nvPr userDrawn="1"/>
        </p:nvSpPr>
        <p:spPr>
          <a:xfrm>
            <a:off x="2844800" y="2831718"/>
            <a:ext cx="8802250" cy="3141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latin typeface="Century Gothic" panose="020B0502020202020204" pitchFamily="34" charset="0"/>
            </a:endParaRPr>
          </a:p>
        </p:txBody>
      </p:sp>
      <p:sp>
        <p:nvSpPr>
          <p:cNvPr id="139" name="Pentagon 7">
            <a:extLst>
              <a:ext uri="{FF2B5EF4-FFF2-40B4-BE49-F238E27FC236}">
                <a16:creationId xmlns:a16="http://schemas.microsoft.com/office/drawing/2014/main" id="{10B94910-040B-48D0-BA2D-F3B2F1FEC2D8}"/>
              </a:ext>
              <a:ext uri="{C183D7F6-B498-43B3-948B-1728B52AA6E4}">
                <adec:decorative xmlns:adec="http://schemas.microsoft.com/office/drawing/2017/decorative" val="1"/>
              </a:ext>
            </a:extLst>
          </p:cNvPr>
          <p:cNvSpPr/>
          <p:nvPr userDrawn="1"/>
        </p:nvSpPr>
        <p:spPr>
          <a:xfrm>
            <a:off x="559049" y="2831718"/>
            <a:ext cx="2514351" cy="314127"/>
          </a:xfrm>
          <a:prstGeom prst="homePlate">
            <a:avLst>
              <a:gd name="adj" fmla="val 43935"/>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ounded Rectangle 43">
            <a:extLst>
              <a:ext uri="{FF2B5EF4-FFF2-40B4-BE49-F238E27FC236}">
                <a16:creationId xmlns:a16="http://schemas.microsoft.com/office/drawing/2014/main" id="{638371CC-C4CE-4C49-90B0-4816431B9833}"/>
              </a:ext>
              <a:ext uri="{C183D7F6-B498-43B3-948B-1728B52AA6E4}">
                <adec:decorative xmlns:adec="http://schemas.microsoft.com/office/drawing/2017/decorative" val="1"/>
              </a:ext>
            </a:extLst>
          </p:cNvPr>
          <p:cNvSpPr/>
          <p:nvPr userDrawn="1"/>
        </p:nvSpPr>
        <p:spPr>
          <a:xfrm>
            <a:off x="1891622" y="4176723"/>
            <a:ext cx="9755428" cy="1030878"/>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4" name="Pentagon 45">
            <a:extLst>
              <a:ext uri="{FF2B5EF4-FFF2-40B4-BE49-F238E27FC236}">
                <a16:creationId xmlns:a16="http://schemas.microsoft.com/office/drawing/2014/main" id="{0840AE88-0470-4538-BA6B-63CED7007174}"/>
              </a:ext>
              <a:ext uri="{C183D7F6-B498-43B3-948B-1728B52AA6E4}">
                <adec:decorative xmlns:adec="http://schemas.microsoft.com/office/drawing/2017/decorative" val="1"/>
              </a:ext>
            </a:extLst>
          </p:cNvPr>
          <p:cNvSpPr/>
          <p:nvPr userDrawn="1"/>
        </p:nvSpPr>
        <p:spPr>
          <a:xfrm>
            <a:off x="559049" y="4176723"/>
            <a:ext cx="2642132" cy="1030878"/>
          </a:xfrm>
          <a:prstGeom prst="homePlate">
            <a:avLst>
              <a:gd name="adj" fmla="val 2534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85" name="Pentagon 109">
            <a:extLst>
              <a:ext uri="{FF2B5EF4-FFF2-40B4-BE49-F238E27FC236}">
                <a16:creationId xmlns:a16="http://schemas.microsoft.com/office/drawing/2014/main" id="{95A3C803-27FA-42DD-B0BF-AFF2F90BE97D}"/>
              </a:ext>
              <a:ext uri="{C183D7F6-B498-43B3-948B-1728B52AA6E4}">
                <adec:decorative xmlns:adec="http://schemas.microsoft.com/office/drawing/2017/decorative" val="1"/>
              </a:ext>
            </a:extLst>
          </p:cNvPr>
          <p:cNvSpPr/>
          <p:nvPr/>
        </p:nvSpPr>
        <p:spPr>
          <a:xfrm>
            <a:off x="559049" y="5207602"/>
            <a:ext cx="2642132" cy="1030878"/>
          </a:xfrm>
          <a:prstGeom prst="homePlate">
            <a:avLst>
              <a:gd name="adj" fmla="val 2534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12" name="Rounded Rectangle 97">
            <a:extLst>
              <a:ext uri="{FF2B5EF4-FFF2-40B4-BE49-F238E27FC236}">
                <a16:creationId xmlns:a16="http://schemas.microsoft.com/office/drawing/2014/main" id="{32602A8D-A84D-47FA-8466-C6EBB6A50A75}"/>
              </a:ext>
              <a:ext uri="{C183D7F6-B498-43B3-948B-1728B52AA6E4}">
                <adec:decorative xmlns:adec="http://schemas.microsoft.com/office/drawing/2017/decorative" val="1"/>
              </a:ext>
            </a:extLst>
          </p:cNvPr>
          <p:cNvSpPr/>
          <p:nvPr/>
        </p:nvSpPr>
        <p:spPr>
          <a:xfrm>
            <a:off x="1891622" y="3145845"/>
            <a:ext cx="9755428" cy="1030878"/>
          </a:xfrm>
          <a:prstGeom prst="roundRect">
            <a:avLst>
              <a:gd name="adj" fmla="val 0"/>
            </a:avLst>
          </a:prstGeom>
          <a:solidFill>
            <a:srgbClr val="8C16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13" name="Pentagon 98">
            <a:extLst>
              <a:ext uri="{FF2B5EF4-FFF2-40B4-BE49-F238E27FC236}">
                <a16:creationId xmlns:a16="http://schemas.microsoft.com/office/drawing/2014/main" id="{C1285645-21D2-4816-A944-6B54D63BEDB4}"/>
              </a:ext>
              <a:ext uri="{C183D7F6-B498-43B3-948B-1728B52AA6E4}">
                <adec:decorative xmlns:adec="http://schemas.microsoft.com/office/drawing/2017/decorative" val="1"/>
              </a:ext>
            </a:extLst>
          </p:cNvPr>
          <p:cNvSpPr/>
          <p:nvPr/>
        </p:nvSpPr>
        <p:spPr>
          <a:xfrm>
            <a:off x="559049" y="3145845"/>
            <a:ext cx="2642132" cy="1030878"/>
          </a:xfrm>
          <a:prstGeom prst="homePlate">
            <a:avLst>
              <a:gd name="adj" fmla="val 25343"/>
            </a:avLst>
          </a:prstGeom>
          <a:solidFill>
            <a:srgbClr val="E623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40" name="Rectangle 139">
            <a:extLst>
              <a:ext uri="{FF2B5EF4-FFF2-40B4-BE49-F238E27FC236}">
                <a16:creationId xmlns:a16="http://schemas.microsoft.com/office/drawing/2014/main" id="{BF872A10-6EE3-4B30-96DE-C7F54D592B94}"/>
              </a:ext>
              <a:ext uri="{C183D7F6-B498-43B3-948B-1728B52AA6E4}">
                <adec:decorative xmlns:adec="http://schemas.microsoft.com/office/drawing/2017/decorative" val="1"/>
              </a:ext>
            </a:extLst>
          </p:cNvPr>
          <p:cNvSpPr/>
          <p:nvPr userDrawn="1"/>
        </p:nvSpPr>
        <p:spPr>
          <a:xfrm>
            <a:off x="559048" y="2517591"/>
            <a:ext cx="11088001" cy="31412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tx1"/>
              </a:solidFill>
              <a:latin typeface="Century Gothic" panose="020B0502020202020204" pitchFamily="34" charset="0"/>
            </a:endParaRPr>
          </a:p>
        </p:txBody>
      </p:sp>
      <p:sp>
        <p:nvSpPr>
          <p:cNvPr id="7" name="TextBox 6">
            <a:extLst>
              <a:ext uri="{FF2B5EF4-FFF2-40B4-BE49-F238E27FC236}">
                <a16:creationId xmlns:a16="http://schemas.microsoft.com/office/drawing/2014/main" id="{E0B722DA-A7EF-42D4-97E8-22596004672B}"/>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cxnSp>
        <p:nvCxnSpPr>
          <p:cNvPr id="146" name="Straight Connector 145">
            <a:extLst>
              <a:ext uri="{FF2B5EF4-FFF2-40B4-BE49-F238E27FC236}">
                <a16:creationId xmlns:a16="http://schemas.microsoft.com/office/drawing/2014/main" id="{A1A2F8CE-C1F2-41DF-B787-B6766E840272}"/>
              </a:ext>
              <a:ext uri="{C183D7F6-B498-43B3-948B-1728B52AA6E4}">
                <adec:decorative xmlns:adec="http://schemas.microsoft.com/office/drawing/2017/decorative" val="1"/>
              </a:ext>
            </a:extLst>
          </p:cNvPr>
          <p:cNvCxnSpPr/>
          <p:nvPr userDrawn="1"/>
        </p:nvCxnSpPr>
        <p:spPr>
          <a:xfrm>
            <a:off x="2628790"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B8B36C99-0D7E-4859-8A71-E04C5BB529F0}"/>
              </a:ext>
              <a:ext uri="{C183D7F6-B498-43B3-948B-1728B52AA6E4}">
                <adec:decorative xmlns:adec="http://schemas.microsoft.com/office/drawing/2017/decorative" val="1"/>
              </a:ext>
            </a:extLst>
          </p:cNvPr>
          <p:cNvCxnSpPr/>
          <p:nvPr userDrawn="1"/>
        </p:nvCxnSpPr>
        <p:spPr>
          <a:xfrm>
            <a:off x="4919268"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CA08FDD5-4229-4A94-B65D-208C147A58AF}"/>
              </a:ext>
              <a:ext uri="{C183D7F6-B498-43B3-948B-1728B52AA6E4}">
                <adec:decorative xmlns:adec="http://schemas.microsoft.com/office/drawing/2017/decorative" val="1"/>
              </a:ext>
            </a:extLst>
          </p:cNvPr>
          <p:cNvCxnSpPr/>
          <p:nvPr userDrawn="1"/>
        </p:nvCxnSpPr>
        <p:spPr>
          <a:xfrm>
            <a:off x="8200402"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1B721550-57CA-45E7-A3CF-5B81F14C5E11}"/>
              </a:ext>
              <a:ext uri="{C183D7F6-B498-43B3-948B-1728B52AA6E4}">
                <adec:decorative xmlns:adec="http://schemas.microsoft.com/office/drawing/2017/decorative" val="1"/>
              </a:ext>
            </a:extLst>
          </p:cNvPr>
          <p:cNvCxnSpPr/>
          <p:nvPr userDrawn="1"/>
        </p:nvCxnSpPr>
        <p:spPr>
          <a:xfrm>
            <a:off x="10029215"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Title 3">
            <a:extLst>
              <a:ext uri="{FF2B5EF4-FFF2-40B4-BE49-F238E27FC236}">
                <a16:creationId xmlns:a16="http://schemas.microsoft.com/office/drawing/2014/main" id="{AB509BF3-FEFE-4E4F-84DB-574D01A6710B}"/>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effectLst/>
                <a:uLnTx/>
                <a:uFillTx/>
                <a:latin typeface="Century Gothic" panose="020B0502020202020204" pitchFamily="34" charset="0"/>
                <a:ea typeface="+mj-ea"/>
                <a:cs typeface="+mj-cs"/>
              </a:rPr>
              <a:t>Capco Services and Solutions</a:t>
            </a:r>
          </a:p>
        </p:txBody>
      </p:sp>
      <p:sp>
        <p:nvSpPr>
          <p:cNvPr id="3" name="TextBox 2">
            <a:extLst>
              <a:ext uri="{FF2B5EF4-FFF2-40B4-BE49-F238E27FC236}">
                <a16:creationId xmlns:a16="http://schemas.microsoft.com/office/drawing/2014/main" id="{4A2B6AF3-362D-1F81-9403-1177F507E540}"/>
              </a:ext>
            </a:extLst>
          </p:cNvPr>
          <p:cNvSpPr txBox="1"/>
          <p:nvPr userDrawn="1"/>
        </p:nvSpPr>
        <p:spPr>
          <a:xfrm>
            <a:off x="559048" y="1192059"/>
            <a:ext cx="1108800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400" b="0" i="0" kern="1200" noProof="0" dirty="0">
                <a:solidFill>
                  <a:schemeClr val="accent3"/>
                </a:solidFill>
                <a:latin typeface="+mn-lt"/>
                <a:ea typeface="Verdana" panose="020B0604030504040204" pitchFamily="34" charset="0"/>
                <a:cs typeface="Calibri" panose="020F0502020204030204" pitchFamily="34" charset="0"/>
              </a:rPr>
              <a:t>Capco operates at the intersection of business and technology, by combining innovative thinking with unrivalled industry knowledge to fast-track Digital initiatives for Financial Services. Capco’s cutting-edge ingenuity is brought to life through its relevant Services underpinned by distinct Solutions and Offerings, and structured around market demand.</a:t>
            </a:r>
            <a:endParaRPr lang="en-US" sz="1400" b="0" i="0" kern="1200" dirty="0">
              <a:solidFill>
                <a:schemeClr val="accent3"/>
              </a:solidFill>
              <a:latin typeface="+mn-lt"/>
              <a:ea typeface="Verdana" panose="020B0604030504040204" pitchFamily="34" charset="0"/>
              <a:cs typeface="Calibri" panose="020F0502020204030204" pitchFamily="34" charset="0"/>
            </a:endParaRPr>
          </a:p>
        </p:txBody>
      </p:sp>
      <p:sp>
        <p:nvSpPr>
          <p:cNvPr id="141" name="Rectangle 140">
            <a:extLst>
              <a:ext uri="{FF2B5EF4-FFF2-40B4-BE49-F238E27FC236}">
                <a16:creationId xmlns:a16="http://schemas.microsoft.com/office/drawing/2014/main" id="{4E238967-E9F5-4215-ADAC-9A9539E73E92}"/>
              </a:ext>
            </a:extLst>
          </p:cNvPr>
          <p:cNvSpPr/>
          <p:nvPr userDrawn="1"/>
        </p:nvSpPr>
        <p:spPr>
          <a:xfrm>
            <a:off x="741615" y="2536155"/>
            <a:ext cx="170591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Banking &amp; Payments</a:t>
            </a:r>
          </a:p>
        </p:txBody>
      </p:sp>
      <p:sp>
        <p:nvSpPr>
          <p:cNvPr id="142" name="Rectangle 141">
            <a:extLst>
              <a:ext uri="{FF2B5EF4-FFF2-40B4-BE49-F238E27FC236}">
                <a16:creationId xmlns:a16="http://schemas.microsoft.com/office/drawing/2014/main" id="{5EC210AA-2B53-4DB2-A725-EF7E845D78A0}"/>
              </a:ext>
            </a:extLst>
          </p:cNvPr>
          <p:cNvSpPr/>
          <p:nvPr userDrawn="1"/>
        </p:nvSpPr>
        <p:spPr>
          <a:xfrm>
            <a:off x="3379144" y="2536155"/>
            <a:ext cx="136127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Capital Markets</a:t>
            </a:r>
          </a:p>
        </p:txBody>
      </p:sp>
      <p:sp>
        <p:nvSpPr>
          <p:cNvPr id="143" name="Rectangle 142">
            <a:extLst>
              <a:ext uri="{FF2B5EF4-FFF2-40B4-BE49-F238E27FC236}">
                <a16:creationId xmlns:a16="http://schemas.microsoft.com/office/drawing/2014/main" id="{3A2EF721-3959-4069-ADF7-408763769BEC}"/>
              </a:ext>
            </a:extLst>
          </p:cNvPr>
          <p:cNvSpPr/>
          <p:nvPr userDrawn="1"/>
        </p:nvSpPr>
        <p:spPr>
          <a:xfrm>
            <a:off x="5676836" y="2536155"/>
            <a:ext cx="2337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Wealth &amp; Asset Management</a:t>
            </a:r>
          </a:p>
        </p:txBody>
      </p:sp>
      <p:sp>
        <p:nvSpPr>
          <p:cNvPr id="144" name="Rectangle 143">
            <a:extLst>
              <a:ext uri="{FF2B5EF4-FFF2-40B4-BE49-F238E27FC236}">
                <a16:creationId xmlns:a16="http://schemas.microsoft.com/office/drawing/2014/main" id="{B680A911-9304-4917-9255-183AD7DE5557}"/>
              </a:ext>
            </a:extLst>
          </p:cNvPr>
          <p:cNvSpPr/>
          <p:nvPr userDrawn="1"/>
        </p:nvSpPr>
        <p:spPr>
          <a:xfrm>
            <a:off x="8940336" y="2536155"/>
            <a:ext cx="92044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Insurance</a:t>
            </a:r>
          </a:p>
        </p:txBody>
      </p:sp>
      <p:sp>
        <p:nvSpPr>
          <p:cNvPr id="145" name="Rectangle 144">
            <a:extLst>
              <a:ext uri="{FF2B5EF4-FFF2-40B4-BE49-F238E27FC236}">
                <a16:creationId xmlns:a16="http://schemas.microsoft.com/office/drawing/2014/main" id="{BB218501-6E0B-4742-849D-AA316D196397}"/>
              </a:ext>
            </a:extLst>
          </p:cNvPr>
          <p:cNvSpPr/>
          <p:nvPr userDrawn="1"/>
        </p:nvSpPr>
        <p:spPr>
          <a:xfrm>
            <a:off x="10749910" y="2536155"/>
            <a:ext cx="69602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Energy</a:t>
            </a:r>
          </a:p>
        </p:txBody>
      </p:sp>
      <p:sp>
        <p:nvSpPr>
          <p:cNvPr id="9" name="TextBox 8">
            <a:extLst>
              <a:ext uri="{FF2B5EF4-FFF2-40B4-BE49-F238E27FC236}">
                <a16:creationId xmlns:a16="http://schemas.microsoft.com/office/drawing/2014/main" id="{D8A9770F-9E37-8E08-B755-EAE03D03B2B0}"/>
              </a:ext>
            </a:extLst>
          </p:cNvPr>
          <p:cNvSpPr txBox="1"/>
          <p:nvPr userDrawn="1"/>
        </p:nvSpPr>
        <p:spPr>
          <a:xfrm>
            <a:off x="1334697" y="2850282"/>
            <a:ext cx="96305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Services</a:t>
            </a: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0" name="TextBox 9">
            <a:extLst>
              <a:ext uri="{FF2B5EF4-FFF2-40B4-BE49-F238E27FC236}">
                <a16:creationId xmlns:a16="http://schemas.microsoft.com/office/drawing/2014/main" id="{535468A3-A5CE-E6F5-E5CA-0A60F22FE919}"/>
              </a:ext>
            </a:extLst>
          </p:cNvPr>
          <p:cNvSpPr txBox="1"/>
          <p:nvPr userDrawn="1"/>
        </p:nvSpPr>
        <p:spPr>
          <a:xfrm>
            <a:off x="6613406" y="2850282"/>
            <a:ext cx="126503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Solutions</a:t>
            </a:r>
          </a:p>
        </p:txBody>
      </p:sp>
      <p:sp>
        <p:nvSpPr>
          <p:cNvPr id="117" name="Rectangle 116">
            <a:extLst>
              <a:ext uri="{FF2B5EF4-FFF2-40B4-BE49-F238E27FC236}">
                <a16:creationId xmlns:a16="http://schemas.microsoft.com/office/drawing/2014/main" id="{0B3FD187-8A13-4CDB-BA33-C7A2029F3133}"/>
              </a:ext>
            </a:extLst>
          </p:cNvPr>
          <p:cNvSpPr/>
          <p:nvPr userDrawn="1"/>
        </p:nvSpPr>
        <p:spPr>
          <a:xfrm>
            <a:off x="1454268" y="3502184"/>
            <a:ext cx="1081191"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Digital</a:t>
            </a:r>
          </a:p>
        </p:txBody>
      </p:sp>
      <p:sp>
        <p:nvSpPr>
          <p:cNvPr id="116" name="Rectangle 115">
            <a:extLst>
              <a:ext uri="{FF2B5EF4-FFF2-40B4-BE49-F238E27FC236}">
                <a16:creationId xmlns:a16="http://schemas.microsoft.com/office/drawing/2014/main" id="{F3DAEB22-198D-45F4-B429-423B07D2A856}"/>
              </a:ext>
            </a:extLst>
          </p:cNvPr>
          <p:cNvSpPr/>
          <p:nvPr userDrawn="1"/>
        </p:nvSpPr>
        <p:spPr>
          <a:xfrm>
            <a:off x="4667975" y="3445840"/>
            <a:ext cx="1120994" cy="430887"/>
          </a:xfrm>
          <a:prstGeom prst="rect">
            <a:avLst/>
          </a:prstGeom>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Digital</a:t>
            </a:r>
            <a:br>
              <a:rPr lang="sk-SK" sz="1100" dirty="0">
                <a:solidFill>
                  <a:schemeClr val="bg1"/>
                </a:solidFill>
                <a:latin typeface="Century Gothic" panose="020B0502020202020204" pitchFamily="34" charset="0"/>
              </a:rPr>
            </a:br>
            <a:r>
              <a:rPr lang="en-US" sz="1100" dirty="0">
                <a:solidFill>
                  <a:schemeClr val="bg1"/>
                </a:solidFill>
                <a:latin typeface="Century Gothic" panose="020B0502020202020204" pitchFamily="34" charset="0"/>
              </a:rPr>
              <a:t>Innovation</a:t>
            </a:r>
          </a:p>
        </p:txBody>
      </p:sp>
      <p:sp>
        <p:nvSpPr>
          <p:cNvPr id="124" name="Rectangle 123">
            <a:extLst>
              <a:ext uri="{FF2B5EF4-FFF2-40B4-BE49-F238E27FC236}">
                <a16:creationId xmlns:a16="http://schemas.microsoft.com/office/drawing/2014/main" id="{802B0E7C-FA50-431D-9699-44A48CBEF9ED}"/>
              </a:ext>
            </a:extLst>
          </p:cNvPr>
          <p:cNvSpPr/>
          <p:nvPr userDrawn="1"/>
        </p:nvSpPr>
        <p:spPr>
          <a:xfrm>
            <a:off x="6977706" y="3445840"/>
            <a:ext cx="1170949" cy="430887"/>
          </a:xfrm>
          <a:prstGeom prst="rect">
            <a:avLst/>
          </a:prstGeom>
        </p:spPr>
        <p:txBody>
          <a:bodyPr wrap="square" lIns="144000">
            <a:spAutoFit/>
          </a:bodyPr>
          <a:lstStyle/>
          <a:p>
            <a:pPr algn="l"/>
            <a:r>
              <a:rPr lang="en-US" sz="1100" dirty="0">
                <a:solidFill>
                  <a:srgbClr val="FFFFFF"/>
                </a:solidFill>
                <a:latin typeface="Century Gothic" panose="020B0502020202020204" pitchFamily="34" charset="0"/>
              </a:rPr>
              <a:t>Digital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Engineering</a:t>
            </a:r>
            <a:endParaRPr lang="en-US" sz="1600" dirty="0"/>
          </a:p>
        </p:txBody>
      </p:sp>
      <p:sp>
        <p:nvSpPr>
          <p:cNvPr id="123" name="Rectangle 122">
            <a:extLst>
              <a:ext uri="{FF2B5EF4-FFF2-40B4-BE49-F238E27FC236}">
                <a16:creationId xmlns:a16="http://schemas.microsoft.com/office/drawing/2014/main" id="{59DEE637-368C-415D-8302-E5BB980D6564}"/>
              </a:ext>
            </a:extLst>
          </p:cNvPr>
          <p:cNvSpPr/>
          <p:nvPr userDrawn="1"/>
        </p:nvSpPr>
        <p:spPr>
          <a:xfrm>
            <a:off x="9091520" y="3445840"/>
            <a:ext cx="1122597" cy="430887"/>
          </a:xfrm>
          <a:prstGeom prst="rect">
            <a:avLst/>
          </a:prstGeom>
        </p:spPr>
        <p:txBody>
          <a:bodyPr wrap="square" lIns="144000">
            <a:spAutoFit/>
          </a:bodyPr>
          <a:lstStyle/>
          <a:p>
            <a:pPr algn="l"/>
            <a:r>
              <a:rPr lang="en-US" sz="1100" dirty="0">
                <a:solidFill>
                  <a:srgbClr val="FFFFFF"/>
                </a:solidFill>
                <a:latin typeface="Century Gothic" panose="020B0502020202020204" pitchFamily="34" charset="0"/>
              </a:rPr>
              <a:t>Data </a:t>
            </a:r>
            <a:br>
              <a:rPr lang="sk-SK"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&amp;</a:t>
            </a:r>
            <a:r>
              <a:rPr lang="sk-SK" sz="1100" dirty="0">
                <a:solidFill>
                  <a:srgbClr val="FFFFFF"/>
                </a:solidFill>
                <a:latin typeface="Century Gothic" panose="020B0502020202020204" pitchFamily="34" charset="0"/>
              </a:rPr>
              <a:t> </a:t>
            </a:r>
            <a:r>
              <a:rPr lang="en-US" sz="1100" dirty="0">
                <a:solidFill>
                  <a:srgbClr val="FFFFFF"/>
                </a:solidFill>
                <a:latin typeface="Century Gothic" panose="020B0502020202020204" pitchFamily="34" charset="0"/>
              </a:rPr>
              <a:t>Analytics</a:t>
            </a:r>
            <a:endParaRPr lang="en-US" sz="1600" dirty="0"/>
          </a:p>
        </p:txBody>
      </p:sp>
      <p:sp>
        <p:nvSpPr>
          <p:cNvPr id="61" name="Rectangle 60">
            <a:extLst>
              <a:ext uri="{FF2B5EF4-FFF2-40B4-BE49-F238E27FC236}">
                <a16:creationId xmlns:a16="http://schemas.microsoft.com/office/drawing/2014/main" id="{E2D61285-105B-4011-B223-528D1746A65F}"/>
              </a:ext>
            </a:extLst>
          </p:cNvPr>
          <p:cNvSpPr/>
          <p:nvPr userDrawn="1"/>
        </p:nvSpPr>
        <p:spPr>
          <a:xfrm>
            <a:off x="1454268" y="4533061"/>
            <a:ext cx="1526881"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Consulting</a:t>
            </a:r>
          </a:p>
        </p:txBody>
      </p:sp>
      <p:sp>
        <p:nvSpPr>
          <p:cNvPr id="60" name="Rectangle 59">
            <a:extLst>
              <a:ext uri="{FF2B5EF4-FFF2-40B4-BE49-F238E27FC236}">
                <a16:creationId xmlns:a16="http://schemas.microsoft.com/office/drawing/2014/main" id="{7DDE4001-41F9-41A5-9C77-BB9534E1F824}"/>
              </a:ext>
            </a:extLst>
          </p:cNvPr>
          <p:cNvSpPr/>
          <p:nvPr userDrawn="1"/>
        </p:nvSpPr>
        <p:spPr>
          <a:xfrm>
            <a:off x="3837761" y="4561357"/>
            <a:ext cx="898176" cy="261610"/>
          </a:xfrm>
          <a:prstGeom prst="rect">
            <a:avLst/>
          </a:prstGeom>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Strategy</a:t>
            </a:r>
          </a:p>
        </p:txBody>
      </p:sp>
      <p:sp>
        <p:nvSpPr>
          <p:cNvPr id="68" name="Rectangle 67">
            <a:extLst>
              <a:ext uri="{FF2B5EF4-FFF2-40B4-BE49-F238E27FC236}">
                <a16:creationId xmlns:a16="http://schemas.microsoft.com/office/drawing/2014/main" id="{2BBE459A-4913-44E9-9F2E-5E1756B1D43B}"/>
              </a:ext>
            </a:extLst>
          </p:cNvPr>
          <p:cNvSpPr/>
          <p:nvPr userDrawn="1"/>
        </p:nvSpPr>
        <p:spPr>
          <a:xfrm>
            <a:off x="5751902" y="4476718"/>
            <a:ext cx="1526554"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Transformation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Services</a:t>
            </a:r>
          </a:p>
        </p:txBody>
      </p:sp>
      <p:sp>
        <p:nvSpPr>
          <p:cNvPr id="75" name="Rectangle 74">
            <a:extLst>
              <a:ext uri="{FF2B5EF4-FFF2-40B4-BE49-F238E27FC236}">
                <a16:creationId xmlns:a16="http://schemas.microsoft.com/office/drawing/2014/main" id="{4600711F-09BE-42FD-B96A-6B5D52E4C9DF}"/>
              </a:ext>
            </a:extLst>
          </p:cNvPr>
          <p:cNvSpPr/>
          <p:nvPr userDrawn="1"/>
        </p:nvSpPr>
        <p:spPr>
          <a:xfrm>
            <a:off x="8318999" y="4476718"/>
            <a:ext cx="894970"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Change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Services</a:t>
            </a:r>
          </a:p>
        </p:txBody>
      </p:sp>
      <p:sp>
        <p:nvSpPr>
          <p:cNvPr id="62" name="Rectangle 61">
            <a:extLst>
              <a:ext uri="{FF2B5EF4-FFF2-40B4-BE49-F238E27FC236}">
                <a16:creationId xmlns:a16="http://schemas.microsoft.com/office/drawing/2014/main" id="{6F921D75-1EDB-4896-B944-806B67A47F5D}"/>
              </a:ext>
            </a:extLst>
          </p:cNvPr>
          <p:cNvSpPr/>
          <p:nvPr userDrawn="1"/>
        </p:nvSpPr>
        <p:spPr>
          <a:xfrm>
            <a:off x="10170587" y="4476718"/>
            <a:ext cx="1476462"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Risk, Regulatory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&amp; Compliance</a:t>
            </a:r>
          </a:p>
        </p:txBody>
      </p:sp>
      <p:sp>
        <p:nvSpPr>
          <p:cNvPr id="89" name="Rectangle 88">
            <a:extLst>
              <a:ext uri="{FF2B5EF4-FFF2-40B4-BE49-F238E27FC236}">
                <a16:creationId xmlns:a16="http://schemas.microsoft.com/office/drawing/2014/main" id="{9AB3A086-D48F-49D4-8AF6-D97A523801D4}"/>
              </a:ext>
            </a:extLst>
          </p:cNvPr>
          <p:cNvSpPr/>
          <p:nvPr userDrawn="1"/>
        </p:nvSpPr>
        <p:spPr>
          <a:xfrm>
            <a:off x="1454268" y="5563940"/>
            <a:ext cx="1671059"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Technology</a:t>
            </a:r>
          </a:p>
        </p:txBody>
      </p:sp>
      <p:sp>
        <p:nvSpPr>
          <p:cNvPr id="102" name="Rectangle 101">
            <a:extLst>
              <a:ext uri="{FF2B5EF4-FFF2-40B4-BE49-F238E27FC236}">
                <a16:creationId xmlns:a16="http://schemas.microsoft.com/office/drawing/2014/main" id="{F60F9711-2149-4BDF-AA8B-049BED74892E}"/>
              </a:ext>
            </a:extLst>
          </p:cNvPr>
          <p:cNvSpPr/>
          <p:nvPr userDrawn="1"/>
        </p:nvSpPr>
        <p:spPr>
          <a:xfrm>
            <a:off x="4626297" y="5507597"/>
            <a:ext cx="1204350" cy="430887"/>
          </a:xfrm>
          <a:prstGeom prst="rect">
            <a:avLst/>
          </a:prstGeom>
          <a:noFill/>
        </p:spPr>
        <p:txBody>
          <a:bodyPr wrap="square" lIns="144000">
            <a:spAutoFit/>
          </a:bodyPr>
          <a:lstStyle/>
          <a:p>
            <a:pPr algn="l"/>
            <a:r>
              <a:rPr lang="en-US" sz="1100" dirty="0">
                <a:solidFill>
                  <a:srgbClr val="FFFFFF"/>
                </a:solidFill>
                <a:latin typeface="Century Gothic" panose="020B0502020202020204" pitchFamily="34" charset="0"/>
              </a:rPr>
              <a:t>Technology</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Advisory </a:t>
            </a:r>
            <a:endParaRPr lang="en-US" sz="1600" dirty="0"/>
          </a:p>
        </p:txBody>
      </p:sp>
      <p:sp>
        <p:nvSpPr>
          <p:cNvPr id="103" name="Rectangle 102">
            <a:extLst>
              <a:ext uri="{FF2B5EF4-FFF2-40B4-BE49-F238E27FC236}">
                <a16:creationId xmlns:a16="http://schemas.microsoft.com/office/drawing/2014/main" id="{F3FC52EF-9C03-4E4C-93ED-A0B62A3C0FF2}"/>
              </a:ext>
            </a:extLst>
          </p:cNvPr>
          <p:cNvSpPr/>
          <p:nvPr userDrawn="1"/>
        </p:nvSpPr>
        <p:spPr>
          <a:xfrm>
            <a:off x="6997695" y="5507597"/>
            <a:ext cx="1201543" cy="430887"/>
          </a:xfrm>
          <a:prstGeom prst="rect">
            <a:avLst/>
          </a:prstGeom>
          <a:noFill/>
        </p:spPr>
        <p:txBody>
          <a:bodyPr wrap="square" lIns="144000">
            <a:spAutoFit/>
          </a:bodyPr>
          <a:lstStyle/>
          <a:p>
            <a:pPr algn="l"/>
            <a:r>
              <a:rPr lang="en-US" sz="1100" dirty="0">
                <a:solidFill>
                  <a:srgbClr val="FFFFFF"/>
                </a:solidFill>
                <a:latin typeface="Century Gothic" panose="020B0502020202020204" pitchFamily="34" charset="0"/>
              </a:rPr>
              <a:t>Systems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Integration </a:t>
            </a:r>
            <a:endParaRPr lang="en-US" sz="1600" dirty="0"/>
          </a:p>
        </p:txBody>
      </p:sp>
      <p:sp>
        <p:nvSpPr>
          <p:cNvPr id="88" name="Rectangle 87">
            <a:extLst>
              <a:ext uri="{FF2B5EF4-FFF2-40B4-BE49-F238E27FC236}">
                <a16:creationId xmlns:a16="http://schemas.microsoft.com/office/drawing/2014/main" id="{5F077350-EC56-407E-8004-C4AB03C6BA95}"/>
              </a:ext>
            </a:extLst>
          </p:cNvPr>
          <p:cNvSpPr/>
          <p:nvPr userDrawn="1"/>
        </p:nvSpPr>
        <p:spPr>
          <a:xfrm>
            <a:off x="9190773" y="5507597"/>
            <a:ext cx="861308" cy="430887"/>
          </a:xfrm>
          <a:prstGeom prst="rect">
            <a:avLst/>
          </a:prstGeom>
          <a:noFill/>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Security</a:t>
            </a:r>
            <a:br>
              <a:rPr lang="sk-SK" sz="1100" dirty="0">
                <a:solidFill>
                  <a:schemeClr val="bg1"/>
                </a:solidFill>
                <a:latin typeface="Century Gothic" panose="020B0502020202020204" pitchFamily="34" charset="0"/>
              </a:rPr>
            </a:br>
            <a:r>
              <a:rPr lang="en-US" sz="1100" dirty="0">
                <a:solidFill>
                  <a:schemeClr val="bg1"/>
                </a:solidFill>
                <a:latin typeface="Century Gothic" panose="020B0502020202020204" pitchFamily="34" charset="0"/>
              </a:rPr>
              <a:t>Services</a:t>
            </a:r>
          </a:p>
        </p:txBody>
      </p:sp>
      <p:grpSp>
        <p:nvGrpSpPr>
          <p:cNvPr id="33" name="Group 32">
            <a:extLst>
              <a:ext uri="{FF2B5EF4-FFF2-40B4-BE49-F238E27FC236}">
                <a16:creationId xmlns:a16="http://schemas.microsoft.com/office/drawing/2014/main" id="{CB36E840-CCB5-4DA4-9657-98AE01FBA493}"/>
              </a:ext>
              <a:ext uri="{C183D7F6-B498-43B3-948B-1728B52AA6E4}">
                <adec:decorative xmlns:adec="http://schemas.microsoft.com/office/drawing/2017/decorative" val="1"/>
              </a:ext>
            </a:extLst>
          </p:cNvPr>
          <p:cNvGrpSpPr/>
          <p:nvPr userDrawn="1"/>
        </p:nvGrpSpPr>
        <p:grpSpPr>
          <a:xfrm>
            <a:off x="670282" y="4296162"/>
            <a:ext cx="792000" cy="792000"/>
            <a:chOff x="616942" y="4046295"/>
            <a:chExt cx="792000" cy="792000"/>
          </a:xfrm>
        </p:grpSpPr>
        <p:sp>
          <p:nvSpPr>
            <p:cNvPr id="47" name="Oval 46">
              <a:extLst>
                <a:ext uri="{FF2B5EF4-FFF2-40B4-BE49-F238E27FC236}">
                  <a16:creationId xmlns:a16="http://schemas.microsoft.com/office/drawing/2014/main" id="{1F6B2270-B48B-462E-8616-5604D4AA2962}"/>
                </a:ext>
              </a:extLst>
            </p:cNvPr>
            <p:cNvSpPr/>
            <p:nvPr userDrawn="1"/>
          </p:nvSpPr>
          <p:spPr>
            <a:xfrm>
              <a:off x="616942" y="4046295"/>
              <a:ext cx="792000" cy="79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48" name="Graphic 9">
              <a:extLst>
                <a:ext uri="{FF2B5EF4-FFF2-40B4-BE49-F238E27FC236}">
                  <a16:creationId xmlns:a16="http://schemas.microsoft.com/office/drawing/2014/main" id="{4175E06B-13B4-4787-BEB8-C78659D03CA2}"/>
                </a:ext>
              </a:extLst>
            </p:cNvPr>
            <p:cNvGrpSpPr/>
            <p:nvPr userDrawn="1"/>
          </p:nvGrpSpPr>
          <p:grpSpPr>
            <a:xfrm>
              <a:off x="767323" y="4304367"/>
              <a:ext cx="491239" cy="275856"/>
              <a:chOff x="11621209" y="1849943"/>
              <a:chExt cx="603193" cy="338726"/>
            </a:xfrm>
            <a:noFill/>
          </p:grpSpPr>
          <p:grpSp>
            <p:nvGrpSpPr>
              <p:cNvPr id="49" name="Graphic 9">
                <a:extLst>
                  <a:ext uri="{FF2B5EF4-FFF2-40B4-BE49-F238E27FC236}">
                    <a16:creationId xmlns:a16="http://schemas.microsoft.com/office/drawing/2014/main" id="{7C17A575-58A0-4DD4-97B3-9F43F6B90724}"/>
                  </a:ext>
                </a:extLst>
              </p:cNvPr>
              <p:cNvGrpSpPr/>
              <p:nvPr/>
            </p:nvGrpSpPr>
            <p:grpSpPr>
              <a:xfrm>
                <a:off x="11755527" y="1849943"/>
                <a:ext cx="325698" cy="338726"/>
                <a:chOff x="11755527" y="1849943"/>
                <a:chExt cx="325698" cy="338726"/>
              </a:xfrm>
              <a:noFill/>
            </p:grpSpPr>
            <p:sp>
              <p:nvSpPr>
                <p:cNvPr id="58" name="Freeform: Shape 352">
                  <a:extLst>
                    <a:ext uri="{FF2B5EF4-FFF2-40B4-BE49-F238E27FC236}">
                      <a16:creationId xmlns:a16="http://schemas.microsoft.com/office/drawing/2014/main" id="{410A68F1-6481-439B-BAE8-5597DB8C79EC}"/>
                    </a:ext>
                  </a:extLst>
                </p:cNvPr>
                <p:cNvSpPr/>
                <p:nvPr/>
              </p:nvSpPr>
              <p:spPr>
                <a:xfrm>
                  <a:off x="11770249" y="1849943"/>
                  <a:ext cx="312671" cy="338726"/>
                </a:xfrm>
                <a:custGeom>
                  <a:avLst/>
                  <a:gdLst>
                    <a:gd name="connsiteX0" fmla="*/ 315145 w 312670"/>
                    <a:gd name="connsiteY0" fmla="*/ 344850 h 338726"/>
                    <a:gd name="connsiteX1" fmla="*/ 315145 w 312670"/>
                    <a:gd name="connsiteY1" fmla="*/ 301206 h 338726"/>
                    <a:gd name="connsiteX2" fmla="*/ 300294 w 312670"/>
                    <a:gd name="connsiteY2" fmla="*/ 269809 h 338726"/>
                    <a:gd name="connsiteX3" fmla="*/ 211443 w 312670"/>
                    <a:gd name="connsiteY3" fmla="*/ 212225 h 338726"/>
                    <a:gd name="connsiteX4" fmla="*/ 211443 w 312670"/>
                    <a:gd name="connsiteY4" fmla="*/ 159723 h 338726"/>
                    <a:gd name="connsiteX5" fmla="*/ 224211 w 312670"/>
                    <a:gd name="connsiteY5" fmla="*/ 131061 h 338726"/>
                    <a:gd name="connsiteX6" fmla="*/ 224211 w 312670"/>
                    <a:gd name="connsiteY6" fmla="*/ 67224 h 338726"/>
                    <a:gd name="connsiteX7" fmla="*/ 156987 w 312670"/>
                    <a:gd name="connsiteY7" fmla="*/ 0 h 338726"/>
                    <a:gd name="connsiteX8" fmla="*/ 143307 w 312670"/>
                    <a:gd name="connsiteY8" fmla="*/ 0 h 338726"/>
                    <a:gd name="connsiteX9" fmla="*/ 76083 w 312670"/>
                    <a:gd name="connsiteY9" fmla="*/ 67224 h 338726"/>
                    <a:gd name="connsiteX10" fmla="*/ 76083 w 312670"/>
                    <a:gd name="connsiteY10" fmla="*/ 131061 h 338726"/>
                    <a:gd name="connsiteX11" fmla="*/ 88850 w 312670"/>
                    <a:gd name="connsiteY11" fmla="*/ 159723 h 338726"/>
                    <a:gd name="connsiteX12" fmla="*/ 88850 w 312670"/>
                    <a:gd name="connsiteY12" fmla="*/ 212225 h 338726"/>
                    <a:gd name="connsiteX13" fmla="*/ 0 w 312670"/>
                    <a:gd name="connsiteY13" fmla="*/ 269939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2670" h="338726">
                      <a:moveTo>
                        <a:pt x="315145" y="344850"/>
                      </a:moveTo>
                      <a:lnTo>
                        <a:pt x="315145" y="301206"/>
                      </a:lnTo>
                      <a:cubicBezTo>
                        <a:pt x="315145" y="288960"/>
                        <a:pt x="309674" y="277495"/>
                        <a:pt x="300294" y="269809"/>
                      </a:cubicBezTo>
                      <a:cubicBezTo>
                        <a:pt x="264207" y="240105"/>
                        <a:pt x="225383" y="219391"/>
                        <a:pt x="211443" y="212225"/>
                      </a:cubicBezTo>
                      <a:lnTo>
                        <a:pt x="211443" y="159723"/>
                      </a:lnTo>
                      <a:cubicBezTo>
                        <a:pt x="219520" y="152427"/>
                        <a:pt x="224211" y="142135"/>
                        <a:pt x="224211" y="131061"/>
                      </a:cubicBezTo>
                      <a:lnTo>
                        <a:pt x="224211" y="67224"/>
                      </a:lnTo>
                      <a:cubicBezTo>
                        <a:pt x="224211" y="30095"/>
                        <a:pt x="193986" y="0"/>
                        <a:pt x="156987" y="0"/>
                      </a:cubicBezTo>
                      <a:lnTo>
                        <a:pt x="143307" y="0"/>
                      </a:lnTo>
                      <a:cubicBezTo>
                        <a:pt x="106178" y="0"/>
                        <a:pt x="76083" y="30225"/>
                        <a:pt x="76083" y="67224"/>
                      </a:cubicBezTo>
                      <a:lnTo>
                        <a:pt x="76083" y="131061"/>
                      </a:lnTo>
                      <a:cubicBezTo>
                        <a:pt x="76083" y="142135"/>
                        <a:pt x="80773" y="152427"/>
                        <a:pt x="88850" y="159723"/>
                      </a:cubicBezTo>
                      <a:lnTo>
                        <a:pt x="88850" y="212225"/>
                      </a:lnTo>
                      <a:cubicBezTo>
                        <a:pt x="74911" y="219391"/>
                        <a:pt x="36218" y="240235"/>
                        <a:pt x="0" y="269939"/>
                      </a:cubicBezTo>
                    </a:path>
                  </a:pathLst>
                </a:custGeom>
                <a:noFill/>
                <a:ln w="12700" cap="flat">
                  <a:solidFill>
                    <a:schemeClr val="bg1"/>
                  </a:solidFill>
                  <a:prstDash val="solid"/>
                  <a:round/>
                </a:ln>
              </p:spPr>
              <p:txBody>
                <a:bodyPr rtlCol="0" anchor="ctr"/>
                <a:lstStyle/>
                <a:p>
                  <a:endParaRPr lang="en-GB" sz="1600" dirty="0"/>
                </a:p>
              </p:txBody>
            </p:sp>
            <p:sp>
              <p:nvSpPr>
                <p:cNvPr id="59" name="Freeform: Shape 353">
                  <a:extLst>
                    <a:ext uri="{FF2B5EF4-FFF2-40B4-BE49-F238E27FC236}">
                      <a16:creationId xmlns:a16="http://schemas.microsoft.com/office/drawing/2014/main" id="{E3883CFE-7145-42F3-B92B-7BD54B173EDB}"/>
                    </a:ext>
                  </a:extLst>
                </p:cNvPr>
                <p:cNvSpPr/>
                <p:nvPr/>
              </p:nvSpPr>
              <p:spPr>
                <a:xfrm>
                  <a:off x="11755527" y="2119751"/>
                  <a:ext cx="13028" cy="65140"/>
                </a:xfrm>
                <a:custGeom>
                  <a:avLst/>
                  <a:gdLst>
                    <a:gd name="connsiteX0" fmla="*/ 14852 w 13027"/>
                    <a:gd name="connsiteY0" fmla="*/ 0 h 65139"/>
                    <a:gd name="connsiteX1" fmla="*/ 0 w 13027"/>
                    <a:gd name="connsiteY1" fmla="*/ 31397 h 65139"/>
                    <a:gd name="connsiteX2" fmla="*/ 0 w 13027"/>
                    <a:gd name="connsiteY2" fmla="*/ 75041 h 65139"/>
                  </a:gdLst>
                  <a:ahLst/>
                  <a:cxnLst>
                    <a:cxn ang="0">
                      <a:pos x="connsiteX0" y="connsiteY0"/>
                    </a:cxn>
                    <a:cxn ang="0">
                      <a:pos x="connsiteX1" y="connsiteY1"/>
                    </a:cxn>
                    <a:cxn ang="0">
                      <a:pos x="connsiteX2" y="connsiteY2"/>
                    </a:cxn>
                  </a:cxnLst>
                  <a:rect l="l" t="t" r="r" b="b"/>
                  <a:pathLst>
                    <a:path w="13027" h="65139">
                      <a:moveTo>
                        <a:pt x="14852" y="0"/>
                      </a:moveTo>
                      <a:cubicBezTo>
                        <a:pt x="5472" y="7686"/>
                        <a:pt x="0" y="19281"/>
                        <a:pt x="0" y="31397"/>
                      </a:cubicBezTo>
                      <a:lnTo>
                        <a:pt x="0" y="75041"/>
                      </a:lnTo>
                    </a:path>
                  </a:pathLst>
                </a:custGeom>
                <a:noFill/>
                <a:ln w="12700" cap="flat">
                  <a:solidFill>
                    <a:schemeClr val="bg1"/>
                  </a:solidFill>
                  <a:prstDash val="solid"/>
                  <a:round/>
                </a:ln>
              </p:spPr>
              <p:txBody>
                <a:bodyPr rtlCol="0" anchor="ctr"/>
                <a:lstStyle/>
                <a:p>
                  <a:endParaRPr lang="en-GB" sz="1600" dirty="0"/>
                </a:p>
              </p:txBody>
            </p:sp>
          </p:grpSp>
          <p:grpSp>
            <p:nvGrpSpPr>
              <p:cNvPr id="50" name="Graphic 9">
                <a:extLst>
                  <a:ext uri="{FF2B5EF4-FFF2-40B4-BE49-F238E27FC236}">
                    <a16:creationId xmlns:a16="http://schemas.microsoft.com/office/drawing/2014/main" id="{0F52F6FC-CEE7-4A11-8E98-4B0378992E8E}"/>
                  </a:ext>
                </a:extLst>
              </p:cNvPr>
              <p:cNvGrpSpPr/>
              <p:nvPr/>
            </p:nvGrpSpPr>
            <p:grpSpPr>
              <a:xfrm>
                <a:off x="12094123" y="1897495"/>
                <a:ext cx="130279" cy="52112"/>
                <a:chOff x="12094123" y="1897495"/>
                <a:chExt cx="130279" cy="52112"/>
              </a:xfrm>
              <a:noFill/>
            </p:grpSpPr>
            <p:grpSp>
              <p:nvGrpSpPr>
                <p:cNvPr id="54" name="Graphic 9">
                  <a:extLst>
                    <a:ext uri="{FF2B5EF4-FFF2-40B4-BE49-F238E27FC236}">
                      <a16:creationId xmlns:a16="http://schemas.microsoft.com/office/drawing/2014/main" id="{844E13DD-5540-4D89-8067-AD328CFD3842}"/>
                    </a:ext>
                  </a:extLst>
                </p:cNvPr>
                <p:cNvGrpSpPr/>
                <p:nvPr/>
              </p:nvGrpSpPr>
              <p:grpSpPr>
                <a:xfrm>
                  <a:off x="12094123" y="1897495"/>
                  <a:ext cx="130279" cy="52112"/>
                  <a:chOff x="12094123" y="1897495"/>
                  <a:chExt cx="130279" cy="52112"/>
                </a:xfrm>
              </p:grpSpPr>
              <p:sp>
                <p:nvSpPr>
                  <p:cNvPr id="56" name="Freeform: Shape 356">
                    <a:extLst>
                      <a:ext uri="{FF2B5EF4-FFF2-40B4-BE49-F238E27FC236}">
                        <a16:creationId xmlns:a16="http://schemas.microsoft.com/office/drawing/2014/main" id="{867F56DD-F81B-499E-859B-B412CB0A5F3D}"/>
                      </a:ext>
                    </a:extLst>
                  </p:cNvPr>
                  <p:cNvSpPr/>
                  <p:nvPr/>
                </p:nvSpPr>
                <p:spPr>
                  <a:xfrm>
                    <a:off x="12094123" y="1897495"/>
                    <a:ext cx="130279" cy="13028"/>
                  </a:xfrm>
                  <a:custGeom>
                    <a:avLst/>
                    <a:gdLst>
                      <a:gd name="connsiteX0" fmla="*/ 131061 w 130279"/>
                      <a:gd name="connsiteY0" fmla="*/ 0 h 0"/>
                      <a:gd name="connsiteX1" fmla="*/ 0 w 130279"/>
                      <a:gd name="connsiteY1" fmla="*/ 0 h 0"/>
                    </a:gdLst>
                    <a:ahLst/>
                    <a:cxnLst>
                      <a:cxn ang="0">
                        <a:pos x="connsiteX0" y="connsiteY0"/>
                      </a:cxn>
                      <a:cxn ang="0">
                        <a:pos x="connsiteX1" y="connsiteY1"/>
                      </a:cxn>
                    </a:cxnLst>
                    <a:rect l="l" t="t" r="r" b="b"/>
                    <a:pathLst>
                      <a:path w="130279">
                        <a:moveTo>
                          <a:pt x="131061" y="0"/>
                        </a:moveTo>
                        <a:lnTo>
                          <a:pt x="0" y="0"/>
                        </a:lnTo>
                      </a:path>
                    </a:pathLst>
                  </a:custGeom>
                  <a:ln w="12700" cap="rnd">
                    <a:solidFill>
                      <a:schemeClr val="bg1"/>
                    </a:solidFill>
                    <a:prstDash val="solid"/>
                    <a:round/>
                  </a:ln>
                </p:spPr>
                <p:txBody>
                  <a:bodyPr rtlCol="0" anchor="ctr"/>
                  <a:lstStyle/>
                  <a:p>
                    <a:endParaRPr lang="en-GB" sz="1600" dirty="0"/>
                  </a:p>
                </p:txBody>
              </p:sp>
              <p:sp>
                <p:nvSpPr>
                  <p:cNvPr id="57" name="Freeform: Shape 357">
                    <a:extLst>
                      <a:ext uri="{FF2B5EF4-FFF2-40B4-BE49-F238E27FC236}">
                        <a16:creationId xmlns:a16="http://schemas.microsoft.com/office/drawing/2014/main" id="{2982CBE6-F7EE-4925-9392-620874FF045A}"/>
                      </a:ext>
                    </a:extLst>
                  </p:cNvPr>
                  <p:cNvSpPr/>
                  <p:nvPr/>
                </p:nvSpPr>
                <p:spPr>
                  <a:xfrm>
                    <a:off x="12094123" y="1950909"/>
                    <a:ext cx="130279" cy="13028"/>
                  </a:xfrm>
                  <a:custGeom>
                    <a:avLst/>
                    <a:gdLst>
                      <a:gd name="connsiteX0" fmla="*/ 131061 w 130279"/>
                      <a:gd name="connsiteY0" fmla="*/ 0 h 0"/>
                      <a:gd name="connsiteX1" fmla="*/ 0 w 130279"/>
                      <a:gd name="connsiteY1" fmla="*/ 0 h 0"/>
                    </a:gdLst>
                    <a:ahLst/>
                    <a:cxnLst>
                      <a:cxn ang="0">
                        <a:pos x="connsiteX0" y="connsiteY0"/>
                      </a:cxn>
                      <a:cxn ang="0">
                        <a:pos x="connsiteX1" y="connsiteY1"/>
                      </a:cxn>
                    </a:cxnLst>
                    <a:rect l="l" t="t" r="r" b="b"/>
                    <a:pathLst>
                      <a:path w="130279">
                        <a:moveTo>
                          <a:pt x="131061" y="0"/>
                        </a:moveTo>
                        <a:lnTo>
                          <a:pt x="0" y="0"/>
                        </a:lnTo>
                      </a:path>
                    </a:pathLst>
                  </a:custGeom>
                  <a:ln w="12700" cap="rnd">
                    <a:solidFill>
                      <a:schemeClr val="bg1"/>
                    </a:solidFill>
                    <a:prstDash val="solid"/>
                    <a:round/>
                  </a:ln>
                </p:spPr>
                <p:txBody>
                  <a:bodyPr rtlCol="0" anchor="ctr"/>
                  <a:lstStyle/>
                  <a:p>
                    <a:endParaRPr lang="en-GB" sz="1600" dirty="0"/>
                  </a:p>
                </p:txBody>
              </p:sp>
            </p:grpSp>
            <p:sp>
              <p:nvSpPr>
                <p:cNvPr id="55" name="Freeform: Shape 358">
                  <a:extLst>
                    <a:ext uri="{FF2B5EF4-FFF2-40B4-BE49-F238E27FC236}">
                      <a16:creationId xmlns:a16="http://schemas.microsoft.com/office/drawing/2014/main" id="{B8DD4AC0-5095-4AE6-B806-1ED0278EA83F}"/>
                    </a:ext>
                  </a:extLst>
                </p:cNvPr>
                <p:cNvSpPr/>
                <p:nvPr/>
              </p:nvSpPr>
              <p:spPr>
                <a:xfrm>
                  <a:off x="12040709" y="1838087"/>
                  <a:ext cx="234503" cy="195419"/>
                </a:xfrm>
                <a:custGeom>
                  <a:avLst/>
                  <a:gdLst>
                    <a:gd name="connsiteX0" fmla="*/ 237760 w 234502"/>
                    <a:gd name="connsiteY0" fmla="*/ 0 h 195419"/>
                    <a:gd name="connsiteX1" fmla="*/ 237760 w 234502"/>
                    <a:gd name="connsiteY1" fmla="*/ 167670 h 195419"/>
                    <a:gd name="connsiteX2" fmla="*/ 61753 w 234502"/>
                    <a:gd name="connsiteY2" fmla="*/ 167670 h 195419"/>
                    <a:gd name="connsiteX3" fmla="*/ 30095 w 234502"/>
                    <a:gd name="connsiteY3" fmla="*/ 203757 h 195419"/>
                    <a:gd name="connsiteX4" fmla="*/ 30095 w 234502"/>
                    <a:gd name="connsiteY4" fmla="*/ 167670 h 195419"/>
                    <a:gd name="connsiteX5" fmla="*/ 0 w 234502"/>
                    <a:gd name="connsiteY5" fmla="*/ 167670 h 195419"/>
                    <a:gd name="connsiteX6" fmla="*/ 0 w 234502"/>
                    <a:gd name="connsiteY6" fmla="*/ 0 h 19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502" h="195419">
                      <a:moveTo>
                        <a:pt x="237760" y="0"/>
                      </a:moveTo>
                      <a:lnTo>
                        <a:pt x="237760" y="167670"/>
                      </a:lnTo>
                      <a:lnTo>
                        <a:pt x="61753" y="167670"/>
                      </a:lnTo>
                      <a:lnTo>
                        <a:pt x="30095" y="203757"/>
                      </a:lnTo>
                      <a:lnTo>
                        <a:pt x="30095" y="167670"/>
                      </a:lnTo>
                      <a:lnTo>
                        <a:pt x="0" y="167670"/>
                      </a:lnTo>
                      <a:lnTo>
                        <a:pt x="0" y="0"/>
                      </a:lnTo>
                      <a:close/>
                    </a:path>
                  </a:pathLst>
                </a:custGeom>
                <a:noFill/>
                <a:ln w="12700" cap="rnd">
                  <a:solidFill>
                    <a:schemeClr val="bg1"/>
                  </a:solidFill>
                  <a:prstDash val="solid"/>
                  <a:round/>
                </a:ln>
              </p:spPr>
              <p:txBody>
                <a:bodyPr rtlCol="0" anchor="ctr"/>
                <a:lstStyle/>
                <a:p>
                  <a:endParaRPr lang="en-GB" sz="1600" dirty="0"/>
                </a:p>
              </p:txBody>
            </p:sp>
          </p:grpSp>
          <p:grpSp>
            <p:nvGrpSpPr>
              <p:cNvPr id="51" name="Graphic 9">
                <a:extLst>
                  <a:ext uri="{FF2B5EF4-FFF2-40B4-BE49-F238E27FC236}">
                    <a16:creationId xmlns:a16="http://schemas.microsoft.com/office/drawing/2014/main" id="{CA9CB10A-17F3-4636-8962-3C245A599F96}"/>
                  </a:ext>
                </a:extLst>
              </p:cNvPr>
              <p:cNvGrpSpPr/>
              <p:nvPr/>
            </p:nvGrpSpPr>
            <p:grpSpPr>
              <a:xfrm>
                <a:off x="11621209" y="1895801"/>
                <a:ext cx="195419" cy="273587"/>
                <a:chOff x="11621209" y="1895801"/>
                <a:chExt cx="195419" cy="273587"/>
              </a:xfrm>
              <a:noFill/>
            </p:grpSpPr>
            <p:sp>
              <p:nvSpPr>
                <p:cNvPr id="52" name="Freeform: Shape 360">
                  <a:extLst>
                    <a:ext uri="{FF2B5EF4-FFF2-40B4-BE49-F238E27FC236}">
                      <a16:creationId xmlns:a16="http://schemas.microsoft.com/office/drawing/2014/main" id="{9A25B63C-B5EC-4312-9243-E2FF3A768398}"/>
                    </a:ext>
                  </a:extLst>
                </p:cNvPr>
                <p:cNvSpPr/>
                <p:nvPr/>
              </p:nvSpPr>
              <p:spPr>
                <a:xfrm>
                  <a:off x="11633586" y="1895801"/>
                  <a:ext cx="182391" cy="221475"/>
                </a:xfrm>
                <a:custGeom>
                  <a:avLst/>
                  <a:gdLst>
                    <a:gd name="connsiteX0" fmla="*/ 192032 w 182391"/>
                    <a:gd name="connsiteY0" fmla="*/ 184345 h 221474"/>
                    <a:gd name="connsiteX1" fmla="*/ 173532 w 182391"/>
                    <a:gd name="connsiteY1" fmla="*/ 174314 h 221474"/>
                    <a:gd name="connsiteX2" fmla="*/ 173532 w 182391"/>
                    <a:gd name="connsiteY2" fmla="*/ 131191 h 221474"/>
                    <a:gd name="connsiteX3" fmla="*/ 184085 w 182391"/>
                    <a:gd name="connsiteY3" fmla="*/ 107611 h 221474"/>
                    <a:gd name="connsiteX4" fmla="*/ 184085 w 182391"/>
                    <a:gd name="connsiteY4" fmla="*/ 55238 h 221474"/>
                    <a:gd name="connsiteX5" fmla="*/ 128847 w 182391"/>
                    <a:gd name="connsiteY5" fmla="*/ 0 h 221474"/>
                    <a:gd name="connsiteX6" fmla="*/ 117642 w 182391"/>
                    <a:gd name="connsiteY6" fmla="*/ 0 h 221474"/>
                    <a:gd name="connsiteX7" fmla="*/ 62404 w 182391"/>
                    <a:gd name="connsiteY7" fmla="*/ 55238 h 221474"/>
                    <a:gd name="connsiteX8" fmla="*/ 62404 w 182391"/>
                    <a:gd name="connsiteY8" fmla="*/ 107611 h 221474"/>
                    <a:gd name="connsiteX9" fmla="*/ 72957 w 182391"/>
                    <a:gd name="connsiteY9" fmla="*/ 131191 h 221474"/>
                    <a:gd name="connsiteX10" fmla="*/ 72957 w 182391"/>
                    <a:gd name="connsiteY10" fmla="*/ 174314 h 221474"/>
                    <a:gd name="connsiteX11" fmla="*/ 0 w 182391"/>
                    <a:gd name="connsiteY11" fmla="*/ 221736 h 22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391" h="221474">
                      <a:moveTo>
                        <a:pt x="192032" y="184345"/>
                      </a:moveTo>
                      <a:cubicBezTo>
                        <a:pt x="183954" y="179655"/>
                        <a:pt x="177440" y="176268"/>
                        <a:pt x="173532" y="174314"/>
                      </a:cubicBezTo>
                      <a:lnTo>
                        <a:pt x="173532" y="131191"/>
                      </a:lnTo>
                      <a:cubicBezTo>
                        <a:pt x="180177" y="125198"/>
                        <a:pt x="184085" y="116730"/>
                        <a:pt x="184085" y="107611"/>
                      </a:cubicBezTo>
                      <a:lnTo>
                        <a:pt x="184085" y="55238"/>
                      </a:lnTo>
                      <a:cubicBezTo>
                        <a:pt x="184085" y="24753"/>
                        <a:pt x="159332" y="0"/>
                        <a:pt x="128847" y="0"/>
                      </a:cubicBezTo>
                      <a:lnTo>
                        <a:pt x="117642" y="0"/>
                      </a:lnTo>
                      <a:cubicBezTo>
                        <a:pt x="87157" y="0"/>
                        <a:pt x="62404" y="24753"/>
                        <a:pt x="62404" y="55238"/>
                      </a:cubicBezTo>
                      <a:lnTo>
                        <a:pt x="62404" y="107611"/>
                      </a:lnTo>
                      <a:cubicBezTo>
                        <a:pt x="62404" y="116730"/>
                        <a:pt x="66312" y="125198"/>
                        <a:pt x="72957" y="131191"/>
                      </a:cubicBezTo>
                      <a:lnTo>
                        <a:pt x="72957" y="174314"/>
                      </a:lnTo>
                      <a:cubicBezTo>
                        <a:pt x="61492" y="180176"/>
                        <a:pt x="29704" y="197373"/>
                        <a:pt x="0" y="221736"/>
                      </a:cubicBezTo>
                    </a:path>
                  </a:pathLst>
                </a:custGeom>
                <a:noFill/>
                <a:ln w="12700" cap="flat">
                  <a:solidFill>
                    <a:schemeClr val="bg1"/>
                  </a:solidFill>
                  <a:prstDash val="solid"/>
                  <a:round/>
                </a:ln>
              </p:spPr>
              <p:txBody>
                <a:bodyPr rtlCol="0" anchor="ctr"/>
                <a:lstStyle/>
                <a:p>
                  <a:endParaRPr lang="en-GB" sz="1600" dirty="0"/>
                </a:p>
              </p:txBody>
            </p:sp>
            <p:sp>
              <p:nvSpPr>
                <p:cNvPr id="53" name="Freeform: Shape 361">
                  <a:extLst>
                    <a:ext uri="{FF2B5EF4-FFF2-40B4-BE49-F238E27FC236}">
                      <a16:creationId xmlns:a16="http://schemas.microsoft.com/office/drawing/2014/main" id="{86FBF627-159F-415F-8EF1-0D9E704E4E69}"/>
                    </a:ext>
                  </a:extLst>
                </p:cNvPr>
                <p:cNvSpPr/>
                <p:nvPr/>
              </p:nvSpPr>
              <p:spPr>
                <a:xfrm>
                  <a:off x="11621209" y="2117406"/>
                  <a:ext cx="13028" cy="52112"/>
                </a:xfrm>
                <a:custGeom>
                  <a:avLst/>
                  <a:gdLst>
                    <a:gd name="connsiteX0" fmla="*/ 12116 w 0"/>
                    <a:gd name="connsiteY0" fmla="*/ 0 h 52111"/>
                    <a:gd name="connsiteX1" fmla="*/ 0 w 0"/>
                    <a:gd name="connsiteY1" fmla="*/ 25795 h 52111"/>
                    <a:gd name="connsiteX2" fmla="*/ 0 w 0"/>
                    <a:gd name="connsiteY2" fmla="*/ 61622 h 52111"/>
                  </a:gdLst>
                  <a:ahLst/>
                  <a:cxnLst>
                    <a:cxn ang="0">
                      <a:pos x="connsiteX0" y="connsiteY0"/>
                    </a:cxn>
                    <a:cxn ang="0">
                      <a:pos x="connsiteX1" y="connsiteY1"/>
                    </a:cxn>
                    <a:cxn ang="0">
                      <a:pos x="connsiteX2" y="connsiteY2"/>
                    </a:cxn>
                  </a:cxnLst>
                  <a:rect l="l" t="t" r="r" b="b"/>
                  <a:pathLst>
                    <a:path h="52111">
                      <a:moveTo>
                        <a:pt x="12116" y="0"/>
                      </a:moveTo>
                      <a:cubicBezTo>
                        <a:pt x="4429" y="6253"/>
                        <a:pt x="0" y="15764"/>
                        <a:pt x="0" y="25795"/>
                      </a:cubicBezTo>
                      <a:lnTo>
                        <a:pt x="0" y="61622"/>
                      </a:lnTo>
                    </a:path>
                  </a:pathLst>
                </a:custGeom>
                <a:noFill/>
                <a:ln w="12700" cap="flat">
                  <a:solidFill>
                    <a:schemeClr val="bg1"/>
                  </a:solidFill>
                  <a:prstDash val="solid"/>
                  <a:round/>
                </a:ln>
              </p:spPr>
              <p:txBody>
                <a:bodyPr rtlCol="0" anchor="ctr"/>
                <a:lstStyle/>
                <a:p>
                  <a:endParaRPr lang="en-GB" sz="1600" dirty="0"/>
                </a:p>
              </p:txBody>
            </p:sp>
          </p:grpSp>
        </p:grpSp>
      </p:grpSp>
      <p:grpSp>
        <p:nvGrpSpPr>
          <p:cNvPr id="63" name="Group 62">
            <a:extLst>
              <a:ext uri="{FF2B5EF4-FFF2-40B4-BE49-F238E27FC236}">
                <a16:creationId xmlns:a16="http://schemas.microsoft.com/office/drawing/2014/main" id="{CEC74F8E-C767-4CE5-A14B-70A4ABB5FC2D}"/>
              </a:ext>
              <a:ext uri="{C183D7F6-B498-43B3-948B-1728B52AA6E4}">
                <adec:decorative xmlns:adec="http://schemas.microsoft.com/office/drawing/2017/decorative" val="1"/>
              </a:ext>
            </a:extLst>
          </p:cNvPr>
          <p:cNvGrpSpPr/>
          <p:nvPr userDrawn="1"/>
        </p:nvGrpSpPr>
        <p:grpSpPr>
          <a:xfrm>
            <a:off x="9766229" y="4495759"/>
            <a:ext cx="404358" cy="392805"/>
            <a:chOff x="9871351" y="2517379"/>
            <a:chExt cx="463688" cy="450440"/>
          </a:xfrm>
        </p:grpSpPr>
        <p:sp>
          <p:nvSpPr>
            <p:cNvPr id="64" name="Freeform: Shape 190">
              <a:extLst>
                <a:ext uri="{FF2B5EF4-FFF2-40B4-BE49-F238E27FC236}">
                  <a16:creationId xmlns:a16="http://schemas.microsoft.com/office/drawing/2014/main" id="{865A4F67-306B-49F7-96EE-2F9E99E1521B}"/>
                </a:ext>
              </a:extLst>
            </p:cNvPr>
            <p:cNvSpPr/>
            <p:nvPr/>
          </p:nvSpPr>
          <p:spPr>
            <a:xfrm>
              <a:off x="10108097" y="2675961"/>
              <a:ext cx="13248" cy="158979"/>
            </a:xfrm>
            <a:custGeom>
              <a:avLst/>
              <a:gdLst>
                <a:gd name="connsiteX0" fmla="*/ 0 w 0"/>
                <a:gd name="connsiteY0" fmla="*/ 0 h 158978"/>
                <a:gd name="connsiteX1" fmla="*/ 0 w 0"/>
                <a:gd name="connsiteY1" fmla="*/ 163351 h 158978"/>
              </a:gdLst>
              <a:ahLst/>
              <a:cxnLst>
                <a:cxn ang="0">
                  <a:pos x="connsiteX0" y="connsiteY0"/>
                </a:cxn>
                <a:cxn ang="0">
                  <a:pos x="connsiteX1" y="connsiteY1"/>
                </a:cxn>
              </a:cxnLst>
              <a:rect l="l" t="t" r="r" b="b"/>
              <a:pathLst>
                <a:path h="158978">
                  <a:moveTo>
                    <a:pt x="0" y="0"/>
                  </a:moveTo>
                  <a:lnTo>
                    <a:pt x="0" y="163351"/>
                  </a:lnTo>
                </a:path>
              </a:pathLst>
            </a:custGeom>
            <a:ln w="12700" cap="rnd">
              <a:solidFill>
                <a:schemeClr val="bg1"/>
              </a:solidFill>
              <a:prstDash val="solid"/>
              <a:round/>
            </a:ln>
          </p:spPr>
          <p:txBody>
            <a:bodyPr rtlCol="0" anchor="ctr"/>
            <a:lstStyle/>
            <a:p>
              <a:endParaRPr lang="en-GB" sz="1600" dirty="0"/>
            </a:p>
          </p:txBody>
        </p:sp>
        <p:sp>
          <p:nvSpPr>
            <p:cNvPr id="65" name="Freeform: Shape 191">
              <a:extLst>
                <a:ext uri="{FF2B5EF4-FFF2-40B4-BE49-F238E27FC236}">
                  <a16:creationId xmlns:a16="http://schemas.microsoft.com/office/drawing/2014/main" id="{00FA54F4-F0AC-4B0F-B034-096EC6108F13}"/>
                </a:ext>
              </a:extLst>
            </p:cNvPr>
            <p:cNvSpPr/>
            <p:nvPr/>
          </p:nvSpPr>
          <p:spPr>
            <a:xfrm>
              <a:off x="10101605" y="2875214"/>
              <a:ext cx="13248" cy="13248"/>
            </a:xfrm>
            <a:custGeom>
              <a:avLst/>
              <a:gdLst>
                <a:gd name="connsiteX0" fmla="*/ 12984 w 0"/>
                <a:gd name="connsiteY0" fmla="*/ 6492 h 0"/>
                <a:gd name="connsiteX1" fmla="*/ 6492 w 0"/>
                <a:gd name="connsiteY1" fmla="*/ 12983 h 0"/>
                <a:gd name="connsiteX2" fmla="*/ 0 w 0"/>
                <a:gd name="connsiteY2" fmla="*/ 6492 h 0"/>
                <a:gd name="connsiteX3" fmla="*/ 6492 w 0"/>
                <a:gd name="connsiteY3" fmla="*/ 0 h 0"/>
                <a:gd name="connsiteX4" fmla="*/ 12984 w 0"/>
                <a:gd name="connsiteY4" fmla="*/ 6492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12984" y="6492"/>
                  </a:moveTo>
                  <a:cubicBezTo>
                    <a:pt x="12984" y="10077"/>
                    <a:pt x="10077" y="12983"/>
                    <a:pt x="6492" y="12983"/>
                  </a:cubicBezTo>
                  <a:cubicBezTo>
                    <a:pt x="2907" y="12983"/>
                    <a:pt x="0" y="10077"/>
                    <a:pt x="0" y="6492"/>
                  </a:cubicBezTo>
                  <a:cubicBezTo>
                    <a:pt x="0" y="2906"/>
                    <a:pt x="2907" y="0"/>
                    <a:pt x="6492" y="0"/>
                  </a:cubicBezTo>
                  <a:cubicBezTo>
                    <a:pt x="10077" y="0"/>
                    <a:pt x="12984" y="2906"/>
                    <a:pt x="12984" y="6492"/>
                  </a:cubicBezTo>
                  <a:close/>
                </a:path>
              </a:pathLst>
            </a:custGeom>
            <a:noFill/>
            <a:ln w="12700" cap="rnd">
              <a:solidFill>
                <a:schemeClr val="bg1"/>
              </a:solidFill>
              <a:prstDash val="solid"/>
              <a:round/>
            </a:ln>
          </p:spPr>
          <p:txBody>
            <a:bodyPr rtlCol="0" anchor="ctr"/>
            <a:lstStyle/>
            <a:p>
              <a:endParaRPr lang="en-GB" sz="1600" dirty="0"/>
            </a:p>
          </p:txBody>
        </p:sp>
        <p:sp>
          <p:nvSpPr>
            <p:cNvPr id="66" name="Freeform: Shape 192">
              <a:extLst>
                <a:ext uri="{FF2B5EF4-FFF2-40B4-BE49-F238E27FC236}">
                  <a16:creationId xmlns:a16="http://schemas.microsoft.com/office/drawing/2014/main" id="{0CBBADB4-8575-441D-AB29-A6FF8E5F2654}"/>
                </a:ext>
              </a:extLst>
            </p:cNvPr>
            <p:cNvSpPr/>
            <p:nvPr/>
          </p:nvSpPr>
          <p:spPr>
            <a:xfrm>
              <a:off x="9871351" y="2517379"/>
              <a:ext cx="463688" cy="450440"/>
            </a:xfrm>
            <a:custGeom>
              <a:avLst/>
              <a:gdLst>
                <a:gd name="connsiteX0" fmla="*/ 0 w 463688"/>
                <a:gd name="connsiteY0" fmla="*/ 451235 h 450440"/>
                <a:gd name="connsiteX1" fmla="*/ 236747 w 463688"/>
                <a:gd name="connsiteY1" fmla="*/ 0 h 450440"/>
                <a:gd name="connsiteX2" fmla="*/ 473493 w 463688"/>
                <a:gd name="connsiteY2" fmla="*/ 451235 h 450440"/>
              </a:gdLst>
              <a:ahLst/>
              <a:cxnLst>
                <a:cxn ang="0">
                  <a:pos x="connsiteX0" y="connsiteY0"/>
                </a:cxn>
                <a:cxn ang="0">
                  <a:pos x="connsiteX1" y="connsiteY1"/>
                </a:cxn>
                <a:cxn ang="0">
                  <a:pos x="connsiteX2" y="connsiteY2"/>
                </a:cxn>
              </a:cxnLst>
              <a:rect l="l" t="t" r="r" b="b"/>
              <a:pathLst>
                <a:path w="463688" h="450440">
                  <a:moveTo>
                    <a:pt x="0" y="451235"/>
                  </a:moveTo>
                  <a:lnTo>
                    <a:pt x="236747" y="0"/>
                  </a:lnTo>
                  <a:lnTo>
                    <a:pt x="473493" y="451235"/>
                  </a:lnTo>
                  <a:close/>
                </a:path>
              </a:pathLst>
            </a:custGeom>
            <a:noFill/>
            <a:ln w="12700" cap="rnd">
              <a:solidFill>
                <a:schemeClr val="bg1"/>
              </a:solidFill>
              <a:prstDash val="solid"/>
              <a:round/>
            </a:ln>
          </p:spPr>
          <p:txBody>
            <a:bodyPr rtlCol="0" anchor="ctr"/>
            <a:lstStyle/>
            <a:p>
              <a:endParaRPr lang="en-GB" sz="1600" dirty="0"/>
            </a:p>
          </p:txBody>
        </p:sp>
      </p:grpSp>
      <p:grpSp>
        <p:nvGrpSpPr>
          <p:cNvPr id="19" name="Group 18">
            <a:extLst>
              <a:ext uri="{FF2B5EF4-FFF2-40B4-BE49-F238E27FC236}">
                <a16:creationId xmlns:a16="http://schemas.microsoft.com/office/drawing/2014/main" id="{29D57B36-C1E1-4988-AD5B-629CBB8F3F28}"/>
              </a:ext>
              <a:ext uri="{C183D7F6-B498-43B3-948B-1728B52AA6E4}">
                <adec:decorative xmlns:adec="http://schemas.microsoft.com/office/drawing/2017/decorative" val="1"/>
              </a:ext>
            </a:extLst>
          </p:cNvPr>
          <p:cNvGrpSpPr/>
          <p:nvPr userDrawn="1"/>
        </p:nvGrpSpPr>
        <p:grpSpPr>
          <a:xfrm>
            <a:off x="5288197" y="4479341"/>
            <a:ext cx="463705" cy="425641"/>
            <a:chOff x="5717324" y="3934620"/>
            <a:chExt cx="526593" cy="483367"/>
          </a:xfrm>
        </p:grpSpPr>
        <p:grpSp>
          <p:nvGrpSpPr>
            <p:cNvPr id="70" name="Graphic 8">
              <a:extLst>
                <a:ext uri="{FF2B5EF4-FFF2-40B4-BE49-F238E27FC236}">
                  <a16:creationId xmlns:a16="http://schemas.microsoft.com/office/drawing/2014/main" id="{4D780316-88C2-4B95-AC45-7C10FB62B68A}"/>
                </a:ext>
              </a:extLst>
            </p:cNvPr>
            <p:cNvGrpSpPr/>
            <p:nvPr/>
          </p:nvGrpSpPr>
          <p:grpSpPr>
            <a:xfrm>
              <a:off x="5717324" y="3934620"/>
              <a:ext cx="372882" cy="483367"/>
              <a:chOff x="670127" y="4633494"/>
              <a:chExt cx="427594" cy="554289"/>
            </a:xfrm>
            <a:noFill/>
          </p:grpSpPr>
          <p:sp>
            <p:nvSpPr>
              <p:cNvPr id="72" name="Freeform: Shape 541">
                <a:extLst>
                  <a:ext uri="{FF2B5EF4-FFF2-40B4-BE49-F238E27FC236}">
                    <a16:creationId xmlns:a16="http://schemas.microsoft.com/office/drawing/2014/main" id="{568CA89A-A01F-413A-96F8-4BBAFDA20A58}"/>
                  </a:ext>
                </a:extLst>
              </p:cNvPr>
              <p:cNvSpPr/>
              <p:nvPr/>
            </p:nvSpPr>
            <p:spPr>
              <a:xfrm>
                <a:off x="784311" y="4747677"/>
                <a:ext cx="269226" cy="332573"/>
              </a:xfrm>
              <a:custGeom>
                <a:avLst/>
                <a:gdLst>
                  <a:gd name="connsiteX0" fmla="*/ 278094 w 269225"/>
                  <a:gd name="connsiteY0" fmla="*/ 302325 h 332573"/>
                  <a:gd name="connsiteX1" fmla="*/ 170404 w 269225"/>
                  <a:gd name="connsiteY1" fmla="*/ 340650 h 332573"/>
                  <a:gd name="connsiteX2" fmla="*/ 0 w 269225"/>
                  <a:gd name="connsiteY2" fmla="*/ 170404 h 332573"/>
                  <a:gd name="connsiteX3" fmla="*/ 170404 w 269225"/>
                  <a:gd name="connsiteY3" fmla="*/ 0 h 332573"/>
                  <a:gd name="connsiteX4" fmla="*/ 265742 w 269225"/>
                  <a:gd name="connsiteY4" fmla="*/ 29140 h 332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5" h="332573">
                    <a:moveTo>
                      <a:pt x="278094" y="302325"/>
                    </a:moveTo>
                    <a:cubicBezTo>
                      <a:pt x="248796" y="326238"/>
                      <a:pt x="211263" y="340650"/>
                      <a:pt x="170404" y="340650"/>
                    </a:cubicBezTo>
                    <a:cubicBezTo>
                      <a:pt x="76333" y="340650"/>
                      <a:pt x="0" y="264316"/>
                      <a:pt x="0" y="170404"/>
                    </a:cubicBezTo>
                    <a:cubicBezTo>
                      <a:pt x="0" y="76175"/>
                      <a:pt x="76333" y="0"/>
                      <a:pt x="170404" y="0"/>
                    </a:cubicBezTo>
                    <a:cubicBezTo>
                      <a:pt x="205720" y="0"/>
                      <a:pt x="238502" y="10769"/>
                      <a:pt x="265742" y="29140"/>
                    </a:cubicBezTo>
                  </a:path>
                </a:pathLst>
              </a:custGeom>
              <a:noFill/>
              <a:ln w="12700" cap="rnd">
                <a:solidFill>
                  <a:schemeClr val="bg1"/>
                </a:solidFill>
                <a:prstDash val="solid"/>
                <a:round/>
              </a:ln>
            </p:spPr>
            <p:txBody>
              <a:bodyPr rtlCol="0" anchor="ctr"/>
              <a:lstStyle/>
              <a:p>
                <a:endParaRPr lang="en-GB" sz="1600" dirty="0"/>
              </a:p>
            </p:txBody>
          </p:sp>
          <p:sp>
            <p:nvSpPr>
              <p:cNvPr id="73" name="Freeform: Shape 542">
                <a:extLst>
                  <a:ext uri="{FF2B5EF4-FFF2-40B4-BE49-F238E27FC236}">
                    <a16:creationId xmlns:a16="http://schemas.microsoft.com/office/drawing/2014/main" id="{8B04CCEC-90AB-471F-A0CD-A2787E6D5277}"/>
                  </a:ext>
                </a:extLst>
              </p:cNvPr>
              <p:cNvSpPr/>
              <p:nvPr/>
            </p:nvSpPr>
            <p:spPr>
              <a:xfrm>
                <a:off x="670127" y="4633494"/>
                <a:ext cx="427594" cy="554289"/>
              </a:xfrm>
              <a:custGeom>
                <a:avLst/>
                <a:gdLst>
                  <a:gd name="connsiteX0" fmla="*/ 422526 w 427593"/>
                  <a:gd name="connsiteY0" fmla="*/ 87102 h 554288"/>
                  <a:gd name="connsiteX1" fmla="*/ 327980 w 427593"/>
                  <a:gd name="connsiteY1" fmla="*/ 47510 h 554288"/>
                  <a:gd name="connsiteX2" fmla="*/ 327980 w 427593"/>
                  <a:gd name="connsiteY2" fmla="*/ 22647 h 554288"/>
                  <a:gd name="connsiteX3" fmla="*/ 305334 w 427593"/>
                  <a:gd name="connsiteY3" fmla="*/ 0 h 554288"/>
                  <a:gd name="connsiteX4" fmla="*/ 263525 w 427593"/>
                  <a:gd name="connsiteY4" fmla="*/ 0 h 554288"/>
                  <a:gd name="connsiteX5" fmla="*/ 240878 w 427593"/>
                  <a:gd name="connsiteY5" fmla="*/ 22647 h 554288"/>
                  <a:gd name="connsiteX6" fmla="*/ 240878 w 427593"/>
                  <a:gd name="connsiteY6" fmla="*/ 47510 h 554288"/>
                  <a:gd name="connsiteX7" fmla="*/ 157418 w 427593"/>
                  <a:gd name="connsiteY7" fmla="*/ 79659 h 554288"/>
                  <a:gd name="connsiteX8" fmla="*/ 139206 w 427593"/>
                  <a:gd name="connsiteY8" fmla="*/ 61447 h 554288"/>
                  <a:gd name="connsiteX9" fmla="*/ 107215 w 427593"/>
                  <a:gd name="connsiteY9" fmla="*/ 61447 h 554288"/>
                  <a:gd name="connsiteX10" fmla="*/ 77600 w 427593"/>
                  <a:gd name="connsiteY10" fmla="*/ 90903 h 554288"/>
                  <a:gd name="connsiteX11" fmla="*/ 77600 w 427593"/>
                  <a:gd name="connsiteY11" fmla="*/ 123052 h 554288"/>
                  <a:gd name="connsiteX12" fmla="*/ 92804 w 427593"/>
                  <a:gd name="connsiteY12" fmla="*/ 138256 h 554288"/>
                  <a:gd name="connsiteX13" fmla="*/ 47194 w 427593"/>
                  <a:gd name="connsiteY13" fmla="*/ 240878 h 554288"/>
                  <a:gd name="connsiteX14" fmla="*/ 22805 w 427593"/>
                  <a:gd name="connsiteY14" fmla="*/ 240878 h 554288"/>
                  <a:gd name="connsiteX15" fmla="*/ 0 w 427593"/>
                  <a:gd name="connsiteY15" fmla="*/ 263683 h 554288"/>
                  <a:gd name="connsiteX16" fmla="*/ 0 w 427593"/>
                  <a:gd name="connsiteY16" fmla="*/ 305334 h 554288"/>
                  <a:gd name="connsiteX17" fmla="*/ 22805 w 427593"/>
                  <a:gd name="connsiteY17" fmla="*/ 328139 h 554288"/>
                  <a:gd name="connsiteX18" fmla="*/ 47510 w 427593"/>
                  <a:gd name="connsiteY18" fmla="*/ 328139 h 554288"/>
                  <a:gd name="connsiteX19" fmla="*/ 87102 w 427593"/>
                  <a:gd name="connsiteY19" fmla="*/ 422685 h 554288"/>
                  <a:gd name="connsiteX20" fmla="*/ 70791 w 427593"/>
                  <a:gd name="connsiteY20" fmla="*/ 438838 h 554288"/>
                  <a:gd name="connsiteX21" fmla="*/ 70791 w 427593"/>
                  <a:gd name="connsiteY21" fmla="*/ 470987 h 554288"/>
                  <a:gd name="connsiteX22" fmla="*/ 100405 w 427593"/>
                  <a:gd name="connsiteY22" fmla="*/ 500602 h 554288"/>
                  <a:gd name="connsiteX23" fmla="*/ 132396 w 427593"/>
                  <a:gd name="connsiteY23" fmla="*/ 500602 h 554288"/>
                  <a:gd name="connsiteX24" fmla="*/ 149183 w 427593"/>
                  <a:gd name="connsiteY24" fmla="*/ 483815 h 554288"/>
                  <a:gd name="connsiteX25" fmla="*/ 241036 w 427593"/>
                  <a:gd name="connsiteY25" fmla="*/ 521506 h 554288"/>
                  <a:gd name="connsiteX26" fmla="*/ 241036 w 427593"/>
                  <a:gd name="connsiteY26" fmla="*/ 546370 h 554288"/>
                  <a:gd name="connsiteX27" fmla="*/ 263683 w 427593"/>
                  <a:gd name="connsiteY27" fmla="*/ 569017 h 554288"/>
                  <a:gd name="connsiteX28" fmla="*/ 305492 w 427593"/>
                  <a:gd name="connsiteY28" fmla="*/ 569017 h 554288"/>
                  <a:gd name="connsiteX29" fmla="*/ 328139 w 427593"/>
                  <a:gd name="connsiteY29" fmla="*/ 546370 h 554288"/>
                  <a:gd name="connsiteX30" fmla="*/ 328139 w 427593"/>
                  <a:gd name="connsiteY30" fmla="*/ 521506 h 554288"/>
                  <a:gd name="connsiteX31" fmla="*/ 430920 w 427593"/>
                  <a:gd name="connsiteY31" fmla="*/ 475896 h 554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27593" h="554288">
                    <a:moveTo>
                      <a:pt x="422526" y="87102"/>
                    </a:moveTo>
                    <a:cubicBezTo>
                      <a:pt x="394812" y="67623"/>
                      <a:pt x="362663" y="53845"/>
                      <a:pt x="327980" y="47510"/>
                    </a:cubicBezTo>
                    <a:lnTo>
                      <a:pt x="327980" y="22647"/>
                    </a:lnTo>
                    <a:cubicBezTo>
                      <a:pt x="327980" y="10136"/>
                      <a:pt x="317845" y="0"/>
                      <a:pt x="305334" y="0"/>
                    </a:cubicBezTo>
                    <a:lnTo>
                      <a:pt x="263525" y="0"/>
                    </a:lnTo>
                    <a:cubicBezTo>
                      <a:pt x="251013" y="0"/>
                      <a:pt x="240878" y="10136"/>
                      <a:pt x="240878" y="22647"/>
                    </a:cubicBezTo>
                    <a:lnTo>
                      <a:pt x="240878" y="47510"/>
                    </a:lnTo>
                    <a:cubicBezTo>
                      <a:pt x="210788" y="52895"/>
                      <a:pt x="182598" y="64139"/>
                      <a:pt x="157418" y="79659"/>
                    </a:cubicBezTo>
                    <a:lnTo>
                      <a:pt x="139206" y="61447"/>
                    </a:lnTo>
                    <a:cubicBezTo>
                      <a:pt x="130337" y="52420"/>
                      <a:pt x="116084" y="52420"/>
                      <a:pt x="107215" y="61447"/>
                    </a:cubicBezTo>
                    <a:lnTo>
                      <a:pt x="77600" y="90903"/>
                    </a:lnTo>
                    <a:cubicBezTo>
                      <a:pt x="68732" y="99930"/>
                      <a:pt x="68732" y="114184"/>
                      <a:pt x="77600" y="123052"/>
                    </a:cubicBezTo>
                    <a:lnTo>
                      <a:pt x="92804" y="138256"/>
                    </a:lnTo>
                    <a:cubicBezTo>
                      <a:pt x="70157" y="167870"/>
                      <a:pt x="54320" y="202711"/>
                      <a:pt x="47194" y="240878"/>
                    </a:cubicBezTo>
                    <a:lnTo>
                      <a:pt x="22805" y="240878"/>
                    </a:lnTo>
                    <a:cubicBezTo>
                      <a:pt x="10294" y="240878"/>
                      <a:pt x="0" y="251172"/>
                      <a:pt x="0" y="263683"/>
                    </a:cubicBezTo>
                    <a:lnTo>
                      <a:pt x="0" y="305334"/>
                    </a:lnTo>
                    <a:cubicBezTo>
                      <a:pt x="0" y="317845"/>
                      <a:pt x="10294" y="328139"/>
                      <a:pt x="22805" y="328139"/>
                    </a:cubicBezTo>
                    <a:lnTo>
                      <a:pt x="47510" y="328139"/>
                    </a:lnTo>
                    <a:cubicBezTo>
                      <a:pt x="53845" y="362821"/>
                      <a:pt x="67623" y="394812"/>
                      <a:pt x="87102" y="422685"/>
                    </a:cubicBezTo>
                    <a:lnTo>
                      <a:pt x="70791" y="438838"/>
                    </a:lnTo>
                    <a:cubicBezTo>
                      <a:pt x="61922" y="447865"/>
                      <a:pt x="61922" y="462118"/>
                      <a:pt x="70791" y="470987"/>
                    </a:cubicBezTo>
                    <a:lnTo>
                      <a:pt x="100405" y="500602"/>
                    </a:lnTo>
                    <a:cubicBezTo>
                      <a:pt x="109274" y="509470"/>
                      <a:pt x="123527" y="509470"/>
                      <a:pt x="132396" y="500602"/>
                    </a:cubicBezTo>
                    <a:lnTo>
                      <a:pt x="149183" y="483815"/>
                    </a:lnTo>
                    <a:cubicBezTo>
                      <a:pt x="176422" y="502502"/>
                      <a:pt x="207462" y="515330"/>
                      <a:pt x="241036" y="521506"/>
                    </a:cubicBezTo>
                    <a:lnTo>
                      <a:pt x="241036" y="546370"/>
                    </a:lnTo>
                    <a:cubicBezTo>
                      <a:pt x="241036" y="558881"/>
                      <a:pt x="251172" y="569017"/>
                      <a:pt x="263683" y="569017"/>
                    </a:cubicBezTo>
                    <a:lnTo>
                      <a:pt x="305492" y="569017"/>
                    </a:lnTo>
                    <a:cubicBezTo>
                      <a:pt x="318003" y="569017"/>
                      <a:pt x="328139" y="558881"/>
                      <a:pt x="328139" y="546370"/>
                    </a:cubicBezTo>
                    <a:lnTo>
                      <a:pt x="328139" y="521506"/>
                    </a:lnTo>
                    <a:cubicBezTo>
                      <a:pt x="366306" y="514696"/>
                      <a:pt x="401305" y="498701"/>
                      <a:pt x="430920" y="475896"/>
                    </a:cubicBezTo>
                  </a:path>
                </a:pathLst>
              </a:custGeom>
              <a:noFill/>
              <a:ln w="12700" cap="rnd">
                <a:solidFill>
                  <a:schemeClr val="bg1"/>
                </a:solidFill>
                <a:prstDash val="solid"/>
                <a:round/>
              </a:ln>
            </p:spPr>
            <p:txBody>
              <a:bodyPr rtlCol="0" anchor="ctr"/>
              <a:lstStyle/>
              <a:p>
                <a:endParaRPr lang="en-GB" sz="1600" dirty="0"/>
              </a:p>
            </p:txBody>
          </p:sp>
        </p:grpSp>
        <p:sp>
          <p:nvSpPr>
            <p:cNvPr id="71" name="Freeform: Shape 543">
              <a:extLst>
                <a:ext uri="{FF2B5EF4-FFF2-40B4-BE49-F238E27FC236}">
                  <a16:creationId xmlns:a16="http://schemas.microsoft.com/office/drawing/2014/main" id="{0DB9AC87-C17A-4175-AA08-D0C8F2752640}"/>
                </a:ext>
              </a:extLst>
            </p:cNvPr>
            <p:cNvSpPr/>
            <p:nvPr/>
          </p:nvSpPr>
          <p:spPr>
            <a:xfrm>
              <a:off x="5967708" y="4088745"/>
              <a:ext cx="276209" cy="179537"/>
            </a:xfrm>
            <a:custGeom>
              <a:avLst/>
              <a:gdLst>
                <a:gd name="connsiteX0" fmla="*/ 0 w 316736"/>
                <a:gd name="connsiteY0" fmla="*/ 52262 h 205878"/>
                <a:gd name="connsiteX1" fmla="*/ 168504 w 316736"/>
                <a:gd name="connsiteY1" fmla="*/ 52262 h 205878"/>
                <a:gd name="connsiteX2" fmla="*/ 168504 w 316736"/>
                <a:gd name="connsiteY2" fmla="*/ 0 h 205878"/>
                <a:gd name="connsiteX3" fmla="*/ 248480 w 316736"/>
                <a:gd name="connsiteY3" fmla="*/ 53845 h 205878"/>
                <a:gd name="connsiteX4" fmla="*/ 328456 w 316736"/>
                <a:gd name="connsiteY4" fmla="*/ 107690 h 205878"/>
                <a:gd name="connsiteX5" fmla="*/ 248480 w 316736"/>
                <a:gd name="connsiteY5" fmla="*/ 161535 h 205878"/>
                <a:gd name="connsiteX6" fmla="*/ 168504 w 316736"/>
                <a:gd name="connsiteY6" fmla="*/ 215381 h 205878"/>
                <a:gd name="connsiteX7" fmla="*/ 168504 w 316736"/>
                <a:gd name="connsiteY7" fmla="*/ 163278 h 205878"/>
                <a:gd name="connsiteX8" fmla="*/ 0 w 316736"/>
                <a:gd name="connsiteY8" fmla="*/ 163278 h 205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736" h="205878">
                  <a:moveTo>
                    <a:pt x="0" y="52262"/>
                  </a:moveTo>
                  <a:lnTo>
                    <a:pt x="168504" y="52262"/>
                  </a:lnTo>
                  <a:lnTo>
                    <a:pt x="168504" y="0"/>
                  </a:lnTo>
                  <a:lnTo>
                    <a:pt x="248480" y="53845"/>
                  </a:lnTo>
                  <a:lnTo>
                    <a:pt x="328456" y="107690"/>
                  </a:lnTo>
                  <a:lnTo>
                    <a:pt x="248480" y="161535"/>
                  </a:lnTo>
                  <a:lnTo>
                    <a:pt x="168504" y="215381"/>
                  </a:lnTo>
                  <a:lnTo>
                    <a:pt x="168504" y="163278"/>
                  </a:lnTo>
                  <a:lnTo>
                    <a:pt x="0" y="163278"/>
                  </a:lnTo>
                </a:path>
              </a:pathLst>
            </a:custGeom>
            <a:noFill/>
            <a:ln w="12700" cap="rnd">
              <a:solidFill>
                <a:schemeClr val="bg1"/>
              </a:solidFill>
              <a:prstDash val="solid"/>
              <a:round/>
            </a:ln>
          </p:spPr>
          <p:txBody>
            <a:bodyPr rtlCol="0" anchor="ctr"/>
            <a:lstStyle/>
            <a:p>
              <a:endParaRPr lang="en-GB" sz="1600" dirty="0"/>
            </a:p>
          </p:txBody>
        </p:sp>
      </p:grpSp>
      <p:grpSp>
        <p:nvGrpSpPr>
          <p:cNvPr id="76" name="Group 75">
            <a:extLst>
              <a:ext uri="{FF2B5EF4-FFF2-40B4-BE49-F238E27FC236}">
                <a16:creationId xmlns:a16="http://schemas.microsoft.com/office/drawing/2014/main" id="{60DC20EC-45A6-46E4-ADA1-BF35C0D0924F}"/>
              </a:ext>
              <a:ext uri="{C183D7F6-B498-43B3-948B-1728B52AA6E4}">
                <adec:decorative xmlns:adec="http://schemas.microsoft.com/office/drawing/2017/decorative" val="1"/>
              </a:ext>
            </a:extLst>
          </p:cNvPr>
          <p:cNvGrpSpPr/>
          <p:nvPr userDrawn="1"/>
        </p:nvGrpSpPr>
        <p:grpSpPr>
          <a:xfrm>
            <a:off x="7830716" y="4500118"/>
            <a:ext cx="488282" cy="384088"/>
            <a:chOff x="4963904" y="2379608"/>
            <a:chExt cx="635863" cy="500177"/>
          </a:xfrm>
        </p:grpSpPr>
        <p:sp>
          <p:nvSpPr>
            <p:cNvPr id="77" name="Freeform: Shape 128">
              <a:extLst>
                <a:ext uri="{FF2B5EF4-FFF2-40B4-BE49-F238E27FC236}">
                  <a16:creationId xmlns:a16="http://schemas.microsoft.com/office/drawing/2014/main" id="{DF1CE429-69DA-47C0-921D-E8F77B12F4FD}"/>
                </a:ext>
              </a:extLst>
            </p:cNvPr>
            <p:cNvSpPr/>
            <p:nvPr/>
          </p:nvSpPr>
          <p:spPr>
            <a:xfrm>
              <a:off x="4963904" y="2379608"/>
              <a:ext cx="404842" cy="261189"/>
            </a:xfrm>
            <a:custGeom>
              <a:avLst/>
              <a:gdLst>
                <a:gd name="connsiteX0" fmla="*/ 0 w 295275"/>
                <a:gd name="connsiteY0" fmla="*/ 98108 h 190500"/>
                <a:gd name="connsiteX1" fmla="*/ 72771 w 295275"/>
                <a:gd name="connsiteY1" fmla="*/ 49054 h 190500"/>
                <a:gd name="connsiteX2" fmla="*/ 145542 w 295275"/>
                <a:gd name="connsiteY2" fmla="*/ 0 h 190500"/>
                <a:gd name="connsiteX3" fmla="*/ 145542 w 295275"/>
                <a:gd name="connsiteY3" fmla="*/ 47530 h 190500"/>
                <a:gd name="connsiteX4" fmla="*/ 298990 w 295275"/>
                <a:gd name="connsiteY4" fmla="*/ 47530 h 190500"/>
                <a:gd name="connsiteX5" fmla="*/ 298990 w 295275"/>
                <a:gd name="connsiteY5" fmla="*/ 148590 h 190500"/>
                <a:gd name="connsiteX6" fmla="*/ 145542 w 295275"/>
                <a:gd name="connsiteY6" fmla="*/ 148590 h 190500"/>
                <a:gd name="connsiteX7" fmla="*/ 145542 w 295275"/>
                <a:gd name="connsiteY7" fmla="*/ 196120 h 190500"/>
                <a:gd name="connsiteX8" fmla="*/ 72771 w 295275"/>
                <a:gd name="connsiteY8" fmla="*/ 147161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275" h="190500">
                  <a:moveTo>
                    <a:pt x="0" y="98108"/>
                  </a:moveTo>
                  <a:lnTo>
                    <a:pt x="72771" y="49054"/>
                  </a:lnTo>
                  <a:lnTo>
                    <a:pt x="145542" y="0"/>
                  </a:lnTo>
                  <a:lnTo>
                    <a:pt x="145542" y="47530"/>
                  </a:lnTo>
                  <a:lnTo>
                    <a:pt x="298990" y="47530"/>
                  </a:lnTo>
                  <a:lnTo>
                    <a:pt x="298990" y="148590"/>
                  </a:lnTo>
                  <a:lnTo>
                    <a:pt x="145542" y="148590"/>
                  </a:lnTo>
                  <a:lnTo>
                    <a:pt x="145542" y="196120"/>
                  </a:lnTo>
                  <a:lnTo>
                    <a:pt x="72771" y="147161"/>
                  </a:lnTo>
                  <a:close/>
                </a:path>
              </a:pathLst>
            </a:custGeom>
            <a:noFill/>
            <a:ln w="12700" cap="rnd">
              <a:solidFill>
                <a:schemeClr val="bg1"/>
              </a:solidFill>
              <a:prstDash val="solid"/>
              <a:round/>
            </a:ln>
          </p:spPr>
          <p:txBody>
            <a:bodyPr rtlCol="0" anchor="ctr"/>
            <a:lstStyle/>
            <a:p>
              <a:endParaRPr lang="en-GB" sz="1600" dirty="0"/>
            </a:p>
          </p:txBody>
        </p:sp>
        <p:sp>
          <p:nvSpPr>
            <p:cNvPr id="78" name="Freeform: Shape 129">
              <a:extLst>
                <a:ext uri="{FF2B5EF4-FFF2-40B4-BE49-F238E27FC236}">
                  <a16:creationId xmlns:a16="http://schemas.microsoft.com/office/drawing/2014/main" id="{5646303B-1E81-4C39-A788-0AA8B6EFFB84}"/>
                </a:ext>
              </a:extLst>
            </p:cNvPr>
            <p:cNvSpPr/>
            <p:nvPr/>
          </p:nvSpPr>
          <p:spPr>
            <a:xfrm>
              <a:off x="5194925" y="2618596"/>
              <a:ext cx="404842" cy="261189"/>
            </a:xfrm>
            <a:custGeom>
              <a:avLst/>
              <a:gdLst>
                <a:gd name="connsiteX0" fmla="*/ 299085 w 295275"/>
                <a:gd name="connsiteY0" fmla="*/ 98108 h 190500"/>
                <a:gd name="connsiteX1" fmla="*/ 226314 w 295275"/>
                <a:gd name="connsiteY1" fmla="*/ 147161 h 190500"/>
                <a:gd name="connsiteX2" fmla="*/ 153543 w 295275"/>
                <a:gd name="connsiteY2" fmla="*/ 196215 h 190500"/>
                <a:gd name="connsiteX3" fmla="*/ 153543 w 295275"/>
                <a:gd name="connsiteY3" fmla="*/ 148590 h 190500"/>
                <a:gd name="connsiteX4" fmla="*/ 0 w 295275"/>
                <a:gd name="connsiteY4" fmla="*/ 148590 h 190500"/>
                <a:gd name="connsiteX5" fmla="*/ 0 w 295275"/>
                <a:gd name="connsiteY5" fmla="*/ 47625 h 190500"/>
                <a:gd name="connsiteX6" fmla="*/ 153543 w 295275"/>
                <a:gd name="connsiteY6" fmla="*/ 47625 h 190500"/>
                <a:gd name="connsiteX7" fmla="*/ 153543 w 295275"/>
                <a:gd name="connsiteY7" fmla="*/ 0 h 190500"/>
                <a:gd name="connsiteX8" fmla="*/ 226314 w 295275"/>
                <a:gd name="connsiteY8" fmla="*/ 49054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275" h="190500">
                  <a:moveTo>
                    <a:pt x="299085" y="98108"/>
                  </a:moveTo>
                  <a:lnTo>
                    <a:pt x="226314" y="147161"/>
                  </a:lnTo>
                  <a:lnTo>
                    <a:pt x="153543" y="196215"/>
                  </a:lnTo>
                  <a:lnTo>
                    <a:pt x="153543" y="148590"/>
                  </a:lnTo>
                  <a:lnTo>
                    <a:pt x="0" y="148590"/>
                  </a:lnTo>
                  <a:lnTo>
                    <a:pt x="0" y="47625"/>
                  </a:lnTo>
                  <a:lnTo>
                    <a:pt x="153543" y="47625"/>
                  </a:lnTo>
                  <a:lnTo>
                    <a:pt x="153543" y="0"/>
                  </a:lnTo>
                  <a:lnTo>
                    <a:pt x="226314" y="49054"/>
                  </a:lnTo>
                  <a:close/>
                </a:path>
              </a:pathLst>
            </a:custGeom>
            <a:noFill/>
            <a:ln w="12700" cap="rnd">
              <a:solidFill>
                <a:schemeClr val="bg1"/>
              </a:solidFill>
              <a:prstDash val="solid"/>
              <a:round/>
            </a:ln>
          </p:spPr>
          <p:txBody>
            <a:bodyPr rtlCol="0" anchor="ctr"/>
            <a:lstStyle/>
            <a:p>
              <a:endParaRPr lang="en-GB" sz="1600" dirty="0"/>
            </a:p>
          </p:txBody>
        </p:sp>
      </p:grpSp>
      <p:grpSp>
        <p:nvGrpSpPr>
          <p:cNvPr id="79" name="Group 78">
            <a:extLst>
              <a:ext uri="{FF2B5EF4-FFF2-40B4-BE49-F238E27FC236}">
                <a16:creationId xmlns:a16="http://schemas.microsoft.com/office/drawing/2014/main" id="{EEB2E5C4-742E-4640-BFE0-2CB4843C4915}"/>
              </a:ext>
              <a:ext uri="{C183D7F6-B498-43B3-948B-1728B52AA6E4}">
                <adec:decorative xmlns:adec="http://schemas.microsoft.com/office/drawing/2017/decorative" val="1"/>
              </a:ext>
            </a:extLst>
          </p:cNvPr>
          <p:cNvGrpSpPr/>
          <p:nvPr userDrawn="1"/>
        </p:nvGrpSpPr>
        <p:grpSpPr>
          <a:xfrm>
            <a:off x="3360987" y="4447730"/>
            <a:ext cx="476774" cy="488864"/>
            <a:chOff x="8647438" y="5393592"/>
            <a:chExt cx="681361" cy="698639"/>
          </a:xfrm>
        </p:grpSpPr>
        <p:sp>
          <p:nvSpPr>
            <p:cNvPr id="80" name="Freeform: Shape 525">
              <a:extLst>
                <a:ext uri="{FF2B5EF4-FFF2-40B4-BE49-F238E27FC236}">
                  <a16:creationId xmlns:a16="http://schemas.microsoft.com/office/drawing/2014/main" id="{4F6674D8-DCB4-455B-A890-0917C892573A}"/>
                </a:ext>
              </a:extLst>
            </p:cNvPr>
            <p:cNvSpPr/>
            <p:nvPr/>
          </p:nvSpPr>
          <p:spPr>
            <a:xfrm>
              <a:off x="8852158" y="5393592"/>
              <a:ext cx="338726" cy="338726"/>
            </a:xfrm>
            <a:custGeom>
              <a:avLst/>
              <a:gdLst>
                <a:gd name="connsiteX0" fmla="*/ 55759 w 338726"/>
                <a:gd name="connsiteY0" fmla="*/ 226947 h 338726"/>
                <a:gd name="connsiteX1" fmla="*/ 65009 w 338726"/>
                <a:gd name="connsiteY1" fmla="*/ 229292 h 338726"/>
                <a:gd name="connsiteX2" fmla="*/ 71914 w 338726"/>
                <a:gd name="connsiteY2" fmla="*/ 222387 h 338726"/>
                <a:gd name="connsiteX3" fmla="*/ 81815 w 338726"/>
                <a:gd name="connsiteY3" fmla="*/ 204929 h 338726"/>
                <a:gd name="connsiteX4" fmla="*/ 136663 w 338726"/>
                <a:gd name="connsiteY4" fmla="*/ 204929 h 338726"/>
                <a:gd name="connsiteX5" fmla="*/ 137054 w 338726"/>
                <a:gd name="connsiteY5" fmla="*/ 260038 h 338726"/>
                <a:gd name="connsiteX6" fmla="*/ 119597 w 338726"/>
                <a:gd name="connsiteY6" fmla="*/ 269939 h 338726"/>
                <a:gd name="connsiteX7" fmla="*/ 112692 w 338726"/>
                <a:gd name="connsiteY7" fmla="*/ 276844 h 338726"/>
                <a:gd name="connsiteX8" fmla="*/ 115037 w 338726"/>
                <a:gd name="connsiteY8" fmla="*/ 286093 h 338726"/>
                <a:gd name="connsiteX9" fmla="*/ 171187 w 338726"/>
                <a:gd name="connsiteY9" fmla="*/ 342244 h 338726"/>
                <a:gd name="connsiteX10" fmla="*/ 227728 w 338726"/>
                <a:gd name="connsiteY10" fmla="*/ 285703 h 338726"/>
                <a:gd name="connsiteX11" fmla="*/ 236978 w 338726"/>
                <a:gd name="connsiteY11" fmla="*/ 283358 h 338726"/>
                <a:gd name="connsiteX12" fmla="*/ 243883 w 338726"/>
                <a:gd name="connsiteY12" fmla="*/ 290262 h 338726"/>
                <a:gd name="connsiteX13" fmla="*/ 253784 w 338726"/>
                <a:gd name="connsiteY13" fmla="*/ 307720 h 338726"/>
                <a:gd name="connsiteX14" fmla="*/ 308632 w 338726"/>
                <a:gd name="connsiteY14" fmla="*/ 307720 h 338726"/>
                <a:gd name="connsiteX15" fmla="*/ 308632 w 338726"/>
                <a:gd name="connsiteY15" fmla="*/ 252872 h 338726"/>
                <a:gd name="connsiteX16" fmla="*/ 291174 w 338726"/>
                <a:gd name="connsiteY16" fmla="*/ 242971 h 338726"/>
                <a:gd name="connsiteX17" fmla="*/ 284270 w 338726"/>
                <a:gd name="connsiteY17" fmla="*/ 236066 h 338726"/>
                <a:gd name="connsiteX18" fmla="*/ 286614 w 338726"/>
                <a:gd name="connsiteY18" fmla="*/ 226816 h 338726"/>
                <a:gd name="connsiteX19" fmla="*/ 342374 w 338726"/>
                <a:gd name="connsiteY19" fmla="*/ 171057 h 338726"/>
                <a:gd name="connsiteX20" fmla="*/ 286224 w 338726"/>
                <a:gd name="connsiteY20" fmla="*/ 114906 h 338726"/>
                <a:gd name="connsiteX21" fmla="*/ 283879 w 338726"/>
                <a:gd name="connsiteY21" fmla="*/ 105657 h 338726"/>
                <a:gd name="connsiteX22" fmla="*/ 290783 w 338726"/>
                <a:gd name="connsiteY22" fmla="*/ 98752 h 338726"/>
                <a:gd name="connsiteX23" fmla="*/ 308241 w 338726"/>
                <a:gd name="connsiteY23" fmla="*/ 88850 h 338726"/>
                <a:gd name="connsiteX24" fmla="*/ 307850 w 338726"/>
                <a:gd name="connsiteY24" fmla="*/ 33742 h 338726"/>
                <a:gd name="connsiteX25" fmla="*/ 253003 w 338726"/>
                <a:gd name="connsiteY25" fmla="*/ 33742 h 338726"/>
                <a:gd name="connsiteX26" fmla="*/ 243101 w 338726"/>
                <a:gd name="connsiteY26" fmla="*/ 51200 h 338726"/>
                <a:gd name="connsiteX27" fmla="*/ 236196 w 338726"/>
                <a:gd name="connsiteY27" fmla="*/ 58104 h 338726"/>
                <a:gd name="connsiteX28" fmla="*/ 226947 w 338726"/>
                <a:gd name="connsiteY28" fmla="*/ 55760 h 338726"/>
                <a:gd name="connsiteX29" fmla="*/ 171187 w 338726"/>
                <a:gd name="connsiteY29" fmla="*/ 0 h 338726"/>
                <a:gd name="connsiteX30" fmla="*/ 114646 w 338726"/>
                <a:gd name="connsiteY30" fmla="*/ 56541 h 338726"/>
                <a:gd name="connsiteX31" fmla="*/ 105396 w 338726"/>
                <a:gd name="connsiteY31" fmla="*/ 58886 h 338726"/>
                <a:gd name="connsiteX32" fmla="*/ 98491 w 338726"/>
                <a:gd name="connsiteY32" fmla="*/ 51981 h 338726"/>
                <a:gd name="connsiteX33" fmla="*/ 88590 w 338726"/>
                <a:gd name="connsiteY33" fmla="*/ 34524 h 338726"/>
                <a:gd name="connsiteX34" fmla="*/ 33743 w 338726"/>
                <a:gd name="connsiteY34" fmla="*/ 34524 h 338726"/>
                <a:gd name="connsiteX35" fmla="*/ 33743 w 338726"/>
                <a:gd name="connsiteY35" fmla="*/ 89372 h 338726"/>
                <a:gd name="connsiteX36" fmla="*/ 51200 w 338726"/>
                <a:gd name="connsiteY36" fmla="*/ 99273 h 338726"/>
                <a:gd name="connsiteX37" fmla="*/ 58105 w 338726"/>
                <a:gd name="connsiteY37" fmla="*/ 106178 h 338726"/>
                <a:gd name="connsiteX38" fmla="*/ 55759 w 338726"/>
                <a:gd name="connsiteY38" fmla="*/ 115428 h 338726"/>
                <a:gd name="connsiteX39" fmla="*/ 0 w 338726"/>
                <a:gd name="connsiteY39" fmla="*/ 171187 h 338726"/>
                <a:gd name="connsiteX40" fmla="*/ 55759 w 338726"/>
                <a:gd name="connsiteY40" fmla="*/ 226947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55759" y="226947"/>
                  </a:moveTo>
                  <a:cubicBezTo>
                    <a:pt x="58105" y="229292"/>
                    <a:pt x="61883" y="230334"/>
                    <a:pt x="65009" y="229292"/>
                  </a:cubicBezTo>
                  <a:cubicBezTo>
                    <a:pt x="68396" y="228640"/>
                    <a:pt x="71133" y="225904"/>
                    <a:pt x="71914" y="222387"/>
                  </a:cubicBezTo>
                  <a:cubicBezTo>
                    <a:pt x="73608" y="215873"/>
                    <a:pt x="76995" y="209750"/>
                    <a:pt x="81815" y="204929"/>
                  </a:cubicBezTo>
                  <a:cubicBezTo>
                    <a:pt x="96928" y="189817"/>
                    <a:pt x="121551" y="189817"/>
                    <a:pt x="136663" y="204929"/>
                  </a:cubicBezTo>
                  <a:cubicBezTo>
                    <a:pt x="151776" y="220042"/>
                    <a:pt x="152036" y="245056"/>
                    <a:pt x="137054" y="260038"/>
                  </a:cubicBezTo>
                  <a:cubicBezTo>
                    <a:pt x="132234" y="264858"/>
                    <a:pt x="126111" y="268245"/>
                    <a:pt x="119597" y="269939"/>
                  </a:cubicBezTo>
                  <a:cubicBezTo>
                    <a:pt x="116209" y="270590"/>
                    <a:pt x="113473" y="273326"/>
                    <a:pt x="112692" y="276844"/>
                  </a:cubicBezTo>
                  <a:cubicBezTo>
                    <a:pt x="112040" y="280231"/>
                    <a:pt x="112692" y="283749"/>
                    <a:pt x="115037" y="286093"/>
                  </a:cubicBezTo>
                  <a:lnTo>
                    <a:pt x="171187" y="342244"/>
                  </a:lnTo>
                  <a:lnTo>
                    <a:pt x="227728" y="285703"/>
                  </a:lnTo>
                  <a:cubicBezTo>
                    <a:pt x="230073" y="283358"/>
                    <a:pt x="233591" y="282576"/>
                    <a:pt x="236978" y="283358"/>
                  </a:cubicBezTo>
                  <a:cubicBezTo>
                    <a:pt x="240365" y="284009"/>
                    <a:pt x="243101" y="286745"/>
                    <a:pt x="243883" y="290262"/>
                  </a:cubicBezTo>
                  <a:cubicBezTo>
                    <a:pt x="245577" y="296776"/>
                    <a:pt x="248964" y="302900"/>
                    <a:pt x="253784" y="307720"/>
                  </a:cubicBezTo>
                  <a:cubicBezTo>
                    <a:pt x="268897" y="322832"/>
                    <a:pt x="293519" y="322832"/>
                    <a:pt x="308632" y="307720"/>
                  </a:cubicBezTo>
                  <a:cubicBezTo>
                    <a:pt x="323744" y="292607"/>
                    <a:pt x="323744" y="267985"/>
                    <a:pt x="308632" y="252872"/>
                  </a:cubicBezTo>
                  <a:cubicBezTo>
                    <a:pt x="303811" y="248052"/>
                    <a:pt x="297688" y="244665"/>
                    <a:pt x="291174" y="242971"/>
                  </a:cubicBezTo>
                  <a:cubicBezTo>
                    <a:pt x="287787" y="242320"/>
                    <a:pt x="285051" y="239584"/>
                    <a:pt x="284270" y="236066"/>
                  </a:cubicBezTo>
                  <a:cubicBezTo>
                    <a:pt x="283227" y="232940"/>
                    <a:pt x="284270" y="229161"/>
                    <a:pt x="286614" y="226816"/>
                  </a:cubicBezTo>
                  <a:lnTo>
                    <a:pt x="342374" y="171057"/>
                  </a:lnTo>
                  <a:lnTo>
                    <a:pt x="286224" y="114906"/>
                  </a:lnTo>
                  <a:cubicBezTo>
                    <a:pt x="283879" y="112561"/>
                    <a:pt x="283097" y="109044"/>
                    <a:pt x="283879" y="105657"/>
                  </a:cubicBezTo>
                  <a:cubicBezTo>
                    <a:pt x="284530" y="102269"/>
                    <a:pt x="287266" y="99533"/>
                    <a:pt x="290783" y="98752"/>
                  </a:cubicBezTo>
                  <a:cubicBezTo>
                    <a:pt x="297297" y="97058"/>
                    <a:pt x="303421" y="93671"/>
                    <a:pt x="308241" y="88850"/>
                  </a:cubicBezTo>
                  <a:cubicBezTo>
                    <a:pt x="323353" y="73738"/>
                    <a:pt x="322963" y="48724"/>
                    <a:pt x="307850" y="33742"/>
                  </a:cubicBezTo>
                  <a:cubicBezTo>
                    <a:pt x="292738" y="18630"/>
                    <a:pt x="268115" y="18630"/>
                    <a:pt x="253003" y="33742"/>
                  </a:cubicBezTo>
                  <a:cubicBezTo>
                    <a:pt x="248182" y="38563"/>
                    <a:pt x="244795" y="44686"/>
                    <a:pt x="243101" y="51200"/>
                  </a:cubicBezTo>
                  <a:cubicBezTo>
                    <a:pt x="242450" y="54587"/>
                    <a:pt x="239714" y="57323"/>
                    <a:pt x="236196" y="58104"/>
                  </a:cubicBezTo>
                  <a:cubicBezTo>
                    <a:pt x="233070" y="59147"/>
                    <a:pt x="229292" y="58104"/>
                    <a:pt x="226947" y="55760"/>
                  </a:cubicBezTo>
                  <a:lnTo>
                    <a:pt x="171187" y="0"/>
                  </a:lnTo>
                  <a:lnTo>
                    <a:pt x="114646" y="56541"/>
                  </a:lnTo>
                  <a:cubicBezTo>
                    <a:pt x="112301" y="58886"/>
                    <a:pt x="108783" y="59668"/>
                    <a:pt x="105396" y="58886"/>
                  </a:cubicBezTo>
                  <a:cubicBezTo>
                    <a:pt x="102009" y="58104"/>
                    <a:pt x="99273" y="55499"/>
                    <a:pt x="98491" y="51981"/>
                  </a:cubicBezTo>
                  <a:cubicBezTo>
                    <a:pt x="96798" y="45467"/>
                    <a:pt x="93410" y="39344"/>
                    <a:pt x="88590" y="34524"/>
                  </a:cubicBezTo>
                  <a:cubicBezTo>
                    <a:pt x="73478" y="19412"/>
                    <a:pt x="48855" y="19412"/>
                    <a:pt x="33743" y="34524"/>
                  </a:cubicBezTo>
                  <a:cubicBezTo>
                    <a:pt x="18630" y="49636"/>
                    <a:pt x="18630" y="74259"/>
                    <a:pt x="33743" y="89372"/>
                  </a:cubicBezTo>
                  <a:cubicBezTo>
                    <a:pt x="38563" y="94192"/>
                    <a:pt x="44686" y="97579"/>
                    <a:pt x="51200" y="99273"/>
                  </a:cubicBezTo>
                  <a:cubicBezTo>
                    <a:pt x="54587" y="99924"/>
                    <a:pt x="57323" y="102660"/>
                    <a:pt x="58105" y="106178"/>
                  </a:cubicBezTo>
                  <a:cubicBezTo>
                    <a:pt x="59147" y="109304"/>
                    <a:pt x="58105" y="113082"/>
                    <a:pt x="55759" y="115428"/>
                  </a:cubicBezTo>
                  <a:lnTo>
                    <a:pt x="0" y="171187"/>
                  </a:lnTo>
                  <a:lnTo>
                    <a:pt x="55759" y="226947"/>
                  </a:lnTo>
                  <a:close/>
                </a:path>
              </a:pathLst>
            </a:custGeom>
            <a:noFill/>
            <a:ln w="12700" cap="flat">
              <a:solidFill>
                <a:schemeClr val="bg1"/>
              </a:solidFill>
              <a:prstDash val="solid"/>
              <a:miter/>
            </a:ln>
          </p:spPr>
          <p:txBody>
            <a:bodyPr rtlCol="0" anchor="ctr"/>
            <a:lstStyle/>
            <a:p>
              <a:endParaRPr lang="en-GB" sz="1600" dirty="0"/>
            </a:p>
          </p:txBody>
        </p:sp>
        <p:grpSp>
          <p:nvGrpSpPr>
            <p:cNvPr id="81" name="Group 80">
              <a:extLst>
                <a:ext uri="{FF2B5EF4-FFF2-40B4-BE49-F238E27FC236}">
                  <a16:creationId xmlns:a16="http://schemas.microsoft.com/office/drawing/2014/main" id="{B0E8E2C1-A8B3-4B12-BF6D-EABDC25F2B9E}"/>
                </a:ext>
              </a:extLst>
            </p:cNvPr>
            <p:cNvGrpSpPr/>
            <p:nvPr/>
          </p:nvGrpSpPr>
          <p:grpSpPr>
            <a:xfrm>
              <a:off x="8647438" y="5753505"/>
              <a:ext cx="681361" cy="338726"/>
              <a:chOff x="8647438" y="5753505"/>
              <a:chExt cx="681361" cy="338726"/>
            </a:xfrm>
          </p:grpSpPr>
          <p:sp>
            <p:nvSpPr>
              <p:cNvPr id="82" name="Freeform: Shape 527">
                <a:extLst>
                  <a:ext uri="{FF2B5EF4-FFF2-40B4-BE49-F238E27FC236}">
                    <a16:creationId xmlns:a16="http://schemas.microsoft.com/office/drawing/2014/main" id="{F7370911-1631-4107-8A75-E579F8AC1912}"/>
                  </a:ext>
                </a:extLst>
              </p:cNvPr>
              <p:cNvSpPr/>
              <p:nvPr/>
            </p:nvSpPr>
            <p:spPr>
              <a:xfrm>
                <a:off x="8647438" y="5753505"/>
                <a:ext cx="338726" cy="338726"/>
              </a:xfrm>
              <a:custGeom>
                <a:avLst/>
                <a:gdLst>
                  <a:gd name="connsiteX0" fmla="*/ 55760 w 338726"/>
                  <a:gd name="connsiteY0" fmla="*/ 226947 h 338726"/>
                  <a:gd name="connsiteX1" fmla="*/ 65009 w 338726"/>
                  <a:gd name="connsiteY1" fmla="*/ 229292 h 338726"/>
                  <a:gd name="connsiteX2" fmla="*/ 71914 w 338726"/>
                  <a:gd name="connsiteY2" fmla="*/ 222387 h 338726"/>
                  <a:gd name="connsiteX3" fmla="*/ 81815 w 338726"/>
                  <a:gd name="connsiteY3" fmla="*/ 204929 h 338726"/>
                  <a:gd name="connsiteX4" fmla="*/ 136663 w 338726"/>
                  <a:gd name="connsiteY4" fmla="*/ 204929 h 338726"/>
                  <a:gd name="connsiteX5" fmla="*/ 137054 w 338726"/>
                  <a:gd name="connsiteY5" fmla="*/ 260038 h 338726"/>
                  <a:gd name="connsiteX6" fmla="*/ 119597 w 338726"/>
                  <a:gd name="connsiteY6" fmla="*/ 269939 h 338726"/>
                  <a:gd name="connsiteX7" fmla="*/ 112692 w 338726"/>
                  <a:gd name="connsiteY7" fmla="*/ 276844 h 338726"/>
                  <a:gd name="connsiteX8" fmla="*/ 115037 w 338726"/>
                  <a:gd name="connsiteY8" fmla="*/ 286094 h 338726"/>
                  <a:gd name="connsiteX9" fmla="*/ 171187 w 338726"/>
                  <a:gd name="connsiteY9" fmla="*/ 342244 h 338726"/>
                  <a:gd name="connsiteX10" fmla="*/ 227728 w 338726"/>
                  <a:gd name="connsiteY10" fmla="*/ 285703 h 338726"/>
                  <a:gd name="connsiteX11" fmla="*/ 236978 w 338726"/>
                  <a:gd name="connsiteY11" fmla="*/ 283358 h 338726"/>
                  <a:gd name="connsiteX12" fmla="*/ 243883 w 338726"/>
                  <a:gd name="connsiteY12" fmla="*/ 290262 h 338726"/>
                  <a:gd name="connsiteX13" fmla="*/ 253784 w 338726"/>
                  <a:gd name="connsiteY13" fmla="*/ 307720 h 338726"/>
                  <a:gd name="connsiteX14" fmla="*/ 308632 w 338726"/>
                  <a:gd name="connsiteY14" fmla="*/ 307720 h 338726"/>
                  <a:gd name="connsiteX15" fmla="*/ 308632 w 338726"/>
                  <a:gd name="connsiteY15" fmla="*/ 252872 h 338726"/>
                  <a:gd name="connsiteX16" fmla="*/ 291174 w 338726"/>
                  <a:gd name="connsiteY16" fmla="*/ 242971 h 338726"/>
                  <a:gd name="connsiteX17" fmla="*/ 284270 w 338726"/>
                  <a:gd name="connsiteY17" fmla="*/ 236066 h 338726"/>
                  <a:gd name="connsiteX18" fmla="*/ 286615 w 338726"/>
                  <a:gd name="connsiteY18" fmla="*/ 226816 h 338726"/>
                  <a:gd name="connsiteX19" fmla="*/ 342374 w 338726"/>
                  <a:gd name="connsiteY19" fmla="*/ 171057 h 338726"/>
                  <a:gd name="connsiteX20" fmla="*/ 286224 w 338726"/>
                  <a:gd name="connsiteY20" fmla="*/ 114907 h 338726"/>
                  <a:gd name="connsiteX21" fmla="*/ 283879 w 338726"/>
                  <a:gd name="connsiteY21" fmla="*/ 105657 h 338726"/>
                  <a:gd name="connsiteX22" fmla="*/ 290783 w 338726"/>
                  <a:gd name="connsiteY22" fmla="*/ 98752 h 338726"/>
                  <a:gd name="connsiteX23" fmla="*/ 308241 w 338726"/>
                  <a:gd name="connsiteY23" fmla="*/ 88851 h 338726"/>
                  <a:gd name="connsiteX24" fmla="*/ 307850 w 338726"/>
                  <a:gd name="connsiteY24" fmla="*/ 33742 h 338726"/>
                  <a:gd name="connsiteX25" fmla="*/ 253003 w 338726"/>
                  <a:gd name="connsiteY25" fmla="*/ 33742 h 338726"/>
                  <a:gd name="connsiteX26" fmla="*/ 243101 w 338726"/>
                  <a:gd name="connsiteY26" fmla="*/ 51200 h 338726"/>
                  <a:gd name="connsiteX27" fmla="*/ 236196 w 338726"/>
                  <a:gd name="connsiteY27" fmla="*/ 58105 h 338726"/>
                  <a:gd name="connsiteX28" fmla="*/ 226947 w 338726"/>
                  <a:gd name="connsiteY28" fmla="*/ 55760 h 338726"/>
                  <a:gd name="connsiteX29" fmla="*/ 171187 w 338726"/>
                  <a:gd name="connsiteY29" fmla="*/ 0 h 338726"/>
                  <a:gd name="connsiteX30" fmla="*/ 114646 w 338726"/>
                  <a:gd name="connsiteY30" fmla="*/ 56541 h 338726"/>
                  <a:gd name="connsiteX31" fmla="*/ 105396 w 338726"/>
                  <a:gd name="connsiteY31" fmla="*/ 58886 h 338726"/>
                  <a:gd name="connsiteX32" fmla="*/ 98491 w 338726"/>
                  <a:gd name="connsiteY32" fmla="*/ 51982 h 338726"/>
                  <a:gd name="connsiteX33" fmla="*/ 88590 w 338726"/>
                  <a:gd name="connsiteY33" fmla="*/ 34524 h 338726"/>
                  <a:gd name="connsiteX34" fmla="*/ 33742 w 338726"/>
                  <a:gd name="connsiteY34" fmla="*/ 34524 h 338726"/>
                  <a:gd name="connsiteX35" fmla="*/ 33742 w 338726"/>
                  <a:gd name="connsiteY35" fmla="*/ 89372 h 338726"/>
                  <a:gd name="connsiteX36" fmla="*/ 51200 w 338726"/>
                  <a:gd name="connsiteY36" fmla="*/ 99273 h 338726"/>
                  <a:gd name="connsiteX37" fmla="*/ 58105 w 338726"/>
                  <a:gd name="connsiteY37" fmla="*/ 106178 h 338726"/>
                  <a:gd name="connsiteX38" fmla="*/ 55760 w 338726"/>
                  <a:gd name="connsiteY38" fmla="*/ 115428 h 338726"/>
                  <a:gd name="connsiteX39" fmla="*/ 0 w 338726"/>
                  <a:gd name="connsiteY39" fmla="*/ 171187 h 338726"/>
                  <a:gd name="connsiteX40" fmla="*/ 55760 w 338726"/>
                  <a:gd name="connsiteY40" fmla="*/ 226947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55760" y="226947"/>
                    </a:moveTo>
                    <a:cubicBezTo>
                      <a:pt x="58105" y="229292"/>
                      <a:pt x="61883" y="230334"/>
                      <a:pt x="65009" y="229292"/>
                    </a:cubicBezTo>
                    <a:cubicBezTo>
                      <a:pt x="68397" y="228640"/>
                      <a:pt x="71133" y="225904"/>
                      <a:pt x="71914" y="222387"/>
                    </a:cubicBezTo>
                    <a:cubicBezTo>
                      <a:pt x="73608" y="215873"/>
                      <a:pt x="76995" y="209750"/>
                      <a:pt x="81815" y="204929"/>
                    </a:cubicBezTo>
                    <a:cubicBezTo>
                      <a:pt x="96928" y="189817"/>
                      <a:pt x="121551" y="189817"/>
                      <a:pt x="136663" y="204929"/>
                    </a:cubicBezTo>
                    <a:cubicBezTo>
                      <a:pt x="151775" y="220042"/>
                      <a:pt x="152036" y="245056"/>
                      <a:pt x="137054" y="260038"/>
                    </a:cubicBezTo>
                    <a:cubicBezTo>
                      <a:pt x="132233" y="264858"/>
                      <a:pt x="126111" y="268245"/>
                      <a:pt x="119597" y="269939"/>
                    </a:cubicBezTo>
                    <a:cubicBezTo>
                      <a:pt x="116209" y="270590"/>
                      <a:pt x="113473" y="273326"/>
                      <a:pt x="112692" y="276844"/>
                    </a:cubicBezTo>
                    <a:cubicBezTo>
                      <a:pt x="112040" y="280231"/>
                      <a:pt x="112692" y="283749"/>
                      <a:pt x="115037" y="286094"/>
                    </a:cubicBezTo>
                    <a:lnTo>
                      <a:pt x="171187" y="342244"/>
                    </a:lnTo>
                    <a:lnTo>
                      <a:pt x="227728" y="285703"/>
                    </a:lnTo>
                    <a:cubicBezTo>
                      <a:pt x="230073" y="283358"/>
                      <a:pt x="233591" y="282576"/>
                      <a:pt x="236978" y="283358"/>
                    </a:cubicBezTo>
                    <a:cubicBezTo>
                      <a:pt x="240365" y="284009"/>
                      <a:pt x="243101" y="286745"/>
                      <a:pt x="243883" y="290262"/>
                    </a:cubicBezTo>
                    <a:cubicBezTo>
                      <a:pt x="245577" y="296776"/>
                      <a:pt x="248964" y="302900"/>
                      <a:pt x="253784" y="307720"/>
                    </a:cubicBezTo>
                    <a:cubicBezTo>
                      <a:pt x="268897" y="322832"/>
                      <a:pt x="293520" y="322832"/>
                      <a:pt x="308632" y="307720"/>
                    </a:cubicBezTo>
                    <a:cubicBezTo>
                      <a:pt x="323744" y="292608"/>
                      <a:pt x="323744" y="267985"/>
                      <a:pt x="308632" y="252872"/>
                    </a:cubicBezTo>
                    <a:cubicBezTo>
                      <a:pt x="303811" y="248052"/>
                      <a:pt x="297688" y="244665"/>
                      <a:pt x="291174" y="242971"/>
                    </a:cubicBezTo>
                    <a:cubicBezTo>
                      <a:pt x="287787" y="242320"/>
                      <a:pt x="285051" y="239584"/>
                      <a:pt x="284270" y="236066"/>
                    </a:cubicBezTo>
                    <a:cubicBezTo>
                      <a:pt x="283227" y="232940"/>
                      <a:pt x="284270" y="229161"/>
                      <a:pt x="286615" y="226816"/>
                    </a:cubicBezTo>
                    <a:lnTo>
                      <a:pt x="342374" y="171057"/>
                    </a:lnTo>
                    <a:lnTo>
                      <a:pt x="286224" y="114907"/>
                    </a:lnTo>
                    <a:cubicBezTo>
                      <a:pt x="283879" y="112561"/>
                      <a:pt x="283097" y="109044"/>
                      <a:pt x="283879" y="105657"/>
                    </a:cubicBezTo>
                    <a:cubicBezTo>
                      <a:pt x="284530" y="102269"/>
                      <a:pt x="287266" y="99533"/>
                      <a:pt x="290783" y="98752"/>
                    </a:cubicBezTo>
                    <a:cubicBezTo>
                      <a:pt x="297297" y="97058"/>
                      <a:pt x="303421" y="93671"/>
                      <a:pt x="308241" y="88851"/>
                    </a:cubicBezTo>
                    <a:cubicBezTo>
                      <a:pt x="323353" y="73738"/>
                      <a:pt x="322963" y="48725"/>
                      <a:pt x="307850" y="33742"/>
                    </a:cubicBezTo>
                    <a:cubicBezTo>
                      <a:pt x="292738" y="18630"/>
                      <a:pt x="268115" y="18630"/>
                      <a:pt x="253003" y="33742"/>
                    </a:cubicBezTo>
                    <a:cubicBezTo>
                      <a:pt x="248182" y="38563"/>
                      <a:pt x="244795" y="44686"/>
                      <a:pt x="243101" y="51200"/>
                    </a:cubicBezTo>
                    <a:cubicBezTo>
                      <a:pt x="242450" y="54587"/>
                      <a:pt x="239714" y="57323"/>
                      <a:pt x="236196" y="58105"/>
                    </a:cubicBezTo>
                    <a:cubicBezTo>
                      <a:pt x="233070" y="59147"/>
                      <a:pt x="229292" y="58105"/>
                      <a:pt x="226947" y="55760"/>
                    </a:cubicBezTo>
                    <a:lnTo>
                      <a:pt x="171187" y="0"/>
                    </a:lnTo>
                    <a:lnTo>
                      <a:pt x="114646" y="56541"/>
                    </a:lnTo>
                    <a:cubicBezTo>
                      <a:pt x="112301" y="58886"/>
                      <a:pt x="108783" y="59668"/>
                      <a:pt x="105396" y="58886"/>
                    </a:cubicBezTo>
                    <a:cubicBezTo>
                      <a:pt x="102009" y="58235"/>
                      <a:pt x="99273" y="55499"/>
                      <a:pt x="98491" y="51982"/>
                    </a:cubicBezTo>
                    <a:cubicBezTo>
                      <a:pt x="96798" y="45468"/>
                      <a:pt x="93410" y="39344"/>
                      <a:pt x="88590" y="34524"/>
                    </a:cubicBezTo>
                    <a:cubicBezTo>
                      <a:pt x="73478" y="19412"/>
                      <a:pt x="48855" y="19412"/>
                      <a:pt x="33742" y="34524"/>
                    </a:cubicBezTo>
                    <a:cubicBezTo>
                      <a:pt x="18630" y="49636"/>
                      <a:pt x="18630" y="74259"/>
                      <a:pt x="33742" y="89372"/>
                    </a:cubicBezTo>
                    <a:cubicBezTo>
                      <a:pt x="38563" y="94192"/>
                      <a:pt x="44686" y="97579"/>
                      <a:pt x="51200" y="99273"/>
                    </a:cubicBezTo>
                    <a:cubicBezTo>
                      <a:pt x="54587" y="99924"/>
                      <a:pt x="57323" y="102660"/>
                      <a:pt x="58105" y="106178"/>
                    </a:cubicBezTo>
                    <a:cubicBezTo>
                      <a:pt x="59147" y="109304"/>
                      <a:pt x="58105" y="113083"/>
                      <a:pt x="55760" y="115428"/>
                    </a:cubicBezTo>
                    <a:lnTo>
                      <a:pt x="0" y="171187"/>
                    </a:lnTo>
                    <a:lnTo>
                      <a:pt x="55760" y="226947"/>
                    </a:lnTo>
                    <a:close/>
                  </a:path>
                </a:pathLst>
              </a:custGeom>
              <a:noFill/>
              <a:ln w="12700" cap="flat">
                <a:solidFill>
                  <a:schemeClr val="bg1"/>
                </a:solidFill>
                <a:prstDash val="solid"/>
                <a:miter/>
              </a:ln>
            </p:spPr>
            <p:txBody>
              <a:bodyPr rtlCol="0" anchor="ctr"/>
              <a:lstStyle/>
              <a:p>
                <a:endParaRPr lang="en-GB" sz="1600" dirty="0"/>
              </a:p>
            </p:txBody>
          </p:sp>
          <p:sp>
            <p:nvSpPr>
              <p:cNvPr id="83" name="Freeform: Shape 528">
                <a:extLst>
                  <a:ext uri="{FF2B5EF4-FFF2-40B4-BE49-F238E27FC236}">
                    <a16:creationId xmlns:a16="http://schemas.microsoft.com/office/drawing/2014/main" id="{462AC366-F4EA-4BFC-8AC2-2F954C00B58A}"/>
                  </a:ext>
                </a:extLst>
              </p:cNvPr>
              <p:cNvSpPr/>
              <p:nvPr/>
            </p:nvSpPr>
            <p:spPr>
              <a:xfrm>
                <a:off x="8990073" y="5753505"/>
                <a:ext cx="338726" cy="338726"/>
              </a:xfrm>
              <a:custGeom>
                <a:avLst/>
                <a:gdLst>
                  <a:gd name="connsiteX0" fmla="*/ 115297 w 338726"/>
                  <a:gd name="connsiteY0" fmla="*/ 55760 h 338726"/>
                  <a:gd name="connsiteX1" fmla="*/ 112952 w 338726"/>
                  <a:gd name="connsiteY1" fmla="*/ 65009 h 338726"/>
                  <a:gd name="connsiteX2" fmla="*/ 119857 w 338726"/>
                  <a:gd name="connsiteY2" fmla="*/ 71914 h 338726"/>
                  <a:gd name="connsiteX3" fmla="*/ 137315 w 338726"/>
                  <a:gd name="connsiteY3" fmla="*/ 81815 h 338726"/>
                  <a:gd name="connsiteX4" fmla="*/ 137315 w 338726"/>
                  <a:gd name="connsiteY4" fmla="*/ 136663 h 338726"/>
                  <a:gd name="connsiteX5" fmla="*/ 82206 w 338726"/>
                  <a:gd name="connsiteY5" fmla="*/ 137054 h 338726"/>
                  <a:gd name="connsiteX6" fmla="*/ 72305 w 338726"/>
                  <a:gd name="connsiteY6" fmla="*/ 119597 h 338726"/>
                  <a:gd name="connsiteX7" fmla="*/ 65400 w 338726"/>
                  <a:gd name="connsiteY7" fmla="*/ 112692 h 338726"/>
                  <a:gd name="connsiteX8" fmla="*/ 56150 w 338726"/>
                  <a:gd name="connsiteY8" fmla="*/ 115037 h 338726"/>
                  <a:gd name="connsiteX9" fmla="*/ 0 w 338726"/>
                  <a:gd name="connsiteY9" fmla="*/ 171187 h 338726"/>
                  <a:gd name="connsiteX10" fmla="*/ 56541 w 338726"/>
                  <a:gd name="connsiteY10" fmla="*/ 227728 h 338726"/>
                  <a:gd name="connsiteX11" fmla="*/ 58886 w 338726"/>
                  <a:gd name="connsiteY11" fmla="*/ 236978 h 338726"/>
                  <a:gd name="connsiteX12" fmla="*/ 51981 w 338726"/>
                  <a:gd name="connsiteY12" fmla="*/ 243883 h 338726"/>
                  <a:gd name="connsiteX13" fmla="*/ 34524 w 338726"/>
                  <a:gd name="connsiteY13" fmla="*/ 253784 h 338726"/>
                  <a:gd name="connsiteX14" fmla="*/ 34524 w 338726"/>
                  <a:gd name="connsiteY14" fmla="*/ 308632 h 338726"/>
                  <a:gd name="connsiteX15" fmla="*/ 89371 w 338726"/>
                  <a:gd name="connsiteY15" fmla="*/ 308632 h 338726"/>
                  <a:gd name="connsiteX16" fmla="*/ 99273 w 338726"/>
                  <a:gd name="connsiteY16" fmla="*/ 291175 h 338726"/>
                  <a:gd name="connsiteX17" fmla="*/ 106178 w 338726"/>
                  <a:gd name="connsiteY17" fmla="*/ 284270 h 338726"/>
                  <a:gd name="connsiteX18" fmla="*/ 115427 w 338726"/>
                  <a:gd name="connsiteY18" fmla="*/ 286615 h 338726"/>
                  <a:gd name="connsiteX19" fmla="*/ 171187 w 338726"/>
                  <a:gd name="connsiteY19" fmla="*/ 342374 h 338726"/>
                  <a:gd name="connsiteX20" fmla="*/ 227338 w 338726"/>
                  <a:gd name="connsiteY20" fmla="*/ 286224 h 338726"/>
                  <a:gd name="connsiteX21" fmla="*/ 236587 w 338726"/>
                  <a:gd name="connsiteY21" fmla="*/ 283879 h 338726"/>
                  <a:gd name="connsiteX22" fmla="*/ 243492 w 338726"/>
                  <a:gd name="connsiteY22" fmla="*/ 290784 h 338726"/>
                  <a:gd name="connsiteX23" fmla="*/ 253394 w 338726"/>
                  <a:gd name="connsiteY23" fmla="*/ 308241 h 338726"/>
                  <a:gd name="connsiteX24" fmla="*/ 308501 w 338726"/>
                  <a:gd name="connsiteY24" fmla="*/ 307850 h 338726"/>
                  <a:gd name="connsiteX25" fmla="*/ 308501 w 338726"/>
                  <a:gd name="connsiteY25" fmla="*/ 253003 h 338726"/>
                  <a:gd name="connsiteX26" fmla="*/ 291044 w 338726"/>
                  <a:gd name="connsiteY26" fmla="*/ 243101 h 338726"/>
                  <a:gd name="connsiteX27" fmla="*/ 284139 w 338726"/>
                  <a:gd name="connsiteY27" fmla="*/ 236197 h 338726"/>
                  <a:gd name="connsiteX28" fmla="*/ 286484 w 338726"/>
                  <a:gd name="connsiteY28" fmla="*/ 226947 h 338726"/>
                  <a:gd name="connsiteX29" fmla="*/ 342244 w 338726"/>
                  <a:gd name="connsiteY29" fmla="*/ 171187 h 338726"/>
                  <a:gd name="connsiteX30" fmla="*/ 285703 w 338726"/>
                  <a:gd name="connsiteY30" fmla="*/ 114646 h 338726"/>
                  <a:gd name="connsiteX31" fmla="*/ 283358 w 338726"/>
                  <a:gd name="connsiteY31" fmla="*/ 105396 h 338726"/>
                  <a:gd name="connsiteX32" fmla="*/ 290262 w 338726"/>
                  <a:gd name="connsiteY32" fmla="*/ 98491 h 338726"/>
                  <a:gd name="connsiteX33" fmla="*/ 307720 w 338726"/>
                  <a:gd name="connsiteY33" fmla="*/ 88590 h 338726"/>
                  <a:gd name="connsiteX34" fmla="*/ 307720 w 338726"/>
                  <a:gd name="connsiteY34" fmla="*/ 33742 h 338726"/>
                  <a:gd name="connsiteX35" fmla="*/ 252872 w 338726"/>
                  <a:gd name="connsiteY35" fmla="*/ 33742 h 338726"/>
                  <a:gd name="connsiteX36" fmla="*/ 242971 w 338726"/>
                  <a:gd name="connsiteY36" fmla="*/ 51200 h 338726"/>
                  <a:gd name="connsiteX37" fmla="*/ 236066 w 338726"/>
                  <a:gd name="connsiteY37" fmla="*/ 58105 h 338726"/>
                  <a:gd name="connsiteX38" fmla="*/ 226816 w 338726"/>
                  <a:gd name="connsiteY38" fmla="*/ 55760 h 338726"/>
                  <a:gd name="connsiteX39" fmla="*/ 171057 w 338726"/>
                  <a:gd name="connsiteY39" fmla="*/ 0 h 338726"/>
                  <a:gd name="connsiteX40" fmla="*/ 115297 w 338726"/>
                  <a:gd name="connsiteY40" fmla="*/ 55760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115297" y="55760"/>
                    </a:moveTo>
                    <a:cubicBezTo>
                      <a:pt x="112952" y="58105"/>
                      <a:pt x="111910" y="61883"/>
                      <a:pt x="112952" y="65009"/>
                    </a:cubicBezTo>
                    <a:cubicBezTo>
                      <a:pt x="113604" y="68397"/>
                      <a:pt x="116339" y="71133"/>
                      <a:pt x="119857" y="71914"/>
                    </a:cubicBezTo>
                    <a:cubicBezTo>
                      <a:pt x="126371" y="73608"/>
                      <a:pt x="132494" y="76995"/>
                      <a:pt x="137315" y="81815"/>
                    </a:cubicBezTo>
                    <a:cubicBezTo>
                      <a:pt x="152427" y="96928"/>
                      <a:pt x="152427" y="121551"/>
                      <a:pt x="137315" y="136663"/>
                    </a:cubicBezTo>
                    <a:cubicBezTo>
                      <a:pt x="122202" y="151775"/>
                      <a:pt x="97188" y="152036"/>
                      <a:pt x="82206" y="137054"/>
                    </a:cubicBezTo>
                    <a:cubicBezTo>
                      <a:pt x="77386" y="132234"/>
                      <a:pt x="73999" y="126111"/>
                      <a:pt x="72305" y="119597"/>
                    </a:cubicBezTo>
                    <a:cubicBezTo>
                      <a:pt x="71654" y="116209"/>
                      <a:pt x="68918" y="113473"/>
                      <a:pt x="65400" y="112692"/>
                    </a:cubicBezTo>
                    <a:cubicBezTo>
                      <a:pt x="62013" y="112040"/>
                      <a:pt x="58495" y="112692"/>
                      <a:pt x="56150" y="115037"/>
                    </a:cubicBezTo>
                    <a:lnTo>
                      <a:pt x="0" y="171187"/>
                    </a:lnTo>
                    <a:lnTo>
                      <a:pt x="56541" y="227728"/>
                    </a:lnTo>
                    <a:cubicBezTo>
                      <a:pt x="58886" y="230073"/>
                      <a:pt x="59668" y="233591"/>
                      <a:pt x="58886" y="236978"/>
                    </a:cubicBezTo>
                    <a:cubicBezTo>
                      <a:pt x="58235" y="240365"/>
                      <a:pt x="55499" y="243101"/>
                      <a:pt x="51981" y="243883"/>
                    </a:cubicBezTo>
                    <a:cubicBezTo>
                      <a:pt x="45467" y="245577"/>
                      <a:pt x="39344" y="248964"/>
                      <a:pt x="34524" y="253784"/>
                    </a:cubicBezTo>
                    <a:cubicBezTo>
                      <a:pt x="19412" y="268897"/>
                      <a:pt x="19412" y="293519"/>
                      <a:pt x="34524" y="308632"/>
                    </a:cubicBezTo>
                    <a:cubicBezTo>
                      <a:pt x="49636" y="323744"/>
                      <a:pt x="74259" y="323744"/>
                      <a:pt x="89371" y="308632"/>
                    </a:cubicBezTo>
                    <a:cubicBezTo>
                      <a:pt x="94192" y="303812"/>
                      <a:pt x="97579" y="297688"/>
                      <a:pt x="99273" y="291175"/>
                    </a:cubicBezTo>
                    <a:cubicBezTo>
                      <a:pt x="99924" y="287787"/>
                      <a:pt x="102660" y="285051"/>
                      <a:pt x="106178" y="284270"/>
                    </a:cubicBezTo>
                    <a:cubicBezTo>
                      <a:pt x="109304" y="283227"/>
                      <a:pt x="113082" y="284270"/>
                      <a:pt x="115427" y="286615"/>
                    </a:cubicBezTo>
                    <a:lnTo>
                      <a:pt x="171187" y="342374"/>
                    </a:lnTo>
                    <a:lnTo>
                      <a:pt x="227338" y="286224"/>
                    </a:lnTo>
                    <a:cubicBezTo>
                      <a:pt x="229683" y="283879"/>
                      <a:pt x="233200" y="283097"/>
                      <a:pt x="236587" y="283879"/>
                    </a:cubicBezTo>
                    <a:cubicBezTo>
                      <a:pt x="239974" y="284530"/>
                      <a:pt x="242711" y="287266"/>
                      <a:pt x="243492" y="290784"/>
                    </a:cubicBezTo>
                    <a:cubicBezTo>
                      <a:pt x="245186" y="297298"/>
                      <a:pt x="248573" y="303421"/>
                      <a:pt x="253394" y="308241"/>
                    </a:cubicBezTo>
                    <a:cubicBezTo>
                      <a:pt x="268506" y="323354"/>
                      <a:pt x="293519" y="322963"/>
                      <a:pt x="308501" y="307850"/>
                    </a:cubicBezTo>
                    <a:cubicBezTo>
                      <a:pt x="323614" y="292738"/>
                      <a:pt x="323614" y="268115"/>
                      <a:pt x="308501" y="253003"/>
                    </a:cubicBezTo>
                    <a:cubicBezTo>
                      <a:pt x="303681" y="248182"/>
                      <a:pt x="297558" y="244795"/>
                      <a:pt x="291044" y="243101"/>
                    </a:cubicBezTo>
                    <a:cubicBezTo>
                      <a:pt x="287657" y="242450"/>
                      <a:pt x="284921" y="239714"/>
                      <a:pt x="284139" y="236197"/>
                    </a:cubicBezTo>
                    <a:cubicBezTo>
                      <a:pt x="283097" y="233070"/>
                      <a:pt x="284139" y="229292"/>
                      <a:pt x="286484" y="226947"/>
                    </a:cubicBezTo>
                    <a:lnTo>
                      <a:pt x="342244" y="171187"/>
                    </a:lnTo>
                    <a:lnTo>
                      <a:pt x="285703" y="114646"/>
                    </a:lnTo>
                    <a:cubicBezTo>
                      <a:pt x="283358" y="112301"/>
                      <a:pt x="282576" y="108783"/>
                      <a:pt x="283358" y="105396"/>
                    </a:cubicBezTo>
                    <a:cubicBezTo>
                      <a:pt x="284009" y="102009"/>
                      <a:pt x="286745" y="99273"/>
                      <a:pt x="290262" y="98491"/>
                    </a:cubicBezTo>
                    <a:cubicBezTo>
                      <a:pt x="296776" y="96798"/>
                      <a:pt x="302900" y="93410"/>
                      <a:pt x="307720" y="88590"/>
                    </a:cubicBezTo>
                    <a:cubicBezTo>
                      <a:pt x="322832" y="73478"/>
                      <a:pt x="322832" y="48855"/>
                      <a:pt x="307720" y="33742"/>
                    </a:cubicBezTo>
                    <a:cubicBezTo>
                      <a:pt x="292607" y="18630"/>
                      <a:pt x="267985" y="18630"/>
                      <a:pt x="252872" y="33742"/>
                    </a:cubicBezTo>
                    <a:cubicBezTo>
                      <a:pt x="248052" y="38563"/>
                      <a:pt x="244665" y="44686"/>
                      <a:pt x="242971" y="51200"/>
                    </a:cubicBezTo>
                    <a:cubicBezTo>
                      <a:pt x="242320" y="54587"/>
                      <a:pt x="239584" y="57323"/>
                      <a:pt x="236066" y="58105"/>
                    </a:cubicBezTo>
                    <a:cubicBezTo>
                      <a:pt x="232940" y="59147"/>
                      <a:pt x="229161" y="58105"/>
                      <a:pt x="226816" y="55760"/>
                    </a:cubicBezTo>
                    <a:lnTo>
                      <a:pt x="171057" y="0"/>
                    </a:lnTo>
                    <a:lnTo>
                      <a:pt x="115297" y="55760"/>
                    </a:lnTo>
                    <a:close/>
                  </a:path>
                </a:pathLst>
              </a:custGeom>
              <a:noFill/>
              <a:ln w="12700" cap="flat">
                <a:solidFill>
                  <a:schemeClr val="bg1"/>
                </a:solidFill>
                <a:prstDash val="solid"/>
                <a:miter/>
              </a:ln>
            </p:spPr>
            <p:txBody>
              <a:bodyPr rtlCol="0" anchor="ctr"/>
              <a:lstStyle/>
              <a:p>
                <a:endParaRPr lang="en-GB" sz="1600" dirty="0"/>
              </a:p>
            </p:txBody>
          </p:sp>
        </p:grpSp>
      </p:grpSp>
      <p:grpSp>
        <p:nvGrpSpPr>
          <p:cNvPr id="90" name="Group 89">
            <a:extLst>
              <a:ext uri="{FF2B5EF4-FFF2-40B4-BE49-F238E27FC236}">
                <a16:creationId xmlns:a16="http://schemas.microsoft.com/office/drawing/2014/main" id="{2C68720C-05C5-43C4-8892-0A3053003D80}"/>
              </a:ext>
              <a:ext uri="{C183D7F6-B498-43B3-948B-1728B52AA6E4}">
                <adec:decorative xmlns:adec="http://schemas.microsoft.com/office/drawing/2017/decorative" val="1"/>
              </a:ext>
            </a:extLst>
          </p:cNvPr>
          <p:cNvGrpSpPr/>
          <p:nvPr userDrawn="1"/>
        </p:nvGrpSpPr>
        <p:grpSpPr>
          <a:xfrm>
            <a:off x="4193487" y="5504688"/>
            <a:ext cx="444337" cy="436705"/>
            <a:chOff x="4105453" y="1314571"/>
            <a:chExt cx="578417" cy="568482"/>
          </a:xfrm>
          <a:noFill/>
        </p:grpSpPr>
        <p:sp>
          <p:nvSpPr>
            <p:cNvPr id="91" name="Freeform: Shape 66">
              <a:extLst>
                <a:ext uri="{FF2B5EF4-FFF2-40B4-BE49-F238E27FC236}">
                  <a16:creationId xmlns:a16="http://schemas.microsoft.com/office/drawing/2014/main" id="{D325AD86-7C6E-4A7A-8468-8DF0485099C4}"/>
                </a:ext>
              </a:extLst>
            </p:cNvPr>
            <p:cNvSpPr/>
            <p:nvPr/>
          </p:nvSpPr>
          <p:spPr>
            <a:xfrm>
              <a:off x="4178980" y="1396313"/>
              <a:ext cx="172227" cy="13248"/>
            </a:xfrm>
            <a:custGeom>
              <a:avLst/>
              <a:gdLst>
                <a:gd name="connsiteX0" fmla="*/ 0 w 172227"/>
                <a:gd name="connsiteY0" fmla="*/ 0 h 0"/>
                <a:gd name="connsiteX1" fmla="*/ 180573 w 172227"/>
                <a:gd name="connsiteY1" fmla="*/ 0 h 0"/>
              </a:gdLst>
              <a:ahLst/>
              <a:cxnLst>
                <a:cxn ang="0">
                  <a:pos x="connsiteX0" y="connsiteY0"/>
                </a:cxn>
                <a:cxn ang="0">
                  <a:pos x="connsiteX1" y="connsiteY1"/>
                </a:cxn>
              </a:cxnLst>
              <a:rect l="l" t="t" r="r" b="b"/>
              <a:pathLst>
                <a:path w="172227">
                  <a:moveTo>
                    <a:pt x="0" y="0"/>
                  </a:moveTo>
                  <a:lnTo>
                    <a:pt x="180573" y="0"/>
                  </a:lnTo>
                </a:path>
              </a:pathLst>
            </a:custGeom>
            <a:grpFill/>
            <a:ln w="12700" cap="rnd">
              <a:solidFill>
                <a:schemeClr val="bg1"/>
              </a:solidFill>
              <a:prstDash val="solid"/>
              <a:round/>
            </a:ln>
          </p:spPr>
          <p:txBody>
            <a:bodyPr rtlCol="0" anchor="ctr"/>
            <a:lstStyle/>
            <a:p>
              <a:endParaRPr lang="en-GB" sz="1600" dirty="0"/>
            </a:p>
          </p:txBody>
        </p:sp>
        <p:sp>
          <p:nvSpPr>
            <p:cNvPr id="92" name="Freeform: Shape 67">
              <a:extLst>
                <a:ext uri="{FF2B5EF4-FFF2-40B4-BE49-F238E27FC236}">
                  <a16:creationId xmlns:a16="http://schemas.microsoft.com/office/drawing/2014/main" id="{E4CA42B9-284D-4D05-8A49-DD901D7EB214}"/>
                </a:ext>
              </a:extLst>
            </p:cNvPr>
            <p:cNvSpPr/>
            <p:nvPr/>
          </p:nvSpPr>
          <p:spPr>
            <a:xfrm>
              <a:off x="4178980" y="1469973"/>
              <a:ext cx="172227" cy="13248"/>
            </a:xfrm>
            <a:custGeom>
              <a:avLst/>
              <a:gdLst>
                <a:gd name="connsiteX0" fmla="*/ 0 w 172227"/>
                <a:gd name="connsiteY0" fmla="*/ 0 h 0"/>
                <a:gd name="connsiteX1" fmla="*/ 180706 w 172227"/>
                <a:gd name="connsiteY1" fmla="*/ 0 h 0"/>
              </a:gdLst>
              <a:ahLst/>
              <a:cxnLst>
                <a:cxn ang="0">
                  <a:pos x="connsiteX0" y="connsiteY0"/>
                </a:cxn>
                <a:cxn ang="0">
                  <a:pos x="connsiteX1" y="connsiteY1"/>
                </a:cxn>
              </a:cxnLst>
              <a:rect l="l" t="t" r="r" b="b"/>
              <a:pathLst>
                <a:path w="172227">
                  <a:moveTo>
                    <a:pt x="0" y="0"/>
                  </a:moveTo>
                  <a:lnTo>
                    <a:pt x="180706" y="0"/>
                  </a:lnTo>
                </a:path>
              </a:pathLst>
            </a:custGeom>
            <a:grpFill/>
            <a:ln w="12700" cap="rnd">
              <a:solidFill>
                <a:schemeClr val="bg1"/>
              </a:solidFill>
              <a:prstDash val="solid"/>
              <a:round/>
            </a:ln>
          </p:spPr>
          <p:txBody>
            <a:bodyPr rtlCol="0" anchor="ctr"/>
            <a:lstStyle/>
            <a:p>
              <a:endParaRPr lang="en-GB" sz="1600" dirty="0"/>
            </a:p>
          </p:txBody>
        </p:sp>
        <p:sp>
          <p:nvSpPr>
            <p:cNvPr id="93" name="Freeform: Shape 68">
              <a:extLst>
                <a:ext uri="{FF2B5EF4-FFF2-40B4-BE49-F238E27FC236}">
                  <a16:creationId xmlns:a16="http://schemas.microsoft.com/office/drawing/2014/main" id="{04A8A26B-D854-4BFD-BDC3-4748EF2BBD7F}"/>
                </a:ext>
              </a:extLst>
            </p:cNvPr>
            <p:cNvSpPr/>
            <p:nvPr/>
          </p:nvSpPr>
          <p:spPr>
            <a:xfrm>
              <a:off x="4105453" y="1314571"/>
              <a:ext cx="317958" cy="278213"/>
            </a:xfrm>
            <a:custGeom>
              <a:avLst/>
              <a:gdLst>
                <a:gd name="connsiteX0" fmla="*/ 0 w 317957"/>
                <a:gd name="connsiteY0" fmla="*/ 0 h 278213"/>
                <a:gd name="connsiteX1" fmla="*/ 0 w 317957"/>
                <a:gd name="connsiteY1" fmla="*/ 231049 h 278213"/>
                <a:gd name="connsiteX2" fmla="*/ 242708 w 317957"/>
                <a:gd name="connsiteY2" fmla="*/ 231049 h 278213"/>
                <a:gd name="connsiteX3" fmla="*/ 286162 w 317957"/>
                <a:gd name="connsiteY3" fmla="*/ 280730 h 278213"/>
                <a:gd name="connsiteX4" fmla="*/ 286162 w 317957"/>
                <a:gd name="connsiteY4" fmla="*/ 231049 h 278213"/>
                <a:gd name="connsiteX5" fmla="*/ 327629 w 317957"/>
                <a:gd name="connsiteY5" fmla="*/ 231049 h 278213"/>
                <a:gd name="connsiteX6" fmla="*/ 327629 w 317957"/>
                <a:gd name="connsiteY6" fmla="*/ 0 h 27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7957" h="278213">
                  <a:moveTo>
                    <a:pt x="0" y="0"/>
                  </a:moveTo>
                  <a:lnTo>
                    <a:pt x="0" y="231049"/>
                  </a:lnTo>
                  <a:lnTo>
                    <a:pt x="242708" y="231049"/>
                  </a:lnTo>
                  <a:lnTo>
                    <a:pt x="286162" y="280730"/>
                  </a:lnTo>
                  <a:lnTo>
                    <a:pt x="286162" y="231049"/>
                  </a:lnTo>
                  <a:lnTo>
                    <a:pt x="327629" y="231049"/>
                  </a:lnTo>
                  <a:lnTo>
                    <a:pt x="327629" y="0"/>
                  </a:lnTo>
                  <a:close/>
                </a:path>
              </a:pathLst>
            </a:custGeom>
            <a:grpFill/>
            <a:ln w="12700" cap="rnd">
              <a:solidFill>
                <a:schemeClr val="bg1"/>
              </a:solidFill>
              <a:prstDash val="solid"/>
              <a:round/>
            </a:ln>
          </p:spPr>
          <p:txBody>
            <a:bodyPr rtlCol="0" anchor="ctr"/>
            <a:lstStyle/>
            <a:p>
              <a:endParaRPr lang="en-GB" sz="1600" dirty="0"/>
            </a:p>
          </p:txBody>
        </p:sp>
        <p:sp>
          <p:nvSpPr>
            <p:cNvPr id="94" name="Freeform: Shape 69">
              <a:extLst>
                <a:ext uri="{FF2B5EF4-FFF2-40B4-BE49-F238E27FC236}">
                  <a16:creationId xmlns:a16="http://schemas.microsoft.com/office/drawing/2014/main" id="{C64EF969-877D-4B7F-8182-A7B11DDDDBC8}"/>
                </a:ext>
              </a:extLst>
            </p:cNvPr>
            <p:cNvSpPr/>
            <p:nvPr/>
          </p:nvSpPr>
          <p:spPr>
            <a:xfrm>
              <a:off x="4326168" y="1657833"/>
              <a:ext cx="357702" cy="225220"/>
            </a:xfrm>
            <a:custGeom>
              <a:avLst/>
              <a:gdLst>
                <a:gd name="connsiteX0" fmla="*/ 0 w 357702"/>
                <a:gd name="connsiteY0" fmla="*/ 0 h 225220"/>
                <a:gd name="connsiteX1" fmla="*/ 359425 w 357702"/>
                <a:gd name="connsiteY1" fmla="*/ 0 h 225220"/>
                <a:gd name="connsiteX2" fmla="*/ 359425 w 357702"/>
                <a:gd name="connsiteY2" fmla="*/ 231712 h 225220"/>
                <a:gd name="connsiteX3" fmla="*/ 0 w 357702"/>
                <a:gd name="connsiteY3" fmla="*/ 231712 h 225220"/>
              </a:gdLst>
              <a:ahLst/>
              <a:cxnLst>
                <a:cxn ang="0">
                  <a:pos x="connsiteX0" y="connsiteY0"/>
                </a:cxn>
                <a:cxn ang="0">
                  <a:pos x="connsiteX1" y="connsiteY1"/>
                </a:cxn>
                <a:cxn ang="0">
                  <a:pos x="connsiteX2" y="connsiteY2"/>
                </a:cxn>
                <a:cxn ang="0">
                  <a:pos x="connsiteX3" y="connsiteY3"/>
                </a:cxn>
              </a:cxnLst>
              <a:rect l="l" t="t" r="r" b="b"/>
              <a:pathLst>
                <a:path w="357702" h="225220">
                  <a:moveTo>
                    <a:pt x="0" y="0"/>
                  </a:moveTo>
                  <a:lnTo>
                    <a:pt x="359425" y="0"/>
                  </a:lnTo>
                  <a:lnTo>
                    <a:pt x="359425" y="231712"/>
                  </a:lnTo>
                  <a:lnTo>
                    <a:pt x="0" y="231712"/>
                  </a:lnTo>
                  <a:close/>
                </a:path>
              </a:pathLst>
            </a:custGeom>
            <a:grpFill/>
            <a:ln w="12700" cap="rnd">
              <a:solidFill>
                <a:schemeClr val="bg1"/>
              </a:solidFill>
              <a:prstDash val="solid"/>
              <a:round/>
            </a:ln>
          </p:spPr>
          <p:txBody>
            <a:bodyPr rtlCol="0" anchor="ctr"/>
            <a:lstStyle/>
            <a:p>
              <a:endParaRPr lang="en-GB" sz="1600" dirty="0"/>
            </a:p>
          </p:txBody>
        </p:sp>
        <p:sp>
          <p:nvSpPr>
            <p:cNvPr id="95" name="Freeform: Shape 70">
              <a:extLst>
                <a:ext uri="{FF2B5EF4-FFF2-40B4-BE49-F238E27FC236}">
                  <a16:creationId xmlns:a16="http://schemas.microsoft.com/office/drawing/2014/main" id="{B5551980-9060-4CF5-9EDD-032F6FCC9FB5}"/>
                </a:ext>
              </a:extLst>
            </p:cNvPr>
            <p:cNvSpPr/>
            <p:nvPr/>
          </p:nvSpPr>
          <p:spPr>
            <a:xfrm>
              <a:off x="4394794" y="1804359"/>
              <a:ext cx="211972" cy="26496"/>
            </a:xfrm>
            <a:custGeom>
              <a:avLst/>
              <a:gdLst>
                <a:gd name="connsiteX0" fmla="*/ 0 w 211971"/>
                <a:gd name="connsiteY0" fmla="*/ 0 h 26496"/>
                <a:gd name="connsiteX1" fmla="*/ 222173 w 211971"/>
                <a:gd name="connsiteY1" fmla="*/ 0 h 26496"/>
                <a:gd name="connsiteX2" fmla="*/ 222173 w 211971"/>
                <a:gd name="connsiteY2" fmla="*/ 33121 h 26496"/>
                <a:gd name="connsiteX3" fmla="*/ 0 w 211971"/>
                <a:gd name="connsiteY3" fmla="*/ 33121 h 26496"/>
              </a:gdLst>
              <a:ahLst/>
              <a:cxnLst>
                <a:cxn ang="0">
                  <a:pos x="connsiteX0" y="connsiteY0"/>
                </a:cxn>
                <a:cxn ang="0">
                  <a:pos x="connsiteX1" y="connsiteY1"/>
                </a:cxn>
                <a:cxn ang="0">
                  <a:pos x="connsiteX2" y="connsiteY2"/>
                </a:cxn>
                <a:cxn ang="0">
                  <a:pos x="connsiteX3" y="connsiteY3"/>
                </a:cxn>
              </a:cxnLst>
              <a:rect l="l" t="t" r="r" b="b"/>
              <a:pathLst>
                <a:path w="211971" h="26496">
                  <a:moveTo>
                    <a:pt x="0" y="0"/>
                  </a:moveTo>
                  <a:lnTo>
                    <a:pt x="222173" y="0"/>
                  </a:lnTo>
                  <a:lnTo>
                    <a:pt x="222173" y="33121"/>
                  </a:lnTo>
                  <a:lnTo>
                    <a:pt x="0" y="33121"/>
                  </a:lnTo>
                  <a:close/>
                </a:path>
              </a:pathLst>
            </a:custGeom>
            <a:grpFill/>
            <a:ln w="12700" cap="rnd">
              <a:solidFill>
                <a:schemeClr val="bg1"/>
              </a:solidFill>
              <a:prstDash val="solid"/>
              <a:round/>
            </a:ln>
          </p:spPr>
          <p:txBody>
            <a:bodyPr rtlCol="0" anchor="ctr"/>
            <a:lstStyle/>
            <a:p>
              <a:endParaRPr lang="en-GB" sz="1600" dirty="0"/>
            </a:p>
          </p:txBody>
        </p:sp>
        <p:sp>
          <p:nvSpPr>
            <p:cNvPr id="96" name="Freeform: Shape 71">
              <a:extLst>
                <a:ext uri="{FF2B5EF4-FFF2-40B4-BE49-F238E27FC236}">
                  <a16:creationId xmlns:a16="http://schemas.microsoft.com/office/drawing/2014/main" id="{98D51D37-CBFF-4EBE-A225-7A289A5AEB45}"/>
                </a:ext>
              </a:extLst>
            </p:cNvPr>
            <p:cNvSpPr/>
            <p:nvPr/>
          </p:nvSpPr>
          <p:spPr>
            <a:xfrm>
              <a:off x="4417184" y="1710959"/>
              <a:ext cx="26496" cy="26496"/>
            </a:xfrm>
            <a:custGeom>
              <a:avLst/>
              <a:gdLst>
                <a:gd name="connsiteX0" fmla="*/ 0 w 26496"/>
                <a:gd name="connsiteY0" fmla="*/ 0 h 26496"/>
                <a:gd name="connsiteX1" fmla="*/ 33253 w 26496"/>
                <a:gd name="connsiteY1" fmla="*/ 33253 h 26496"/>
              </a:gdLst>
              <a:ahLst/>
              <a:cxnLst>
                <a:cxn ang="0">
                  <a:pos x="connsiteX0" y="connsiteY0"/>
                </a:cxn>
                <a:cxn ang="0">
                  <a:pos x="connsiteX1" y="connsiteY1"/>
                </a:cxn>
              </a:cxnLst>
              <a:rect l="l" t="t" r="r" b="b"/>
              <a:pathLst>
                <a:path w="26496" h="26496">
                  <a:moveTo>
                    <a:pt x="0" y="0"/>
                  </a:moveTo>
                  <a:lnTo>
                    <a:pt x="33253" y="33253"/>
                  </a:lnTo>
                </a:path>
              </a:pathLst>
            </a:custGeom>
            <a:grpFill/>
            <a:ln w="12700" cap="rnd">
              <a:solidFill>
                <a:schemeClr val="bg1"/>
              </a:solidFill>
              <a:prstDash val="solid"/>
              <a:round/>
            </a:ln>
          </p:spPr>
          <p:txBody>
            <a:bodyPr rtlCol="0" anchor="ctr"/>
            <a:lstStyle/>
            <a:p>
              <a:endParaRPr lang="en-GB" sz="1600" dirty="0"/>
            </a:p>
          </p:txBody>
        </p:sp>
        <p:sp>
          <p:nvSpPr>
            <p:cNvPr id="97" name="Freeform: Shape 72">
              <a:extLst>
                <a:ext uri="{FF2B5EF4-FFF2-40B4-BE49-F238E27FC236}">
                  <a16:creationId xmlns:a16="http://schemas.microsoft.com/office/drawing/2014/main" id="{B2286925-4604-44D2-BF09-0E6D9F24317D}"/>
                </a:ext>
              </a:extLst>
            </p:cNvPr>
            <p:cNvSpPr/>
            <p:nvPr/>
          </p:nvSpPr>
          <p:spPr>
            <a:xfrm>
              <a:off x="4417184" y="1710959"/>
              <a:ext cx="26496" cy="26496"/>
            </a:xfrm>
            <a:custGeom>
              <a:avLst/>
              <a:gdLst>
                <a:gd name="connsiteX0" fmla="*/ 33253 w 26496"/>
                <a:gd name="connsiteY0" fmla="*/ 0 h 26496"/>
                <a:gd name="connsiteX1" fmla="*/ 0 w 26496"/>
                <a:gd name="connsiteY1" fmla="*/ 33253 h 26496"/>
              </a:gdLst>
              <a:ahLst/>
              <a:cxnLst>
                <a:cxn ang="0">
                  <a:pos x="connsiteX0" y="connsiteY0"/>
                </a:cxn>
                <a:cxn ang="0">
                  <a:pos x="connsiteX1" y="connsiteY1"/>
                </a:cxn>
              </a:cxnLst>
              <a:rect l="l" t="t" r="r" b="b"/>
              <a:pathLst>
                <a:path w="26496" h="26496">
                  <a:moveTo>
                    <a:pt x="33253" y="0"/>
                  </a:moveTo>
                  <a:lnTo>
                    <a:pt x="0" y="33253"/>
                  </a:lnTo>
                </a:path>
              </a:pathLst>
            </a:custGeom>
            <a:grpFill/>
            <a:ln w="12700" cap="rnd">
              <a:solidFill>
                <a:schemeClr val="bg1"/>
              </a:solidFill>
              <a:prstDash val="solid"/>
              <a:round/>
            </a:ln>
          </p:spPr>
          <p:txBody>
            <a:bodyPr rtlCol="0" anchor="ctr"/>
            <a:lstStyle/>
            <a:p>
              <a:endParaRPr lang="en-GB" sz="1600" dirty="0"/>
            </a:p>
          </p:txBody>
        </p:sp>
        <p:sp>
          <p:nvSpPr>
            <p:cNvPr id="98" name="Freeform: Shape 73">
              <a:extLst>
                <a:ext uri="{FF2B5EF4-FFF2-40B4-BE49-F238E27FC236}">
                  <a16:creationId xmlns:a16="http://schemas.microsoft.com/office/drawing/2014/main" id="{DE755887-1E43-410D-94BE-E91E77D4BF7B}"/>
                </a:ext>
              </a:extLst>
            </p:cNvPr>
            <p:cNvSpPr/>
            <p:nvPr/>
          </p:nvSpPr>
          <p:spPr>
            <a:xfrm>
              <a:off x="4561457" y="1710959"/>
              <a:ext cx="26496" cy="26496"/>
            </a:xfrm>
            <a:custGeom>
              <a:avLst/>
              <a:gdLst>
                <a:gd name="connsiteX0" fmla="*/ 0 w 26496"/>
                <a:gd name="connsiteY0" fmla="*/ 0 h 26496"/>
                <a:gd name="connsiteX1" fmla="*/ 33121 w 26496"/>
                <a:gd name="connsiteY1" fmla="*/ 33253 h 26496"/>
              </a:gdLst>
              <a:ahLst/>
              <a:cxnLst>
                <a:cxn ang="0">
                  <a:pos x="connsiteX0" y="connsiteY0"/>
                </a:cxn>
                <a:cxn ang="0">
                  <a:pos x="connsiteX1" y="connsiteY1"/>
                </a:cxn>
              </a:cxnLst>
              <a:rect l="l" t="t" r="r" b="b"/>
              <a:pathLst>
                <a:path w="26496" h="26496">
                  <a:moveTo>
                    <a:pt x="0" y="0"/>
                  </a:moveTo>
                  <a:lnTo>
                    <a:pt x="33121" y="33253"/>
                  </a:lnTo>
                </a:path>
              </a:pathLst>
            </a:custGeom>
            <a:grpFill/>
            <a:ln w="12700" cap="rnd">
              <a:solidFill>
                <a:schemeClr val="bg1"/>
              </a:solidFill>
              <a:prstDash val="solid"/>
              <a:round/>
            </a:ln>
          </p:spPr>
          <p:txBody>
            <a:bodyPr rtlCol="0" anchor="ctr"/>
            <a:lstStyle/>
            <a:p>
              <a:endParaRPr lang="en-GB" sz="1600" dirty="0"/>
            </a:p>
          </p:txBody>
        </p:sp>
        <p:sp>
          <p:nvSpPr>
            <p:cNvPr id="99" name="Freeform: Shape 74">
              <a:extLst>
                <a:ext uri="{FF2B5EF4-FFF2-40B4-BE49-F238E27FC236}">
                  <a16:creationId xmlns:a16="http://schemas.microsoft.com/office/drawing/2014/main" id="{EBDB654C-F56E-41C2-934A-B4DC59284AA5}"/>
                </a:ext>
              </a:extLst>
            </p:cNvPr>
            <p:cNvSpPr/>
            <p:nvPr/>
          </p:nvSpPr>
          <p:spPr>
            <a:xfrm>
              <a:off x="4561457" y="1710959"/>
              <a:ext cx="26496" cy="26496"/>
            </a:xfrm>
            <a:custGeom>
              <a:avLst/>
              <a:gdLst>
                <a:gd name="connsiteX0" fmla="*/ 33121 w 26496"/>
                <a:gd name="connsiteY0" fmla="*/ 0 h 26496"/>
                <a:gd name="connsiteX1" fmla="*/ 0 w 26496"/>
                <a:gd name="connsiteY1" fmla="*/ 33253 h 26496"/>
              </a:gdLst>
              <a:ahLst/>
              <a:cxnLst>
                <a:cxn ang="0">
                  <a:pos x="connsiteX0" y="connsiteY0"/>
                </a:cxn>
                <a:cxn ang="0">
                  <a:pos x="connsiteX1" y="connsiteY1"/>
                </a:cxn>
              </a:cxnLst>
              <a:rect l="l" t="t" r="r" b="b"/>
              <a:pathLst>
                <a:path w="26496" h="26496">
                  <a:moveTo>
                    <a:pt x="33121" y="0"/>
                  </a:moveTo>
                  <a:lnTo>
                    <a:pt x="0" y="33253"/>
                  </a:lnTo>
                </a:path>
              </a:pathLst>
            </a:custGeom>
            <a:grpFill/>
            <a:ln w="12700" cap="rnd">
              <a:solidFill>
                <a:schemeClr val="bg1"/>
              </a:solidFill>
              <a:prstDash val="solid"/>
              <a:round/>
            </a:ln>
          </p:spPr>
          <p:txBody>
            <a:bodyPr rtlCol="0" anchor="ctr"/>
            <a:lstStyle/>
            <a:p>
              <a:endParaRPr lang="en-GB" sz="1600" dirty="0"/>
            </a:p>
          </p:txBody>
        </p:sp>
        <p:sp>
          <p:nvSpPr>
            <p:cNvPr id="100" name="Freeform: Shape 75">
              <a:extLst>
                <a:ext uri="{FF2B5EF4-FFF2-40B4-BE49-F238E27FC236}">
                  <a16:creationId xmlns:a16="http://schemas.microsoft.com/office/drawing/2014/main" id="{54844F01-ADD8-461D-A054-983E97A6A2E0}"/>
                </a:ext>
              </a:extLst>
            </p:cNvPr>
            <p:cNvSpPr/>
            <p:nvPr/>
          </p:nvSpPr>
          <p:spPr>
            <a:xfrm>
              <a:off x="4505947" y="1608152"/>
              <a:ext cx="13248" cy="39745"/>
            </a:xfrm>
            <a:custGeom>
              <a:avLst/>
              <a:gdLst>
                <a:gd name="connsiteX0" fmla="*/ 0 w 0"/>
                <a:gd name="connsiteY0" fmla="*/ 44912 h 39744"/>
                <a:gd name="connsiteX1" fmla="*/ 0 w 0"/>
                <a:gd name="connsiteY1" fmla="*/ 0 h 39744"/>
              </a:gdLst>
              <a:ahLst/>
              <a:cxnLst>
                <a:cxn ang="0">
                  <a:pos x="connsiteX0" y="connsiteY0"/>
                </a:cxn>
                <a:cxn ang="0">
                  <a:pos x="connsiteX1" y="connsiteY1"/>
                </a:cxn>
              </a:cxnLst>
              <a:rect l="l" t="t" r="r" b="b"/>
              <a:pathLst>
                <a:path h="39744">
                  <a:moveTo>
                    <a:pt x="0" y="44912"/>
                  </a:moveTo>
                  <a:lnTo>
                    <a:pt x="0" y="0"/>
                  </a:lnTo>
                </a:path>
              </a:pathLst>
            </a:custGeom>
            <a:grpFill/>
            <a:ln w="12700" cap="rnd">
              <a:solidFill>
                <a:schemeClr val="bg1"/>
              </a:solidFill>
              <a:prstDash val="solid"/>
              <a:round/>
            </a:ln>
          </p:spPr>
          <p:txBody>
            <a:bodyPr rtlCol="0" anchor="ctr"/>
            <a:lstStyle/>
            <a:p>
              <a:endParaRPr lang="en-GB" sz="1600" dirty="0"/>
            </a:p>
          </p:txBody>
        </p:sp>
        <p:sp>
          <p:nvSpPr>
            <p:cNvPr id="101" name="Freeform: Shape 76">
              <a:extLst>
                <a:ext uri="{FF2B5EF4-FFF2-40B4-BE49-F238E27FC236}">
                  <a16:creationId xmlns:a16="http://schemas.microsoft.com/office/drawing/2014/main" id="{19962AA1-BC64-4B41-A48C-BD87041BB1A1}"/>
                </a:ext>
              </a:extLst>
            </p:cNvPr>
            <p:cNvSpPr/>
            <p:nvPr/>
          </p:nvSpPr>
          <p:spPr>
            <a:xfrm>
              <a:off x="4488062" y="1568010"/>
              <a:ext cx="26496" cy="26496"/>
            </a:xfrm>
            <a:custGeom>
              <a:avLst/>
              <a:gdLst>
                <a:gd name="connsiteX0" fmla="*/ 35770 w 26496"/>
                <a:gd name="connsiteY0" fmla="*/ 17885 h 26496"/>
                <a:gd name="connsiteX1" fmla="*/ 17885 w 26496"/>
                <a:gd name="connsiteY1" fmla="*/ 35770 h 26496"/>
                <a:gd name="connsiteX2" fmla="*/ 0 w 26496"/>
                <a:gd name="connsiteY2" fmla="*/ 17885 h 26496"/>
                <a:gd name="connsiteX3" fmla="*/ 17885 w 26496"/>
                <a:gd name="connsiteY3" fmla="*/ 0 h 26496"/>
                <a:gd name="connsiteX4" fmla="*/ 35770 w 26496"/>
                <a:gd name="connsiteY4" fmla="*/ 17885 h 26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96" h="26496">
                  <a:moveTo>
                    <a:pt x="35770" y="17885"/>
                  </a:moveTo>
                  <a:cubicBezTo>
                    <a:pt x="35770" y="27763"/>
                    <a:pt x="27763" y="35770"/>
                    <a:pt x="17885" y="35770"/>
                  </a:cubicBezTo>
                  <a:cubicBezTo>
                    <a:pt x="8007" y="35770"/>
                    <a:pt x="0" y="27763"/>
                    <a:pt x="0" y="17885"/>
                  </a:cubicBezTo>
                  <a:cubicBezTo>
                    <a:pt x="0" y="8007"/>
                    <a:pt x="8007" y="0"/>
                    <a:pt x="17885" y="0"/>
                  </a:cubicBezTo>
                  <a:cubicBezTo>
                    <a:pt x="27763" y="0"/>
                    <a:pt x="35770" y="8007"/>
                    <a:pt x="35770" y="17885"/>
                  </a:cubicBezTo>
                  <a:close/>
                </a:path>
              </a:pathLst>
            </a:custGeom>
            <a:grpFill/>
            <a:ln w="12700" cap="rnd">
              <a:solidFill>
                <a:schemeClr val="bg1"/>
              </a:solidFill>
              <a:prstDash val="solid"/>
              <a:round/>
            </a:ln>
          </p:spPr>
          <p:txBody>
            <a:bodyPr rtlCol="0" anchor="ctr"/>
            <a:lstStyle/>
            <a:p>
              <a:endParaRPr lang="en-GB" sz="1600" dirty="0"/>
            </a:p>
          </p:txBody>
        </p:sp>
      </p:grpSp>
      <p:grpSp>
        <p:nvGrpSpPr>
          <p:cNvPr id="104" name="Group 103">
            <a:extLst>
              <a:ext uri="{FF2B5EF4-FFF2-40B4-BE49-F238E27FC236}">
                <a16:creationId xmlns:a16="http://schemas.microsoft.com/office/drawing/2014/main" id="{E34C5742-C35C-4F63-80BC-E6FE362A2AC9}"/>
              </a:ext>
              <a:ext uri="{C183D7F6-B498-43B3-948B-1728B52AA6E4}">
                <adec:decorative xmlns:adec="http://schemas.microsoft.com/office/drawing/2017/decorative" val="1"/>
              </a:ext>
            </a:extLst>
          </p:cNvPr>
          <p:cNvGrpSpPr/>
          <p:nvPr userDrawn="1"/>
        </p:nvGrpSpPr>
        <p:grpSpPr>
          <a:xfrm>
            <a:off x="6559527" y="5590082"/>
            <a:ext cx="438168" cy="265916"/>
            <a:chOff x="4139310" y="2382327"/>
            <a:chExt cx="561027" cy="340478"/>
          </a:xfrm>
          <a:noFill/>
        </p:grpSpPr>
        <p:sp>
          <p:nvSpPr>
            <p:cNvPr id="105" name="Freeform: Shape 91">
              <a:extLst>
                <a:ext uri="{FF2B5EF4-FFF2-40B4-BE49-F238E27FC236}">
                  <a16:creationId xmlns:a16="http://schemas.microsoft.com/office/drawing/2014/main" id="{ABFBA63E-06FB-41CC-BB02-EF98AEE91FBA}"/>
                </a:ext>
              </a:extLst>
            </p:cNvPr>
            <p:cNvSpPr/>
            <p:nvPr/>
          </p:nvSpPr>
          <p:spPr>
            <a:xfrm>
              <a:off x="4139310" y="2382327"/>
              <a:ext cx="340478" cy="340478"/>
            </a:xfrm>
            <a:custGeom>
              <a:avLst/>
              <a:gdLst>
                <a:gd name="connsiteX0" fmla="*/ 336148 w 340477"/>
                <a:gd name="connsiteY0" fmla="*/ 118636 h 340477"/>
                <a:gd name="connsiteX1" fmla="*/ 335494 w 340477"/>
                <a:gd name="connsiteY1" fmla="*/ 227981 h 340477"/>
                <a:gd name="connsiteX2" fmla="*/ 116802 w 340477"/>
                <a:gd name="connsiteY2" fmla="*/ 335494 h 340477"/>
                <a:gd name="connsiteX3" fmla="*/ 9290 w 340477"/>
                <a:gd name="connsiteY3" fmla="*/ 116802 h 340477"/>
                <a:gd name="connsiteX4" fmla="*/ 227981 w 340477"/>
                <a:gd name="connsiteY4" fmla="*/ 9290 h 340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77" h="340477">
                  <a:moveTo>
                    <a:pt x="336148" y="118636"/>
                  </a:moveTo>
                  <a:cubicBezTo>
                    <a:pt x="347410" y="152945"/>
                    <a:pt x="348065" y="191183"/>
                    <a:pt x="335494" y="227981"/>
                  </a:cubicBezTo>
                  <a:cubicBezTo>
                    <a:pt x="304851" y="318077"/>
                    <a:pt x="206898" y="366267"/>
                    <a:pt x="116802" y="335494"/>
                  </a:cubicBezTo>
                  <a:cubicBezTo>
                    <a:pt x="26707" y="304851"/>
                    <a:pt x="-21484" y="206898"/>
                    <a:pt x="9290" y="116802"/>
                  </a:cubicBezTo>
                  <a:cubicBezTo>
                    <a:pt x="40064" y="26707"/>
                    <a:pt x="137886" y="-21484"/>
                    <a:pt x="227981" y="9290"/>
                  </a:cubicBezTo>
                </a:path>
              </a:pathLst>
            </a:custGeom>
            <a:grpFill/>
            <a:ln w="12700" cap="flat">
              <a:solidFill>
                <a:schemeClr val="bg1"/>
              </a:solidFill>
              <a:prstDash val="solid"/>
              <a:round/>
            </a:ln>
          </p:spPr>
          <p:txBody>
            <a:bodyPr rtlCol="0" anchor="ctr"/>
            <a:lstStyle/>
            <a:p>
              <a:endParaRPr lang="en-GB" sz="1600" dirty="0"/>
            </a:p>
          </p:txBody>
        </p:sp>
        <p:sp>
          <p:nvSpPr>
            <p:cNvPr id="106" name="Freeform: Shape 92">
              <a:extLst>
                <a:ext uri="{FF2B5EF4-FFF2-40B4-BE49-F238E27FC236}">
                  <a16:creationId xmlns:a16="http://schemas.microsoft.com/office/drawing/2014/main" id="{C5DBD175-C25C-40B3-A5BB-B3FAA22C3F70}"/>
                </a:ext>
              </a:extLst>
            </p:cNvPr>
            <p:cNvSpPr/>
            <p:nvPr/>
          </p:nvSpPr>
          <p:spPr>
            <a:xfrm>
              <a:off x="4359859" y="2382327"/>
              <a:ext cx="340478" cy="340478"/>
            </a:xfrm>
            <a:custGeom>
              <a:avLst/>
              <a:gdLst>
                <a:gd name="connsiteX0" fmla="*/ 8610 w 340477"/>
                <a:gd name="connsiteY0" fmla="*/ 226148 h 340477"/>
                <a:gd name="connsiteX1" fmla="*/ 9265 w 340477"/>
                <a:gd name="connsiteY1" fmla="*/ 116802 h 340477"/>
                <a:gd name="connsiteX2" fmla="*/ 227956 w 340477"/>
                <a:gd name="connsiteY2" fmla="*/ 9290 h 340477"/>
                <a:gd name="connsiteX3" fmla="*/ 335469 w 340477"/>
                <a:gd name="connsiteY3" fmla="*/ 227981 h 340477"/>
                <a:gd name="connsiteX4" fmla="*/ 116777 w 340477"/>
                <a:gd name="connsiteY4" fmla="*/ 335494 h 340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77" h="340477">
                  <a:moveTo>
                    <a:pt x="8610" y="226148"/>
                  </a:moveTo>
                  <a:cubicBezTo>
                    <a:pt x="-2652" y="191838"/>
                    <a:pt x="-3307" y="153600"/>
                    <a:pt x="9265" y="116802"/>
                  </a:cubicBezTo>
                  <a:cubicBezTo>
                    <a:pt x="39908" y="26707"/>
                    <a:pt x="137861" y="-21484"/>
                    <a:pt x="227956" y="9290"/>
                  </a:cubicBezTo>
                  <a:cubicBezTo>
                    <a:pt x="318052" y="39933"/>
                    <a:pt x="366243" y="137886"/>
                    <a:pt x="335469" y="227981"/>
                  </a:cubicBezTo>
                  <a:cubicBezTo>
                    <a:pt x="304826" y="318077"/>
                    <a:pt x="206873" y="366267"/>
                    <a:pt x="116777" y="335494"/>
                  </a:cubicBezTo>
                </a:path>
              </a:pathLst>
            </a:custGeom>
            <a:grpFill/>
            <a:ln w="12700" cap="flat">
              <a:solidFill>
                <a:schemeClr val="bg1"/>
              </a:solidFill>
              <a:prstDash val="solid"/>
              <a:round/>
            </a:ln>
          </p:spPr>
          <p:txBody>
            <a:bodyPr rtlCol="0" anchor="ctr"/>
            <a:lstStyle/>
            <a:p>
              <a:endParaRPr lang="en-GB" sz="1600" dirty="0"/>
            </a:p>
          </p:txBody>
        </p:sp>
      </p:grpSp>
      <p:sp>
        <p:nvSpPr>
          <p:cNvPr id="107" name="Freeform: Shape 171">
            <a:extLst>
              <a:ext uri="{FF2B5EF4-FFF2-40B4-BE49-F238E27FC236}">
                <a16:creationId xmlns:a16="http://schemas.microsoft.com/office/drawing/2014/main" id="{C90BA74C-6168-4000-8F6D-9B4B963479E7}"/>
              </a:ext>
              <a:ext uri="{C183D7F6-B498-43B3-948B-1728B52AA6E4}">
                <adec:decorative xmlns:adec="http://schemas.microsoft.com/office/drawing/2017/decorative" val="1"/>
              </a:ext>
            </a:extLst>
          </p:cNvPr>
          <p:cNvSpPr/>
          <p:nvPr userDrawn="1"/>
        </p:nvSpPr>
        <p:spPr>
          <a:xfrm>
            <a:off x="8928119" y="5511775"/>
            <a:ext cx="262654" cy="422530"/>
          </a:xfrm>
          <a:custGeom>
            <a:avLst/>
            <a:gdLst>
              <a:gd name="connsiteX0" fmla="*/ 311668 w 301191"/>
              <a:gd name="connsiteY0" fmla="*/ 89179 h 484525"/>
              <a:gd name="connsiteX1" fmla="*/ 311668 w 301191"/>
              <a:gd name="connsiteY1" fmla="*/ 323977 h 484525"/>
              <a:gd name="connsiteX2" fmla="*/ 155834 w 301191"/>
              <a:gd name="connsiteY2" fmla="*/ 490550 h 484525"/>
              <a:gd name="connsiteX3" fmla="*/ 0 w 301191"/>
              <a:gd name="connsiteY3" fmla="*/ 325156 h 484525"/>
              <a:gd name="connsiteX4" fmla="*/ 0 w 301191"/>
              <a:gd name="connsiteY4" fmla="*/ 90489 h 484525"/>
              <a:gd name="connsiteX5" fmla="*/ 155834 w 301191"/>
              <a:gd name="connsiteY5" fmla="*/ 0 h 484525"/>
              <a:gd name="connsiteX6" fmla="*/ 311668 w 301191"/>
              <a:gd name="connsiteY6" fmla="*/ 89179 h 48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191" h="484525">
                <a:moveTo>
                  <a:pt x="311668" y="89179"/>
                </a:moveTo>
                <a:lnTo>
                  <a:pt x="311668" y="323977"/>
                </a:lnTo>
                <a:cubicBezTo>
                  <a:pt x="311668" y="399930"/>
                  <a:pt x="155834" y="490550"/>
                  <a:pt x="155834" y="490550"/>
                </a:cubicBezTo>
                <a:cubicBezTo>
                  <a:pt x="155834" y="490550"/>
                  <a:pt x="0" y="400061"/>
                  <a:pt x="0" y="325156"/>
                </a:cubicBezTo>
                <a:lnTo>
                  <a:pt x="0" y="90489"/>
                </a:lnTo>
                <a:cubicBezTo>
                  <a:pt x="0" y="90489"/>
                  <a:pt x="155834" y="71500"/>
                  <a:pt x="155834" y="0"/>
                </a:cubicBezTo>
                <a:cubicBezTo>
                  <a:pt x="155834" y="71238"/>
                  <a:pt x="311668" y="89179"/>
                  <a:pt x="311668" y="89179"/>
                </a:cubicBezTo>
                <a:close/>
              </a:path>
            </a:pathLst>
          </a:custGeom>
          <a:noFill/>
          <a:ln w="12700" cap="flat">
            <a:solidFill>
              <a:schemeClr val="bg1"/>
            </a:solidFill>
            <a:prstDash val="solid"/>
            <a:round/>
          </a:ln>
        </p:spPr>
        <p:txBody>
          <a:bodyPr rtlCol="0" anchor="ctr"/>
          <a:lstStyle/>
          <a:p>
            <a:endParaRPr lang="en-GB" sz="1600" dirty="0"/>
          </a:p>
        </p:txBody>
      </p:sp>
      <p:grpSp>
        <p:nvGrpSpPr>
          <p:cNvPr id="32" name="Group 31">
            <a:extLst>
              <a:ext uri="{FF2B5EF4-FFF2-40B4-BE49-F238E27FC236}">
                <a16:creationId xmlns:a16="http://schemas.microsoft.com/office/drawing/2014/main" id="{579AE630-55EA-4A6E-B615-7DED25526FA5}"/>
              </a:ext>
              <a:ext uri="{C183D7F6-B498-43B3-948B-1728B52AA6E4}">
                <adec:decorative xmlns:adec="http://schemas.microsoft.com/office/drawing/2017/decorative" val="1"/>
              </a:ext>
            </a:extLst>
          </p:cNvPr>
          <p:cNvGrpSpPr/>
          <p:nvPr userDrawn="1"/>
        </p:nvGrpSpPr>
        <p:grpSpPr>
          <a:xfrm>
            <a:off x="670282" y="5327041"/>
            <a:ext cx="792000" cy="792000"/>
            <a:chOff x="616942" y="5297414"/>
            <a:chExt cx="792000" cy="792000"/>
          </a:xfrm>
        </p:grpSpPr>
        <p:sp>
          <p:nvSpPr>
            <p:cNvPr id="87" name="Oval 86">
              <a:extLst>
                <a:ext uri="{FF2B5EF4-FFF2-40B4-BE49-F238E27FC236}">
                  <a16:creationId xmlns:a16="http://schemas.microsoft.com/office/drawing/2014/main" id="{DBC711A4-BD21-41CC-A637-54D30B788857}"/>
                </a:ext>
              </a:extLst>
            </p:cNvPr>
            <p:cNvSpPr/>
            <p:nvPr userDrawn="1"/>
          </p:nvSpPr>
          <p:spPr>
            <a:xfrm>
              <a:off x="616942" y="5297414"/>
              <a:ext cx="792000" cy="79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08" name="Group 107">
              <a:extLst>
                <a:ext uri="{FF2B5EF4-FFF2-40B4-BE49-F238E27FC236}">
                  <a16:creationId xmlns:a16="http://schemas.microsoft.com/office/drawing/2014/main" id="{B500FD5C-4CA6-4EF2-AAC3-2966FC8BADFE}"/>
                </a:ext>
              </a:extLst>
            </p:cNvPr>
            <p:cNvGrpSpPr/>
            <p:nvPr userDrawn="1"/>
          </p:nvGrpSpPr>
          <p:grpSpPr>
            <a:xfrm>
              <a:off x="784573" y="5468065"/>
              <a:ext cx="456737" cy="450699"/>
              <a:chOff x="8707777" y="3799709"/>
              <a:chExt cx="463408" cy="457281"/>
            </a:xfrm>
          </p:grpSpPr>
          <p:sp>
            <p:nvSpPr>
              <p:cNvPr id="109" name="Freeform: Shape 386">
                <a:extLst>
                  <a:ext uri="{FF2B5EF4-FFF2-40B4-BE49-F238E27FC236}">
                    <a16:creationId xmlns:a16="http://schemas.microsoft.com/office/drawing/2014/main" id="{7AA85A08-9CBC-4474-8231-4DA9A2594C66}"/>
                  </a:ext>
                </a:extLst>
              </p:cNvPr>
              <p:cNvSpPr/>
              <p:nvPr/>
            </p:nvSpPr>
            <p:spPr>
              <a:xfrm>
                <a:off x="8707777" y="3799709"/>
                <a:ext cx="260559" cy="351754"/>
              </a:xfrm>
              <a:custGeom>
                <a:avLst/>
                <a:gdLst>
                  <a:gd name="connsiteX0" fmla="*/ 262513 w 260558"/>
                  <a:gd name="connsiteY0" fmla="*/ 131192 h 351754"/>
                  <a:gd name="connsiteX1" fmla="*/ 257302 w 260558"/>
                  <a:gd name="connsiteY1" fmla="*/ 167800 h 351754"/>
                  <a:gd name="connsiteX2" fmla="*/ 256520 w 260558"/>
                  <a:gd name="connsiteY2" fmla="*/ 170275 h 351754"/>
                  <a:gd name="connsiteX3" fmla="*/ 246228 w 260558"/>
                  <a:gd name="connsiteY3" fmla="*/ 194507 h 351754"/>
                  <a:gd name="connsiteX4" fmla="*/ 197894 w 260558"/>
                  <a:gd name="connsiteY4" fmla="*/ 358008 h 351754"/>
                  <a:gd name="connsiteX5" fmla="*/ 64749 w 260558"/>
                  <a:gd name="connsiteY5" fmla="*/ 358008 h 351754"/>
                  <a:gd name="connsiteX6" fmla="*/ 16676 w 260558"/>
                  <a:gd name="connsiteY6" fmla="*/ 195289 h 351754"/>
                  <a:gd name="connsiteX7" fmla="*/ 5732 w 260558"/>
                  <a:gd name="connsiteY7" fmla="*/ 169363 h 351754"/>
                  <a:gd name="connsiteX8" fmla="*/ 5211 w 260558"/>
                  <a:gd name="connsiteY8" fmla="*/ 167930 h 351754"/>
                  <a:gd name="connsiteX9" fmla="*/ 0 w 260558"/>
                  <a:gd name="connsiteY9" fmla="*/ 131322 h 351754"/>
                  <a:gd name="connsiteX10" fmla="*/ 131322 w 260558"/>
                  <a:gd name="connsiteY10" fmla="*/ 0 h 351754"/>
                  <a:gd name="connsiteX11" fmla="*/ 262513 w 260558"/>
                  <a:gd name="connsiteY11" fmla="*/ 131192 h 35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558" h="351754">
                    <a:moveTo>
                      <a:pt x="262513" y="131192"/>
                    </a:moveTo>
                    <a:cubicBezTo>
                      <a:pt x="262513" y="143959"/>
                      <a:pt x="260689" y="156205"/>
                      <a:pt x="257302" y="167800"/>
                    </a:cubicBezTo>
                    <a:cubicBezTo>
                      <a:pt x="257041" y="168712"/>
                      <a:pt x="256781" y="169494"/>
                      <a:pt x="256520" y="170275"/>
                    </a:cubicBezTo>
                    <a:cubicBezTo>
                      <a:pt x="256520" y="170275"/>
                      <a:pt x="249485" y="186039"/>
                      <a:pt x="246228" y="194507"/>
                    </a:cubicBezTo>
                    <a:cubicBezTo>
                      <a:pt x="218348" y="265119"/>
                      <a:pt x="197894" y="358008"/>
                      <a:pt x="197894" y="358008"/>
                    </a:cubicBezTo>
                    <a:lnTo>
                      <a:pt x="64749" y="358008"/>
                    </a:lnTo>
                    <a:cubicBezTo>
                      <a:pt x="64749" y="358008"/>
                      <a:pt x="44425" y="265770"/>
                      <a:pt x="16676" y="195289"/>
                    </a:cubicBezTo>
                    <a:cubicBezTo>
                      <a:pt x="13028" y="186169"/>
                      <a:pt x="9380" y="177441"/>
                      <a:pt x="5732" y="169363"/>
                    </a:cubicBezTo>
                    <a:cubicBezTo>
                      <a:pt x="5472" y="168973"/>
                      <a:pt x="5342" y="168451"/>
                      <a:pt x="5211" y="167930"/>
                    </a:cubicBezTo>
                    <a:cubicBezTo>
                      <a:pt x="1824" y="156335"/>
                      <a:pt x="0" y="144089"/>
                      <a:pt x="0" y="131322"/>
                    </a:cubicBezTo>
                    <a:cubicBezTo>
                      <a:pt x="0" y="58756"/>
                      <a:pt x="58886" y="0"/>
                      <a:pt x="131322" y="0"/>
                    </a:cubicBezTo>
                    <a:cubicBezTo>
                      <a:pt x="203757" y="-130"/>
                      <a:pt x="262513" y="58626"/>
                      <a:pt x="262513" y="131192"/>
                    </a:cubicBezTo>
                    <a:close/>
                  </a:path>
                </a:pathLst>
              </a:custGeom>
              <a:noFill/>
              <a:ln w="12700" cap="flat">
                <a:solidFill>
                  <a:schemeClr val="bg1"/>
                </a:solidFill>
                <a:prstDash val="solid"/>
                <a:round/>
              </a:ln>
            </p:spPr>
            <p:txBody>
              <a:bodyPr rtlCol="0" anchor="ctr"/>
              <a:lstStyle/>
              <a:p>
                <a:endParaRPr lang="en-GB" sz="1600" dirty="0"/>
              </a:p>
            </p:txBody>
          </p:sp>
          <p:sp>
            <p:nvSpPr>
              <p:cNvPr id="110" name="Freeform: Shape 387">
                <a:extLst>
                  <a:ext uri="{FF2B5EF4-FFF2-40B4-BE49-F238E27FC236}">
                    <a16:creationId xmlns:a16="http://schemas.microsoft.com/office/drawing/2014/main" id="{B7369E5B-6603-420B-A5CC-57D303030A32}"/>
                  </a:ext>
                </a:extLst>
              </p:cNvPr>
              <p:cNvSpPr/>
              <p:nvPr/>
            </p:nvSpPr>
            <p:spPr>
              <a:xfrm>
                <a:off x="8772396" y="4191850"/>
                <a:ext cx="130279" cy="65140"/>
              </a:xfrm>
              <a:custGeom>
                <a:avLst/>
                <a:gdLst>
                  <a:gd name="connsiteX0" fmla="*/ 37130 w 130279"/>
                  <a:gd name="connsiteY0" fmla="*/ 76344 h 65139"/>
                  <a:gd name="connsiteX1" fmla="*/ 95886 w 130279"/>
                  <a:gd name="connsiteY1" fmla="*/ 76344 h 65139"/>
                  <a:gd name="connsiteX2" fmla="*/ 0 w 130279"/>
                  <a:gd name="connsiteY2" fmla="*/ 38172 h 65139"/>
                  <a:gd name="connsiteX3" fmla="*/ 133276 w 130279"/>
                  <a:gd name="connsiteY3" fmla="*/ 38172 h 65139"/>
                  <a:gd name="connsiteX4" fmla="*/ 0 w 130279"/>
                  <a:gd name="connsiteY4" fmla="*/ 0 h 65139"/>
                  <a:gd name="connsiteX5" fmla="*/ 133276 w 130279"/>
                  <a:gd name="connsiteY5" fmla="*/ 0 h 65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279" h="65139">
                    <a:moveTo>
                      <a:pt x="37130" y="76344"/>
                    </a:moveTo>
                    <a:lnTo>
                      <a:pt x="95886" y="76344"/>
                    </a:lnTo>
                    <a:moveTo>
                      <a:pt x="0" y="38172"/>
                    </a:moveTo>
                    <a:lnTo>
                      <a:pt x="133276" y="38172"/>
                    </a:lnTo>
                    <a:moveTo>
                      <a:pt x="0" y="0"/>
                    </a:moveTo>
                    <a:lnTo>
                      <a:pt x="133276" y="0"/>
                    </a:lnTo>
                  </a:path>
                </a:pathLst>
              </a:custGeom>
              <a:noFill/>
              <a:ln w="12700" cap="rnd">
                <a:solidFill>
                  <a:schemeClr val="bg1"/>
                </a:solidFill>
                <a:prstDash val="solid"/>
                <a:round/>
              </a:ln>
            </p:spPr>
            <p:txBody>
              <a:bodyPr rtlCol="0" anchor="ctr"/>
              <a:lstStyle/>
              <a:p>
                <a:endParaRPr lang="en-GB" sz="1600" dirty="0"/>
              </a:p>
            </p:txBody>
          </p:sp>
          <p:sp>
            <p:nvSpPr>
              <p:cNvPr id="111" name="Freeform: Shape 388">
                <a:extLst>
                  <a:ext uri="{FF2B5EF4-FFF2-40B4-BE49-F238E27FC236}">
                    <a16:creationId xmlns:a16="http://schemas.microsoft.com/office/drawing/2014/main" id="{EED8B283-AE2A-4420-A55D-CE08F273936F}"/>
                  </a:ext>
                </a:extLst>
              </p:cNvPr>
              <p:cNvSpPr/>
              <p:nvPr/>
            </p:nvSpPr>
            <p:spPr>
              <a:xfrm>
                <a:off x="8949710" y="3891299"/>
                <a:ext cx="221475" cy="325698"/>
              </a:xfrm>
              <a:custGeom>
                <a:avLst/>
                <a:gdLst>
                  <a:gd name="connsiteX0" fmla="*/ 3123 w 221474"/>
                  <a:gd name="connsiteY0" fmla="*/ 303027 h 325698"/>
                  <a:gd name="connsiteX1" fmla="*/ 257 w 221474"/>
                  <a:gd name="connsiteY1" fmla="*/ 317488 h 325698"/>
                  <a:gd name="connsiteX2" fmla="*/ 10940 w 221474"/>
                  <a:gd name="connsiteY2" fmla="*/ 333512 h 325698"/>
                  <a:gd name="connsiteX3" fmla="*/ 35302 w 221474"/>
                  <a:gd name="connsiteY3" fmla="*/ 338463 h 325698"/>
                  <a:gd name="connsiteX4" fmla="*/ 51327 w 221474"/>
                  <a:gd name="connsiteY4" fmla="*/ 327780 h 325698"/>
                  <a:gd name="connsiteX5" fmla="*/ 54193 w 221474"/>
                  <a:gd name="connsiteY5" fmla="*/ 313319 h 325698"/>
                  <a:gd name="connsiteX6" fmla="*/ 114121 w 221474"/>
                  <a:gd name="connsiteY6" fmla="*/ 301333 h 325698"/>
                  <a:gd name="connsiteX7" fmla="*/ 121678 w 221474"/>
                  <a:gd name="connsiteY7" fmla="*/ 312797 h 325698"/>
                  <a:gd name="connsiteX8" fmla="*/ 140438 w 221474"/>
                  <a:gd name="connsiteY8" fmla="*/ 316576 h 325698"/>
                  <a:gd name="connsiteX9" fmla="*/ 161283 w 221474"/>
                  <a:gd name="connsiteY9" fmla="*/ 302766 h 325698"/>
                  <a:gd name="connsiteX10" fmla="*/ 165061 w 221474"/>
                  <a:gd name="connsiteY10" fmla="*/ 284006 h 325698"/>
                  <a:gd name="connsiteX11" fmla="*/ 157244 w 221474"/>
                  <a:gd name="connsiteY11" fmla="*/ 272150 h 325698"/>
                  <a:gd name="connsiteX12" fmla="*/ 190205 w 221474"/>
                  <a:gd name="connsiteY12" fmla="*/ 222774 h 325698"/>
                  <a:gd name="connsiteX13" fmla="*/ 204796 w 221474"/>
                  <a:gd name="connsiteY13" fmla="*/ 225771 h 325698"/>
                  <a:gd name="connsiteX14" fmla="*/ 220690 w 221474"/>
                  <a:gd name="connsiteY14" fmla="*/ 215218 h 325698"/>
                  <a:gd name="connsiteX15" fmla="*/ 225641 w 221474"/>
                  <a:gd name="connsiteY15" fmla="*/ 190726 h 325698"/>
                  <a:gd name="connsiteX16" fmla="*/ 215088 w 221474"/>
                  <a:gd name="connsiteY16" fmla="*/ 174832 h 325698"/>
                  <a:gd name="connsiteX17" fmla="*/ 200497 w 221474"/>
                  <a:gd name="connsiteY17" fmla="*/ 171835 h 325698"/>
                  <a:gd name="connsiteX18" fmla="*/ 186036 w 221474"/>
                  <a:gd name="connsiteY18" fmla="*/ 106305 h 325698"/>
                  <a:gd name="connsiteX19" fmla="*/ 198282 w 221474"/>
                  <a:gd name="connsiteY19" fmla="*/ 98227 h 325698"/>
                  <a:gd name="connsiteX20" fmla="*/ 202060 w 221474"/>
                  <a:gd name="connsiteY20" fmla="*/ 79467 h 325698"/>
                  <a:gd name="connsiteX21" fmla="*/ 188381 w 221474"/>
                  <a:gd name="connsiteY21" fmla="*/ 58622 h 325698"/>
                  <a:gd name="connsiteX22" fmla="*/ 169620 w 221474"/>
                  <a:gd name="connsiteY22" fmla="*/ 54844 h 325698"/>
                  <a:gd name="connsiteX23" fmla="*/ 155420 w 221474"/>
                  <a:gd name="connsiteY23" fmla="*/ 64355 h 325698"/>
                  <a:gd name="connsiteX24" fmla="*/ 110474 w 221474"/>
                  <a:gd name="connsiteY24" fmla="*/ 35693 h 325698"/>
                  <a:gd name="connsiteX25" fmla="*/ 113340 w 221474"/>
                  <a:gd name="connsiteY25" fmla="*/ 21232 h 325698"/>
                  <a:gd name="connsiteX26" fmla="*/ 102657 w 221474"/>
                  <a:gd name="connsiteY26" fmla="*/ 5208 h 325698"/>
                  <a:gd name="connsiteX27" fmla="*/ 78295 w 221474"/>
                  <a:gd name="connsiteY27" fmla="*/ 257 h 325698"/>
                  <a:gd name="connsiteX28" fmla="*/ 62270 w 221474"/>
                  <a:gd name="connsiteY28" fmla="*/ 10940 h 325698"/>
                  <a:gd name="connsiteX29" fmla="*/ 59404 w 221474"/>
                  <a:gd name="connsiteY29" fmla="*/ 25401 h 325698"/>
                  <a:gd name="connsiteX30" fmla="*/ 50675 w 221474"/>
                  <a:gd name="connsiteY30" fmla="*/ 67872 h 325698"/>
                  <a:gd name="connsiteX31" fmla="*/ 76862 w 221474"/>
                  <a:gd name="connsiteY31" fmla="*/ 69696 h 325698"/>
                  <a:gd name="connsiteX32" fmla="*/ 156332 w 221474"/>
                  <a:gd name="connsiteY32" fmla="*/ 189553 h 325698"/>
                  <a:gd name="connsiteX33" fmla="*/ 36475 w 221474"/>
                  <a:gd name="connsiteY33" fmla="*/ 269154 h 325698"/>
                  <a:gd name="connsiteX34" fmla="*/ 11592 w 221474"/>
                  <a:gd name="connsiteY34" fmla="*/ 260686 h 32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1474" h="325698">
                    <a:moveTo>
                      <a:pt x="3123" y="303027"/>
                    </a:moveTo>
                    <a:lnTo>
                      <a:pt x="257" y="317488"/>
                    </a:lnTo>
                    <a:cubicBezTo>
                      <a:pt x="-1176" y="324783"/>
                      <a:pt x="3514" y="332079"/>
                      <a:pt x="10940" y="333512"/>
                    </a:cubicBezTo>
                    <a:lnTo>
                      <a:pt x="35302" y="338463"/>
                    </a:lnTo>
                    <a:cubicBezTo>
                      <a:pt x="42598" y="339896"/>
                      <a:pt x="49763" y="335206"/>
                      <a:pt x="51327" y="327780"/>
                    </a:cubicBezTo>
                    <a:lnTo>
                      <a:pt x="54193" y="313319"/>
                    </a:lnTo>
                    <a:cubicBezTo>
                      <a:pt x="75298" y="313709"/>
                      <a:pt x="95622" y="309541"/>
                      <a:pt x="114121" y="301333"/>
                    </a:cubicBezTo>
                    <a:lnTo>
                      <a:pt x="121678" y="312797"/>
                    </a:lnTo>
                    <a:cubicBezTo>
                      <a:pt x="125847" y="319051"/>
                      <a:pt x="134315" y="320745"/>
                      <a:pt x="140438" y="316576"/>
                    </a:cubicBezTo>
                    <a:lnTo>
                      <a:pt x="161283" y="302766"/>
                    </a:lnTo>
                    <a:cubicBezTo>
                      <a:pt x="167536" y="298597"/>
                      <a:pt x="169230" y="290259"/>
                      <a:pt x="165061" y="284006"/>
                    </a:cubicBezTo>
                    <a:lnTo>
                      <a:pt x="157244" y="272150"/>
                    </a:lnTo>
                    <a:cubicBezTo>
                      <a:pt x="171314" y="258471"/>
                      <a:pt x="182648" y="241795"/>
                      <a:pt x="190205" y="222774"/>
                    </a:cubicBezTo>
                    <a:lnTo>
                      <a:pt x="204796" y="225771"/>
                    </a:lnTo>
                    <a:cubicBezTo>
                      <a:pt x="212092" y="227204"/>
                      <a:pt x="219257" y="222514"/>
                      <a:pt x="220690" y="215218"/>
                    </a:cubicBezTo>
                    <a:lnTo>
                      <a:pt x="225641" y="190726"/>
                    </a:lnTo>
                    <a:cubicBezTo>
                      <a:pt x="227074" y="183430"/>
                      <a:pt x="222384" y="176265"/>
                      <a:pt x="215088" y="174832"/>
                    </a:cubicBezTo>
                    <a:lnTo>
                      <a:pt x="200497" y="171835"/>
                    </a:lnTo>
                    <a:cubicBezTo>
                      <a:pt x="201018" y="148776"/>
                      <a:pt x="195807" y="126368"/>
                      <a:pt x="186036" y="106305"/>
                    </a:cubicBezTo>
                    <a:lnTo>
                      <a:pt x="198282" y="98227"/>
                    </a:lnTo>
                    <a:cubicBezTo>
                      <a:pt x="204535" y="94058"/>
                      <a:pt x="206229" y="85721"/>
                      <a:pt x="202060" y="79467"/>
                    </a:cubicBezTo>
                    <a:lnTo>
                      <a:pt x="188381" y="58622"/>
                    </a:lnTo>
                    <a:cubicBezTo>
                      <a:pt x="184212" y="52369"/>
                      <a:pt x="175874" y="50675"/>
                      <a:pt x="169620" y="54844"/>
                    </a:cubicBezTo>
                    <a:lnTo>
                      <a:pt x="155420" y="64355"/>
                    </a:lnTo>
                    <a:cubicBezTo>
                      <a:pt x="142653" y="52369"/>
                      <a:pt x="127410" y="42468"/>
                      <a:pt x="110474" y="35693"/>
                    </a:cubicBezTo>
                    <a:lnTo>
                      <a:pt x="113340" y="21232"/>
                    </a:lnTo>
                    <a:cubicBezTo>
                      <a:pt x="114773" y="13937"/>
                      <a:pt x="110083" y="6771"/>
                      <a:pt x="102657" y="5208"/>
                    </a:cubicBezTo>
                    <a:lnTo>
                      <a:pt x="78295" y="257"/>
                    </a:lnTo>
                    <a:cubicBezTo>
                      <a:pt x="70999" y="-1176"/>
                      <a:pt x="63703" y="3514"/>
                      <a:pt x="62270" y="10940"/>
                    </a:cubicBezTo>
                    <a:lnTo>
                      <a:pt x="59404" y="25401"/>
                    </a:lnTo>
                    <a:moveTo>
                      <a:pt x="50675" y="67872"/>
                    </a:moveTo>
                    <a:cubicBezTo>
                      <a:pt x="59274" y="67351"/>
                      <a:pt x="68003" y="68003"/>
                      <a:pt x="76862" y="69696"/>
                    </a:cubicBezTo>
                    <a:cubicBezTo>
                      <a:pt x="131839" y="80770"/>
                      <a:pt x="167536" y="134575"/>
                      <a:pt x="156332" y="189553"/>
                    </a:cubicBezTo>
                    <a:cubicBezTo>
                      <a:pt x="145258" y="244531"/>
                      <a:pt x="91583" y="280228"/>
                      <a:pt x="36475" y="269154"/>
                    </a:cubicBezTo>
                    <a:cubicBezTo>
                      <a:pt x="27616" y="267330"/>
                      <a:pt x="19278" y="264464"/>
                      <a:pt x="11592" y="260686"/>
                    </a:cubicBezTo>
                  </a:path>
                </a:pathLst>
              </a:custGeom>
              <a:noFill/>
              <a:ln w="12700" cap="rnd">
                <a:solidFill>
                  <a:schemeClr val="bg1"/>
                </a:solidFill>
                <a:prstDash val="solid"/>
                <a:miter/>
              </a:ln>
            </p:spPr>
            <p:txBody>
              <a:bodyPr rtlCol="0" anchor="ctr"/>
              <a:lstStyle/>
              <a:p>
                <a:endParaRPr lang="en-GB" sz="1600" dirty="0"/>
              </a:p>
            </p:txBody>
          </p:sp>
        </p:grpSp>
      </p:grpSp>
      <p:grpSp>
        <p:nvGrpSpPr>
          <p:cNvPr id="34" name="Group 33">
            <a:extLst>
              <a:ext uri="{FF2B5EF4-FFF2-40B4-BE49-F238E27FC236}">
                <a16:creationId xmlns:a16="http://schemas.microsoft.com/office/drawing/2014/main" id="{7D0AA2F7-6DDB-4031-A4C3-C3D502672503}"/>
              </a:ext>
              <a:ext uri="{C183D7F6-B498-43B3-948B-1728B52AA6E4}">
                <adec:decorative xmlns:adec="http://schemas.microsoft.com/office/drawing/2017/decorative" val="1"/>
              </a:ext>
            </a:extLst>
          </p:cNvPr>
          <p:cNvGrpSpPr/>
          <p:nvPr userDrawn="1"/>
        </p:nvGrpSpPr>
        <p:grpSpPr>
          <a:xfrm>
            <a:off x="670282" y="3265284"/>
            <a:ext cx="792000" cy="792000"/>
            <a:chOff x="616942" y="2848838"/>
            <a:chExt cx="792000" cy="792000"/>
          </a:xfrm>
        </p:grpSpPr>
        <p:sp>
          <p:nvSpPr>
            <p:cNvPr id="115" name="Oval 114">
              <a:extLst>
                <a:ext uri="{FF2B5EF4-FFF2-40B4-BE49-F238E27FC236}">
                  <a16:creationId xmlns:a16="http://schemas.microsoft.com/office/drawing/2014/main" id="{1340CE55-4C83-4D57-90DE-977624D123E3}"/>
                </a:ext>
              </a:extLst>
            </p:cNvPr>
            <p:cNvSpPr/>
            <p:nvPr userDrawn="1"/>
          </p:nvSpPr>
          <p:spPr>
            <a:xfrm>
              <a:off x="616942" y="2848838"/>
              <a:ext cx="792000" cy="792000"/>
            </a:xfrm>
            <a:prstGeom prst="ellipse">
              <a:avLst/>
            </a:prstGeom>
            <a:solidFill>
              <a:srgbClr val="8C16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18" name="Group 117">
              <a:extLst>
                <a:ext uri="{FF2B5EF4-FFF2-40B4-BE49-F238E27FC236}">
                  <a16:creationId xmlns:a16="http://schemas.microsoft.com/office/drawing/2014/main" id="{1FD81101-42E1-4D92-8A4E-E9CBF9A3F5C1}"/>
                </a:ext>
              </a:extLst>
            </p:cNvPr>
            <p:cNvGrpSpPr>
              <a:grpSpLocks noChangeAspect="1"/>
            </p:cNvGrpSpPr>
            <p:nvPr userDrawn="1"/>
          </p:nvGrpSpPr>
          <p:grpSpPr>
            <a:xfrm>
              <a:off x="861436" y="2993589"/>
              <a:ext cx="303012" cy="502498"/>
              <a:chOff x="7330925" y="1169779"/>
              <a:chExt cx="343825" cy="570179"/>
            </a:xfrm>
          </p:grpSpPr>
          <p:sp>
            <p:nvSpPr>
              <p:cNvPr id="119" name="Freeform: Shape 182">
                <a:extLst>
                  <a:ext uri="{FF2B5EF4-FFF2-40B4-BE49-F238E27FC236}">
                    <a16:creationId xmlns:a16="http://schemas.microsoft.com/office/drawing/2014/main" id="{AC4F1B74-327D-4A41-8276-384CC303061D}"/>
                  </a:ext>
                </a:extLst>
              </p:cNvPr>
              <p:cNvSpPr/>
              <p:nvPr/>
            </p:nvSpPr>
            <p:spPr>
              <a:xfrm>
                <a:off x="7361324" y="1169779"/>
                <a:ext cx="313426" cy="261189"/>
              </a:xfrm>
              <a:custGeom>
                <a:avLst/>
                <a:gdLst>
                  <a:gd name="connsiteX0" fmla="*/ 198428 w 228600"/>
                  <a:gd name="connsiteY0" fmla="*/ 198409 h 190500"/>
                  <a:gd name="connsiteX1" fmla="*/ 232432 w 228600"/>
                  <a:gd name="connsiteY1" fmla="*/ 116209 h 190500"/>
                  <a:gd name="connsiteX2" fmla="*/ 198428 w 228600"/>
                  <a:gd name="connsiteY2" fmla="*/ 34008 h 190500"/>
                  <a:gd name="connsiteX3" fmla="*/ 188045 w 228600"/>
                  <a:gd name="connsiteY3" fmla="*/ 24769 h 190500"/>
                  <a:gd name="connsiteX4" fmla="*/ 64506 w 228600"/>
                  <a:gd name="connsiteY4" fmla="*/ 12100 h 190500"/>
                  <a:gd name="connsiteX5" fmla="*/ 61554 w 228600"/>
                  <a:gd name="connsiteY5" fmla="*/ 13624 h 190500"/>
                  <a:gd name="connsiteX6" fmla="*/ 34026 w 228600"/>
                  <a:gd name="connsiteY6" fmla="*/ 34008 h 190500"/>
                  <a:gd name="connsiteX7" fmla="*/ 593 w 228600"/>
                  <a:gd name="connsiteY7" fmla="*/ 104493 h 190500"/>
                  <a:gd name="connsiteX8" fmla="*/ 18501 w 228600"/>
                  <a:gd name="connsiteY8" fmla="*/ 179169 h 190500"/>
                  <a:gd name="connsiteX9" fmla="*/ 34026 w 228600"/>
                  <a:gd name="connsiteY9" fmla="*/ 19840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600" h="190500">
                    <a:moveTo>
                      <a:pt x="198428" y="198409"/>
                    </a:moveTo>
                    <a:cubicBezTo>
                      <a:pt x="220335" y="176407"/>
                      <a:pt x="232432" y="147260"/>
                      <a:pt x="232432" y="116209"/>
                    </a:cubicBezTo>
                    <a:cubicBezTo>
                      <a:pt x="232432" y="85157"/>
                      <a:pt x="220335" y="56011"/>
                      <a:pt x="198428" y="34008"/>
                    </a:cubicBezTo>
                    <a:cubicBezTo>
                      <a:pt x="195189" y="30769"/>
                      <a:pt x="191665" y="27626"/>
                      <a:pt x="188045" y="24769"/>
                    </a:cubicBezTo>
                    <a:cubicBezTo>
                      <a:pt x="152993" y="-2854"/>
                      <a:pt x="104511" y="-7807"/>
                      <a:pt x="64506" y="12100"/>
                    </a:cubicBezTo>
                    <a:cubicBezTo>
                      <a:pt x="64030" y="12386"/>
                      <a:pt x="62125" y="13339"/>
                      <a:pt x="61554" y="13624"/>
                    </a:cubicBezTo>
                    <a:cubicBezTo>
                      <a:pt x="51457" y="19054"/>
                      <a:pt x="42218" y="25912"/>
                      <a:pt x="34026" y="34008"/>
                    </a:cubicBezTo>
                    <a:cubicBezTo>
                      <a:pt x="15167" y="52867"/>
                      <a:pt x="3261" y="77918"/>
                      <a:pt x="593" y="104493"/>
                    </a:cubicBezTo>
                    <a:cubicBezTo>
                      <a:pt x="-2073" y="130687"/>
                      <a:pt x="4308" y="157166"/>
                      <a:pt x="18501" y="179169"/>
                    </a:cubicBezTo>
                    <a:cubicBezTo>
                      <a:pt x="22977" y="186122"/>
                      <a:pt x="28216" y="192599"/>
                      <a:pt x="34026" y="198409"/>
                    </a:cubicBezTo>
                  </a:path>
                </a:pathLst>
              </a:custGeom>
              <a:noFill/>
              <a:ln w="12700" cap="rnd">
                <a:solidFill>
                  <a:schemeClr val="bg1"/>
                </a:solidFill>
                <a:prstDash val="solid"/>
                <a:miter/>
              </a:ln>
            </p:spPr>
            <p:txBody>
              <a:bodyPr rtlCol="0" anchor="ctr"/>
              <a:lstStyle/>
              <a:p>
                <a:endParaRPr lang="en-GB" sz="1600" dirty="0"/>
              </a:p>
            </p:txBody>
          </p:sp>
          <p:sp>
            <p:nvSpPr>
              <p:cNvPr id="120" name="Freeform: Shape 183">
                <a:extLst>
                  <a:ext uri="{FF2B5EF4-FFF2-40B4-BE49-F238E27FC236}">
                    <a16:creationId xmlns:a16="http://schemas.microsoft.com/office/drawing/2014/main" id="{EA8CD80B-EF0F-4850-92A3-318DE2C4D6BB}"/>
                  </a:ext>
                </a:extLst>
              </p:cNvPr>
              <p:cNvSpPr/>
              <p:nvPr/>
            </p:nvSpPr>
            <p:spPr>
              <a:xfrm>
                <a:off x="7420031" y="1228656"/>
                <a:ext cx="195891" cy="169773"/>
              </a:xfrm>
              <a:custGeom>
                <a:avLst/>
                <a:gdLst>
                  <a:gd name="connsiteX0" fmla="*/ 125320 w 142875"/>
                  <a:gd name="connsiteY0" fmla="*/ 125272 h 123825"/>
                  <a:gd name="connsiteX1" fmla="*/ 125320 w 142875"/>
                  <a:gd name="connsiteY1" fmla="*/ 21449 h 123825"/>
                  <a:gd name="connsiteX2" fmla="*/ 118748 w 142875"/>
                  <a:gd name="connsiteY2" fmla="*/ 15639 h 123825"/>
                  <a:gd name="connsiteX3" fmla="*/ 40643 w 142875"/>
                  <a:gd name="connsiteY3" fmla="*/ 7638 h 123825"/>
                  <a:gd name="connsiteX4" fmla="*/ 38833 w 142875"/>
                  <a:gd name="connsiteY4" fmla="*/ 8590 h 123825"/>
                  <a:gd name="connsiteX5" fmla="*/ 21497 w 142875"/>
                  <a:gd name="connsiteY5" fmla="*/ 21449 h 123825"/>
                  <a:gd name="connsiteX6" fmla="*/ 352 w 142875"/>
                  <a:gd name="connsiteY6" fmla="*/ 66026 h 123825"/>
                  <a:gd name="connsiteX7" fmla="*/ 11686 w 142875"/>
                  <a:gd name="connsiteY7" fmla="*/ 113175 h 123825"/>
                  <a:gd name="connsiteX8" fmla="*/ 21497 w 142875"/>
                  <a:gd name="connsiteY8" fmla="*/ 125367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75" h="123825">
                    <a:moveTo>
                      <a:pt x="125320" y="125272"/>
                    </a:moveTo>
                    <a:cubicBezTo>
                      <a:pt x="153990" y="96601"/>
                      <a:pt x="153990" y="50024"/>
                      <a:pt x="125320" y="21449"/>
                    </a:cubicBezTo>
                    <a:cubicBezTo>
                      <a:pt x="123224" y="19354"/>
                      <a:pt x="121034" y="17449"/>
                      <a:pt x="118748" y="15639"/>
                    </a:cubicBezTo>
                    <a:cubicBezTo>
                      <a:pt x="96554" y="-1792"/>
                      <a:pt x="65979" y="-4935"/>
                      <a:pt x="40643" y="7638"/>
                    </a:cubicBezTo>
                    <a:lnTo>
                      <a:pt x="38833" y="8590"/>
                    </a:lnTo>
                    <a:cubicBezTo>
                      <a:pt x="32451" y="12019"/>
                      <a:pt x="26641" y="16306"/>
                      <a:pt x="21497" y="21449"/>
                    </a:cubicBezTo>
                    <a:cubicBezTo>
                      <a:pt x="9591" y="33355"/>
                      <a:pt x="2067" y="49167"/>
                      <a:pt x="352" y="66026"/>
                    </a:cubicBezTo>
                    <a:cubicBezTo>
                      <a:pt x="-1268" y="82600"/>
                      <a:pt x="2733" y="99364"/>
                      <a:pt x="11686" y="113175"/>
                    </a:cubicBezTo>
                    <a:cubicBezTo>
                      <a:pt x="14544" y="117556"/>
                      <a:pt x="17782" y="121652"/>
                      <a:pt x="21497" y="125367"/>
                    </a:cubicBezTo>
                  </a:path>
                </a:pathLst>
              </a:custGeom>
              <a:noFill/>
              <a:ln w="12700" cap="rnd">
                <a:solidFill>
                  <a:schemeClr val="bg1"/>
                </a:solidFill>
                <a:prstDash val="solid"/>
                <a:miter/>
              </a:ln>
            </p:spPr>
            <p:txBody>
              <a:bodyPr rtlCol="0" anchor="ctr"/>
              <a:lstStyle/>
              <a:p>
                <a:endParaRPr lang="en-GB" sz="1600" dirty="0"/>
              </a:p>
            </p:txBody>
          </p:sp>
          <p:sp>
            <p:nvSpPr>
              <p:cNvPr id="121" name="Freeform: Shape 184">
                <a:extLst>
                  <a:ext uri="{FF2B5EF4-FFF2-40B4-BE49-F238E27FC236}">
                    <a16:creationId xmlns:a16="http://schemas.microsoft.com/office/drawing/2014/main" id="{008D7E01-2A10-4071-A764-D0B601637CE0}"/>
                  </a:ext>
                </a:extLst>
              </p:cNvPr>
              <p:cNvSpPr/>
              <p:nvPr/>
            </p:nvSpPr>
            <p:spPr>
              <a:xfrm>
                <a:off x="7330925" y="1335116"/>
                <a:ext cx="274248" cy="404842"/>
              </a:xfrm>
              <a:custGeom>
                <a:avLst/>
                <a:gdLst>
                  <a:gd name="connsiteX0" fmla="*/ 133445 w 200025"/>
                  <a:gd name="connsiteY0" fmla="*/ 297371 h 295275"/>
                  <a:gd name="connsiteX1" fmla="*/ 44863 w 200025"/>
                  <a:gd name="connsiteY1" fmla="*/ 297371 h 295275"/>
                  <a:gd name="connsiteX2" fmla="*/ 286 w 200025"/>
                  <a:gd name="connsiteY2" fmla="*/ 252889 h 295275"/>
                  <a:gd name="connsiteX3" fmla="*/ 0 w 200025"/>
                  <a:gd name="connsiteY3" fmla="*/ 125540 h 295275"/>
                  <a:gd name="connsiteX4" fmla="*/ 23908 w 200025"/>
                  <a:gd name="connsiteY4" fmla="*/ 98870 h 295275"/>
                  <a:gd name="connsiteX5" fmla="*/ 24289 w 200025"/>
                  <a:gd name="connsiteY5" fmla="*/ 98870 h 295275"/>
                  <a:gd name="connsiteX6" fmla="*/ 42672 w 200025"/>
                  <a:gd name="connsiteY6" fmla="*/ 105346 h 295275"/>
                  <a:gd name="connsiteX7" fmla="*/ 61817 w 200025"/>
                  <a:gd name="connsiteY7" fmla="*/ 97917 h 295275"/>
                  <a:gd name="connsiteX8" fmla="*/ 81439 w 200025"/>
                  <a:gd name="connsiteY8" fmla="*/ 105537 h 295275"/>
                  <a:gd name="connsiteX9" fmla="*/ 100394 w 200025"/>
                  <a:gd name="connsiteY9" fmla="*/ 97917 h 295275"/>
                  <a:gd name="connsiteX10" fmla="*/ 113538 w 200025"/>
                  <a:gd name="connsiteY10" fmla="*/ 100870 h 295275"/>
                  <a:gd name="connsiteX11" fmla="*/ 113538 w 200025"/>
                  <a:gd name="connsiteY11" fmla="*/ 27718 h 295275"/>
                  <a:gd name="connsiteX12" fmla="*/ 138208 w 200025"/>
                  <a:gd name="connsiteY12" fmla="*/ 0 h 295275"/>
                  <a:gd name="connsiteX13" fmla="*/ 155448 w 200025"/>
                  <a:gd name="connsiteY13" fmla="*/ 6382 h 295275"/>
                  <a:gd name="connsiteX14" fmla="*/ 162496 w 200025"/>
                  <a:gd name="connsiteY14" fmla="*/ 27527 h 295275"/>
                  <a:gd name="connsiteX15" fmla="*/ 162496 w 200025"/>
                  <a:gd name="connsiteY15" fmla="*/ 27813 h 295275"/>
                  <a:gd name="connsiteX16" fmla="*/ 162496 w 200025"/>
                  <a:gd name="connsiteY16" fmla="*/ 132683 h 295275"/>
                  <a:gd name="connsiteX17" fmla="*/ 175832 w 200025"/>
                  <a:gd name="connsiteY17" fmla="*/ 129159 h 295275"/>
                  <a:gd name="connsiteX18" fmla="*/ 193263 w 200025"/>
                  <a:gd name="connsiteY18" fmla="*/ 135731 h 295275"/>
                  <a:gd name="connsiteX19" fmla="*/ 200311 w 200025"/>
                  <a:gd name="connsiteY19" fmla="*/ 156591 h 295275"/>
                  <a:gd name="connsiteX20" fmla="*/ 200311 w 200025"/>
                  <a:gd name="connsiteY20" fmla="*/ 156782 h 295275"/>
                  <a:gd name="connsiteX21" fmla="*/ 200120 w 200025"/>
                  <a:gd name="connsiteY21" fmla="*/ 158210 h 295275"/>
                  <a:gd name="connsiteX22" fmla="*/ 170022 w 200025"/>
                  <a:gd name="connsiteY22" fmla="*/ 269462 h 295275"/>
                  <a:gd name="connsiteX23" fmla="*/ 133445 w 200025"/>
                  <a:gd name="connsiteY23" fmla="*/ 297371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0025" h="295275">
                    <a:moveTo>
                      <a:pt x="133445" y="297371"/>
                    </a:moveTo>
                    <a:lnTo>
                      <a:pt x="44863" y="297371"/>
                    </a:lnTo>
                    <a:cubicBezTo>
                      <a:pt x="20384" y="297371"/>
                      <a:pt x="381" y="277463"/>
                      <a:pt x="286" y="252889"/>
                    </a:cubicBezTo>
                    <a:lnTo>
                      <a:pt x="0" y="125540"/>
                    </a:lnTo>
                    <a:cubicBezTo>
                      <a:pt x="0" y="108966"/>
                      <a:pt x="8858" y="98965"/>
                      <a:pt x="23908" y="98870"/>
                    </a:cubicBezTo>
                    <a:lnTo>
                      <a:pt x="24289" y="98870"/>
                    </a:lnTo>
                    <a:cubicBezTo>
                      <a:pt x="33242" y="98870"/>
                      <a:pt x="38958" y="101727"/>
                      <a:pt x="42672" y="105346"/>
                    </a:cubicBezTo>
                    <a:cubicBezTo>
                      <a:pt x="46863" y="100584"/>
                      <a:pt x="53436" y="97917"/>
                      <a:pt x="61817" y="97917"/>
                    </a:cubicBezTo>
                    <a:cubicBezTo>
                      <a:pt x="70390" y="97917"/>
                      <a:pt x="77058" y="100584"/>
                      <a:pt x="81439" y="105537"/>
                    </a:cubicBezTo>
                    <a:cubicBezTo>
                      <a:pt x="85725" y="100584"/>
                      <a:pt x="92202" y="97917"/>
                      <a:pt x="100394" y="97917"/>
                    </a:cubicBezTo>
                    <a:cubicBezTo>
                      <a:pt x="105442" y="97917"/>
                      <a:pt x="109919" y="98965"/>
                      <a:pt x="113538" y="100870"/>
                    </a:cubicBezTo>
                    <a:lnTo>
                      <a:pt x="113538" y="27718"/>
                    </a:lnTo>
                    <a:cubicBezTo>
                      <a:pt x="113538" y="2667"/>
                      <a:pt x="130779" y="0"/>
                      <a:pt x="138208" y="0"/>
                    </a:cubicBezTo>
                    <a:cubicBezTo>
                      <a:pt x="145447" y="0"/>
                      <a:pt x="151257" y="2096"/>
                      <a:pt x="155448" y="6382"/>
                    </a:cubicBezTo>
                    <a:cubicBezTo>
                      <a:pt x="162496" y="13430"/>
                      <a:pt x="162496" y="24003"/>
                      <a:pt x="162496" y="27527"/>
                    </a:cubicBezTo>
                    <a:lnTo>
                      <a:pt x="162496" y="27813"/>
                    </a:lnTo>
                    <a:lnTo>
                      <a:pt x="162496" y="132683"/>
                    </a:lnTo>
                    <a:cubicBezTo>
                      <a:pt x="165831" y="130493"/>
                      <a:pt x="170212" y="129159"/>
                      <a:pt x="175832" y="129159"/>
                    </a:cubicBezTo>
                    <a:cubicBezTo>
                      <a:pt x="183071" y="129159"/>
                      <a:pt x="188976" y="131350"/>
                      <a:pt x="193263" y="135731"/>
                    </a:cubicBezTo>
                    <a:cubicBezTo>
                      <a:pt x="196596" y="139065"/>
                      <a:pt x="200501" y="145447"/>
                      <a:pt x="200311" y="156591"/>
                    </a:cubicBezTo>
                    <a:lnTo>
                      <a:pt x="200311" y="156782"/>
                    </a:lnTo>
                    <a:cubicBezTo>
                      <a:pt x="200311" y="157258"/>
                      <a:pt x="200216" y="157734"/>
                      <a:pt x="200120" y="158210"/>
                    </a:cubicBezTo>
                    <a:lnTo>
                      <a:pt x="170022" y="269462"/>
                    </a:lnTo>
                    <a:cubicBezTo>
                      <a:pt x="165545" y="285845"/>
                      <a:pt x="150495" y="297371"/>
                      <a:pt x="133445" y="297371"/>
                    </a:cubicBezTo>
                    <a:close/>
                  </a:path>
                </a:pathLst>
              </a:custGeom>
              <a:noFill/>
              <a:ln w="12700" cap="rnd">
                <a:solidFill>
                  <a:schemeClr val="bg1"/>
                </a:solidFill>
                <a:prstDash val="solid"/>
                <a:round/>
              </a:ln>
            </p:spPr>
            <p:txBody>
              <a:bodyPr rtlCol="0" anchor="ctr"/>
              <a:lstStyle/>
              <a:p>
                <a:endParaRPr lang="en-GB" sz="1600" dirty="0"/>
              </a:p>
            </p:txBody>
          </p:sp>
          <p:sp>
            <p:nvSpPr>
              <p:cNvPr id="122" name="Freeform: Shape 185">
                <a:extLst>
                  <a:ext uri="{FF2B5EF4-FFF2-40B4-BE49-F238E27FC236}">
                    <a16:creationId xmlns:a16="http://schemas.microsoft.com/office/drawing/2014/main" id="{FEAD5D74-EF72-4EB1-A8BC-5746692CA725}"/>
                  </a:ext>
                </a:extLst>
              </p:cNvPr>
              <p:cNvSpPr/>
              <p:nvPr/>
            </p:nvSpPr>
            <p:spPr>
              <a:xfrm>
                <a:off x="7482208" y="1290305"/>
                <a:ext cx="65297" cy="52238"/>
              </a:xfrm>
              <a:custGeom>
                <a:avLst/>
                <a:gdLst>
                  <a:gd name="connsiteX0" fmla="*/ 5293 w 47625"/>
                  <a:gd name="connsiteY0" fmla="*/ 44874 h 38100"/>
                  <a:gd name="connsiteX1" fmla="*/ 7294 w 47625"/>
                  <a:gd name="connsiteY1" fmla="*/ 9346 h 38100"/>
                  <a:gd name="connsiteX2" fmla="*/ 13771 w 47625"/>
                  <a:gd name="connsiteY2" fmla="*/ 4012 h 38100"/>
                  <a:gd name="connsiteX3" fmla="*/ 14438 w 47625"/>
                  <a:gd name="connsiteY3" fmla="*/ 3631 h 38100"/>
                  <a:gd name="connsiteX4" fmla="*/ 44727 w 47625"/>
                  <a:gd name="connsiteY4" fmla="*/ 5155 h 38100"/>
                  <a:gd name="connsiteX5" fmla="*/ 47394 w 47625"/>
                  <a:gd name="connsiteY5" fmla="*/ 7251 h 38100"/>
                  <a:gd name="connsiteX6" fmla="*/ 51204 w 47625"/>
                  <a:gd name="connsiteY6" fmla="*/ 4506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625" h="38100">
                    <a:moveTo>
                      <a:pt x="5293" y="44874"/>
                    </a:moveTo>
                    <a:cubicBezTo>
                      <a:pt x="-2422" y="34111"/>
                      <a:pt x="-1660" y="19157"/>
                      <a:pt x="7294" y="9346"/>
                    </a:cubicBezTo>
                    <a:cubicBezTo>
                      <a:pt x="9198" y="7251"/>
                      <a:pt x="11390" y="5441"/>
                      <a:pt x="13771" y="4012"/>
                    </a:cubicBezTo>
                    <a:lnTo>
                      <a:pt x="14438" y="3631"/>
                    </a:lnTo>
                    <a:cubicBezTo>
                      <a:pt x="23963" y="-1703"/>
                      <a:pt x="35869" y="-1131"/>
                      <a:pt x="44727" y="5155"/>
                    </a:cubicBezTo>
                    <a:cubicBezTo>
                      <a:pt x="45679" y="5822"/>
                      <a:pt x="46537" y="6489"/>
                      <a:pt x="47394" y="7251"/>
                    </a:cubicBezTo>
                    <a:cubicBezTo>
                      <a:pt x="58252" y="17061"/>
                      <a:pt x="59872" y="33349"/>
                      <a:pt x="51204" y="45065"/>
                    </a:cubicBezTo>
                  </a:path>
                </a:pathLst>
              </a:custGeom>
              <a:noFill/>
              <a:ln w="12700" cap="rnd">
                <a:solidFill>
                  <a:schemeClr val="bg1"/>
                </a:solidFill>
                <a:prstDash val="solid"/>
                <a:miter/>
              </a:ln>
            </p:spPr>
            <p:txBody>
              <a:bodyPr rtlCol="0" anchor="ctr"/>
              <a:lstStyle/>
              <a:p>
                <a:endParaRPr lang="en-GB" sz="1600" dirty="0"/>
              </a:p>
            </p:txBody>
          </p:sp>
        </p:grpSp>
      </p:grpSp>
      <p:grpSp>
        <p:nvGrpSpPr>
          <p:cNvPr id="125" name="Group 124">
            <a:extLst>
              <a:ext uri="{FF2B5EF4-FFF2-40B4-BE49-F238E27FC236}">
                <a16:creationId xmlns:a16="http://schemas.microsoft.com/office/drawing/2014/main" id="{8A4DD028-AF64-46FF-A4C0-78ADE2C6CE4E}"/>
              </a:ext>
              <a:ext uri="{C183D7F6-B498-43B3-948B-1728B52AA6E4}">
                <adec:decorative xmlns:adec="http://schemas.microsoft.com/office/drawing/2017/decorative" val="1"/>
              </a:ext>
            </a:extLst>
          </p:cNvPr>
          <p:cNvGrpSpPr/>
          <p:nvPr userDrawn="1"/>
        </p:nvGrpSpPr>
        <p:grpSpPr>
          <a:xfrm>
            <a:off x="6610110" y="3477486"/>
            <a:ext cx="367596" cy="367596"/>
            <a:chOff x="6151532" y="1261203"/>
            <a:chExt cx="481497" cy="481497"/>
          </a:xfrm>
        </p:grpSpPr>
        <p:sp>
          <p:nvSpPr>
            <p:cNvPr id="126" name="Freeform: Shape 156">
              <a:extLst>
                <a:ext uri="{FF2B5EF4-FFF2-40B4-BE49-F238E27FC236}">
                  <a16:creationId xmlns:a16="http://schemas.microsoft.com/office/drawing/2014/main" id="{B14935AF-A952-4229-8E8D-9921A72123EF}"/>
                </a:ext>
              </a:extLst>
            </p:cNvPr>
            <p:cNvSpPr/>
            <p:nvPr/>
          </p:nvSpPr>
          <p:spPr>
            <a:xfrm>
              <a:off x="6162237" y="1271778"/>
              <a:ext cx="457080" cy="457080"/>
            </a:xfrm>
            <a:custGeom>
              <a:avLst/>
              <a:gdLst>
                <a:gd name="connsiteX0" fmla="*/ 112871 w 333375"/>
                <a:gd name="connsiteY0" fmla="*/ 204883 h 333375"/>
                <a:gd name="connsiteX1" fmla="*/ 106871 w 333375"/>
                <a:gd name="connsiteY1" fmla="*/ 198882 h 333375"/>
                <a:gd name="connsiteX2" fmla="*/ 305753 w 333375"/>
                <a:gd name="connsiteY2" fmla="*/ 0 h 333375"/>
                <a:gd name="connsiteX3" fmla="*/ 341947 w 333375"/>
                <a:gd name="connsiteY3" fmla="*/ 36290 h 333375"/>
                <a:gd name="connsiteX4" fmla="*/ 143066 w 333375"/>
                <a:gd name="connsiteY4" fmla="*/ 235172 h 333375"/>
                <a:gd name="connsiteX5" fmla="*/ 137160 w 333375"/>
                <a:gd name="connsiteY5" fmla="*/ 229267 h 333375"/>
                <a:gd name="connsiteX6" fmla="*/ 92393 w 333375"/>
                <a:gd name="connsiteY6" fmla="*/ 274034 h 333375"/>
                <a:gd name="connsiteX7" fmla="*/ 74771 w 333375"/>
                <a:gd name="connsiteY7" fmla="*/ 307181 h 333375"/>
                <a:gd name="connsiteX8" fmla="*/ 24289 w 333375"/>
                <a:gd name="connsiteY8" fmla="*/ 342043 h 333375"/>
                <a:gd name="connsiteX9" fmla="*/ 0 w 333375"/>
                <a:gd name="connsiteY9" fmla="*/ 317754 h 333375"/>
                <a:gd name="connsiteX10" fmla="*/ 34862 w 333375"/>
                <a:gd name="connsiteY10" fmla="*/ 267272 h 333375"/>
                <a:gd name="connsiteX11" fmla="*/ 68009 w 333375"/>
                <a:gd name="connsiteY11" fmla="*/ 249746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3375" h="333375">
                  <a:moveTo>
                    <a:pt x="112871" y="204883"/>
                  </a:moveTo>
                  <a:lnTo>
                    <a:pt x="106871" y="198882"/>
                  </a:lnTo>
                  <a:lnTo>
                    <a:pt x="305753" y="0"/>
                  </a:lnTo>
                  <a:lnTo>
                    <a:pt x="341947" y="36290"/>
                  </a:lnTo>
                  <a:lnTo>
                    <a:pt x="143066" y="235172"/>
                  </a:lnTo>
                  <a:lnTo>
                    <a:pt x="137160" y="229267"/>
                  </a:lnTo>
                  <a:lnTo>
                    <a:pt x="92393" y="274034"/>
                  </a:lnTo>
                  <a:lnTo>
                    <a:pt x="74771" y="307181"/>
                  </a:lnTo>
                  <a:lnTo>
                    <a:pt x="24289" y="342043"/>
                  </a:lnTo>
                  <a:lnTo>
                    <a:pt x="0" y="317754"/>
                  </a:lnTo>
                  <a:lnTo>
                    <a:pt x="34862" y="267272"/>
                  </a:lnTo>
                  <a:lnTo>
                    <a:pt x="68009" y="249746"/>
                  </a:lnTo>
                  <a:close/>
                </a:path>
              </a:pathLst>
            </a:custGeom>
            <a:noFill/>
            <a:ln w="12700" cap="rnd">
              <a:solidFill>
                <a:schemeClr val="bg1"/>
              </a:solidFill>
              <a:prstDash val="solid"/>
              <a:round/>
            </a:ln>
          </p:spPr>
          <p:txBody>
            <a:bodyPr rtlCol="0" anchor="ctr"/>
            <a:lstStyle/>
            <a:p>
              <a:endParaRPr lang="en-GB" sz="1600" dirty="0"/>
            </a:p>
          </p:txBody>
        </p:sp>
        <p:sp>
          <p:nvSpPr>
            <p:cNvPr id="127" name="Freeform: Shape 158">
              <a:extLst>
                <a:ext uri="{FF2B5EF4-FFF2-40B4-BE49-F238E27FC236}">
                  <a16:creationId xmlns:a16="http://schemas.microsoft.com/office/drawing/2014/main" id="{ED04FF3C-58F1-48F1-9933-722FD9FF1821}"/>
                </a:ext>
              </a:extLst>
            </p:cNvPr>
            <p:cNvSpPr/>
            <p:nvPr/>
          </p:nvSpPr>
          <p:spPr>
            <a:xfrm>
              <a:off x="6397959" y="1507630"/>
              <a:ext cx="235070" cy="235070"/>
            </a:xfrm>
            <a:custGeom>
              <a:avLst/>
              <a:gdLst>
                <a:gd name="connsiteX0" fmla="*/ 36290 w 171450"/>
                <a:gd name="connsiteY0" fmla="*/ 0 h 171450"/>
                <a:gd name="connsiteX1" fmla="*/ 177832 w 171450"/>
                <a:gd name="connsiteY1" fmla="*/ 141542 h 171450"/>
                <a:gd name="connsiteX2" fmla="*/ 141541 w 171450"/>
                <a:gd name="connsiteY2" fmla="*/ 177832 h 171450"/>
                <a:gd name="connsiteX3" fmla="*/ 0 w 171450"/>
                <a:gd name="connsiteY3" fmla="*/ 36290 h 171450"/>
              </a:gdLst>
              <a:ahLst/>
              <a:cxnLst>
                <a:cxn ang="0">
                  <a:pos x="connsiteX0" y="connsiteY0"/>
                </a:cxn>
                <a:cxn ang="0">
                  <a:pos x="connsiteX1" y="connsiteY1"/>
                </a:cxn>
                <a:cxn ang="0">
                  <a:pos x="connsiteX2" y="connsiteY2"/>
                </a:cxn>
                <a:cxn ang="0">
                  <a:pos x="connsiteX3" y="connsiteY3"/>
                </a:cxn>
              </a:cxnLst>
              <a:rect l="l" t="t" r="r" b="b"/>
              <a:pathLst>
                <a:path w="171450" h="171450">
                  <a:moveTo>
                    <a:pt x="36290" y="0"/>
                  </a:moveTo>
                  <a:lnTo>
                    <a:pt x="177832" y="141542"/>
                  </a:lnTo>
                  <a:lnTo>
                    <a:pt x="141541" y="177832"/>
                  </a:lnTo>
                  <a:lnTo>
                    <a:pt x="0" y="36290"/>
                  </a:lnTo>
                </a:path>
              </a:pathLst>
            </a:custGeom>
            <a:noFill/>
            <a:ln w="12700" cap="rnd">
              <a:solidFill>
                <a:schemeClr val="bg1"/>
              </a:solidFill>
              <a:prstDash val="solid"/>
              <a:round/>
            </a:ln>
          </p:spPr>
          <p:txBody>
            <a:bodyPr rtlCol="0" anchor="ctr"/>
            <a:lstStyle/>
            <a:p>
              <a:endParaRPr lang="en-GB" sz="1600" dirty="0"/>
            </a:p>
          </p:txBody>
        </p:sp>
        <p:sp>
          <p:nvSpPr>
            <p:cNvPr id="128" name="Freeform: Shape 160">
              <a:extLst>
                <a:ext uri="{FF2B5EF4-FFF2-40B4-BE49-F238E27FC236}">
                  <a16:creationId xmlns:a16="http://schemas.microsoft.com/office/drawing/2014/main" id="{F3BF8259-C613-4545-A307-76DACB924BC6}"/>
                </a:ext>
              </a:extLst>
            </p:cNvPr>
            <p:cNvSpPr/>
            <p:nvPr/>
          </p:nvSpPr>
          <p:spPr>
            <a:xfrm>
              <a:off x="6151532" y="1261203"/>
              <a:ext cx="235070" cy="235070"/>
            </a:xfrm>
            <a:custGeom>
              <a:avLst/>
              <a:gdLst>
                <a:gd name="connsiteX0" fmla="*/ 141634 w 171450"/>
                <a:gd name="connsiteY0" fmla="*/ 177924 h 171450"/>
                <a:gd name="connsiteX1" fmla="*/ 112297 w 171450"/>
                <a:gd name="connsiteY1" fmla="*/ 148587 h 171450"/>
                <a:gd name="connsiteX2" fmla="*/ 22857 w 171450"/>
                <a:gd name="connsiteY2" fmla="*/ 133538 h 171450"/>
                <a:gd name="connsiteX3" fmla="*/ 5236 w 171450"/>
                <a:gd name="connsiteY3" fmla="*/ 50099 h 171450"/>
                <a:gd name="connsiteX4" fmla="*/ 49908 w 171450"/>
                <a:gd name="connsiteY4" fmla="*/ 94771 h 171450"/>
                <a:gd name="connsiteX5" fmla="*/ 88484 w 171450"/>
                <a:gd name="connsiteY5" fmla="*/ 94676 h 171450"/>
                <a:gd name="connsiteX6" fmla="*/ 94676 w 171450"/>
                <a:gd name="connsiteY6" fmla="*/ 88484 h 171450"/>
                <a:gd name="connsiteX7" fmla="*/ 94771 w 171450"/>
                <a:gd name="connsiteY7" fmla="*/ 49908 h 171450"/>
                <a:gd name="connsiteX8" fmla="*/ 50099 w 171450"/>
                <a:gd name="connsiteY8" fmla="*/ 5236 h 171450"/>
                <a:gd name="connsiteX9" fmla="*/ 133538 w 171450"/>
                <a:gd name="connsiteY9" fmla="*/ 22857 h 171450"/>
                <a:gd name="connsiteX10" fmla="*/ 148587 w 171450"/>
                <a:gd name="connsiteY10" fmla="*/ 112297 h 171450"/>
                <a:gd name="connsiteX11" fmla="*/ 178686 w 171450"/>
                <a:gd name="connsiteY11" fmla="*/ 142396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450" h="171450">
                  <a:moveTo>
                    <a:pt x="141634" y="177924"/>
                  </a:moveTo>
                  <a:lnTo>
                    <a:pt x="112297" y="148587"/>
                  </a:lnTo>
                  <a:cubicBezTo>
                    <a:pt x="83150" y="162779"/>
                    <a:pt x="47051" y="157636"/>
                    <a:pt x="22857" y="133538"/>
                  </a:cubicBezTo>
                  <a:cubicBezTo>
                    <a:pt x="283" y="110963"/>
                    <a:pt x="-5527" y="78007"/>
                    <a:pt x="5236" y="50099"/>
                  </a:cubicBezTo>
                  <a:lnTo>
                    <a:pt x="49908" y="94771"/>
                  </a:lnTo>
                  <a:cubicBezTo>
                    <a:pt x="60481" y="105344"/>
                    <a:pt x="77912" y="105248"/>
                    <a:pt x="88484" y="94676"/>
                  </a:cubicBezTo>
                  <a:lnTo>
                    <a:pt x="94676" y="88484"/>
                  </a:lnTo>
                  <a:cubicBezTo>
                    <a:pt x="105248" y="77912"/>
                    <a:pt x="105344" y="60481"/>
                    <a:pt x="94771" y="49908"/>
                  </a:cubicBezTo>
                  <a:lnTo>
                    <a:pt x="50099" y="5236"/>
                  </a:lnTo>
                  <a:cubicBezTo>
                    <a:pt x="78102" y="-5527"/>
                    <a:pt x="110963" y="283"/>
                    <a:pt x="133538" y="22857"/>
                  </a:cubicBezTo>
                  <a:cubicBezTo>
                    <a:pt x="157636" y="46955"/>
                    <a:pt x="162780" y="83150"/>
                    <a:pt x="148587" y="112297"/>
                  </a:cubicBezTo>
                  <a:lnTo>
                    <a:pt x="178686" y="142396"/>
                  </a:lnTo>
                </a:path>
              </a:pathLst>
            </a:custGeom>
            <a:noFill/>
            <a:ln w="12700" cap="rnd">
              <a:solidFill>
                <a:schemeClr val="bg1"/>
              </a:solidFill>
              <a:prstDash val="solid"/>
              <a:round/>
            </a:ln>
          </p:spPr>
          <p:txBody>
            <a:bodyPr rtlCol="0" anchor="ctr"/>
            <a:lstStyle/>
            <a:p>
              <a:endParaRPr lang="en-GB" sz="1600" dirty="0"/>
            </a:p>
          </p:txBody>
        </p:sp>
      </p:grpSp>
      <p:grpSp>
        <p:nvGrpSpPr>
          <p:cNvPr id="130" name="Group 129">
            <a:extLst>
              <a:ext uri="{FF2B5EF4-FFF2-40B4-BE49-F238E27FC236}">
                <a16:creationId xmlns:a16="http://schemas.microsoft.com/office/drawing/2014/main" id="{03CCA722-D4CF-40AB-B098-31CEB26C608B}"/>
              </a:ext>
              <a:ext uri="{C183D7F6-B498-43B3-948B-1728B52AA6E4}">
                <adec:decorative xmlns:adec="http://schemas.microsoft.com/office/drawing/2017/decorative" val="1"/>
              </a:ext>
            </a:extLst>
          </p:cNvPr>
          <p:cNvGrpSpPr/>
          <p:nvPr userDrawn="1"/>
        </p:nvGrpSpPr>
        <p:grpSpPr>
          <a:xfrm>
            <a:off x="4235165" y="3450598"/>
            <a:ext cx="432810" cy="421372"/>
            <a:chOff x="2827687" y="2375038"/>
            <a:chExt cx="496315" cy="483199"/>
          </a:xfrm>
        </p:grpSpPr>
        <p:sp>
          <p:nvSpPr>
            <p:cNvPr id="131" name="Freeform: Shape 139">
              <a:extLst>
                <a:ext uri="{FF2B5EF4-FFF2-40B4-BE49-F238E27FC236}">
                  <a16:creationId xmlns:a16="http://schemas.microsoft.com/office/drawing/2014/main" id="{1E69258B-9122-4BA5-B801-5AC3560F9FA1}"/>
                </a:ext>
              </a:extLst>
            </p:cNvPr>
            <p:cNvSpPr/>
            <p:nvPr/>
          </p:nvSpPr>
          <p:spPr>
            <a:xfrm>
              <a:off x="3008517" y="2375038"/>
              <a:ext cx="130594" cy="483199"/>
            </a:xfrm>
            <a:custGeom>
              <a:avLst/>
              <a:gdLst>
                <a:gd name="connsiteX0" fmla="*/ 102108 w 95250"/>
                <a:gd name="connsiteY0" fmla="*/ 177070 h 352425"/>
                <a:gd name="connsiteX1" fmla="*/ 51054 w 95250"/>
                <a:gd name="connsiteY1" fmla="*/ 354140 h 352425"/>
                <a:gd name="connsiteX2" fmla="*/ 0 w 95250"/>
                <a:gd name="connsiteY2" fmla="*/ 177070 h 352425"/>
                <a:gd name="connsiteX3" fmla="*/ 51054 w 95250"/>
                <a:gd name="connsiteY3" fmla="*/ 0 h 352425"/>
                <a:gd name="connsiteX4" fmla="*/ 102108 w 95250"/>
                <a:gd name="connsiteY4" fmla="*/ 177070 h 352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352425">
                  <a:moveTo>
                    <a:pt x="102108" y="177070"/>
                  </a:moveTo>
                  <a:cubicBezTo>
                    <a:pt x="102108" y="274863"/>
                    <a:pt x="79250" y="354140"/>
                    <a:pt x="51054" y="354140"/>
                  </a:cubicBezTo>
                  <a:cubicBezTo>
                    <a:pt x="22858" y="354140"/>
                    <a:pt x="0" y="274863"/>
                    <a:pt x="0" y="177070"/>
                  </a:cubicBezTo>
                  <a:cubicBezTo>
                    <a:pt x="0" y="79277"/>
                    <a:pt x="22858" y="0"/>
                    <a:pt x="51054" y="0"/>
                  </a:cubicBezTo>
                  <a:cubicBezTo>
                    <a:pt x="79250" y="0"/>
                    <a:pt x="102108" y="79277"/>
                    <a:pt x="102108" y="177070"/>
                  </a:cubicBezTo>
                  <a:close/>
                </a:path>
              </a:pathLst>
            </a:custGeom>
            <a:noFill/>
            <a:ln w="12700" cap="flat">
              <a:solidFill>
                <a:schemeClr val="bg1"/>
              </a:solidFill>
              <a:prstDash val="solid"/>
              <a:miter/>
            </a:ln>
          </p:spPr>
          <p:txBody>
            <a:bodyPr rtlCol="0" anchor="ctr"/>
            <a:lstStyle/>
            <a:p>
              <a:endParaRPr lang="en-GB" sz="1600" dirty="0"/>
            </a:p>
          </p:txBody>
        </p:sp>
        <p:sp>
          <p:nvSpPr>
            <p:cNvPr id="132" name="Freeform: Shape 140">
              <a:extLst>
                <a:ext uri="{FF2B5EF4-FFF2-40B4-BE49-F238E27FC236}">
                  <a16:creationId xmlns:a16="http://schemas.microsoft.com/office/drawing/2014/main" id="{6C9EDFCB-6DD0-4768-82B5-8B0804B68E3A}"/>
                </a:ext>
              </a:extLst>
            </p:cNvPr>
            <p:cNvSpPr/>
            <p:nvPr/>
          </p:nvSpPr>
          <p:spPr>
            <a:xfrm>
              <a:off x="2827687" y="2458076"/>
              <a:ext cx="496258" cy="313426"/>
            </a:xfrm>
            <a:custGeom>
              <a:avLst/>
              <a:gdLst>
                <a:gd name="connsiteX0" fmla="*/ 202936 w 361950"/>
                <a:gd name="connsiteY0" fmla="*/ 69482 h 228600"/>
                <a:gd name="connsiteX1" fmla="*/ 345771 w 361950"/>
                <a:gd name="connsiteY1" fmla="*/ 185924 h 228600"/>
                <a:gd name="connsiteX2" fmla="*/ 162869 w 361950"/>
                <a:gd name="connsiteY2" fmla="*/ 163401 h 228600"/>
                <a:gd name="connsiteX3" fmla="*/ 20034 w 361950"/>
                <a:gd name="connsiteY3" fmla="*/ 46959 h 228600"/>
                <a:gd name="connsiteX4" fmla="*/ 202936 w 361950"/>
                <a:gd name="connsiteY4" fmla="*/ 69482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202936" y="69482"/>
                  </a:moveTo>
                  <a:cubicBezTo>
                    <a:pt x="292886" y="107856"/>
                    <a:pt x="356835" y="159989"/>
                    <a:pt x="345771" y="185924"/>
                  </a:cubicBezTo>
                  <a:cubicBezTo>
                    <a:pt x="334707" y="211859"/>
                    <a:pt x="252819" y="201775"/>
                    <a:pt x="162869" y="163401"/>
                  </a:cubicBezTo>
                  <a:cubicBezTo>
                    <a:pt x="72919" y="125027"/>
                    <a:pt x="8969" y="72895"/>
                    <a:pt x="20034" y="46959"/>
                  </a:cubicBezTo>
                  <a:cubicBezTo>
                    <a:pt x="31098" y="21024"/>
                    <a:pt x="112986" y="31108"/>
                    <a:pt x="202936" y="69482"/>
                  </a:cubicBezTo>
                  <a:close/>
                </a:path>
              </a:pathLst>
            </a:custGeom>
            <a:noFill/>
            <a:ln w="12700" cap="flat">
              <a:solidFill>
                <a:schemeClr val="bg1"/>
              </a:solidFill>
              <a:prstDash val="solid"/>
              <a:miter/>
            </a:ln>
          </p:spPr>
          <p:txBody>
            <a:bodyPr rtlCol="0" anchor="ctr"/>
            <a:lstStyle/>
            <a:p>
              <a:endParaRPr lang="en-GB" sz="1600" dirty="0"/>
            </a:p>
          </p:txBody>
        </p:sp>
        <p:sp>
          <p:nvSpPr>
            <p:cNvPr id="133" name="Freeform: Shape 141">
              <a:extLst>
                <a:ext uri="{FF2B5EF4-FFF2-40B4-BE49-F238E27FC236}">
                  <a16:creationId xmlns:a16="http://schemas.microsoft.com/office/drawing/2014/main" id="{CA53DC42-27DA-4A82-817D-421A41128486}"/>
                </a:ext>
              </a:extLst>
            </p:cNvPr>
            <p:cNvSpPr/>
            <p:nvPr/>
          </p:nvSpPr>
          <p:spPr>
            <a:xfrm>
              <a:off x="2827744" y="2458188"/>
              <a:ext cx="496258" cy="313426"/>
            </a:xfrm>
            <a:custGeom>
              <a:avLst/>
              <a:gdLst>
                <a:gd name="connsiteX0" fmla="*/ 345771 w 361950"/>
                <a:gd name="connsiteY0" fmla="*/ 46959 h 228600"/>
                <a:gd name="connsiteX1" fmla="*/ 202936 w 361950"/>
                <a:gd name="connsiteY1" fmla="*/ 163401 h 228600"/>
                <a:gd name="connsiteX2" fmla="*/ 20034 w 361950"/>
                <a:gd name="connsiteY2" fmla="*/ 185924 h 228600"/>
                <a:gd name="connsiteX3" fmla="*/ 162869 w 361950"/>
                <a:gd name="connsiteY3" fmla="*/ 69482 h 228600"/>
                <a:gd name="connsiteX4" fmla="*/ 345771 w 361950"/>
                <a:gd name="connsiteY4" fmla="*/ 46959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345771" y="46959"/>
                  </a:moveTo>
                  <a:cubicBezTo>
                    <a:pt x="356835" y="72894"/>
                    <a:pt x="292886" y="125027"/>
                    <a:pt x="202936" y="163401"/>
                  </a:cubicBezTo>
                  <a:cubicBezTo>
                    <a:pt x="112986" y="201775"/>
                    <a:pt x="31098" y="211859"/>
                    <a:pt x="20034" y="185924"/>
                  </a:cubicBezTo>
                  <a:cubicBezTo>
                    <a:pt x="8969" y="159989"/>
                    <a:pt x="72919" y="107856"/>
                    <a:pt x="162869" y="69482"/>
                  </a:cubicBezTo>
                  <a:cubicBezTo>
                    <a:pt x="252819" y="31108"/>
                    <a:pt x="334707" y="21025"/>
                    <a:pt x="345771" y="46959"/>
                  </a:cubicBezTo>
                  <a:close/>
                </a:path>
              </a:pathLst>
            </a:custGeom>
            <a:noFill/>
            <a:ln w="12700" cap="flat">
              <a:solidFill>
                <a:schemeClr val="bg1"/>
              </a:solidFill>
              <a:prstDash val="solid"/>
              <a:miter/>
            </a:ln>
          </p:spPr>
          <p:txBody>
            <a:bodyPr rtlCol="0" anchor="ctr"/>
            <a:lstStyle/>
            <a:p>
              <a:endParaRPr lang="en-GB" sz="1600" dirty="0"/>
            </a:p>
          </p:txBody>
        </p:sp>
        <p:sp>
          <p:nvSpPr>
            <p:cNvPr id="134" name="Freeform: Shape 142">
              <a:extLst>
                <a:ext uri="{FF2B5EF4-FFF2-40B4-BE49-F238E27FC236}">
                  <a16:creationId xmlns:a16="http://schemas.microsoft.com/office/drawing/2014/main" id="{A6A199AB-9806-4C80-96DB-804C5C10C236}"/>
                </a:ext>
              </a:extLst>
            </p:cNvPr>
            <p:cNvSpPr/>
            <p:nvPr/>
          </p:nvSpPr>
          <p:spPr>
            <a:xfrm>
              <a:off x="3047173" y="2586469"/>
              <a:ext cx="52238" cy="52238"/>
            </a:xfrm>
            <a:custGeom>
              <a:avLst/>
              <a:gdLst>
                <a:gd name="connsiteX0" fmla="*/ 45720 w 38100"/>
                <a:gd name="connsiteY0" fmla="*/ 22860 h 38100"/>
                <a:gd name="connsiteX1" fmla="*/ 22860 w 38100"/>
                <a:gd name="connsiteY1" fmla="*/ 45720 h 38100"/>
                <a:gd name="connsiteX2" fmla="*/ 0 w 38100"/>
                <a:gd name="connsiteY2" fmla="*/ 22860 h 38100"/>
                <a:gd name="connsiteX3" fmla="*/ 22860 w 38100"/>
                <a:gd name="connsiteY3" fmla="*/ 0 h 38100"/>
                <a:gd name="connsiteX4" fmla="*/ 45720 w 38100"/>
                <a:gd name="connsiteY4" fmla="*/ 2286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45720" y="22860"/>
                  </a:moveTo>
                  <a:cubicBezTo>
                    <a:pt x="45720" y="35485"/>
                    <a:pt x="35485" y="45720"/>
                    <a:pt x="22860" y="45720"/>
                  </a:cubicBezTo>
                  <a:cubicBezTo>
                    <a:pt x="10235" y="45720"/>
                    <a:pt x="0" y="35485"/>
                    <a:pt x="0" y="22860"/>
                  </a:cubicBezTo>
                  <a:cubicBezTo>
                    <a:pt x="0" y="10235"/>
                    <a:pt x="10235" y="0"/>
                    <a:pt x="22860" y="0"/>
                  </a:cubicBezTo>
                  <a:cubicBezTo>
                    <a:pt x="35485" y="0"/>
                    <a:pt x="45720" y="10235"/>
                    <a:pt x="45720" y="22860"/>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135" name="Freeform: Shape 143">
              <a:extLst>
                <a:ext uri="{FF2B5EF4-FFF2-40B4-BE49-F238E27FC236}">
                  <a16:creationId xmlns:a16="http://schemas.microsoft.com/office/drawing/2014/main" id="{A84853FA-2EE6-44E9-A25B-E2E941C0CB83}"/>
                </a:ext>
              </a:extLst>
            </p:cNvPr>
            <p:cNvSpPr/>
            <p:nvPr/>
          </p:nvSpPr>
          <p:spPr>
            <a:xfrm>
              <a:off x="2930421" y="249048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136" name="Freeform: Shape 144">
              <a:extLst>
                <a:ext uri="{FF2B5EF4-FFF2-40B4-BE49-F238E27FC236}">
                  <a16:creationId xmlns:a16="http://schemas.microsoft.com/office/drawing/2014/main" id="{75326482-9FC7-4129-BA1A-EDEBEB15A6BE}"/>
                </a:ext>
              </a:extLst>
            </p:cNvPr>
            <p:cNvSpPr/>
            <p:nvPr/>
          </p:nvSpPr>
          <p:spPr>
            <a:xfrm>
              <a:off x="3250508" y="2570276"/>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137" name="Freeform: Shape 145">
              <a:extLst>
                <a:ext uri="{FF2B5EF4-FFF2-40B4-BE49-F238E27FC236}">
                  <a16:creationId xmlns:a16="http://schemas.microsoft.com/office/drawing/2014/main" id="{D8C41BEC-6410-4315-97C8-8663893AD4DC}"/>
                </a:ext>
              </a:extLst>
            </p:cNvPr>
            <p:cNvSpPr/>
            <p:nvPr/>
          </p:nvSpPr>
          <p:spPr>
            <a:xfrm>
              <a:off x="3102675" y="280051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grpSp>
      <p:grpSp>
        <p:nvGrpSpPr>
          <p:cNvPr id="24" name="Group 23">
            <a:extLst>
              <a:ext uri="{FF2B5EF4-FFF2-40B4-BE49-F238E27FC236}">
                <a16:creationId xmlns:a16="http://schemas.microsoft.com/office/drawing/2014/main" id="{E1B23DE9-1B25-40E6-87CA-50E853CBD2EF}"/>
              </a:ext>
              <a:ext uri="{C183D7F6-B498-43B3-948B-1728B52AA6E4}">
                <adec:decorative xmlns:adec="http://schemas.microsoft.com/office/drawing/2017/decorative" val="1"/>
              </a:ext>
            </a:extLst>
          </p:cNvPr>
          <p:cNvGrpSpPr/>
          <p:nvPr userDrawn="1"/>
        </p:nvGrpSpPr>
        <p:grpSpPr>
          <a:xfrm>
            <a:off x="8766081" y="3469196"/>
            <a:ext cx="325438" cy="384175"/>
            <a:chOff x="9007476" y="2855913"/>
            <a:chExt cx="325438" cy="384175"/>
          </a:xfrm>
        </p:grpSpPr>
        <p:sp>
          <p:nvSpPr>
            <p:cNvPr id="15" name="Freeform 12">
              <a:extLst>
                <a:ext uri="{FF2B5EF4-FFF2-40B4-BE49-F238E27FC236}">
                  <a16:creationId xmlns:a16="http://schemas.microsoft.com/office/drawing/2014/main" id="{443E0A3F-4C2D-46EB-97FF-1627A80B77AF}"/>
                </a:ext>
              </a:extLst>
            </p:cNvPr>
            <p:cNvSpPr>
              <a:spLocks/>
            </p:cNvSpPr>
            <p:nvPr userDrawn="1"/>
          </p:nvSpPr>
          <p:spPr bwMode="auto">
            <a:xfrm>
              <a:off x="9007476" y="2855913"/>
              <a:ext cx="325438" cy="153988"/>
            </a:xfrm>
            <a:custGeom>
              <a:avLst/>
              <a:gdLst>
                <a:gd name="T0" fmla="*/ 378 w 378"/>
                <a:gd name="T1" fmla="*/ 91 h 182"/>
                <a:gd name="T2" fmla="*/ 378 w 378"/>
                <a:gd name="T3" fmla="*/ 91 h 182"/>
                <a:gd name="T4" fmla="*/ 189 w 378"/>
                <a:gd name="T5" fmla="*/ 0 h 182"/>
                <a:gd name="T6" fmla="*/ 0 w 378"/>
                <a:gd name="T7" fmla="*/ 91 h 182"/>
                <a:gd name="T8" fmla="*/ 189 w 378"/>
                <a:gd name="T9" fmla="*/ 182 h 182"/>
                <a:gd name="T10" fmla="*/ 378 w 378"/>
                <a:gd name="T11" fmla="*/ 91 h 182"/>
                <a:gd name="T12" fmla="*/ 378 w 378"/>
                <a:gd name="T13" fmla="*/ 91 h 182"/>
              </a:gdLst>
              <a:ahLst/>
              <a:cxnLst>
                <a:cxn ang="0">
                  <a:pos x="T0" y="T1"/>
                </a:cxn>
                <a:cxn ang="0">
                  <a:pos x="T2" y="T3"/>
                </a:cxn>
                <a:cxn ang="0">
                  <a:pos x="T4" y="T5"/>
                </a:cxn>
                <a:cxn ang="0">
                  <a:pos x="T6" y="T7"/>
                </a:cxn>
                <a:cxn ang="0">
                  <a:pos x="T8" y="T9"/>
                </a:cxn>
                <a:cxn ang="0">
                  <a:pos x="T10" y="T11"/>
                </a:cxn>
                <a:cxn ang="0">
                  <a:pos x="T12" y="T13"/>
                </a:cxn>
              </a:cxnLst>
              <a:rect l="0" t="0" r="r" b="b"/>
              <a:pathLst>
                <a:path w="378" h="182">
                  <a:moveTo>
                    <a:pt x="378" y="91"/>
                  </a:moveTo>
                  <a:lnTo>
                    <a:pt x="378" y="91"/>
                  </a:lnTo>
                  <a:cubicBezTo>
                    <a:pt x="378" y="40"/>
                    <a:pt x="294" y="0"/>
                    <a:pt x="189" y="0"/>
                  </a:cubicBezTo>
                  <a:cubicBezTo>
                    <a:pt x="85" y="0"/>
                    <a:pt x="0" y="40"/>
                    <a:pt x="0" y="91"/>
                  </a:cubicBezTo>
                  <a:cubicBezTo>
                    <a:pt x="0" y="141"/>
                    <a:pt x="85" y="182"/>
                    <a:pt x="189" y="182"/>
                  </a:cubicBezTo>
                  <a:cubicBezTo>
                    <a:pt x="294" y="182"/>
                    <a:pt x="378" y="141"/>
                    <a:pt x="378" y="91"/>
                  </a:cubicBezTo>
                  <a:lnTo>
                    <a:pt x="378" y="91"/>
                  </a:ln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3">
              <a:extLst>
                <a:ext uri="{FF2B5EF4-FFF2-40B4-BE49-F238E27FC236}">
                  <a16:creationId xmlns:a16="http://schemas.microsoft.com/office/drawing/2014/main" id="{A2C0D1CD-EE5C-4ED0-AE87-FC2AA8DB92BC}"/>
                </a:ext>
              </a:extLst>
            </p:cNvPr>
            <p:cNvSpPr>
              <a:spLocks/>
            </p:cNvSpPr>
            <p:nvPr userDrawn="1"/>
          </p:nvSpPr>
          <p:spPr bwMode="auto">
            <a:xfrm>
              <a:off x="9007476" y="3009900"/>
              <a:ext cx="325438" cy="76200"/>
            </a:xfrm>
            <a:custGeom>
              <a:avLst/>
              <a:gdLst>
                <a:gd name="T0" fmla="*/ 0 w 378"/>
                <a:gd name="T1" fmla="*/ 0 h 92"/>
                <a:gd name="T2" fmla="*/ 0 w 378"/>
                <a:gd name="T3" fmla="*/ 0 h 92"/>
                <a:gd name="T4" fmla="*/ 189 w 378"/>
                <a:gd name="T5" fmla="*/ 92 h 92"/>
                <a:gd name="T6" fmla="*/ 378 w 378"/>
                <a:gd name="T7" fmla="*/ 0 h 92"/>
              </a:gdLst>
              <a:ahLst/>
              <a:cxnLst>
                <a:cxn ang="0">
                  <a:pos x="T0" y="T1"/>
                </a:cxn>
                <a:cxn ang="0">
                  <a:pos x="T2" y="T3"/>
                </a:cxn>
                <a:cxn ang="0">
                  <a:pos x="T4" y="T5"/>
                </a:cxn>
                <a:cxn ang="0">
                  <a:pos x="T6" y="T7"/>
                </a:cxn>
              </a:cxnLst>
              <a:rect l="0" t="0" r="r" b="b"/>
              <a:pathLst>
                <a:path w="378" h="92">
                  <a:moveTo>
                    <a:pt x="0" y="0"/>
                  </a:moveTo>
                  <a:lnTo>
                    <a:pt x="0" y="0"/>
                  </a:lnTo>
                  <a:cubicBezTo>
                    <a:pt x="0" y="51"/>
                    <a:pt x="85" y="92"/>
                    <a:pt x="189" y="92"/>
                  </a:cubicBezTo>
                  <a:cubicBezTo>
                    <a:pt x="294" y="92"/>
                    <a:pt x="378" y="51"/>
                    <a:pt x="378"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4">
              <a:extLst>
                <a:ext uri="{FF2B5EF4-FFF2-40B4-BE49-F238E27FC236}">
                  <a16:creationId xmlns:a16="http://schemas.microsoft.com/office/drawing/2014/main" id="{B190E139-4089-45D7-BE84-BB703B7F6860}"/>
                </a:ext>
              </a:extLst>
            </p:cNvPr>
            <p:cNvSpPr>
              <a:spLocks/>
            </p:cNvSpPr>
            <p:nvPr userDrawn="1"/>
          </p:nvSpPr>
          <p:spPr bwMode="auto">
            <a:xfrm>
              <a:off x="9007476" y="3086100"/>
              <a:ext cx="325438" cy="77788"/>
            </a:xfrm>
            <a:custGeom>
              <a:avLst/>
              <a:gdLst>
                <a:gd name="T0" fmla="*/ 0 w 378"/>
                <a:gd name="T1" fmla="*/ 0 h 91"/>
                <a:gd name="T2" fmla="*/ 0 w 378"/>
                <a:gd name="T3" fmla="*/ 0 h 91"/>
                <a:gd name="T4" fmla="*/ 189 w 378"/>
                <a:gd name="T5" fmla="*/ 91 h 91"/>
                <a:gd name="T6" fmla="*/ 378 w 378"/>
                <a:gd name="T7" fmla="*/ 0 h 91"/>
              </a:gdLst>
              <a:ahLst/>
              <a:cxnLst>
                <a:cxn ang="0">
                  <a:pos x="T0" y="T1"/>
                </a:cxn>
                <a:cxn ang="0">
                  <a:pos x="T2" y="T3"/>
                </a:cxn>
                <a:cxn ang="0">
                  <a:pos x="T4" y="T5"/>
                </a:cxn>
                <a:cxn ang="0">
                  <a:pos x="T6" y="T7"/>
                </a:cxn>
              </a:cxnLst>
              <a:rect l="0" t="0" r="r" b="b"/>
              <a:pathLst>
                <a:path w="378" h="91">
                  <a:moveTo>
                    <a:pt x="0" y="0"/>
                  </a:moveTo>
                  <a:lnTo>
                    <a:pt x="0" y="0"/>
                  </a:lnTo>
                  <a:cubicBezTo>
                    <a:pt x="0" y="50"/>
                    <a:pt x="85" y="91"/>
                    <a:pt x="189" y="91"/>
                  </a:cubicBezTo>
                  <a:cubicBezTo>
                    <a:pt x="294" y="91"/>
                    <a:pt x="378" y="50"/>
                    <a:pt x="378"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5">
              <a:extLst>
                <a:ext uri="{FF2B5EF4-FFF2-40B4-BE49-F238E27FC236}">
                  <a16:creationId xmlns:a16="http://schemas.microsoft.com/office/drawing/2014/main" id="{D12929EC-922A-4D98-86BC-59CF60BBF1D5}"/>
                </a:ext>
              </a:extLst>
            </p:cNvPr>
            <p:cNvSpPr>
              <a:spLocks/>
            </p:cNvSpPr>
            <p:nvPr userDrawn="1"/>
          </p:nvSpPr>
          <p:spPr bwMode="auto">
            <a:xfrm>
              <a:off x="9007476" y="2932113"/>
              <a:ext cx="325438" cy="307975"/>
            </a:xfrm>
            <a:custGeom>
              <a:avLst/>
              <a:gdLst>
                <a:gd name="T0" fmla="*/ 378 w 378"/>
                <a:gd name="T1" fmla="*/ 0 h 366"/>
                <a:gd name="T2" fmla="*/ 378 w 378"/>
                <a:gd name="T3" fmla="*/ 0 h 366"/>
                <a:gd name="T4" fmla="*/ 378 w 378"/>
                <a:gd name="T5" fmla="*/ 274 h 366"/>
                <a:gd name="T6" fmla="*/ 189 w 378"/>
                <a:gd name="T7" fmla="*/ 366 h 366"/>
                <a:gd name="T8" fmla="*/ 0 w 378"/>
                <a:gd name="T9" fmla="*/ 274 h 366"/>
                <a:gd name="T10" fmla="*/ 0 w 378"/>
                <a:gd name="T11" fmla="*/ 0 h 366"/>
              </a:gdLst>
              <a:ahLst/>
              <a:cxnLst>
                <a:cxn ang="0">
                  <a:pos x="T0" y="T1"/>
                </a:cxn>
                <a:cxn ang="0">
                  <a:pos x="T2" y="T3"/>
                </a:cxn>
                <a:cxn ang="0">
                  <a:pos x="T4" y="T5"/>
                </a:cxn>
                <a:cxn ang="0">
                  <a:pos x="T6" y="T7"/>
                </a:cxn>
                <a:cxn ang="0">
                  <a:pos x="T8" y="T9"/>
                </a:cxn>
                <a:cxn ang="0">
                  <a:pos x="T10" y="T11"/>
                </a:cxn>
              </a:cxnLst>
              <a:rect l="0" t="0" r="r" b="b"/>
              <a:pathLst>
                <a:path w="378" h="366">
                  <a:moveTo>
                    <a:pt x="378" y="0"/>
                  </a:moveTo>
                  <a:lnTo>
                    <a:pt x="378" y="0"/>
                  </a:lnTo>
                  <a:lnTo>
                    <a:pt x="378" y="274"/>
                  </a:lnTo>
                  <a:cubicBezTo>
                    <a:pt x="378" y="325"/>
                    <a:pt x="294" y="366"/>
                    <a:pt x="189" y="366"/>
                  </a:cubicBezTo>
                  <a:cubicBezTo>
                    <a:pt x="85" y="366"/>
                    <a:pt x="0" y="325"/>
                    <a:pt x="0" y="274"/>
                  </a:cubicBezTo>
                  <a:lnTo>
                    <a:pt x="0" y="0"/>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TextBox 1">
            <a:extLst>
              <a:ext uri="{FF2B5EF4-FFF2-40B4-BE49-F238E27FC236}">
                <a16:creationId xmlns:a16="http://schemas.microsoft.com/office/drawing/2014/main" id="{528ECABC-C3C5-25F1-F7CF-8A2E932C104A}"/>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41918575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Capco Services and Solutions_dark">
    <p:spTree>
      <p:nvGrpSpPr>
        <p:cNvPr id="1" name=""/>
        <p:cNvGrpSpPr/>
        <p:nvPr/>
      </p:nvGrpSpPr>
      <p:grpSpPr>
        <a:xfrm>
          <a:off x="0" y="0"/>
          <a:ext cx="0" cy="0"/>
          <a:chOff x="0" y="0"/>
          <a:chExt cx="0" cy="0"/>
        </a:xfrm>
      </p:grpSpPr>
      <p:pic>
        <p:nvPicPr>
          <p:cNvPr id="129" name="Picture 128">
            <a:extLst>
              <a:ext uri="{FF2B5EF4-FFF2-40B4-BE49-F238E27FC236}">
                <a16:creationId xmlns:a16="http://schemas.microsoft.com/office/drawing/2014/main" id="{6F03FF18-AABC-47FE-9923-9D1C550C27DA}"/>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rcRect t="75" b="75"/>
          <a:stretch/>
        </p:blipFill>
        <p:spPr>
          <a:xfrm>
            <a:off x="0" y="0"/>
            <a:ext cx="12192000" cy="6858000"/>
          </a:xfrm>
          <a:prstGeom prst="rect">
            <a:avLst/>
          </a:prstGeom>
        </p:spPr>
      </p:pic>
      <p:sp>
        <p:nvSpPr>
          <p:cNvPr id="7" name="TextBox 6">
            <a:extLst>
              <a:ext uri="{FF2B5EF4-FFF2-40B4-BE49-F238E27FC236}">
                <a16:creationId xmlns:a16="http://schemas.microsoft.com/office/drawing/2014/main" id="{E0B722DA-A7EF-42D4-97E8-22596004672B}"/>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2" name="Rounded Rectangle 108">
            <a:extLst>
              <a:ext uri="{FF2B5EF4-FFF2-40B4-BE49-F238E27FC236}">
                <a16:creationId xmlns:a16="http://schemas.microsoft.com/office/drawing/2014/main" id="{C26113AC-1E2D-65AE-CC8D-37D633075037}"/>
              </a:ext>
              <a:ext uri="{C183D7F6-B498-43B3-948B-1728B52AA6E4}">
                <adec:decorative xmlns:adec="http://schemas.microsoft.com/office/drawing/2017/decorative" val="1"/>
              </a:ext>
            </a:extLst>
          </p:cNvPr>
          <p:cNvSpPr/>
          <p:nvPr userDrawn="1"/>
        </p:nvSpPr>
        <p:spPr>
          <a:xfrm>
            <a:off x="1891622" y="5207602"/>
            <a:ext cx="9755428" cy="1030878"/>
          </a:xfrm>
          <a:prstGeom prst="roundRect">
            <a:avLst>
              <a:gd name="adj"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F3480812-F081-B9BA-05FE-2EBA26BF771C}"/>
              </a:ext>
              <a:ext uri="{C183D7F6-B498-43B3-948B-1728B52AA6E4}">
                <adec:decorative xmlns:adec="http://schemas.microsoft.com/office/drawing/2017/decorative" val="1"/>
              </a:ext>
            </a:extLst>
          </p:cNvPr>
          <p:cNvSpPr/>
          <p:nvPr userDrawn="1"/>
        </p:nvSpPr>
        <p:spPr>
          <a:xfrm>
            <a:off x="2844800" y="2831718"/>
            <a:ext cx="8802250" cy="3141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latin typeface="Century Gothic" panose="020B0502020202020204" pitchFamily="34" charset="0"/>
            </a:endParaRPr>
          </a:p>
        </p:txBody>
      </p:sp>
      <p:sp>
        <p:nvSpPr>
          <p:cNvPr id="4" name="Pentagon 7">
            <a:extLst>
              <a:ext uri="{FF2B5EF4-FFF2-40B4-BE49-F238E27FC236}">
                <a16:creationId xmlns:a16="http://schemas.microsoft.com/office/drawing/2014/main" id="{B13A520A-34D8-91C0-F7CC-A0A93C0C6435}"/>
              </a:ext>
              <a:ext uri="{C183D7F6-B498-43B3-948B-1728B52AA6E4}">
                <adec:decorative xmlns:adec="http://schemas.microsoft.com/office/drawing/2017/decorative" val="1"/>
              </a:ext>
            </a:extLst>
          </p:cNvPr>
          <p:cNvSpPr/>
          <p:nvPr userDrawn="1"/>
        </p:nvSpPr>
        <p:spPr>
          <a:xfrm>
            <a:off x="559049" y="2831718"/>
            <a:ext cx="2514351" cy="314127"/>
          </a:xfrm>
          <a:prstGeom prst="homePlate">
            <a:avLst>
              <a:gd name="adj" fmla="val 43935"/>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ounded Rectangle 43">
            <a:extLst>
              <a:ext uri="{FF2B5EF4-FFF2-40B4-BE49-F238E27FC236}">
                <a16:creationId xmlns:a16="http://schemas.microsoft.com/office/drawing/2014/main" id="{3A9E5AD5-153E-0CEE-6FA4-133F7B240A71}"/>
              </a:ext>
              <a:ext uri="{C183D7F6-B498-43B3-948B-1728B52AA6E4}">
                <adec:decorative xmlns:adec="http://schemas.microsoft.com/office/drawing/2017/decorative" val="1"/>
              </a:ext>
            </a:extLst>
          </p:cNvPr>
          <p:cNvSpPr/>
          <p:nvPr userDrawn="1"/>
        </p:nvSpPr>
        <p:spPr>
          <a:xfrm>
            <a:off x="1891622" y="4176723"/>
            <a:ext cx="9755428" cy="1030878"/>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0" name="Pentagon 45">
            <a:extLst>
              <a:ext uri="{FF2B5EF4-FFF2-40B4-BE49-F238E27FC236}">
                <a16:creationId xmlns:a16="http://schemas.microsoft.com/office/drawing/2014/main" id="{626EF62C-447F-7303-642C-6040F6BC2867}"/>
              </a:ext>
              <a:ext uri="{C183D7F6-B498-43B3-948B-1728B52AA6E4}">
                <adec:decorative xmlns:adec="http://schemas.microsoft.com/office/drawing/2017/decorative" val="1"/>
              </a:ext>
            </a:extLst>
          </p:cNvPr>
          <p:cNvSpPr/>
          <p:nvPr userDrawn="1"/>
        </p:nvSpPr>
        <p:spPr>
          <a:xfrm>
            <a:off x="559049" y="4176723"/>
            <a:ext cx="2642132" cy="1030878"/>
          </a:xfrm>
          <a:prstGeom prst="homePlate">
            <a:avLst>
              <a:gd name="adj" fmla="val 2534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1" name="Pentagon 109">
            <a:extLst>
              <a:ext uri="{FF2B5EF4-FFF2-40B4-BE49-F238E27FC236}">
                <a16:creationId xmlns:a16="http://schemas.microsoft.com/office/drawing/2014/main" id="{3DEAA4B3-2985-EDA9-EA0F-EC1E162D9A69}"/>
              </a:ext>
              <a:ext uri="{C183D7F6-B498-43B3-948B-1728B52AA6E4}">
                <adec:decorative xmlns:adec="http://schemas.microsoft.com/office/drawing/2017/decorative" val="1"/>
              </a:ext>
            </a:extLst>
          </p:cNvPr>
          <p:cNvSpPr/>
          <p:nvPr userDrawn="1"/>
        </p:nvSpPr>
        <p:spPr>
          <a:xfrm>
            <a:off x="559049" y="5207602"/>
            <a:ext cx="2642132" cy="1030878"/>
          </a:xfrm>
          <a:prstGeom prst="homePlate">
            <a:avLst>
              <a:gd name="adj" fmla="val 2534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2" name="Rounded Rectangle 97">
            <a:extLst>
              <a:ext uri="{FF2B5EF4-FFF2-40B4-BE49-F238E27FC236}">
                <a16:creationId xmlns:a16="http://schemas.microsoft.com/office/drawing/2014/main" id="{C1EB4553-5ABA-A2DA-9C43-6FE80559DDA5}"/>
              </a:ext>
              <a:ext uri="{C183D7F6-B498-43B3-948B-1728B52AA6E4}">
                <adec:decorative xmlns:adec="http://schemas.microsoft.com/office/drawing/2017/decorative" val="1"/>
              </a:ext>
            </a:extLst>
          </p:cNvPr>
          <p:cNvSpPr/>
          <p:nvPr userDrawn="1"/>
        </p:nvSpPr>
        <p:spPr>
          <a:xfrm>
            <a:off x="1891622" y="3145845"/>
            <a:ext cx="9755428" cy="1030878"/>
          </a:xfrm>
          <a:prstGeom prst="roundRect">
            <a:avLst>
              <a:gd name="adj" fmla="val 0"/>
            </a:avLst>
          </a:prstGeom>
          <a:solidFill>
            <a:srgbClr val="8C16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3" name="Pentagon 98">
            <a:extLst>
              <a:ext uri="{FF2B5EF4-FFF2-40B4-BE49-F238E27FC236}">
                <a16:creationId xmlns:a16="http://schemas.microsoft.com/office/drawing/2014/main" id="{EB90E828-23EB-2BE2-8EA8-3041A2D285FD}"/>
              </a:ext>
              <a:ext uri="{C183D7F6-B498-43B3-948B-1728B52AA6E4}">
                <adec:decorative xmlns:adec="http://schemas.microsoft.com/office/drawing/2017/decorative" val="1"/>
              </a:ext>
            </a:extLst>
          </p:cNvPr>
          <p:cNvSpPr/>
          <p:nvPr userDrawn="1"/>
        </p:nvSpPr>
        <p:spPr>
          <a:xfrm>
            <a:off x="559049" y="3145845"/>
            <a:ext cx="2642132" cy="1030878"/>
          </a:xfrm>
          <a:prstGeom prst="homePlate">
            <a:avLst>
              <a:gd name="adj" fmla="val 25343"/>
            </a:avLst>
          </a:prstGeom>
          <a:solidFill>
            <a:srgbClr val="E623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4" name="Rectangle 13">
            <a:extLst>
              <a:ext uri="{FF2B5EF4-FFF2-40B4-BE49-F238E27FC236}">
                <a16:creationId xmlns:a16="http://schemas.microsoft.com/office/drawing/2014/main" id="{25BFC21C-EE5B-38E8-8D7A-7BF051F6426F}"/>
              </a:ext>
              <a:ext uri="{C183D7F6-B498-43B3-948B-1728B52AA6E4}">
                <adec:decorative xmlns:adec="http://schemas.microsoft.com/office/drawing/2017/decorative" val="1"/>
              </a:ext>
            </a:extLst>
          </p:cNvPr>
          <p:cNvSpPr/>
          <p:nvPr userDrawn="1"/>
        </p:nvSpPr>
        <p:spPr>
          <a:xfrm>
            <a:off x="559048" y="2517591"/>
            <a:ext cx="11088001" cy="31412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tx1"/>
              </a:solidFill>
              <a:latin typeface="Century Gothic" panose="020B0502020202020204" pitchFamily="34" charset="0"/>
            </a:endParaRPr>
          </a:p>
        </p:txBody>
      </p:sp>
      <p:cxnSp>
        <p:nvCxnSpPr>
          <p:cNvPr id="31" name="Straight Connector 30">
            <a:extLst>
              <a:ext uri="{FF2B5EF4-FFF2-40B4-BE49-F238E27FC236}">
                <a16:creationId xmlns:a16="http://schemas.microsoft.com/office/drawing/2014/main" id="{A92A1701-E409-AE0A-78EF-33D559EB0079}"/>
              </a:ext>
              <a:ext uri="{C183D7F6-B498-43B3-948B-1728B52AA6E4}">
                <adec:decorative xmlns:adec="http://schemas.microsoft.com/office/drawing/2017/decorative" val="1"/>
              </a:ext>
            </a:extLst>
          </p:cNvPr>
          <p:cNvCxnSpPr/>
          <p:nvPr userDrawn="1"/>
        </p:nvCxnSpPr>
        <p:spPr>
          <a:xfrm>
            <a:off x="2628790"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531836E-168D-FB10-3B0F-E02FDD5A056E}"/>
              </a:ext>
              <a:ext uri="{C183D7F6-B498-43B3-948B-1728B52AA6E4}">
                <adec:decorative xmlns:adec="http://schemas.microsoft.com/office/drawing/2017/decorative" val="1"/>
              </a:ext>
            </a:extLst>
          </p:cNvPr>
          <p:cNvCxnSpPr/>
          <p:nvPr userDrawn="1"/>
        </p:nvCxnSpPr>
        <p:spPr>
          <a:xfrm>
            <a:off x="4919268"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F461FE-63AA-8899-87EA-A7DC7F47819A}"/>
              </a:ext>
              <a:ext uri="{C183D7F6-B498-43B3-948B-1728B52AA6E4}">
                <adec:decorative xmlns:adec="http://schemas.microsoft.com/office/drawing/2017/decorative" val="1"/>
              </a:ext>
            </a:extLst>
          </p:cNvPr>
          <p:cNvCxnSpPr/>
          <p:nvPr userDrawn="1"/>
        </p:nvCxnSpPr>
        <p:spPr>
          <a:xfrm>
            <a:off x="8200402"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F3C988C-FCE6-BE99-ACD0-0E2E6EF73F15}"/>
              </a:ext>
              <a:ext uri="{C183D7F6-B498-43B3-948B-1728B52AA6E4}">
                <adec:decorative xmlns:adec="http://schemas.microsoft.com/office/drawing/2017/decorative" val="1"/>
              </a:ext>
            </a:extLst>
          </p:cNvPr>
          <p:cNvCxnSpPr/>
          <p:nvPr userDrawn="1"/>
        </p:nvCxnSpPr>
        <p:spPr>
          <a:xfrm>
            <a:off x="10029215"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Title 3">
            <a:extLst>
              <a:ext uri="{FF2B5EF4-FFF2-40B4-BE49-F238E27FC236}">
                <a16:creationId xmlns:a16="http://schemas.microsoft.com/office/drawing/2014/main" id="{AB509BF3-FEFE-4E4F-84DB-574D01A6710B}"/>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Century Gothic" panose="020B0502020202020204" pitchFamily="34" charset="0"/>
                <a:ea typeface="+mj-ea"/>
                <a:cs typeface="+mj-cs"/>
              </a:rPr>
              <a:t>Capco Services and Solutions</a:t>
            </a:r>
          </a:p>
        </p:txBody>
      </p:sp>
      <p:sp>
        <p:nvSpPr>
          <p:cNvPr id="38" name="TextBox 37">
            <a:extLst>
              <a:ext uri="{FF2B5EF4-FFF2-40B4-BE49-F238E27FC236}">
                <a16:creationId xmlns:a16="http://schemas.microsoft.com/office/drawing/2014/main" id="{FAA0C5EA-76C5-14D0-0D6D-358EDA0A2E53}"/>
              </a:ext>
            </a:extLst>
          </p:cNvPr>
          <p:cNvSpPr txBox="1"/>
          <p:nvPr userDrawn="1"/>
        </p:nvSpPr>
        <p:spPr>
          <a:xfrm>
            <a:off x="559048" y="1192059"/>
            <a:ext cx="1108800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400" b="0" i="0" kern="1200" noProof="0" dirty="0">
                <a:solidFill>
                  <a:schemeClr val="bg1"/>
                </a:solidFill>
                <a:latin typeface="+mn-lt"/>
                <a:ea typeface="Verdana" panose="020B0604030504040204" pitchFamily="34" charset="0"/>
                <a:cs typeface="Calibri" panose="020F0502020204030204" pitchFamily="34" charset="0"/>
              </a:rPr>
              <a:t>Capco operates at the intersection of business and technology, by combining innovative thinking with unrivalled industry knowledge to fast-track Digital initiatives for Financial Services. Capco’s cutting-edge ingenuity is brought to life through its relevant Services underpinned by distinct Solutions and Offerings, and structured around market demand.</a:t>
            </a:r>
            <a:endParaRPr lang="en-US" sz="1400" b="0" i="0" kern="1200" dirty="0">
              <a:solidFill>
                <a:schemeClr val="bg1"/>
              </a:solidFill>
              <a:latin typeface="+mn-lt"/>
              <a:ea typeface="Verdana" panose="020B0604030504040204" pitchFamily="34" charset="0"/>
              <a:cs typeface="Calibri" panose="020F0502020204030204" pitchFamily="34" charset="0"/>
            </a:endParaRPr>
          </a:p>
        </p:txBody>
      </p:sp>
      <p:sp>
        <p:nvSpPr>
          <p:cNvPr id="39" name="Rectangle 38">
            <a:extLst>
              <a:ext uri="{FF2B5EF4-FFF2-40B4-BE49-F238E27FC236}">
                <a16:creationId xmlns:a16="http://schemas.microsoft.com/office/drawing/2014/main" id="{0AB97712-ACD8-045D-51E9-E5CECB5113CB}"/>
              </a:ext>
            </a:extLst>
          </p:cNvPr>
          <p:cNvSpPr/>
          <p:nvPr userDrawn="1"/>
        </p:nvSpPr>
        <p:spPr>
          <a:xfrm>
            <a:off x="741615" y="2536155"/>
            <a:ext cx="170591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Banking &amp; Payments</a:t>
            </a:r>
          </a:p>
        </p:txBody>
      </p:sp>
      <p:sp>
        <p:nvSpPr>
          <p:cNvPr id="40" name="Rectangle 39">
            <a:extLst>
              <a:ext uri="{FF2B5EF4-FFF2-40B4-BE49-F238E27FC236}">
                <a16:creationId xmlns:a16="http://schemas.microsoft.com/office/drawing/2014/main" id="{5A1E2638-9F56-C5CA-6691-689594F034B8}"/>
              </a:ext>
            </a:extLst>
          </p:cNvPr>
          <p:cNvSpPr/>
          <p:nvPr userDrawn="1"/>
        </p:nvSpPr>
        <p:spPr>
          <a:xfrm>
            <a:off x="3379144" y="2536155"/>
            <a:ext cx="136127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Capital Markets</a:t>
            </a:r>
          </a:p>
        </p:txBody>
      </p:sp>
      <p:sp>
        <p:nvSpPr>
          <p:cNvPr id="42" name="Rectangle 41">
            <a:extLst>
              <a:ext uri="{FF2B5EF4-FFF2-40B4-BE49-F238E27FC236}">
                <a16:creationId xmlns:a16="http://schemas.microsoft.com/office/drawing/2014/main" id="{53E3817F-9400-6B90-36A5-7DF81444BEE3}"/>
              </a:ext>
            </a:extLst>
          </p:cNvPr>
          <p:cNvSpPr/>
          <p:nvPr userDrawn="1"/>
        </p:nvSpPr>
        <p:spPr>
          <a:xfrm>
            <a:off x="5676836" y="2536155"/>
            <a:ext cx="2337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Wealth &amp; Asset Management</a:t>
            </a:r>
          </a:p>
        </p:txBody>
      </p:sp>
      <p:sp>
        <p:nvSpPr>
          <p:cNvPr id="45" name="Rectangle 44">
            <a:extLst>
              <a:ext uri="{FF2B5EF4-FFF2-40B4-BE49-F238E27FC236}">
                <a16:creationId xmlns:a16="http://schemas.microsoft.com/office/drawing/2014/main" id="{7369FEEA-0A70-625A-F299-85F5717313ED}"/>
              </a:ext>
            </a:extLst>
          </p:cNvPr>
          <p:cNvSpPr/>
          <p:nvPr userDrawn="1"/>
        </p:nvSpPr>
        <p:spPr>
          <a:xfrm>
            <a:off x="8940336" y="2536155"/>
            <a:ext cx="92044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Insurance</a:t>
            </a:r>
          </a:p>
        </p:txBody>
      </p:sp>
      <p:sp>
        <p:nvSpPr>
          <p:cNvPr id="46" name="Rectangle 45">
            <a:extLst>
              <a:ext uri="{FF2B5EF4-FFF2-40B4-BE49-F238E27FC236}">
                <a16:creationId xmlns:a16="http://schemas.microsoft.com/office/drawing/2014/main" id="{1C20C521-CA24-5C12-B8C2-79086EA9F62A}"/>
              </a:ext>
            </a:extLst>
          </p:cNvPr>
          <p:cNvSpPr/>
          <p:nvPr userDrawn="1"/>
        </p:nvSpPr>
        <p:spPr>
          <a:xfrm>
            <a:off x="10749910" y="2536155"/>
            <a:ext cx="69602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Energy</a:t>
            </a:r>
          </a:p>
        </p:txBody>
      </p:sp>
      <p:sp>
        <p:nvSpPr>
          <p:cNvPr id="67" name="TextBox 66">
            <a:extLst>
              <a:ext uri="{FF2B5EF4-FFF2-40B4-BE49-F238E27FC236}">
                <a16:creationId xmlns:a16="http://schemas.microsoft.com/office/drawing/2014/main" id="{0062B41C-1C8F-DF40-D974-BC2477A7730C}"/>
              </a:ext>
            </a:extLst>
          </p:cNvPr>
          <p:cNvSpPr txBox="1"/>
          <p:nvPr userDrawn="1"/>
        </p:nvSpPr>
        <p:spPr>
          <a:xfrm>
            <a:off x="1334697" y="2850282"/>
            <a:ext cx="96305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Services</a:t>
            </a: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1ADB7D21-5E76-16EE-F01D-5AA11F424F71}"/>
              </a:ext>
            </a:extLst>
          </p:cNvPr>
          <p:cNvSpPr txBox="1"/>
          <p:nvPr userDrawn="1"/>
        </p:nvSpPr>
        <p:spPr>
          <a:xfrm>
            <a:off x="6613406" y="2850282"/>
            <a:ext cx="126503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Solutions</a:t>
            </a:r>
          </a:p>
        </p:txBody>
      </p:sp>
      <p:sp>
        <p:nvSpPr>
          <p:cNvPr id="74" name="Rectangle 73">
            <a:extLst>
              <a:ext uri="{FF2B5EF4-FFF2-40B4-BE49-F238E27FC236}">
                <a16:creationId xmlns:a16="http://schemas.microsoft.com/office/drawing/2014/main" id="{C3C90B11-7288-C103-5855-43C5342BA0E1}"/>
              </a:ext>
            </a:extLst>
          </p:cNvPr>
          <p:cNvSpPr/>
          <p:nvPr userDrawn="1"/>
        </p:nvSpPr>
        <p:spPr>
          <a:xfrm>
            <a:off x="1454268" y="3502184"/>
            <a:ext cx="1081191"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Digital</a:t>
            </a:r>
          </a:p>
        </p:txBody>
      </p:sp>
      <p:sp>
        <p:nvSpPr>
          <p:cNvPr id="86" name="Rectangle 85">
            <a:extLst>
              <a:ext uri="{FF2B5EF4-FFF2-40B4-BE49-F238E27FC236}">
                <a16:creationId xmlns:a16="http://schemas.microsoft.com/office/drawing/2014/main" id="{B98A1B30-AF01-66B9-6092-CB0E03F58AE1}"/>
              </a:ext>
            </a:extLst>
          </p:cNvPr>
          <p:cNvSpPr/>
          <p:nvPr userDrawn="1"/>
        </p:nvSpPr>
        <p:spPr>
          <a:xfrm>
            <a:off x="4667975" y="3445840"/>
            <a:ext cx="1120994" cy="430887"/>
          </a:xfrm>
          <a:prstGeom prst="rect">
            <a:avLst/>
          </a:prstGeom>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Digital</a:t>
            </a:r>
            <a:br>
              <a:rPr lang="sk-SK" sz="1100" dirty="0">
                <a:solidFill>
                  <a:schemeClr val="bg1"/>
                </a:solidFill>
                <a:latin typeface="Century Gothic" panose="020B0502020202020204" pitchFamily="34" charset="0"/>
              </a:rPr>
            </a:br>
            <a:r>
              <a:rPr lang="en-US" sz="1100" dirty="0">
                <a:solidFill>
                  <a:schemeClr val="bg1"/>
                </a:solidFill>
                <a:latin typeface="Century Gothic" panose="020B0502020202020204" pitchFamily="34" charset="0"/>
              </a:rPr>
              <a:t>Innovation</a:t>
            </a:r>
          </a:p>
        </p:txBody>
      </p:sp>
      <p:sp>
        <p:nvSpPr>
          <p:cNvPr id="114" name="Rectangle 113">
            <a:extLst>
              <a:ext uri="{FF2B5EF4-FFF2-40B4-BE49-F238E27FC236}">
                <a16:creationId xmlns:a16="http://schemas.microsoft.com/office/drawing/2014/main" id="{93CF20D5-92B1-FADF-A36C-8058EA70960A}"/>
              </a:ext>
            </a:extLst>
          </p:cNvPr>
          <p:cNvSpPr/>
          <p:nvPr userDrawn="1"/>
        </p:nvSpPr>
        <p:spPr>
          <a:xfrm>
            <a:off x="6977706" y="3445840"/>
            <a:ext cx="1170949" cy="430887"/>
          </a:xfrm>
          <a:prstGeom prst="rect">
            <a:avLst/>
          </a:prstGeom>
        </p:spPr>
        <p:txBody>
          <a:bodyPr wrap="square" lIns="144000">
            <a:spAutoFit/>
          </a:bodyPr>
          <a:lstStyle/>
          <a:p>
            <a:pPr algn="l"/>
            <a:r>
              <a:rPr lang="en-US" sz="1100" dirty="0">
                <a:solidFill>
                  <a:srgbClr val="FFFFFF"/>
                </a:solidFill>
                <a:latin typeface="Century Gothic" panose="020B0502020202020204" pitchFamily="34" charset="0"/>
              </a:rPr>
              <a:t>Digital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Engineering</a:t>
            </a:r>
            <a:endParaRPr lang="en-US" sz="1600" dirty="0"/>
          </a:p>
        </p:txBody>
      </p:sp>
      <p:sp>
        <p:nvSpPr>
          <p:cNvPr id="151" name="Rectangle 150">
            <a:extLst>
              <a:ext uri="{FF2B5EF4-FFF2-40B4-BE49-F238E27FC236}">
                <a16:creationId xmlns:a16="http://schemas.microsoft.com/office/drawing/2014/main" id="{6B46820D-A71B-7E3D-B24E-F29A9C605AEB}"/>
              </a:ext>
            </a:extLst>
          </p:cNvPr>
          <p:cNvSpPr/>
          <p:nvPr userDrawn="1"/>
        </p:nvSpPr>
        <p:spPr>
          <a:xfrm>
            <a:off x="9091520" y="3445840"/>
            <a:ext cx="1122597" cy="430887"/>
          </a:xfrm>
          <a:prstGeom prst="rect">
            <a:avLst/>
          </a:prstGeom>
        </p:spPr>
        <p:txBody>
          <a:bodyPr wrap="square" lIns="144000">
            <a:spAutoFit/>
          </a:bodyPr>
          <a:lstStyle/>
          <a:p>
            <a:pPr algn="l"/>
            <a:r>
              <a:rPr lang="en-US" sz="1100" dirty="0">
                <a:solidFill>
                  <a:srgbClr val="FFFFFF"/>
                </a:solidFill>
                <a:latin typeface="Century Gothic" panose="020B0502020202020204" pitchFamily="34" charset="0"/>
              </a:rPr>
              <a:t>Data </a:t>
            </a:r>
            <a:br>
              <a:rPr lang="sk-SK"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&amp;</a:t>
            </a:r>
            <a:r>
              <a:rPr lang="sk-SK" sz="1100" dirty="0">
                <a:solidFill>
                  <a:srgbClr val="FFFFFF"/>
                </a:solidFill>
                <a:latin typeface="Century Gothic" panose="020B0502020202020204" pitchFamily="34" charset="0"/>
              </a:rPr>
              <a:t> </a:t>
            </a:r>
            <a:r>
              <a:rPr lang="en-US" sz="1100" dirty="0">
                <a:solidFill>
                  <a:srgbClr val="FFFFFF"/>
                </a:solidFill>
                <a:latin typeface="Century Gothic" panose="020B0502020202020204" pitchFamily="34" charset="0"/>
              </a:rPr>
              <a:t>Analytics</a:t>
            </a:r>
            <a:endParaRPr lang="en-US" sz="1600" dirty="0"/>
          </a:p>
        </p:txBody>
      </p:sp>
      <p:sp>
        <p:nvSpPr>
          <p:cNvPr id="152" name="Rectangle 151">
            <a:extLst>
              <a:ext uri="{FF2B5EF4-FFF2-40B4-BE49-F238E27FC236}">
                <a16:creationId xmlns:a16="http://schemas.microsoft.com/office/drawing/2014/main" id="{FFEC0064-586F-98F4-BDDF-C33789EAF57B}"/>
              </a:ext>
            </a:extLst>
          </p:cNvPr>
          <p:cNvSpPr/>
          <p:nvPr userDrawn="1"/>
        </p:nvSpPr>
        <p:spPr>
          <a:xfrm>
            <a:off x="1454268" y="4533061"/>
            <a:ext cx="1526881"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Consulting</a:t>
            </a:r>
          </a:p>
        </p:txBody>
      </p:sp>
      <p:sp>
        <p:nvSpPr>
          <p:cNvPr id="153" name="Rectangle 152">
            <a:extLst>
              <a:ext uri="{FF2B5EF4-FFF2-40B4-BE49-F238E27FC236}">
                <a16:creationId xmlns:a16="http://schemas.microsoft.com/office/drawing/2014/main" id="{232BA6A0-74A7-2B25-581D-4872AC2EA04F}"/>
              </a:ext>
            </a:extLst>
          </p:cNvPr>
          <p:cNvSpPr/>
          <p:nvPr userDrawn="1"/>
        </p:nvSpPr>
        <p:spPr>
          <a:xfrm>
            <a:off x="3837761" y="4561357"/>
            <a:ext cx="898176" cy="261610"/>
          </a:xfrm>
          <a:prstGeom prst="rect">
            <a:avLst/>
          </a:prstGeom>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Strategy</a:t>
            </a:r>
          </a:p>
        </p:txBody>
      </p:sp>
      <p:sp>
        <p:nvSpPr>
          <p:cNvPr id="154" name="Rectangle 153">
            <a:extLst>
              <a:ext uri="{FF2B5EF4-FFF2-40B4-BE49-F238E27FC236}">
                <a16:creationId xmlns:a16="http://schemas.microsoft.com/office/drawing/2014/main" id="{DF833112-B608-36E0-E946-A7389D4D4E52}"/>
              </a:ext>
            </a:extLst>
          </p:cNvPr>
          <p:cNvSpPr/>
          <p:nvPr userDrawn="1"/>
        </p:nvSpPr>
        <p:spPr>
          <a:xfrm>
            <a:off x="5751902" y="4476718"/>
            <a:ext cx="1526554"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Transformation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Services</a:t>
            </a:r>
          </a:p>
        </p:txBody>
      </p:sp>
      <p:sp>
        <p:nvSpPr>
          <p:cNvPr id="155" name="Rectangle 154">
            <a:extLst>
              <a:ext uri="{FF2B5EF4-FFF2-40B4-BE49-F238E27FC236}">
                <a16:creationId xmlns:a16="http://schemas.microsoft.com/office/drawing/2014/main" id="{17E21EBB-9085-35B9-3D53-5940968F92B0}"/>
              </a:ext>
            </a:extLst>
          </p:cNvPr>
          <p:cNvSpPr/>
          <p:nvPr userDrawn="1"/>
        </p:nvSpPr>
        <p:spPr>
          <a:xfrm>
            <a:off x="8318999" y="4476718"/>
            <a:ext cx="894970"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Change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Services</a:t>
            </a:r>
          </a:p>
        </p:txBody>
      </p:sp>
      <p:sp>
        <p:nvSpPr>
          <p:cNvPr id="156" name="Rectangle 155">
            <a:extLst>
              <a:ext uri="{FF2B5EF4-FFF2-40B4-BE49-F238E27FC236}">
                <a16:creationId xmlns:a16="http://schemas.microsoft.com/office/drawing/2014/main" id="{D573F401-B904-9559-BEA8-BD4C99513EEE}"/>
              </a:ext>
            </a:extLst>
          </p:cNvPr>
          <p:cNvSpPr/>
          <p:nvPr userDrawn="1"/>
        </p:nvSpPr>
        <p:spPr>
          <a:xfrm>
            <a:off x="10170587" y="4476718"/>
            <a:ext cx="1476462"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Risk, Regulatory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&amp; Compliance</a:t>
            </a:r>
          </a:p>
        </p:txBody>
      </p:sp>
      <p:sp>
        <p:nvSpPr>
          <p:cNvPr id="157" name="Rectangle 156">
            <a:extLst>
              <a:ext uri="{FF2B5EF4-FFF2-40B4-BE49-F238E27FC236}">
                <a16:creationId xmlns:a16="http://schemas.microsoft.com/office/drawing/2014/main" id="{09C2046D-4C70-71EF-30BB-B4BAC69ABE0C}"/>
              </a:ext>
            </a:extLst>
          </p:cNvPr>
          <p:cNvSpPr/>
          <p:nvPr userDrawn="1"/>
        </p:nvSpPr>
        <p:spPr>
          <a:xfrm>
            <a:off x="1454268" y="5563940"/>
            <a:ext cx="1671059"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Technology</a:t>
            </a:r>
          </a:p>
        </p:txBody>
      </p:sp>
      <p:sp>
        <p:nvSpPr>
          <p:cNvPr id="158" name="Rectangle 157">
            <a:extLst>
              <a:ext uri="{FF2B5EF4-FFF2-40B4-BE49-F238E27FC236}">
                <a16:creationId xmlns:a16="http://schemas.microsoft.com/office/drawing/2014/main" id="{499C51B1-ACFD-5042-5B4E-0EBEEA1F06DA}"/>
              </a:ext>
            </a:extLst>
          </p:cNvPr>
          <p:cNvSpPr/>
          <p:nvPr userDrawn="1"/>
        </p:nvSpPr>
        <p:spPr>
          <a:xfrm>
            <a:off x="4626297" y="5507597"/>
            <a:ext cx="1204350" cy="430887"/>
          </a:xfrm>
          <a:prstGeom prst="rect">
            <a:avLst/>
          </a:prstGeom>
          <a:noFill/>
        </p:spPr>
        <p:txBody>
          <a:bodyPr wrap="square" lIns="144000">
            <a:spAutoFit/>
          </a:bodyPr>
          <a:lstStyle/>
          <a:p>
            <a:pPr algn="l"/>
            <a:r>
              <a:rPr lang="en-US" sz="1100" dirty="0">
                <a:solidFill>
                  <a:srgbClr val="FFFFFF"/>
                </a:solidFill>
                <a:latin typeface="Century Gothic" panose="020B0502020202020204" pitchFamily="34" charset="0"/>
              </a:rPr>
              <a:t>Technology</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Advisory </a:t>
            </a:r>
            <a:endParaRPr lang="en-US" sz="1600" dirty="0"/>
          </a:p>
        </p:txBody>
      </p:sp>
      <p:sp>
        <p:nvSpPr>
          <p:cNvPr id="159" name="Rectangle 158">
            <a:extLst>
              <a:ext uri="{FF2B5EF4-FFF2-40B4-BE49-F238E27FC236}">
                <a16:creationId xmlns:a16="http://schemas.microsoft.com/office/drawing/2014/main" id="{59FD8900-5DCA-96FD-9942-1EFD9FF56786}"/>
              </a:ext>
            </a:extLst>
          </p:cNvPr>
          <p:cNvSpPr/>
          <p:nvPr userDrawn="1"/>
        </p:nvSpPr>
        <p:spPr>
          <a:xfrm>
            <a:off x="6997695" y="5507597"/>
            <a:ext cx="1201543" cy="430887"/>
          </a:xfrm>
          <a:prstGeom prst="rect">
            <a:avLst/>
          </a:prstGeom>
          <a:noFill/>
        </p:spPr>
        <p:txBody>
          <a:bodyPr wrap="square" lIns="144000">
            <a:spAutoFit/>
          </a:bodyPr>
          <a:lstStyle/>
          <a:p>
            <a:pPr algn="l"/>
            <a:r>
              <a:rPr lang="en-US" sz="1100" dirty="0">
                <a:solidFill>
                  <a:srgbClr val="FFFFFF"/>
                </a:solidFill>
                <a:latin typeface="Century Gothic" panose="020B0502020202020204" pitchFamily="34" charset="0"/>
              </a:rPr>
              <a:t>Systems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Integration </a:t>
            </a:r>
            <a:endParaRPr lang="en-US" sz="1600" dirty="0"/>
          </a:p>
        </p:txBody>
      </p:sp>
      <p:sp>
        <p:nvSpPr>
          <p:cNvPr id="160" name="Rectangle 159">
            <a:extLst>
              <a:ext uri="{FF2B5EF4-FFF2-40B4-BE49-F238E27FC236}">
                <a16:creationId xmlns:a16="http://schemas.microsoft.com/office/drawing/2014/main" id="{F2543DA5-DA8F-8540-1D55-B1378ACD51DA}"/>
              </a:ext>
            </a:extLst>
          </p:cNvPr>
          <p:cNvSpPr/>
          <p:nvPr userDrawn="1"/>
        </p:nvSpPr>
        <p:spPr>
          <a:xfrm>
            <a:off x="9190773" y="5507597"/>
            <a:ext cx="861308" cy="430887"/>
          </a:xfrm>
          <a:prstGeom prst="rect">
            <a:avLst/>
          </a:prstGeom>
          <a:noFill/>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Security</a:t>
            </a:r>
            <a:br>
              <a:rPr lang="sk-SK" sz="1100" dirty="0">
                <a:solidFill>
                  <a:schemeClr val="bg1"/>
                </a:solidFill>
                <a:latin typeface="Century Gothic" panose="020B0502020202020204" pitchFamily="34" charset="0"/>
              </a:rPr>
            </a:br>
            <a:r>
              <a:rPr lang="en-US" sz="1100" dirty="0">
                <a:solidFill>
                  <a:schemeClr val="bg1"/>
                </a:solidFill>
                <a:latin typeface="Century Gothic" panose="020B0502020202020204" pitchFamily="34" charset="0"/>
              </a:rPr>
              <a:t>Services</a:t>
            </a:r>
          </a:p>
        </p:txBody>
      </p:sp>
      <p:grpSp>
        <p:nvGrpSpPr>
          <p:cNvPr id="161" name="Group 160">
            <a:extLst>
              <a:ext uri="{FF2B5EF4-FFF2-40B4-BE49-F238E27FC236}">
                <a16:creationId xmlns:a16="http://schemas.microsoft.com/office/drawing/2014/main" id="{0BB0BABD-E6A2-2654-76B4-7C26B03F1832}"/>
              </a:ext>
              <a:ext uri="{C183D7F6-B498-43B3-948B-1728B52AA6E4}">
                <adec:decorative xmlns:adec="http://schemas.microsoft.com/office/drawing/2017/decorative" val="1"/>
              </a:ext>
            </a:extLst>
          </p:cNvPr>
          <p:cNvGrpSpPr/>
          <p:nvPr userDrawn="1"/>
        </p:nvGrpSpPr>
        <p:grpSpPr>
          <a:xfrm>
            <a:off x="670282" y="4296162"/>
            <a:ext cx="792000" cy="792000"/>
            <a:chOff x="616942" y="4046295"/>
            <a:chExt cx="792000" cy="792000"/>
          </a:xfrm>
        </p:grpSpPr>
        <p:sp>
          <p:nvSpPr>
            <p:cNvPr id="162" name="Oval 161">
              <a:extLst>
                <a:ext uri="{FF2B5EF4-FFF2-40B4-BE49-F238E27FC236}">
                  <a16:creationId xmlns:a16="http://schemas.microsoft.com/office/drawing/2014/main" id="{EBA9A2E9-87F3-2E93-5281-87F7632A5636}"/>
                </a:ext>
              </a:extLst>
            </p:cNvPr>
            <p:cNvSpPr/>
            <p:nvPr userDrawn="1"/>
          </p:nvSpPr>
          <p:spPr>
            <a:xfrm>
              <a:off x="616942" y="4046295"/>
              <a:ext cx="792000" cy="79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63" name="Graphic 9">
              <a:extLst>
                <a:ext uri="{FF2B5EF4-FFF2-40B4-BE49-F238E27FC236}">
                  <a16:creationId xmlns:a16="http://schemas.microsoft.com/office/drawing/2014/main" id="{7BF49959-E9F9-BAF5-87E5-3EFC2FB5B9A4}"/>
                </a:ext>
              </a:extLst>
            </p:cNvPr>
            <p:cNvGrpSpPr/>
            <p:nvPr userDrawn="1"/>
          </p:nvGrpSpPr>
          <p:grpSpPr>
            <a:xfrm>
              <a:off x="767323" y="4304367"/>
              <a:ext cx="491239" cy="275856"/>
              <a:chOff x="11621209" y="1849943"/>
              <a:chExt cx="603193" cy="338726"/>
            </a:xfrm>
            <a:noFill/>
          </p:grpSpPr>
          <p:grpSp>
            <p:nvGrpSpPr>
              <p:cNvPr id="164" name="Graphic 9">
                <a:extLst>
                  <a:ext uri="{FF2B5EF4-FFF2-40B4-BE49-F238E27FC236}">
                    <a16:creationId xmlns:a16="http://schemas.microsoft.com/office/drawing/2014/main" id="{8F9F3297-1DCF-751A-E003-F6C9067F5DA0}"/>
                  </a:ext>
                </a:extLst>
              </p:cNvPr>
              <p:cNvGrpSpPr/>
              <p:nvPr/>
            </p:nvGrpSpPr>
            <p:grpSpPr>
              <a:xfrm>
                <a:off x="11755527" y="1849943"/>
                <a:ext cx="325698" cy="338726"/>
                <a:chOff x="11755527" y="1849943"/>
                <a:chExt cx="325698" cy="338726"/>
              </a:xfrm>
              <a:noFill/>
            </p:grpSpPr>
            <p:sp>
              <p:nvSpPr>
                <p:cNvPr id="173" name="Freeform: Shape 352">
                  <a:extLst>
                    <a:ext uri="{FF2B5EF4-FFF2-40B4-BE49-F238E27FC236}">
                      <a16:creationId xmlns:a16="http://schemas.microsoft.com/office/drawing/2014/main" id="{2A93D96A-9E6A-22B5-9BB1-C0F0A4FF9F68}"/>
                    </a:ext>
                  </a:extLst>
                </p:cNvPr>
                <p:cNvSpPr/>
                <p:nvPr/>
              </p:nvSpPr>
              <p:spPr>
                <a:xfrm>
                  <a:off x="11770249" y="1849943"/>
                  <a:ext cx="312671" cy="338726"/>
                </a:xfrm>
                <a:custGeom>
                  <a:avLst/>
                  <a:gdLst>
                    <a:gd name="connsiteX0" fmla="*/ 315145 w 312670"/>
                    <a:gd name="connsiteY0" fmla="*/ 344850 h 338726"/>
                    <a:gd name="connsiteX1" fmla="*/ 315145 w 312670"/>
                    <a:gd name="connsiteY1" fmla="*/ 301206 h 338726"/>
                    <a:gd name="connsiteX2" fmla="*/ 300294 w 312670"/>
                    <a:gd name="connsiteY2" fmla="*/ 269809 h 338726"/>
                    <a:gd name="connsiteX3" fmla="*/ 211443 w 312670"/>
                    <a:gd name="connsiteY3" fmla="*/ 212225 h 338726"/>
                    <a:gd name="connsiteX4" fmla="*/ 211443 w 312670"/>
                    <a:gd name="connsiteY4" fmla="*/ 159723 h 338726"/>
                    <a:gd name="connsiteX5" fmla="*/ 224211 w 312670"/>
                    <a:gd name="connsiteY5" fmla="*/ 131061 h 338726"/>
                    <a:gd name="connsiteX6" fmla="*/ 224211 w 312670"/>
                    <a:gd name="connsiteY6" fmla="*/ 67224 h 338726"/>
                    <a:gd name="connsiteX7" fmla="*/ 156987 w 312670"/>
                    <a:gd name="connsiteY7" fmla="*/ 0 h 338726"/>
                    <a:gd name="connsiteX8" fmla="*/ 143307 w 312670"/>
                    <a:gd name="connsiteY8" fmla="*/ 0 h 338726"/>
                    <a:gd name="connsiteX9" fmla="*/ 76083 w 312670"/>
                    <a:gd name="connsiteY9" fmla="*/ 67224 h 338726"/>
                    <a:gd name="connsiteX10" fmla="*/ 76083 w 312670"/>
                    <a:gd name="connsiteY10" fmla="*/ 131061 h 338726"/>
                    <a:gd name="connsiteX11" fmla="*/ 88850 w 312670"/>
                    <a:gd name="connsiteY11" fmla="*/ 159723 h 338726"/>
                    <a:gd name="connsiteX12" fmla="*/ 88850 w 312670"/>
                    <a:gd name="connsiteY12" fmla="*/ 212225 h 338726"/>
                    <a:gd name="connsiteX13" fmla="*/ 0 w 312670"/>
                    <a:gd name="connsiteY13" fmla="*/ 269939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2670" h="338726">
                      <a:moveTo>
                        <a:pt x="315145" y="344850"/>
                      </a:moveTo>
                      <a:lnTo>
                        <a:pt x="315145" y="301206"/>
                      </a:lnTo>
                      <a:cubicBezTo>
                        <a:pt x="315145" y="288960"/>
                        <a:pt x="309674" y="277495"/>
                        <a:pt x="300294" y="269809"/>
                      </a:cubicBezTo>
                      <a:cubicBezTo>
                        <a:pt x="264207" y="240105"/>
                        <a:pt x="225383" y="219391"/>
                        <a:pt x="211443" y="212225"/>
                      </a:cubicBezTo>
                      <a:lnTo>
                        <a:pt x="211443" y="159723"/>
                      </a:lnTo>
                      <a:cubicBezTo>
                        <a:pt x="219520" y="152427"/>
                        <a:pt x="224211" y="142135"/>
                        <a:pt x="224211" y="131061"/>
                      </a:cubicBezTo>
                      <a:lnTo>
                        <a:pt x="224211" y="67224"/>
                      </a:lnTo>
                      <a:cubicBezTo>
                        <a:pt x="224211" y="30095"/>
                        <a:pt x="193986" y="0"/>
                        <a:pt x="156987" y="0"/>
                      </a:cubicBezTo>
                      <a:lnTo>
                        <a:pt x="143307" y="0"/>
                      </a:lnTo>
                      <a:cubicBezTo>
                        <a:pt x="106178" y="0"/>
                        <a:pt x="76083" y="30225"/>
                        <a:pt x="76083" y="67224"/>
                      </a:cubicBezTo>
                      <a:lnTo>
                        <a:pt x="76083" y="131061"/>
                      </a:lnTo>
                      <a:cubicBezTo>
                        <a:pt x="76083" y="142135"/>
                        <a:pt x="80773" y="152427"/>
                        <a:pt x="88850" y="159723"/>
                      </a:cubicBezTo>
                      <a:lnTo>
                        <a:pt x="88850" y="212225"/>
                      </a:lnTo>
                      <a:cubicBezTo>
                        <a:pt x="74911" y="219391"/>
                        <a:pt x="36218" y="240235"/>
                        <a:pt x="0" y="269939"/>
                      </a:cubicBezTo>
                    </a:path>
                  </a:pathLst>
                </a:custGeom>
                <a:noFill/>
                <a:ln w="12700" cap="flat">
                  <a:solidFill>
                    <a:schemeClr val="bg1"/>
                  </a:solidFill>
                  <a:prstDash val="solid"/>
                  <a:round/>
                </a:ln>
              </p:spPr>
              <p:txBody>
                <a:bodyPr rtlCol="0" anchor="ctr"/>
                <a:lstStyle/>
                <a:p>
                  <a:endParaRPr lang="en-GB" sz="1600" dirty="0"/>
                </a:p>
              </p:txBody>
            </p:sp>
            <p:sp>
              <p:nvSpPr>
                <p:cNvPr id="174" name="Freeform: Shape 353">
                  <a:extLst>
                    <a:ext uri="{FF2B5EF4-FFF2-40B4-BE49-F238E27FC236}">
                      <a16:creationId xmlns:a16="http://schemas.microsoft.com/office/drawing/2014/main" id="{453A7E74-A067-2B20-A970-48F1F00E34E9}"/>
                    </a:ext>
                  </a:extLst>
                </p:cNvPr>
                <p:cNvSpPr/>
                <p:nvPr/>
              </p:nvSpPr>
              <p:spPr>
                <a:xfrm>
                  <a:off x="11755527" y="2119751"/>
                  <a:ext cx="13028" cy="65140"/>
                </a:xfrm>
                <a:custGeom>
                  <a:avLst/>
                  <a:gdLst>
                    <a:gd name="connsiteX0" fmla="*/ 14852 w 13027"/>
                    <a:gd name="connsiteY0" fmla="*/ 0 h 65139"/>
                    <a:gd name="connsiteX1" fmla="*/ 0 w 13027"/>
                    <a:gd name="connsiteY1" fmla="*/ 31397 h 65139"/>
                    <a:gd name="connsiteX2" fmla="*/ 0 w 13027"/>
                    <a:gd name="connsiteY2" fmla="*/ 75041 h 65139"/>
                  </a:gdLst>
                  <a:ahLst/>
                  <a:cxnLst>
                    <a:cxn ang="0">
                      <a:pos x="connsiteX0" y="connsiteY0"/>
                    </a:cxn>
                    <a:cxn ang="0">
                      <a:pos x="connsiteX1" y="connsiteY1"/>
                    </a:cxn>
                    <a:cxn ang="0">
                      <a:pos x="connsiteX2" y="connsiteY2"/>
                    </a:cxn>
                  </a:cxnLst>
                  <a:rect l="l" t="t" r="r" b="b"/>
                  <a:pathLst>
                    <a:path w="13027" h="65139">
                      <a:moveTo>
                        <a:pt x="14852" y="0"/>
                      </a:moveTo>
                      <a:cubicBezTo>
                        <a:pt x="5472" y="7686"/>
                        <a:pt x="0" y="19281"/>
                        <a:pt x="0" y="31397"/>
                      </a:cubicBezTo>
                      <a:lnTo>
                        <a:pt x="0" y="75041"/>
                      </a:lnTo>
                    </a:path>
                  </a:pathLst>
                </a:custGeom>
                <a:noFill/>
                <a:ln w="12700" cap="flat">
                  <a:solidFill>
                    <a:schemeClr val="bg1"/>
                  </a:solidFill>
                  <a:prstDash val="solid"/>
                  <a:round/>
                </a:ln>
              </p:spPr>
              <p:txBody>
                <a:bodyPr rtlCol="0" anchor="ctr"/>
                <a:lstStyle/>
                <a:p>
                  <a:endParaRPr lang="en-GB" sz="1600" dirty="0"/>
                </a:p>
              </p:txBody>
            </p:sp>
          </p:grpSp>
          <p:grpSp>
            <p:nvGrpSpPr>
              <p:cNvPr id="165" name="Graphic 9">
                <a:extLst>
                  <a:ext uri="{FF2B5EF4-FFF2-40B4-BE49-F238E27FC236}">
                    <a16:creationId xmlns:a16="http://schemas.microsoft.com/office/drawing/2014/main" id="{F3E1624B-69C6-1F4B-1EE9-2B30C2E4F6B0}"/>
                  </a:ext>
                </a:extLst>
              </p:cNvPr>
              <p:cNvGrpSpPr/>
              <p:nvPr/>
            </p:nvGrpSpPr>
            <p:grpSpPr>
              <a:xfrm>
                <a:off x="12094123" y="1897495"/>
                <a:ext cx="130279" cy="52112"/>
                <a:chOff x="12094123" y="1897495"/>
                <a:chExt cx="130279" cy="52112"/>
              </a:xfrm>
              <a:noFill/>
            </p:grpSpPr>
            <p:grpSp>
              <p:nvGrpSpPr>
                <p:cNvPr id="169" name="Graphic 9">
                  <a:extLst>
                    <a:ext uri="{FF2B5EF4-FFF2-40B4-BE49-F238E27FC236}">
                      <a16:creationId xmlns:a16="http://schemas.microsoft.com/office/drawing/2014/main" id="{489E48E9-23D4-BB6D-CC9B-16A5DB4FD875}"/>
                    </a:ext>
                  </a:extLst>
                </p:cNvPr>
                <p:cNvGrpSpPr/>
                <p:nvPr/>
              </p:nvGrpSpPr>
              <p:grpSpPr>
                <a:xfrm>
                  <a:off x="12094123" y="1897495"/>
                  <a:ext cx="130279" cy="52112"/>
                  <a:chOff x="12094123" y="1897495"/>
                  <a:chExt cx="130279" cy="52112"/>
                </a:xfrm>
              </p:grpSpPr>
              <p:sp>
                <p:nvSpPr>
                  <p:cNvPr id="171" name="Freeform: Shape 356">
                    <a:extLst>
                      <a:ext uri="{FF2B5EF4-FFF2-40B4-BE49-F238E27FC236}">
                        <a16:creationId xmlns:a16="http://schemas.microsoft.com/office/drawing/2014/main" id="{A0C05004-EED4-121A-ED7B-45D74C17C124}"/>
                      </a:ext>
                    </a:extLst>
                  </p:cNvPr>
                  <p:cNvSpPr/>
                  <p:nvPr/>
                </p:nvSpPr>
                <p:spPr>
                  <a:xfrm>
                    <a:off x="12094123" y="1897495"/>
                    <a:ext cx="130279" cy="13028"/>
                  </a:xfrm>
                  <a:custGeom>
                    <a:avLst/>
                    <a:gdLst>
                      <a:gd name="connsiteX0" fmla="*/ 131061 w 130279"/>
                      <a:gd name="connsiteY0" fmla="*/ 0 h 0"/>
                      <a:gd name="connsiteX1" fmla="*/ 0 w 130279"/>
                      <a:gd name="connsiteY1" fmla="*/ 0 h 0"/>
                    </a:gdLst>
                    <a:ahLst/>
                    <a:cxnLst>
                      <a:cxn ang="0">
                        <a:pos x="connsiteX0" y="connsiteY0"/>
                      </a:cxn>
                      <a:cxn ang="0">
                        <a:pos x="connsiteX1" y="connsiteY1"/>
                      </a:cxn>
                    </a:cxnLst>
                    <a:rect l="l" t="t" r="r" b="b"/>
                    <a:pathLst>
                      <a:path w="130279">
                        <a:moveTo>
                          <a:pt x="131061" y="0"/>
                        </a:moveTo>
                        <a:lnTo>
                          <a:pt x="0" y="0"/>
                        </a:lnTo>
                      </a:path>
                    </a:pathLst>
                  </a:custGeom>
                  <a:ln w="12700" cap="rnd">
                    <a:solidFill>
                      <a:schemeClr val="bg1"/>
                    </a:solidFill>
                    <a:prstDash val="solid"/>
                    <a:round/>
                  </a:ln>
                </p:spPr>
                <p:txBody>
                  <a:bodyPr rtlCol="0" anchor="ctr"/>
                  <a:lstStyle/>
                  <a:p>
                    <a:endParaRPr lang="en-GB" sz="1600" dirty="0"/>
                  </a:p>
                </p:txBody>
              </p:sp>
              <p:sp>
                <p:nvSpPr>
                  <p:cNvPr id="172" name="Freeform: Shape 357">
                    <a:extLst>
                      <a:ext uri="{FF2B5EF4-FFF2-40B4-BE49-F238E27FC236}">
                        <a16:creationId xmlns:a16="http://schemas.microsoft.com/office/drawing/2014/main" id="{3A8C8737-A9F1-71BA-4E4A-60BFC5B7913E}"/>
                      </a:ext>
                    </a:extLst>
                  </p:cNvPr>
                  <p:cNvSpPr/>
                  <p:nvPr/>
                </p:nvSpPr>
                <p:spPr>
                  <a:xfrm>
                    <a:off x="12094123" y="1950909"/>
                    <a:ext cx="130279" cy="13028"/>
                  </a:xfrm>
                  <a:custGeom>
                    <a:avLst/>
                    <a:gdLst>
                      <a:gd name="connsiteX0" fmla="*/ 131061 w 130279"/>
                      <a:gd name="connsiteY0" fmla="*/ 0 h 0"/>
                      <a:gd name="connsiteX1" fmla="*/ 0 w 130279"/>
                      <a:gd name="connsiteY1" fmla="*/ 0 h 0"/>
                    </a:gdLst>
                    <a:ahLst/>
                    <a:cxnLst>
                      <a:cxn ang="0">
                        <a:pos x="connsiteX0" y="connsiteY0"/>
                      </a:cxn>
                      <a:cxn ang="0">
                        <a:pos x="connsiteX1" y="connsiteY1"/>
                      </a:cxn>
                    </a:cxnLst>
                    <a:rect l="l" t="t" r="r" b="b"/>
                    <a:pathLst>
                      <a:path w="130279">
                        <a:moveTo>
                          <a:pt x="131061" y="0"/>
                        </a:moveTo>
                        <a:lnTo>
                          <a:pt x="0" y="0"/>
                        </a:lnTo>
                      </a:path>
                    </a:pathLst>
                  </a:custGeom>
                  <a:ln w="12700" cap="rnd">
                    <a:solidFill>
                      <a:schemeClr val="bg1"/>
                    </a:solidFill>
                    <a:prstDash val="solid"/>
                    <a:round/>
                  </a:ln>
                </p:spPr>
                <p:txBody>
                  <a:bodyPr rtlCol="0" anchor="ctr"/>
                  <a:lstStyle/>
                  <a:p>
                    <a:endParaRPr lang="en-GB" sz="1600" dirty="0"/>
                  </a:p>
                </p:txBody>
              </p:sp>
            </p:grpSp>
            <p:sp>
              <p:nvSpPr>
                <p:cNvPr id="170" name="Freeform: Shape 358">
                  <a:extLst>
                    <a:ext uri="{FF2B5EF4-FFF2-40B4-BE49-F238E27FC236}">
                      <a16:creationId xmlns:a16="http://schemas.microsoft.com/office/drawing/2014/main" id="{999BF37B-4411-40E3-84DE-E2D1306778DA}"/>
                    </a:ext>
                  </a:extLst>
                </p:cNvPr>
                <p:cNvSpPr/>
                <p:nvPr/>
              </p:nvSpPr>
              <p:spPr>
                <a:xfrm>
                  <a:off x="12040709" y="1838087"/>
                  <a:ext cx="234503" cy="195419"/>
                </a:xfrm>
                <a:custGeom>
                  <a:avLst/>
                  <a:gdLst>
                    <a:gd name="connsiteX0" fmla="*/ 237760 w 234502"/>
                    <a:gd name="connsiteY0" fmla="*/ 0 h 195419"/>
                    <a:gd name="connsiteX1" fmla="*/ 237760 w 234502"/>
                    <a:gd name="connsiteY1" fmla="*/ 167670 h 195419"/>
                    <a:gd name="connsiteX2" fmla="*/ 61753 w 234502"/>
                    <a:gd name="connsiteY2" fmla="*/ 167670 h 195419"/>
                    <a:gd name="connsiteX3" fmla="*/ 30095 w 234502"/>
                    <a:gd name="connsiteY3" fmla="*/ 203757 h 195419"/>
                    <a:gd name="connsiteX4" fmla="*/ 30095 w 234502"/>
                    <a:gd name="connsiteY4" fmla="*/ 167670 h 195419"/>
                    <a:gd name="connsiteX5" fmla="*/ 0 w 234502"/>
                    <a:gd name="connsiteY5" fmla="*/ 167670 h 195419"/>
                    <a:gd name="connsiteX6" fmla="*/ 0 w 234502"/>
                    <a:gd name="connsiteY6" fmla="*/ 0 h 19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502" h="195419">
                      <a:moveTo>
                        <a:pt x="237760" y="0"/>
                      </a:moveTo>
                      <a:lnTo>
                        <a:pt x="237760" y="167670"/>
                      </a:lnTo>
                      <a:lnTo>
                        <a:pt x="61753" y="167670"/>
                      </a:lnTo>
                      <a:lnTo>
                        <a:pt x="30095" y="203757"/>
                      </a:lnTo>
                      <a:lnTo>
                        <a:pt x="30095" y="167670"/>
                      </a:lnTo>
                      <a:lnTo>
                        <a:pt x="0" y="167670"/>
                      </a:lnTo>
                      <a:lnTo>
                        <a:pt x="0" y="0"/>
                      </a:lnTo>
                      <a:close/>
                    </a:path>
                  </a:pathLst>
                </a:custGeom>
                <a:noFill/>
                <a:ln w="12700" cap="rnd">
                  <a:solidFill>
                    <a:schemeClr val="bg1"/>
                  </a:solidFill>
                  <a:prstDash val="solid"/>
                  <a:round/>
                </a:ln>
              </p:spPr>
              <p:txBody>
                <a:bodyPr rtlCol="0" anchor="ctr"/>
                <a:lstStyle/>
                <a:p>
                  <a:endParaRPr lang="en-GB" sz="1600" dirty="0"/>
                </a:p>
              </p:txBody>
            </p:sp>
          </p:grpSp>
          <p:grpSp>
            <p:nvGrpSpPr>
              <p:cNvPr id="166" name="Graphic 9">
                <a:extLst>
                  <a:ext uri="{FF2B5EF4-FFF2-40B4-BE49-F238E27FC236}">
                    <a16:creationId xmlns:a16="http://schemas.microsoft.com/office/drawing/2014/main" id="{470F3305-F9B2-588A-51AD-5AC2D7298ABA}"/>
                  </a:ext>
                </a:extLst>
              </p:cNvPr>
              <p:cNvGrpSpPr/>
              <p:nvPr/>
            </p:nvGrpSpPr>
            <p:grpSpPr>
              <a:xfrm>
                <a:off x="11621209" y="1895801"/>
                <a:ext cx="195419" cy="273587"/>
                <a:chOff x="11621209" y="1895801"/>
                <a:chExt cx="195419" cy="273587"/>
              </a:xfrm>
              <a:noFill/>
            </p:grpSpPr>
            <p:sp>
              <p:nvSpPr>
                <p:cNvPr id="167" name="Freeform: Shape 360">
                  <a:extLst>
                    <a:ext uri="{FF2B5EF4-FFF2-40B4-BE49-F238E27FC236}">
                      <a16:creationId xmlns:a16="http://schemas.microsoft.com/office/drawing/2014/main" id="{3F54A01A-C0AD-1B04-158F-3EF8E90D24FA}"/>
                    </a:ext>
                  </a:extLst>
                </p:cNvPr>
                <p:cNvSpPr/>
                <p:nvPr/>
              </p:nvSpPr>
              <p:spPr>
                <a:xfrm>
                  <a:off x="11633586" y="1895801"/>
                  <a:ext cx="182391" cy="221475"/>
                </a:xfrm>
                <a:custGeom>
                  <a:avLst/>
                  <a:gdLst>
                    <a:gd name="connsiteX0" fmla="*/ 192032 w 182391"/>
                    <a:gd name="connsiteY0" fmla="*/ 184345 h 221474"/>
                    <a:gd name="connsiteX1" fmla="*/ 173532 w 182391"/>
                    <a:gd name="connsiteY1" fmla="*/ 174314 h 221474"/>
                    <a:gd name="connsiteX2" fmla="*/ 173532 w 182391"/>
                    <a:gd name="connsiteY2" fmla="*/ 131191 h 221474"/>
                    <a:gd name="connsiteX3" fmla="*/ 184085 w 182391"/>
                    <a:gd name="connsiteY3" fmla="*/ 107611 h 221474"/>
                    <a:gd name="connsiteX4" fmla="*/ 184085 w 182391"/>
                    <a:gd name="connsiteY4" fmla="*/ 55238 h 221474"/>
                    <a:gd name="connsiteX5" fmla="*/ 128847 w 182391"/>
                    <a:gd name="connsiteY5" fmla="*/ 0 h 221474"/>
                    <a:gd name="connsiteX6" fmla="*/ 117642 w 182391"/>
                    <a:gd name="connsiteY6" fmla="*/ 0 h 221474"/>
                    <a:gd name="connsiteX7" fmla="*/ 62404 w 182391"/>
                    <a:gd name="connsiteY7" fmla="*/ 55238 h 221474"/>
                    <a:gd name="connsiteX8" fmla="*/ 62404 w 182391"/>
                    <a:gd name="connsiteY8" fmla="*/ 107611 h 221474"/>
                    <a:gd name="connsiteX9" fmla="*/ 72957 w 182391"/>
                    <a:gd name="connsiteY9" fmla="*/ 131191 h 221474"/>
                    <a:gd name="connsiteX10" fmla="*/ 72957 w 182391"/>
                    <a:gd name="connsiteY10" fmla="*/ 174314 h 221474"/>
                    <a:gd name="connsiteX11" fmla="*/ 0 w 182391"/>
                    <a:gd name="connsiteY11" fmla="*/ 221736 h 22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391" h="221474">
                      <a:moveTo>
                        <a:pt x="192032" y="184345"/>
                      </a:moveTo>
                      <a:cubicBezTo>
                        <a:pt x="183954" y="179655"/>
                        <a:pt x="177440" y="176268"/>
                        <a:pt x="173532" y="174314"/>
                      </a:cubicBezTo>
                      <a:lnTo>
                        <a:pt x="173532" y="131191"/>
                      </a:lnTo>
                      <a:cubicBezTo>
                        <a:pt x="180177" y="125198"/>
                        <a:pt x="184085" y="116730"/>
                        <a:pt x="184085" y="107611"/>
                      </a:cubicBezTo>
                      <a:lnTo>
                        <a:pt x="184085" y="55238"/>
                      </a:lnTo>
                      <a:cubicBezTo>
                        <a:pt x="184085" y="24753"/>
                        <a:pt x="159332" y="0"/>
                        <a:pt x="128847" y="0"/>
                      </a:cubicBezTo>
                      <a:lnTo>
                        <a:pt x="117642" y="0"/>
                      </a:lnTo>
                      <a:cubicBezTo>
                        <a:pt x="87157" y="0"/>
                        <a:pt x="62404" y="24753"/>
                        <a:pt x="62404" y="55238"/>
                      </a:cubicBezTo>
                      <a:lnTo>
                        <a:pt x="62404" y="107611"/>
                      </a:lnTo>
                      <a:cubicBezTo>
                        <a:pt x="62404" y="116730"/>
                        <a:pt x="66312" y="125198"/>
                        <a:pt x="72957" y="131191"/>
                      </a:cubicBezTo>
                      <a:lnTo>
                        <a:pt x="72957" y="174314"/>
                      </a:lnTo>
                      <a:cubicBezTo>
                        <a:pt x="61492" y="180176"/>
                        <a:pt x="29704" y="197373"/>
                        <a:pt x="0" y="221736"/>
                      </a:cubicBezTo>
                    </a:path>
                  </a:pathLst>
                </a:custGeom>
                <a:noFill/>
                <a:ln w="12700" cap="flat">
                  <a:solidFill>
                    <a:schemeClr val="bg1"/>
                  </a:solidFill>
                  <a:prstDash val="solid"/>
                  <a:round/>
                </a:ln>
              </p:spPr>
              <p:txBody>
                <a:bodyPr rtlCol="0" anchor="ctr"/>
                <a:lstStyle/>
                <a:p>
                  <a:endParaRPr lang="en-GB" sz="1600" dirty="0"/>
                </a:p>
              </p:txBody>
            </p:sp>
            <p:sp>
              <p:nvSpPr>
                <p:cNvPr id="168" name="Freeform: Shape 361">
                  <a:extLst>
                    <a:ext uri="{FF2B5EF4-FFF2-40B4-BE49-F238E27FC236}">
                      <a16:creationId xmlns:a16="http://schemas.microsoft.com/office/drawing/2014/main" id="{9B80EA88-1018-35D1-08BE-B008AF5852DE}"/>
                    </a:ext>
                  </a:extLst>
                </p:cNvPr>
                <p:cNvSpPr/>
                <p:nvPr/>
              </p:nvSpPr>
              <p:spPr>
                <a:xfrm>
                  <a:off x="11621209" y="2117406"/>
                  <a:ext cx="13028" cy="52112"/>
                </a:xfrm>
                <a:custGeom>
                  <a:avLst/>
                  <a:gdLst>
                    <a:gd name="connsiteX0" fmla="*/ 12116 w 0"/>
                    <a:gd name="connsiteY0" fmla="*/ 0 h 52111"/>
                    <a:gd name="connsiteX1" fmla="*/ 0 w 0"/>
                    <a:gd name="connsiteY1" fmla="*/ 25795 h 52111"/>
                    <a:gd name="connsiteX2" fmla="*/ 0 w 0"/>
                    <a:gd name="connsiteY2" fmla="*/ 61622 h 52111"/>
                  </a:gdLst>
                  <a:ahLst/>
                  <a:cxnLst>
                    <a:cxn ang="0">
                      <a:pos x="connsiteX0" y="connsiteY0"/>
                    </a:cxn>
                    <a:cxn ang="0">
                      <a:pos x="connsiteX1" y="connsiteY1"/>
                    </a:cxn>
                    <a:cxn ang="0">
                      <a:pos x="connsiteX2" y="connsiteY2"/>
                    </a:cxn>
                  </a:cxnLst>
                  <a:rect l="l" t="t" r="r" b="b"/>
                  <a:pathLst>
                    <a:path h="52111">
                      <a:moveTo>
                        <a:pt x="12116" y="0"/>
                      </a:moveTo>
                      <a:cubicBezTo>
                        <a:pt x="4429" y="6253"/>
                        <a:pt x="0" y="15764"/>
                        <a:pt x="0" y="25795"/>
                      </a:cubicBezTo>
                      <a:lnTo>
                        <a:pt x="0" y="61622"/>
                      </a:lnTo>
                    </a:path>
                  </a:pathLst>
                </a:custGeom>
                <a:noFill/>
                <a:ln w="12700" cap="flat">
                  <a:solidFill>
                    <a:schemeClr val="bg1"/>
                  </a:solidFill>
                  <a:prstDash val="solid"/>
                  <a:round/>
                </a:ln>
              </p:spPr>
              <p:txBody>
                <a:bodyPr rtlCol="0" anchor="ctr"/>
                <a:lstStyle/>
                <a:p>
                  <a:endParaRPr lang="en-GB" sz="1600" dirty="0"/>
                </a:p>
              </p:txBody>
            </p:sp>
          </p:grpSp>
        </p:grpSp>
      </p:grpSp>
      <p:grpSp>
        <p:nvGrpSpPr>
          <p:cNvPr id="175" name="Group 174">
            <a:extLst>
              <a:ext uri="{FF2B5EF4-FFF2-40B4-BE49-F238E27FC236}">
                <a16:creationId xmlns:a16="http://schemas.microsoft.com/office/drawing/2014/main" id="{9A69DF41-B0F7-7FA6-F7E1-83FB47FF0397}"/>
              </a:ext>
              <a:ext uri="{C183D7F6-B498-43B3-948B-1728B52AA6E4}">
                <adec:decorative xmlns:adec="http://schemas.microsoft.com/office/drawing/2017/decorative" val="1"/>
              </a:ext>
            </a:extLst>
          </p:cNvPr>
          <p:cNvGrpSpPr/>
          <p:nvPr userDrawn="1"/>
        </p:nvGrpSpPr>
        <p:grpSpPr>
          <a:xfrm>
            <a:off x="9766229" y="4495759"/>
            <a:ext cx="404358" cy="392805"/>
            <a:chOff x="9871351" y="2517379"/>
            <a:chExt cx="463688" cy="450440"/>
          </a:xfrm>
        </p:grpSpPr>
        <p:sp>
          <p:nvSpPr>
            <p:cNvPr id="176" name="Freeform: Shape 190">
              <a:extLst>
                <a:ext uri="{FF2B5EF4-FFF2-40B4-BE49-F238E27FC236}">
                  <a16:creationId xmlns:a16="http://schemas.microsoft.com/office/drawing/2014/main" id="{91223F45-530C-7777-A721-0EB2DA3B5FF5}"/>
                </a:ext>
              </a:extLst>
            </p:cNvPr>
            <p:cNvSpPr/>
            <p:nvPr/>
          </p:nvSpPr>
          <p:spPr>
            <a:xfrm>
              <a:off x="10108097" y="2675961"/>
              <a:ext cx="13248" cy="158979"/>
            </a:xfrm>
            <a:custGeom>
              <a:avLst/>
              <a:gdLst>
                <a:gd name="connsiteX0" fmla="*/ 0 w 0"/>
                <a:gd name="connsiteY0" fmla="*/ 0 h 158978"/>
                <a:gd name="connsiteX1" fmla="*/ 0 w 0"/>
                <a:gd name="connsiteY1" fmla="*/ 163351 h 158978"/>
              </a:gdLst>
              <a:ahLst/>
              <a:cxnLst>
                <a:cxn ang="0">
                  <a:pos x="connsiteX0" y="connsiteY0"/>
                </a:cxn>
                <a:cxn ang="0">
                  <a:pos x="connsiteX1" y="connsiteY1"/>
                </a:cxn>
              </a:cxnLst>
              <a:rect l="l" t="t" r="r" b="b"/>
              <a:pathLst>
                <a:path h="158978">
                  <a:moveTo>
                    <a:pt x="0" y="0"/>
                  </a:moveTo>
                  <a:lnTo>
                    <a:pt x="0" y="163351"/>
                  </a:lnTo>
                </a:path>
              </a:pathLst>
            </a:custGeom>
            <a:ln w="12700" cap="rnd">
              <a:solidFill>
                <a:schemeClr val="bg1"/>
              </a:solidFill>
              <a:prstDash val="solid"/>
              <a:round/>
            </a:ln>
          </p:spPr>
          <p:txBody>
            <a:bodyPr rtlCol="0" anchor="ctr"/>
            <a:lstStyle/>
            <a:p>
              <a:endParaRPr lang="en-GB" sz="1600" dirty="0"/>
            </a:p>
          </p:txBody>
        </p:sp>
        <p:sp>
          <p:nvSpPr>
            <p:cNvPr id="177" name="Freeform: Shape 191">
              <a:extLst>
                <a:ext uri="{FF2B5EF4-FFF2-40B4-BE49-F238E27FC236}">
                  <a16:creationId xmlns:a16="http://schemas.microsoft.com/office/drawing/2014/main" id="{E56FB315-4470-57DD-D100-B635B08A6BD8}"/>
                </a:ext>
              </a:extLst>
            </p:cNvPr>
            <p:cNvSpPr/>
            <p:nvPr/>
          </p:nvSpPr>
          <p:spPr>
            <a:xfrm>
              <a:off x="10101605" y="2875214"/>
              <a:ext cx="13248" cy="13248"/>
            </a:xfrm>
            <a:custGeom>
              <a:avLst/>
              <a:gdLst>
                <a:gd name="connsiteX0" fmla="*/ 12984 w 0"/>
                <a:gd name="connsiteY0" fmla="*/ 6492 h 0"/>
                <a:gd name="connsiteX1" fmla="*/ 6492 w 0"/>
                <a:gd name="connsiteY1" fmla="*/ 12983 h 0"/>
                <a:gd name="connsiteX2" fmla="*/ 0 w 0"/>
                <a:gd name="connsiteY2" fmla="*/ 6492 h 0"/>
                <a:gd name="connsiteX3" fmla="*/ 6492 w 0"/>
                <a:gd name="connsiteY3" fmla="*/ 0 h 0"/>
                <a:gd name="connsiteX4" fmla="*/ 12984 w 0"/>
                <a:gd name="connsiteY4" fmla="*/ 6492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12984" y="6492"/>
                  </a:moveTo>
                  <a:cubicBezTo>
                    <a:pt x="12984" y="10077"/>
                    <a:pt x="10077" y="12983"/>
                    <a:pt x="6492" y="12983"/>
                  </a:cubicBezTo>
                  <a:cubicBezTo>
                    <a:pt x="2907" y="12983"/>
                    <a:pt x="0" y="10077"/>
                    <a:pt x="0" y="6492"/>
                  </a:cubicBezTo>
                  <a:cubicBezTo>
                    <a:pt x="0" y="2906"/>
                    <a:pt x="2907" y="0"/>
                    <a:pt x="6492" y="0"/>
                  </a:cubicBezTo>
                  <a:cubicBezTo>
                    <a:pt x="10077" y="0"/>
                    <a:pt x="12984" y="2906"/>
                    <a:pt x="12984" y="6492"/>
                  </a:cubicBezTo>
                  <a:close/>
                </a:path>
              </a:pathLst>
            </a:custGeom>
            <a:noFill/>
            <a:ln w="12700" cap="rnd">
              <a:solidFill>
                <a:schemeClr val="bg1"/>
              </a:solidFill>
              <a:prstDash val="solid"/>
              <a:round/>
            </a:ln>
          </p:spPr>
          <p:txBody>
            <a:bodyPr rtlCol="0" anchor="ctr"/>
            <a:lstStyle/>
            <a:p>
              <a:endParaRPr lang="en-GB" sz="1600" dirty="0"/>
            </a:p>
          </p:txBody>
        </p:sp>
        <p:sp>
          <p:nvSpPr>
            <p:cNvPr id="178" name="Freeform: Shape 192">
              <a:extLst>
                <a:ext uri="{FF2B5EF4-FFF2-40B4-BE49-F238E27FC236}">
                  <a16:creationId xmlns:a16="http://schemas.microsoft.com/office/drawing/2014/main" id="{DCBC0E48-8790-4401-68DB-C3B32689219D}"/>
                </a:ext>
              </a:extLst>
            </p:cNvPr>
            <p:cNvSpPr/>
            <p:nvPr/>
          </p:nvSpPr>
          <p:spPr>
            <a:xfrm>
              <a:off x="9871351" y="2517379"/>
              <a:ext cx="463688" cy="450440"/>
            </a:xfrm>
            <a:custGeom>
              <a:avLst/>
              <a:gdLst>
                <a:gd name="connsiteX0" fmla="*/ 0 w 463688"/>
                <a:gd name="connsiteY0" fmla="*/ 451235 h 450440"/>
                <a:gd name="connsiteX1" fmla="*/ 236747 w 463688"/>
                <a:gd name="connsiteY1" fmla="*/ 0 h 450440"/>
                <a:gd name="connsiteX2" fmla="*/ 473493 w 463688"/>
                <a:gd name="connsiteY2" fmla="*/ 451235 h 450440"/>
              </a:gdLst>
              <a:ahLst/>
              <a:cxnLst>
                <a:cxn ang="0">
                  <a:pos x="connsiteX0" y="connsiteY0"/>
                </a:cxn>
                <a:cxn ang="0">
                  <a:pos x="connsiteX1" y="connsiteY1"/>
                </a:cxn>
                <a:cxn ang="0">
                  <a:pos x="connsiteX2" y="connsiteY2"/>
                </a:cxn>
              </a:cxnLst>
              <a:rect l="l" t="t" r="r" b="b"/>
              <a:pathLst>
                <a:path w="463688" h="450440">
                  <a:moveTo>
                    <a:pt x="0" y="451235"/>
                  </a:moveTo>
                  <a:lnTo>
                    <a:pt x="236747" y="0"/>
                  </a:lnTo>
                  <a:lnTo>
                    <a:pt x="473493" y="451235"/>
                  </a:lnTo>
                  <a:close/>
                </a:path>
              </a:pathLst>
            </a:custGeom>
            <a:noFill/>
            <a:ln w="12700" cap="rnd">
              <a:solidFill>
                <a:schemeClr val="bg1"/>
              </a:solidFill>
              <a:prstDash val="solid"/>
              <a:round/>
            </a:ln>
          </p:spPr>
          <p:txBody>
            <a:bodyPr rtlCol="0" anchor="ctr"/>
            <a:lstStyle/>
            <a:p>
              <a:endParaRPr lang="en-GB" sz="1600" dirty="0"/>
            </a:p>
          </p:txBody>
        </p:sp>
      </p:grpSp>
      <p:grpSp>
        <p:nvGrpSpPr>
          <p:cNvPr id="179" name="Group 178">
            <a:extLst>
              <a:ext uri="{FF2B5EF4-FFF2-40B4-BE49-F238E27FC236}">
                <a16:creationId xmlns:a16="http://schemas.microsoft.com/office/drawing/2014/main" id="{0670C5D2-7E4C-BD78-7099-A627651B3EF1}"/>
              </a:ext>
              <a:ext uri="{C183D7F6-B498-43B3-948B-1728B52AA6E4}">
                <adec:decorative xmlns:adec="http://schemas.microsoft.com/office/drawing/2017/decorative" val="1"/>
              </a:ext>
            </a:extLst>
          </p:cNvPr>
          <p:cNvGrpSpPr/>
          <p:nvPr userDrawn="1"/>
        </p:nvGrpSpPr>
        <p:grpSpPr>
          <a:xfrm>
            <a:off x="5288197" y="4479341"/>
            <a:ext cx="463705" cy="425641"/>
            <a:chOff x="5717324" y="3934620"/>
            <a:chExt cx="526593" cy="483367"/>
          </a:xfrm>
        </p:grpSpPr>
        <p:grpSp>
          <p:nvGrpSpPr>
            <p:cNvPr id="180" name="Graphic 8">
              <a:extLst>
                <a:ext uri="{FF2B5EF4-FFF2-40B4-BE49-F238E27FC236}">
                  <a16:creationId xmlns:a16="http://schemas.microsoft.com/office/drawing/2014/main" id="{6CC857CE-C1C4-6BBD-3F48-BBFB54EEA15E}"/>
                </a:ext>
              </a:extLst>
            </p:cNvPr>
            <p:cNvGrpSpPr/>
            <p:nvPr/>
          </p:nvGrpSpPr>
          <p:grpSpPr>
            <a:xfrm>
              <a:off x="5717324" y="3934620"/>
              <a:ext cx="372882" cy="483367"/>
              <a:chOff x="670127" y="4633494"/>
              <a:chExt cx="427594" cy="554289"/>
            </a:xfrm>
            <a:noFill/>
          </p:grpSpPr>
          <p:sp>
            <p:nvSpPr>
              <p:cNvPr id="182" name="Freeform: Shape 541">
                <a:extLst>
                  <a:ext uri="{FF2B5EF4-FFF2-40B4-BE49-F238E27FC236}">
                    <a16:creationId xmlns:a16="http://schemas.microsoft.com/office/drawing/2014/main" id="{AF317B11-C99C-3A48-5F50-D5BF5F39557E}"/>
                  </a:ext>
                </a:extLst>
              </p:cNvPr>
              <p:cNvSpPr/>
              <p:nvPr/>
            </p:nvSpPr>
            <p:spPr>
              <a:xfrm>
                <a:off x="784311" y="4747677"/>
                <a:ext cx="269226" cy="332573"/>
              </a:xfrm>
              <a:custGeom>
                <a:avLst/>
                <a:gdLst>
                  <a:gd name="connsiteX0" fmla="*/ 278094 w 269225"/>
                  <a:gd name="connsiteY0" fmla="*/ 302325 h 332573"/>
                  <a:gd name="connsiteX1" fmla="*/ 170404 w 269225"/>
                  <a:gd name="connsiteY1" fmla="*/ 340650 h 332573"/>
                  <a:gd name="connsiteX2" fmla="*/ 0 w 269225"/>
                  <a:gd name="connsiteY2" fmla="*/ 170404 h 332573"/>
                  <a:gd name="connsiteX3" fmla="*/ 170404 w 269225"/>
                  <a:gd name="connsiteY3" fmla="*/ 0 h 332573"/>
                  <a:gd name="connsiteX4" fmla="*/ 265742 w 269225"/>
                  <a:gd name="connsiteY4" fmla="*/ 29140 h 332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5" h="332573">
                    <a:moveTo>
                      <a:pt x="278094" y="302325"/>
                    </a:moveTo>
                    <a:cubicBezTo>
                      <a:pt x="248796" y="326238"/>
                      <a:pt x="211263" y="340650"/>
                      <a:pt x="170404" y="340650"/>
                    </a:cubicBezTo>
                    <a:cubicBezTo>
                      <a:pt x="76333" y="340650"/>
                      <a:pt x="0" y="264316"/>
                      <a:pt x="0" y="170404"/>
                    </a:cubicBezTo>
                    <a:cubicBezTo>
                      <a:pt x="0" y="76175"/>
                      <a:pt x="76333" y="0"/>
                      <a:pt x="170404" y="0"/>
                    </a:cubicBezTo>
                    <a:cubicBezTo>
                      <a:pt x="205720" y="0"/>
                      <a:pt x="238502" y="10769"/>
                      <a:pt x="265742" y="29140"/>
                    </a:cubicBezTo>
                  </a:path>
                </a:pathLst>
              </a:custGeom>
              <a:noFill/>
              <a:ln w="12700" cap="rnd">
                <a:solidFill>
                  <a:schemeClr val="bg1"/>
                </a:solidFill>
                <a:prstDash val="solid"/>
                <a:round/>
              </a:ln>
            </p:spPr>
            <p:txBody>
              <a:bodyPr rtlCol="0" anchor="ctr"/>
              <a:lstStyle/>
              <a:p>
                <a:endParaRPr lang="en-GB" sz="1600" dirty="0"/>
              </a:p>
            </p:txBody>
          </p:sp>
          <p:sp>
            <p:nvSpPr>
              <p:cNvPr id="183" name="Freeform: Shape 542">
                <a:extLst>
                  <a:ext uri="{FF2B5EF4-FFF2-40B4-BE49-F238E27FC236}">
                    <a16:creationId xmlns:a16="http://schemas.microsoft.com/office/drawing/2014/main" id="{A7D4B995-9AF9-0EF0-B7A8-70570C1DBFAC}"/>
                  </a:ext>
                </a:extLst>
              </p:cNvPr>
              <p:cNvSpPr/>
              <p:nvPr/>
            </p:nvSpPr>
            <p:spPr>
              <a:xfrm>
                <a:off x="670127" y="4633494"/>
                <a:ext cx="427594" cy="554289"/>
              </a:xfrm>
              <a:custGeom>
                <a:avLst/>
                <a:gdLst>
                  <a:gd name="connsiteX0" fmla="*/ 422526 w 427593"/>
                  <a:gd name="connsiteY0" fmla="*/ 87102 h 554288"/>
                  <a:gd name="connsiteX1" fmla="*/ 327980 w 427593"/>
                  <a:gd name="connsiteY1" fmla="*/ 47510 h 554288"/>
                  <a:gd name="connsiteX2" fmla="*/ 327980 w 427593"/>
                  <a:gd name="connsiteY2" fmla="*/ 22647 h 554288"/>
                  <a:gd name="connsiteX3" fmla="*/ 305334 w 427593"/>
                  <a:gd name="connsiteY3" fmla="*/ 0 h 554288"/>
                  <a:gd name="connsiteX4" fmla="*/ 263525 w 427593"/>
                  <a:gd name="connsiteY4" fmla="*/ 0 h 554288"/>
                  <a:gd name="connsiteX5" fmla="*/ 240878 w 427593"/>
                  <a:gd name="connsiteY5" fmla="*/ 22647 h 554288"/>
                  <a:gd name="connsiteX6" fmla="*/ 240878 w 427593"/>
                  <a:gd name="connsiteY6" fmla="*/ 47510 h 554288"/>
                  <a:gd name="connsiteX7" fmla="*/ 157418 w 427593"/>
                  <a:gd name="connsiteY7" fmla="*/ 79659 h 554288"/>
                  <a:gd name="connsiteX8" fmla="*/ 139206 w 427593"/>
                  <a:gd name="connsiteY8" fmla="*/ 61447 h 554288"/>
                  <a:gd name="connsiteX9" fmla="*/ 107215 w 427593"/>
                  <a:gd name="connsiteY9" fmla="*/ 61447 h 554288"/>
                  <a:gd name="connsiteX10" fmla="*/ 77600 w 427593"/>
                  <a:gd name="connsiteY10" fmla="*/ 90903 h 554288"/>
                  <a:gd name="connsiteX11" fmla="*/ 77600 w 427593"/>
                  <a:gd name="connsiteY11" fmla="*/ 123052 h 554288"/>
                  <a:gd name="connsiteX12" fmla="*/ 92804 w 427593"/>
                  <a:gd name="connsiteY12" fmla="*/ 138256 h 554288"/>
                  <a:gd name="connsiteX13" fmla="*/ 47194 w 427593"/>
                  <a:gd name="connsiteY13" fmla="*/ 240878 h 554288"/>
                  <a:gd name="connsiteX14" fmla="*/ 22805 w 427593"/>
                  <a:gd name="connsiteY14" fmla="*/ 240878 h 554288"/>
                  <a:gd name="connsiteX15" fmla="*/ 0 w 427593"/>
                  <a:gd name="connsiteY15" fmla="*/ 263683 h 554288"/>
                  <a:gd name="connsiteX16" fmla="*/ 0 w 427593"/>
                  <a:gd name="connsiteY16" fmla="*/ 305334 h 554288"/>
                  <a:gd name="connsiteX17" fmla="*/ 22805 w 427593"/>
                  <a:gd name="connsiteY17" fmla="*/ 328139 h 554288"/>
                  <a:gd name="connsiteX18" fmla="*/ 47510 w 427593"/>
                  <a:gd name="connsiteY18" fmla="*/ 328139 h 554288"/>
                  <a:gd name="connsiteX19" fmla="*/ 87102 w 427593"/>
                  <a:gd name="connsiteY19" fmla="*/ 422685 h 554288"/>
                  <a:gd name="connsiteX20" fmla="*/ 70791 w 427593"/>
                  <a:gd name="connsiteY20" fmla="*/ 438838 h 554288"/>
                  <a:gd name="connsiteX21" fmla="*/ 70791 w 427593"/>
                  <a:gd name="connsiteY21" fmla="*/ 470987 h 554288"/>
                  <a:gd name="connsiteX22" fmla="*/ 100405 w 427593"/>
                  <a:gd name="connsiteY22" fmla="*/ 500602 h 554288"/>
                  <a:gd name="connsiteX23" fmla="*/ 132396 w 427593"/>
                  <a:gd name="connsiteY23" fmla="*/ 500602 h 554288"/>
                  <a:gd name="connsiteX24" fmla="*/ 149183 w 427593"/>
                  <a:gd name="connsiteY24" fmla="*/ 483815 h 554288"/>
                  <a:gd name="connsiteX25" fmla="*/ 241036 w 427593"/>
                  <a:gd name="connsiteY25" fmla="*/ 521506 h 554288"/>
                  <a:gd name="connsiteX26" fmla="*/ 241036 w 427593"/>
                  <a:gd name="connsiteY26" fmla="*/ 546370 h 554288"/>
                  <a:gd name="connsiteX27" fmla="*/ 263683 w 427593"/>
                  <a:gd name="connsiteY27" fmla="*/ 569017 h 554288"/>
                  <a:gd name="connsiteX28" fmla="*/ 305492 w 427593"/>
                  <a:gd name="connsiteY28" fmla="*/ 569017 h 554288"/>
                  <a:gd name="connsiteX29" fmla="*/ 328139 w 427593"/>
                  <a:gd name="connsiteY29" fmla="*/ 546370 h 554288"/>
                  <a:gd name="connsiteX30" fmla="*/ 328139 w 427593"/>
                  <a:gd name="connsiteY30" fmla="*/ 521506 h 554288"/>
                  <a:gd name="connsiteX31" fmla="*/ 430920 w 427593"/>
                  <a:gd name="connsiteY31" fmla="*/ 475896 h 554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27593" h="554288">
                    <a:moveTo>
                      <a:pt x="422526" y="87102"/>
                    </a:moveTo>
                    <a:cubicBezTo>
                      <a:pt x="394812" y="67623"/>
                      <a:pt x="362663" y="53845"/>
                      <a:pt x="327980" y="47510"/>
                    </a:cubicBezTo>
                    <a:lnTo>
                      <a:pt x="327980" y="22647"/>
                    </a:lnTo>
                    <a:cubicBezTo>
                      <a:pt x="327980" y="10136"/>
                      <a:pt x="317845" y="0"/>
                      <a:pt x="305334" y="0"/>
                    </a:cubicBezTo>
                    <a:lnTo>
                      <a:pt x="263525" y="0"/>
                    </a:lnTo>
                    <a:cubicBezTo>
                      <a:pt x="251013" y="0"/>
                      <a:pt x="240878" y="10136"/>
                      <a:pt x="240878" y="22647"/>
                    </a:cubicBezTo>
                    <a:lnTo>
                      <a:pt x="240878" y="47510"/>
                    </a:lnTo>
                    <a:cubicBezTo>
                      <a:pt x="210788" y="52895"/>
                      <a:pt x="182598" y="64139"/>
                      <a:pt x="157418" y="79659"/>
                    </a:cubicBezTo>
                    <a:lnTo>
                      <a:pt x="139206" y="61447"/>
                    </a:lnTo>
                    <a:cubicBezTo>
                      <a:pt x="130337" y="52420"/>
                      <a:pt x="116084" y="52420"/>
                      <a:pt x="107215" y="61447"/>
                    </a:cubicBezTo>
                    <a:lnTo>
                      <a:pt x="77600" y="90903"/>
                    </a:lnTo>
                    <a:cubicBezTo>
                      <a:pt x="68732" y="99930"/>
                      <a:pt x="68732" y="114184"/>
                      <a:pt x="77600" y="123052"/>
                    </a:cubicBezTo>
                    <a:lnTo>
                      <a:pt x="92804" y="138256"/>
                    </a:lnTo>
                    <a:cubicBezTo>
                      <a:pt x="70157" y="167870"/>
                      <a:pt x="54320" y="202711"/>
                      <a:pt x="47194" y="240878"/>
                    </a:cubicBezTo>
                    <a:lnTo>
                      <a:pt x="22805" y="240878"/>
                    </a:lnTo>
                    <a:cubicBezTo>
                      <a:pt x="10294" y="240878"/>
                      <a:pt x="0" y="251172"/>
                      <a:pt x="0" y="263683"/>
                    </a:cubicBezTo>
                    <a:lnTo>
                      <a:pt x="0" y="305334"/>
                    </a:lnTo>
                    <a:cubicBezTo>
                      <a:pt x="0" y="317845"/>
                      <a:pt x="10294" y="328139"/>
                      <a:pt x="22805" y="328139"/>
                    </a:cubicBezTo>
                    <a:lnTo>
                      <a:pt x="47510" y="328139"/>
                    </a:lnTo>
                    <a:cubicBezTo>
                      <a:pt x="53845" y="362821"/>
                      <a:pt x="67623" y="394812"/>
                      <a:pt x="87102" y="422685"/>
                    </a:cubicBezTo>
                    <a:lnTo>
                      <a:pt x="70791" y="438838"/>
                    </a:lnTo>
                    <a:cubicBezTo>
                      <a:pt x="61922" y="447865"/>
                      <a:pt x="61922" y="462118"/>
                      <a:pt x="70791" y="470987"/>
                    </a:cubicBezTo>
                    <a:lnTo>
                      <a:pt x="100405" y="500602"/>
                    </a:lnTo>
                    <a:cubicBezTo>
                      <a:pt x="109274" y="509470"/>
                      <a:pt x="123527" y="509470"/>
                      <a:pt x="132396" y="500602"/>
                    </a:cubicBezTo>
                    <a:lnTo>
                      <a:pt x="149183" y="483815"/>
                    </a:lnTo>
                    <a:cubicBezTo>
                      <a:pt x="176422" y="502502"/>
                      <a:pt x="207462" y="515330"/>
                      <a:pt x="241036" y="521506"/>
                    </a:cubicBezTo>
                    <a:lnTo>
                      <a:pt x="241036" y="546370"/>
                    </a:lnTo>
                    <a:cubicBezTo>
                      <a:pt x="241036" y="558881"/>
                      <a:pt x="251172" y="569017"/>
                      <a:pt x="263683" y="569017"/>
                    </a:cubicBezTo>
                    <a:lnTo>
                      <a:pt x="305492" y="569017"/>
                    </a:lnTo>
                    <a:cubicBezTo>
                      <a:pt x="318003" y="569017"/>
                      <a:pt x="328139" y="558881"/>
                      <a:pt x="328139" y="546370"/>
                    </a:cubicBezTo>
                    <a:lnTo>
                      <a:pt x="328139" y="521506"/>
                    </a:lnTo>
                    <a:cubicBezTo>
                      <a:pt x="366306" y="514696"/>
                      <a:pt x="401305" y="498701"/>
                      <a:pt x="430920" y="475896"/>
                    </a:cubicBezTo>
                  </a:path>
                </a:pathLst>
              </a:custGeom>
              <a:noFill/>
              <a:ln w="12700" cap="rnd">
                <a:solidFill>
                  <a:schemeClr val="bg1"/>
                </a:solidFill>
                <a:prstDash val="solid"/>
                <a:round/>
              </a:ln>
            </p:spPr>
            <p:txBody>
              <a:bodyPr rtlCol="0" anchor="ctr"/>
              <a:lstStyle/>
              <a:p>
                <a:endParaRPr lang="en-GB" sz="1600" dirty="0"/>
              </a:p>
            </p:txBody>
          </p:sp>
        </p:grpSp>
        <p:sp>
          <p:nvSpPr>
            <p:cNvPr id="181" name="Freeform: Shape 543">
              <a:extLst>
                <a:ext uri="{FF2B5EF4-FFF2-40B4-BE49-F238E27FC236}">
                  <a16:creationId xmlns:a16="http://schemas.microsoft.com/office/drawing/2014/main" id="{9FA2C457-8115-4237-CAC0-6D4F5F356DFA}"/>
                </a:ext>
              </a:extLst>
            </p:cNvPr>
            <p:cNvSpPr/>
            <p:nvPr/>
          </p:nvSpPr>
          <p:spPr>
            <a:xfrm>
              <a:off x="5967708" y="4088745"/>
              <a:ext cx="276209" cy="179537"/>
            </a:xfrm>
            <a:custGeom>
              <a:avLst/>
              <a:gdLst>
                <a:gd name="connsiteX0" fmla="*/ 0 w 316736"/>
                <a:gd name="connsiteY0" fmla="*/ 52262 h 205878"/>
                <a:gd name="connsiteX1" fmla="*/ 168504 w 316736"/>
                <a:gd name="connsiteY1" fmla="*/ 52262 h 205878"/>
                <a:gd name="connsiteX2" fmla="*/ 168504 w 316736"/>
                <a:gd name="connsiteY2" fmla="*/ 0 h 205878"/>
                <a:gd name="connsiteX3" fmla="*/ 248480 w 316736"/>
                <a:gd name="connsiteY3" fmla="*/ 53845 h 205878"/>
                <a:gd name="connsiteX4" fmla="*/ 328456 w 316736"/>
                <a:gd name="connsiteY4" fmla="*/ 107690 h 205878"/>
                <a:gd name="connsiteX5" fmla="*/ 248480 w 316736"/>
                <a:gd name="connsiteY5" fmla="*/ 161535 h 205878"/>
                <a:gd name="connsiteX6" fmla="*/ 168504 w 316736"/>
                <a:gd name="connsiteY6" fmla="*/ 215381 h 205878"/>
                <a:gd name="connsiteX7" fmla="*/ 168504 w 316736"/>
                <a:gd name="connsiteY7" fmla="*/ 163278 h 205878"/>
                <a:gd name="connsiteX8" fmla="*/ 0 w 316736"/>
                <a:gd name="connsiteY8" fmla="*/ 163278 h 205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736" h="205878">
                  <a:moveTo>
                    <a:pt x="0" y="52262"/>
                  </a:moveTo>
                  <a:lnTo>
                    <a:pt x="168504" y="52262"/>
                  </a:lnTo>
                  <a:lnTo>
                    <a:pt x="168504" y="0"/>
                  </a:lnTo>
                  <a:lnTo>
                    <a:pt x="248480" y="53845"/>
                  </a:lnTo>
                  <a:lnTo>
                    <a:pt x="328456" y="107690"/>
                  </a:lnTo>
                  <a:lnTo>
                    <a:pt x="248480" y="161535"/>
                  </a:lnTo>
                  <a:lnTo>
                    <a:pt x="168504" y="215381"/>
                  </a:lnTo>
                  <a:lnTo>
                    <a:pt x="168504" y="163278"/>
                  </a:lnTo>
                  <a:lnTo>
                    <a:pt x="0" y="163278"/>
                  </a:lnTo>
                </a:path>
              </a:pathLst>
            </a:custGeom>
            <a:noFill/>
            <a:ln w="12700" cap="rnd">
              <a:solidFill>
                <a:schemeClr val="bg1"/>
              </a:solidFill>
              <a:prstDash val="solid"/>
              <a:round/>
            </a:ln>
          </p:spPr>
          <p:txBody>
            <a:bodyPr rtlCol="0" anchor="ctr"/>
            <a:lstStyle/>
            <a:p>
              <a:endParaRPr lang="en-GB" sz="1600" dirty="0"/>
            </a:p>
          </p:txBody>
        </p:sp>
      </p:grpSp>
      <p:grpSp>
        <p:nvGrpSpPr>
          <p:cNvPr id="184" name="Group 183">
            <a:extLst>
              <a:ext uri="{FF2B5EF4-FFF2-40B4-BE49-F238E27FC236}">
                <a16:creationId xmlns:a16="http://schemas.microsoft.com/office/drawing/2014/main" id="{19FE5C15-3473-D0F6-D5E7-F5C773789CDE}"/>
              </a:ext>
              <a:ext uri="{C183D7F6-B498-43B3-948B-1728B52AA6E4}">
                <adec:decorative xmlns:adec="http://schemas.microsoft.com/office/drawing/2017/decorative" val="1"/>
              </a:ext>
            </a:extLst>
          </p:cNvPr>
          <p:cNvGrpSpPr/>
          <p:nvPr userDrawn="1"/>
        </p:nvGrpSpPr>
        <p:grpSpPr>
          <a:xfrm>
            <a:off x="7830716" y="4500118"/>
            <a:ext cx="488282" cy="384088"/>
            <a:chOff x="4963904" y="2379608"/>
            <a:chExt cx="635863" cy="500177"/>
          </a:xfrm>
        </p:grpSpPr>
        <p:sp>
          <p:nvSpPr>
            <p:cNvPr id="185" name="Freeform: Shape 128">
              <a:extLst>
                <a:ext uri="{FF2B5EF4-FFF2-40B4-BE49-F238E27FC236}">
                  <a16:creationId xmlns:a16="http://schemas.microsoft.com/office/drawing/2014/main" id="{DD90E1FB-FD21-D54F-EFE7-7E924285C4E1}"/>
                </a:ext>
              </a:extLst>
            </p:cNvPr>
            <p:cNvSpPr/>
            <p:nvPr/>
          </p:nvSpPr>
          <p:spPr>
            <a:xfrm>
              <a:off x="4963904" y="2379608"/>
              <a:ext cx="404842" cy="261189"/>
            </a:xfrm>
            <a:custGeom>
              <a:avLst/>
              <a:gdLst>
                <a:gd name="connsiteX0" fmla="*/ 0 w 295275"/>
                <a:gd name="connsiteY0" fmla="*/ 98108 h 190500"/>
                <a:gd name="connsiteX1" fmla="*/ 72771 w 295275"/>
                <a:gd name="connsiteY1" fmla="*/ 49054 h 190500"/>
                <a:gd name="connsiteX2" fmla="*/ 145542 w 295275"/>
                <a:gd name="connsiteY2" fmla="*/ 0 h 190500"/>
                <a:gd name="connsiteX3" fmla="*/ 145542 w 295275"/>
                <a:gd name="connsiteY3" fmla="*/ 47530 h 190500"/>
                <a:gd name="connsiteX4" fmla="*/ 298990 w 295275"/>
                <a:gd name="connsiteY4" fmla="*/ 47530 h 190500"/>
                <a:gd name="connsiteX5" fmla="*/ 298990 w 295275"/>
                <a:gd name="connsiteY5" fmla="*/ 148590 h 190500"/>
                <a:gd name="connsiteX6" fmla="*/ 145542 w 295275"/>
                <a:gd name="connsiteY6" fmla="*/ 148590 h 190500"/>
                <a:gd name="connsiteX7" fmla="*/ 145542 w 295275"/>
                <a:gd name="connsiteY7" fmla="*/ 196120 h 190500"/>
                <a:gd name="connsiteX8" fmla="*/ 72771 w 295275"/>
                <a:gd name="connsiteY8" fmla="*/ 147161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275" h="190500">
                  <a:moveTo>
                    <a:pt x="0" y="98108"/>
                  </a:moveTo>
                  <a:lnTo>
                    <a:pt x="72771" y="49054"/>
                  </a:lnTo>
                  <a:lnTo>
                    <a:pt x="145542" y="0"/>
                  </a:lnTo>
                  <a:lnTo>
                    <a:pt x="145542" y="47530"/>
                  </a:lnTo>
                  <a:lnTo>
                    <a:pt x="298990" y="47530"/>
                  </a:lnTo>
                  <a:lnTo>
                    <a:pt x="298990" y="148590"/>
                  </a:lnTo>
                  <a:lnTo>
                    <a:pt x="145542" y="148590"/>
                  </a:lnTo>
                  <a:lnTo>
                    <a:pt x="145542" y="196120"/>
                  </a:lnTo>
                  <a:lnTo>
                    <a:pt x="72771" y="147161"/>
                  </a:lnTo>
                  <a:close/>
                </a:path>
              </a:pathLst>
            </a:custGeom>
            <a:noFill/>
            <a:ln w="12700" cap="rnd">
              <a:solidFill>
                <a:schemeClr val="bg1"/>
              </a:solidFill>
              <a:prstDash val="solid"/>
              <a:round/>
            </a:ln>
          </p:spPr>
          <p:txBody>
            <a:bodyPr rtlCol="0" anchor="ctr"/>
            <a:lstStyle/>
            <a:p>
              <a:endParaRPr lang="en-GB" sz="1600" dirty="0"/>
            </a:p>
          </p:txBody>
        </p:sp>
        <p:sp>
          <p:nvSpPr>
            <p:cNvPr id="186" name="Freeform: Shape 129">
              <a:extLst>
                <a:ext uri="{FF2B5EF4-FFF2-40B4-BE49-F238E27FC236}">
                  <a16:creationId xmlns:a16="http://schemas.microsoft.com/office/drawing/2014/main" id="{EBD88AB7-4DED-72C0-59B1-681CCF888342}"/>
                </a:ext>
              </a:extLst>
            </p:cNvPr>
            <p:cNvSpPr/>
            <p:nvPr/>
          </p:nvSpPr>
          <p:spPr>
            <a:xfrm>
              <a:off x="5194925" y="2618596"/>
              <a:ext cx="404842" cy="261189"/>
            </a:xfrm>
            <a:custGeom>
              <a:avLst/>
              <a:gdLst>
                <a:gd name="connsiteX0" fmla="*/ 299085 w 295275"/>
                <a:gd name="connsiteY0" fmla="*/ 98108 h 190500"/>
                <a:gd name="connsiteX1" fmla="*/ 226314 w 295275"/>
                <a:gd name="connsiteY1" fmla="*/ 147161 h 190500"/>
                <a:gd name="connsiteX2" fmla="*/ 153543 w 295275"/>
                <a:gd name="connsiteY2" fmla="*/ 196215 h 190500"/>
                <a:gd name="connsiteX3" fmla="*/ 153543 w 295275"/>
                <a:gd name="connsiteY3" fmla="*/ 148590 h 190500"/>
                <a:gd name="connsiteX4" fmla="*/ 0 w 295275"/>
                <a:gd name="connsiteY4" fmla="*/ 148590 h 190500"/>
                <a:gd name="connsiteX5" fmla="*/ 0 w 295275"/>
                <a:gd name="connsiteY5" fmla="*/ 47625 h 190500"/>
                <a:gd name="connsiteX6" fmla="*/ 153543 w 295275"/>
                <a:gd name="connsiteY6" fmla="*/ 47625 h 190500"/>
                <a:gd name="connsiteX7" fmla="*/ 153543 w 295275"/>
                <a:gd name="connsiteY7" fmla="*/ 0 h 190500"/>
                <a:gd name="connsiteX8" fmla="*/ 226314 w 295275"/>
                <a:gd name="connsiteY8" fmla="*/ 49054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275" h="190500">
                  <a:moveTo>
                    <a:pt x="299085" y="98108"/>
                  </a:moveTo>
                  <a:lnTo>
                    <a:pt x="226314" y="147161"/>
                  </a:lnTo>
                  <a:lnTo>
                    <a:pt x="153543" y="196215"/>
                  </a:lnTo>
                  <a:lnTo>
                    <a:pt x="153543" y="148590"/>
                  </a:lnTo>
                  <a:lnTo>
                    <a:pt x="0" y="148590"/>
                  </a:lnTo>
                  <a:lnTo>
                    <a:pt x="0" y="47625"/>
                  </a:lnTo>
                  <a:lnTo>
                    <a:pt x="153543" y="47625"/>
                  </a:lnTo>
                  <a:lnTo>
                    <a:pt x="153543" y="0"/>
                  </a:lnTo>
                  <a:lnTo>
                    <a:pt x="226314" y="49054"/>
                  </a:lnTo>
                  <a:close/>
                </a:path>
              </a:pathLst>
            </a:custGeom>
            <a:noFill/>
            <a:ln w="12700" cap="rnd">
              <a:solidFill>
                <a:schemeClr val="bg1"/>
              </a:solidFill>
              <a:prstDash val="solid"/>
              <a:round/>
            </a:ln>
          </p:spPr>
          <p:txBody>
            <a:bodyPr rtlCol="0" anchor="ctr"/>
            <a:lstStyle/>
            <a:p>
              <a:endParaRPr lang="en-GB" sz="1600" dirty="0"/>
            </a:p>
          </p:txBody>
        </p:sp>
      </p:grpSp>
      <p:grpSp>
        <p:nvGrpSpPr>
          <p:cNvPr id="187" name="Group 186">
            <a:extLst>
              <a:ext uri="{FF2B5EF4-FFF2-40B4-BE49-F238E27FC236}">
                <a16:creationId xmlns:a16="http://schemas.microsoft.com/office/drawing/2014/main" id="{2FA6577E-DA1C-AF78-8A35-580D71D217A4}"/>
              </a:ext>
              <a:ext uri="{C183D7F6-B498-43B3-948B-1728B52AA6E4}">
                <adec:decorative xmlns:adec="http://schemas.microsoft.com/office/drawing/2017/decorative" val="1"/>
              </a:ext>
            </a:extLst>
          </p:cNvPr>
          <p:cNvGrpSpPr/>
          <p:nvPr userDrawn="1"/>
        </p:nvGrpSpPr>
        <p:grpSpPr>
          <a:xfrm>
            <a:off x="3360987" y="4447730"/>
            <a:ext cx="476774" cy="488864"/>
            <a:chOff x="8647438" y="5393592"/>
            <a:chExt cx="681361" cy="698639"/>
          </a:xfrm>
        </p:grpSpPr>
        <p:sp>
          <p:nvSpPr>
            <p:cNvPr id="188" name="Freeform: Shape 525">
              <a:extLst>
                <a:ext uri="{FF2B5EF4-FFF2-40B4-BE49-F238E27FC236}">
                  <a16:creationId xmlns:a16="http://schemas.microsoft.com/office/drawing/2014/main" id="{1C30ECC8-1415-74C5-37DA-1160F8FDA4C4}"/>
                </a:ext>
              </a:extLst>
            </p:cNvPr>
            <p:cNvSpPr/>
            <p:nvPr/>
          </p:nvSpPr>
          <p:spPr>
            <a:xfrm>
              <a:off x="8852158" y="5393592"/>
              <a:ext cx="338726" cy="338726"/>
            </a:xfrm>
            <a:custGeom>
              <a:avLst/>
              <a:gdLst>
                <a:gd name="connsiteX0" fmla="*/ 55759 w 338726"/>
                <a:gd name="connsiteY0" fmla="*/ 226947 h 338726"/>
                <a:gd name="connsiteX1" fmla="*/ 65009 w 338726"/>
                <a:gd name="connsiteY1" fmla="*/ 229292 h 338726"/>
                <a:gd name="connsiteX2" fmla="*/ 71914 w 338726"/>
                <a:gd name="connsiteY2" fmla="*/ 222387 h 338726"/>
                <a:gd name="connsiteX3" fmla="*/ 81815 w 338726"/>
                <a:gd name="connsiteY3" fmla="*/ 204929 h 338726"/>
                <a:gd name="connsiteX4" fmla="*/ 136663 w 338726"/>
                <a:gd name="connsiteY4" fmla="*/ 204929 h 338726"/>
                <a:gd name="connsiteX5" fmla="*/ 137054 w 338726"/>
                <a:gd name="connsiteY5" fmla="*/ 260038 h 338726"/>
                <a:gd name="connsiteX6" fmla="*/ 119597 w 338726"/>
                <a:gd name="connsiteY6" fmla="*/ 269939 h 338726"/>
                <a:gd name="connsiteX7" fmla="*/ 112692 w 338726"/>
                <a:gd name="connsiteY7" fmla="*/ 276844 h 338726"/>
                <a:gd name="connsiteX8" fmla="*/ 115037 w 338726"/>
                <a:gd name="connsiteY8" fmla="*/ 286093 h 338726"/>
                <a:gd name="connsiteX9" fmla="*/ 171187 w 338726"/>
                <a:gd name="connsiteY9" fmla="*/ 342244 h 338726"/>
                <a:gd name="connsiteX10" fmla="*/ 227728 w 338726"/>
                <a:gd name="connsiteY10" fmla="*/ 285703 h 338726"/>
                <a:gd name="connsiteX11" fmla="*/ 236978 w 338726"/>
                <a:gd name="connsiteY11" fmla="*/ 283358 h 338726"/>
                <a:gd name="connsiteX12" fmla="*/ 243883 w 338726"/>
                <a:gd name="connsiteY12" fmla="*/ 290262 h 338726"/>
                <a:gd name="connsiteX13" fmla="*/ 253784 w 338726"/>
                <a:gd name="connsiteY13" fmla="*/ 307720 h 338726"/>
                <a:gd name="connsiteX14" fmla="*/ 308632 w 338726"/>
                <a:gd name="connsiteY14" fmla="*/ 307720 h 338726"/>
                <a:gd name="connsiteX15" fmla="*/ 308632 w 338726"/>
                <a:gd name="connsiteY15" fmla="*/ 252872 h 338726"/>
                <a:gd name="connsiteX16" fmla="*/ 291174 w 338726"/>
                <a:gd name="connsiteY16" fmla="*/ 242971 h 338726"/>
                <a:gd name="connsiteX17" fmla="*/ 284270 w 338726"/>
                <a:gd name="connsiteY17" fmla="*/ 236066 h 338726"/>
                <a:gd name="connsiteX18" fmla="*/ 286614 w 338726"/>
                <a:gd name="connsiteY18" fmla="*/ 226816 h 338726"/>
                <a:gd name="connsiteX19" fmla="*/ 342374 w 338726"/>
                <a:gd name="connsiteY19" fmla="*/ 171057 h 338726"/>
                <a:gd name="connsiteX20" fmla="*/ 286224 w 338726"/>
                <a:gd name="connsiteY20" fmla="*/ 114906 h 338726"/>
                <a:gd name="connsiteX21" fmla="*/ 283879 w 338726"/>
                <a:gd name="connsiteY21" fmla="*/ 105657 h 338726"/>
                <a:gd name="connsiteX22" fmla="*/ 290783 w 338726"/>
                <a:gd name="connsiteY22" fmla="*/ 98752 h 338726"/>
                <a:gd name="connsiteX23" fmla="*/ 308241 w 338726"/>
                <a:gd name="connsiteY23" fmla="*/ 88850 h 338726"/>
                <a:gd name="connsiteX24" fmla="*/ 307850 w 338726"/>
                <a:gd name="connsiteY24" fmla="*/ 33742 h 338726"/>
                <a:gd name="connsiteX25" fmla="*/ 253003 w 338726"/>
                <a:gd name="connsiteY25" fmla="*/ 33742 h 338726"/>
                <a:gd name="connsiteX26" fmla="*/ 243101 w 338726"/>
                <a:gd name="connsiteY26" fmla="*/ 51200 h 338726"/>
                <a:gd name="connsiteX27" fmla="*/ 236196 w 338726"/>
                <a:gd name="connsiteY27" fmla="*/ 58104 h 338726"/>
                <a:gd name="connsiteX28" fmla="*/ 226947 w 338726"/>
                <a:gd name="connsiteY28" fmla="*/ 55760 h 338726"/>
                <a:gd name="connsiteX29" fmla="*/ 171187 w 338726"/>
                <a:gd name="connsiteY29" fmla="*/ 0 h 338726"/>
                <a:gd name="connsiteX30" fmla="*/ 114646 w 338726"/>
                <a:gd name="connsiteY30" fmla="*/ 56541 h 338726"/>
                <a:gd name="connsiteX31" fmla="*/ 105396 w 338726"/>
                <a:gd name="connsiteY31" fmla="*/ 58886 h 338726"/>
                <a:gd name="connsiteX32" fmla="*/ 98491 w 338726"/>
                <a:gd name="connsiteY32" fmla="*/ 51981 h 338726"/>
                <a:gd name="connsiteX33" fmla="*/ 88590 w 338726"/>
                <a:gd name="connsiteY33" fmla="*/ 34524 h 338726"/>
                <a:gd name="connsiteX34" fmla="*/ 33743 w 338726"/>
                <a:gd name="connsiteY34" fmla="*/ 34524 h 338726"/>
                <a:gd name="connsiteX35" fmla="*/ 33743 w 338726"/>
                <a:gd name="connsiteY35" fmla="*/ 89372 h 338726"/>
                <a:gd name="connsiteX36" fmla="*/ 51200 w 338726"/>
                <a:gd name="connsiteY36" fmla="*/ 99273 h 338726"/>
                <a:gd name="connsiteX37" fmla="*/ 58105 w 338726"/>
                <a:gd name="connsiteY37" fmla="*/ 106178 h 338726"/>
                <a:gd name="connsiteX38" fmla="*/ 55759 w 338726"/>
                <a:gd name="connsiteY38" fmla="*/ 115428 h 338726"/>
                <a:gd name="connsiteX39" fmla="*/ 0 w 338726"/>
                <a:gd name="connsiteY39" fmla="*/ 171187 h 338726"/>
                <a:gd name="connsiteX40" fmla="*/ 55759 w 338726"/>
                <a:gd name="connsiteY40" fmla="*/ 226947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55759" y="226947"/>
                  </a:moveTo>
                  <a:cubicBezTo>
                    <a:pt x="58105" y="229292"/>
                    <a:pt x="61883" y="230334"/>
                    <a:pt x="65009" y="229292"/>
                  </a:cubicBezTo>
                  <a:cubicBezTo>
                    <a:pt x="68396" y="228640"/>
                    <a:pt x="71133" y="225904"/>
                    <a:pt x="71914" y="222387"/>
                  </a:cubicBezTo>
                  <a:cubicBezTo>
                    <a:pt x="73608" y="215873"/>
                    <a:pt x="76995" y="209750"/>
                    <a:pt x="81815" y="204929"/>
                  </a:cubicBezTo>
                  <a:cubicBezTo>
                    <a:pt x="96928" y="189817"/>
                    <a:pt x="121551" y="189817"/>
                    <a:pt x="136663" y="204929"/>
                  </a:cubicBezTo>
                  <a:cubicBezTo>
                    <a:pt x="151776" y="220042"/>
                    <a:pt x="152036" y="245056"/>
                    <a:pt x="137054" y="260038"/>
                  </a:cubicBezTo>
                  <a:cubicBezTo>
                    <a:pt x="132234" y="264858"/>
                    <a:pt x="126111" y="268245"/>
                    <a:pt x="119597" y="269939"/>
                  </a:cubicBezTo>
                  <a:cubicBezTo>
                    <a:pt x="116209" y="270590"/>
                    <a:pt x="113473" y="273326"/>
                    <a:pt x="112692" y="276844"/>
                  </a:cubicBezTo>
                  <a:cubicBezTo>
                    <a:pt x="112040" y="280231"/>
                    <a:pt x="112692" y="283749"/>
                    <a:pt x="115037" y="286093"/>
                  </a:cubicBezTo>
                  <a:lnTo>
                    <a:pt x="171187" y="342244"/>
                  </a:lnTo>
                  <a:lnTo>
                    <a:pt x="227728" y="285703"/>
                  </a:lnTo>
                  <a:cubicBezTo>
                    <a:pt x="230073" y="283358"/>
                    <a:pt x="233591" y="282576"/>
                    <a:pt x="236978" y="283358"/>
                  </a:cubicBezTo>
                  <a:cubicBezTo>
                    <a:pt x="240365" y="284009"/>
                    <a:pt x="243101" y="286745"/>
                    <a:pt x="243883" y="290262"/>
                  </a:cubicBezTo>
                  <a:cubicBezTo>
                    <a:pt x="245577" y="296776"/>
                    <a:pt x="248964" y="302900"/>
                    <a:pt x="253784" y="307720"/>
                  </a:cubicBezTo>
                  <a:cubicBezTo>
                    <a:pt x="268897" y="322832"/>
                    <a:pt x="293519" y="322832"/>
                    <a:pt x="308632" y="307720"/>
                  </a:cubicBezTo>
                  <a:cubicBezTo>
                    <a:pt x="323744" y="292607"/>
                    <a:pt x="323744" y="267985"/>
                    <a:pt x="308632" y="252872"/>
                  </a:cubicBezTo>
                  <a:cubicBezTo>
                    <a:pt x="303811" y="248052"/>
                    <a:pt x="297688" y="244665"/>
                    <a:pt x="291174" y="242971"/>
                  </a:cubicBezTo>
                  <a:cubicBezTo>
                    <a:pt x="287787" y="242320"/>
                    <a:pt x="285051" y="239584"/>
                    <a:pt x="284270" y="236066"/>
                  </a:cubicBezTo>
                  <a:cubicBezTo>
                    <a:pt x="283227" y="232940"/>
                    <a:pt x="284270" y="229161"/>
                    <a:pt x="286614" y="226816"/>
                  </a:cubicBezTo>
                  <a:lnTo>
                    <a:pt x="342374" y="171057"/>
                  </a:lnTo>
                  <a:lnTo>
                    <a:pt x="286224" y="114906"/>
                  </a:lnTo>
                  <a:cubicBezTo>
                    <a:pt x="283879" y="112561"/>
                    <a:pt x="283097" y="109044"/>
                    <a:pt x="283879" y="105657"/>
                  </a:cubicBezTo>
                  <a:cubicBezTo>
                    <a:pt x="284530" y="102269"/>
                    <a:pt x="287266" y="99533"/>
                    <a:pt x="290783" y="98752"/>
                  </a:cubicBezTo>
                  <a:cubicBezTo>
                    <a:pt x="297297" y="97058"/>
                    <a:pt x="303421" y="93671"/>
                    <a:pt x="308241" y="88850"/>
                  </a:cubicBezTo>
                  <a:cubicBezTo>
                    <a:pt x="323353" y="73738"/>
                    <a:pt x="322963" y="48724"/>
                    <a:pt x="307850" y="33742"/>
                  </a:cubicBezTo>
                  <a:cubicBezTo>
                    <a:pt x="292738" y="18630"/>
                    <a:pt x="268115" y="18630"/>
                    <a:pt x="253003" y="33742"/>
                  </a:cubicBezTo>
                  <a:cubicBezTo>
                    <a:pt x="248182" y="38563"/>
                    <a:pt x="244795" y="44686"/>
                    <a:pt x="243101" y="51200"/>
                  </a:cubicBezTo>
                  <a:cubicBezTo>
                    <a:pt x="242450" y="54587"/>
                    <a:pt x="239714" y="57323"/>
                    <a:pt x="236196" y="58104"/>
                  </a:cubicBezTo>
                  <a:cubicBezTo>
                    <a:pt x="233070" y="59147"/>
                    <a:pt x="229292" y="58104"/>
                    <a:pt x="226947" y="55760"/>
                  </a:cubicBezTo>
                  <a:lnTo>
                    <a:pt x="171187" y="0"/>
                  </a:lnTo>
                  <a:lnTo>
                    <a:pt x="114646" y="56541"/>
                  </a:lnTo>
                  <a:cubicBezTo>
                    <a:pt x="112301" y="58886"/>
                    <a:pt x="108783" y="59668"/>
                    <a:pt x="105396" y="58886"/>
                  </a:cubicBezTo>
                  <a:cubicBezTo>
                    <a:pt x="102009" y="58104"/>
                    <a:pt x="99273" y="55499"/>
                    <a:pt x="98491" y="51981"/>
                  </a:cubicBezTo>
                  <a:cubicBezTo>
                    <a:pt x="96798" y="45467"/>
                    <a:pt x="93410" y="39344"/>
                    <a:pt x="88590" y="34524"/>
                  </a:cubicBezTo>
                  <a:cubicBezTo>
                    <a:pt x="73478" y="19412"/>
                    <a:pt x="48855" y="19412"/>
                    <a:pt x="33743" y="34524"/>
                  </a:cubicBezTo>
                  <a:cubicBezTo>
                    <a:pt x="18630" y="49636"/>
                    <a:pt x="18630" y="74259"/>
                    <a:pt x="33743" y="89372"/>
                  </a:cubicBezTo>
                  <a:cubicBezTo>
                    <a:pt x="38563" y="94192"/>
                    <a:pt x="44686" y="97579"/>
                    <a:pt x="51200" y="99273"/>
                  </a:cubicBezTo>
                  <a:cubicBezTo>
                    <a:pt x="54587" y="99924"/>
                    <a:pt x="57323" y="102660"/>
                    <a:pt x="58105" y="106178"/>
                  </a:cubicBezTo>
                  <a:cubicBezTo>
                    <a:pt x="59147" y="109304"/>
                    <a:pt x="58105" y="113082"/>
                    <a:pt x="55759" y="115428"/>
                  </a:cubicBezTo>
                  <a:lnTo>
                    <a:pt x="0" y="171187"/>
                  </a:lnTo>
                  <a:lnTo>
                    <a:pt x="55759" y="226947"/>
                  </a:lnTo>
                  <a:close/>
                </a:path>
              </a:pathLst>
            </a:custGeom>
            <a:noFill/>
            <a:ln w="12700" cap="flat">
              <a:solidFill>
                <a:schemeClr val="bg1"/>
              </a:solidFill>
              <a:prstDash val="solid"/>
              <a:miter/>
            </a:ln>
          </p:spPr>
          <p:txBody>
            <a:bodyPr rtlCol="0" anchor="ctr"/>
            <a:lstStyle/>
            <a:p>
              <a:endParaRPr lang="en-GB" sz="1600" dirty="0"/>
            </a:p>
          </p:txBody>
        </p:sp>
        <p:grpSp>
          <p:nvGrpSpPr>
            <p:cNvPr id="189" name="Group 188">
              <a:extLst>
                <a:ext uri="{FF2B5EF4-FFF2-40B4-BE49-F238E27FC236}">
                  <a16:creationId xmlns:a16="http://schemas.microsoft.com/office/drawing/2014/main" id="{853CF2F8-044B-C485-4B69-0880D9EA1959}"/>
                </a:ext>
              </a:extLst>
            </p:cNvPr>
            <p:cNvGrpSpPr/>
            <p:nvPr/>
          </p:nvGrpSpPr>
          <p:grpSpPr>
            <a:xfrm>
              <a:off x="8647438" y="5753505"/>
              <a:ext cx="681361" cy="338726"/>
              <a:chOff x="8647438" y="5753505"/>
              <a:chExt cx="681361" cy="338726"/>
            </a:xfrm>
          </p:grpSpPr>
          <p:sp>
            <p:nvSpPr>
              <p:cNvPr id="190" name="Freeform: Shape 527">
                <a:extLst>
                  <a:ext uri="{FF2B5EF4-FFF2-40B4-BE49-F238E27FC236}">
                    <a16:creationId xmlns:a16="http://schemas.microsoft.com/office/drawing/2014/main" id="{948CFE3C-EA93-235E-BF28-69A8F32893AA}"/>
                  </a:ext>
                </a:extLst>
              </p:cNvPr>
              <p:cNvSpPr/>
              <p:nvPr/>
            </p:nvSpPr>
            <p:spPr>
              <a:xfrm>
                <a:off x="8647438" y="5753505"/>
                <a:ext cx="338726" cy="338726"/>
              </a:xfrm>
              <a:custGeom>
                <a:avLst/>
                <a:gdLst>
                  <a:gd name="connsiteX0" fmla="*/ 55760 w 338726"/>
                  <a:gd name="connsiteY0" fmla="*/ 226947 h 338726"/>
                  <a:gd name="connsiteX1" fmla="*/ 65009 w 338726"/>
                  <a:gd name="connsiteY1" fmla="*/ 229292 h 338726"/>
                  <a:gd name="connsiteX2" fmla="*/ 71914 w 338726"/>
                  <a:gd name="connsiteY2" fmla="*/ 222387 h 338726"/>
                  <a:gd name="connsiteX3" fmla="*/ 81815 w 338726"/>
                  <a:gd name="connsiteY3" fmla="*/ 204929 h 338726"/>
                  <a:gd name="connsiteX4" fmla="*/ 136663 w 338726"/>
                  <a:gd name="connsiteY4" fmla="*/ 204929 h 338726"/>
                  <a:gd name="connsiteX5" fmla="*/ 137054 w 338726"/>
                  <a:gd name="connsiteY5" fmla="*/ 260038 h 338726"/>
                  <a:gd name="connsiteX6" fmla="*/ 119597 w 338726"/>
                  <a:gd name="connsiteY6" fmla="*/ 269939 h 338726"/>
                  <a:gd name="connsiteX7" fmla="*/ 112692 w 338726"/>
                  <a:gd name="connsiteY7" fmla="*/ 276844 h 338726"/>
                  <a:gd name="connsiteX8" fmla="*/ 115037 w 338726"/>
                  <a:gd name="connsiteY8" fmla="*/ 286094 h 338726"/>
                  <a:gd name="connsiteX9" fmla="*/ 171187 w 338726"/>
                  <a:gd name="connsiteY9" fmla="*/ 342244 h 338726"/>
                  <a:gd name="connsiteX10" fmla="*/ 227728 w 338726"/>
                  <a:gd name="connsiteY10" fmla="*/ 285703 h 338726"/>
                  <a:gd name="connsiteX11" fmla="*/ 236978 w 338726"/>
                  <a:gd name="connsiteY11" fmla="*/ 283358 h 338726"/>
                  <a:gd name="connsiteX12" fmla="*/ 243883 w 338726"/>
                  <a:gd name="connsiteY12" fmla="*/ 290262 h 338726"/>
                  <a:gd name="connsiteX13" fmla="*/ 253784 w 338726"/>
                  <a:gd name="connsiteY13" fmla="*/ 307720 h 338726"/>
                  <a:gd name="connsiteX14" fmla="*/ 308632 w 338726"/>
                  <a:gd name="connsiteY14" fmla="*/ 307720 h 338726"/>
                  <a:gd name="connsiteX15" fmla="*/ 308632 w 338726"/>
                  <a:gd name="connsiteY15" fmla="*/ 252872 h 338726"/>
                  <a:gd name="connsiteX16" fmla="*/ 291174 w 338726"/>
                  <a:gd name="connsiteY16" fmla="*/ 242971 h 338726"/>
                  <a:gd name="connsiteX17" fmla="*/ 284270 w 338726"/>
                  <a:gd name="connsiteY17" fmla="*/ 236066 h 338726"/>
                  <a:gd name="connsiteX18" fmla="*/ 286615 w 338726"/>
                  <a:gd name="connsiteY18" fmla="*/ 226816 h 338726"/>
                  <a:gd name="connsiteX19" fmla="*/ 342374 w 338726"/>
                  <a:gd name="connsiteY19" fmla="*/ 171057 h 338726"/>
                  <a:gd name="connsiteX20" fmla="*/ 286224 w 338726"/>
                  <a:gd name="connsiteY20" fmla="*/ 114907 h 338726"/>
                  <a:gd name="connsiteX21" fmla="*/ 283879 w 338726"/>
                  <a:gd name="connsiteY21" fmla="*/ 105657 h 338726"/>
                  <a:gd name="connsiteX22" fmla="*/ 290783 w 338726"/>
                  <a:gd name="connsiteY22" fmla="*/ 98752 h 338726"/>
                  <a:gd name="connsiteX23" fmla="*/ 308241 w 338726"/>
                  <a:gd name="connsiteY23" fmla="*/ 88851 h 338726"/>
                  <a:gd name="connsiteX24" fmla="*/ 307850 w 338726"/>
                  <a:gd name="connsiteY24" fmla="*/ 33742 h 338726"/>
                  <a:gd name="connsiteX25" fmla="*/ 253003 w 338726"/>
                  <a:gd name="connsiteY25" fmla="*/ 33742 h 338726"/>
                  <a:gd name="connsiteX26" fmla="*/ 243101 w 338726"/>
                  <a:gd name="connsiteY26" fmla="*/ 51200 h 338726"/>
                  <a:gd name="connsiteX27" fmla="*/ 236196 w 338726"/>
                  <a:gd name="connsiteY27" fmla="*/ 58105 h 338726"/>
                  <a:gd name="connsiteX28" fmla="*/ 226947 w 338726"/>
                  <a:gd name="connsiteY28" fmla="*/ 55760 h 338726"/>
                  <a:gd name="connsiteX29" fmla="*/ 171187 w 338726"/>
                  <a:gd name="connsiteY29" fmla="*/ 0 h 338726"/>
                  <a:gd name="connsiteX30" fmla="*/ 114646 w 338726"/>
                  <a:gd name="connsiteY30" fmla="*/ 56541 h 338726"/>
                  <a:gd name="connsiteX31" fmla="*/ 105396 w 338726"/>
                  <a:gd name="connsiteY31" fmla="*/ 58886 h 338726"/>
                  <a:gd name="connsiteX32" fmla="*/ 98491 w 338726"/>
                  <a:gd name="connsiteY32" fmla="*/ 51982 h 338726"/>
                  <a:gd name="connsiteX33" fmla="*/ 88590 w 338726"/>
                  <a:gd name="connsiteY33" fmla="*/ 34524 h 338726"/>
                  <a:gd name="connsiteX34" fmla="*/ 33742 w 338726"/>
                  <a:gd name="connsiteY34" fmla="*/ 34524 h 338726"/>
                  <a:gd name="connsiteX35" fmla="*/ 33742 w 338726"/>
                  <a:gd name="connsiteY35" fmla="*/ 89372 h 338726"/>
                  <a:gd name="connsiteX36" fmla="*/ 51200 w 338726"/>
                  <a:gd name="connsiteY36" fmla="*/ 99273 h 338726"/>
                  <a:gd name="connsiteX37" fmla="*/ 58105 w 338726"/>
                  <a:gd name="connsiteY37" fmla="*/ 106178 h 338726"/>
                  <a:gd name="connsiteX38" fmla="*/ 55760 w 338726"/>
                  <a:gd name="connsiteY38" fmla="*/ 115428 h 338726"/>
                  <a:gd name="connsiteX39" fmla="*/ 0 w 338726"/>
                  <a:gd name="connsiteY39" fmla="*/ 171187 h 338726"/>
                  <a:gd name="connsiteX40" fmla="*/ 55760 w 338726"/>
                  <a:gd name="connsiteY40" fmla="*/ 226947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55760" y="226947"/>
                    </a:moveTo>
                    <a:cubicBezTo>
                      <a:pt x="58105" y="229292"/>
                      <a:pt x="61883" y="230334"/>
                      <a:pt x="65009" y="229292"/>
                    </a:cubicBezTo>
                    <a:cubicBezTo>
                      <a:pt x="68397" y="228640"/>
                      <a:pt x="71133" y="225904"/>
                      <a:pt x="71914" y="222387"/>
                    </a:cubicBezTo>
                    <a:cubicBezTo>
                      <a:pt x="73608" y="215873"/>
                      <a:pt x="76995" y="209750"/>
                      <a:pt x="81815" y="204929"/>
                    </a:cubicBezTo>
                    <a:cubicBezTo>
                      <a:pt x="96928" y="189817"/>
                      <a:pt x="121551" y="189817"/>
                      <a:pt x="136663" y="204929"/>
                    </a:cubicBezTo>
                    <a:cubicBezTo>
                      <a:pt x="151775" y="220042"/>
                      <a:pt x="152036" y="245056"/>
                      <a:pt x="137054" y="260038"/>
                    </a:cubicBezTo>
                    <a:cubicBezTo>
                      <a:pt x="132233" y="264858"/>
                      <a:pt x="126111" y="268245"/>
                      <a:pt x="119597" y="269939"/>
                    </a:cubicBezTo>
                    <a:cubicBezTo>
                      <a:pt x="116209" y="270590"/>
                      <a:pt x="113473" y="273326"/>
                      <a:pt x="112692" y="276844"/>
                    </a:cubicBezTo>
                    <a:cubicBezTo>
                      <a:pt x="112040" y="280231"/>
                      <a:pt x="112692" y="283749"/>
                      <a:pt x="115037" y="286094"/>
                    </a:cubicBezTo>
                    <a:lnTo>
                      <a:pt x="171187" y="342244"/>
                    </a:lnTo>
                    <a:lnTo>
                      <a:pt x="227728" y="285703"/>
                    </a:lnTo>
                    <a:cubicBezTo>
                      <a:pt x="230073" y="283358"/>
                      <a:pt x="233591" y="282576"/>
                      <a:pt x="236978" y="283358"/>
                    </a:cubicBezTo>
                    <a:cubicBezTo>
                      <a:pt x="240365" y="284009"/>
                      <a:pt x="243101" y="286745"/>
                      <a:pt x="243883" y="290262"/>
                    </a:cubicBezTo>
                    <a:cubicBezTo>
                      <a:pt x="245577" y="296776"/>
                      <a:pt x="248964" y="302900"/>
                      <a:pt x="253784" y="307720"/>
                    </a:cubicBezTo>
                    <a:cubicBezTo>
                      <a:pt x="268897" y="322832"/>
                      <a:pt x="293520" y="322832"/>
                      <a:pt x="308632" y="307720"/>
                    </a:cubicBezTo>
                    <a:cubicBezTo>
                      <a:pt x="323744" y="292608"/>
                      <a:pt x="323744" y="267985"/>
                      <a:pt x="308632" y="252872"/>
                    </a:cubicBezTo>
                    <a:cubicBezTo>
                      <a:pt x="303811" y="248052"/>
                      <a:pt x="297688" y="244665"/>
                      <a:pt x="291174" y="242971"/>
                    </a:cubicBezTo>
                    <a:cubicBezTo>
                      <a:pt x="287787" y="242320"/>
                      <a:pt x="285051" y="239584"/>
                      <a:pt x="284270" y="236066"/>
                    </a:cubicBezTo>
                    <a:cubicBezTo>
                      <a:pt x="283227" y="232940"/>
                      <a:pt x="284270" y="229161"/>
                      <a:pt x="286615" y="226816"/>
                    </a:cubicBezTo>
                    <a:lnTo>
                      <a:pt x="342374" y="171057"/>
                    </a:lnTo>
                    <a:lnTo>
                      <a:pt x="286224" y="114907"/>
                    </a:lnTo>
                    <a:cubicBezTo>
                      <a:pt x="283879" y="112561"/>
                      <a:pt x="283097" y="109044"/>
                      <a:pt x="283879" y="105657"/>
                    </a:cubicBezTo>
                    <a:cubicBezTo>
                      <a:pt x="284530" y="102269"/>
                      <a:pt x="287266" y="99533"/>
                      <a:pt x="290783" y="98752"/>
                    </a:cubicBezTo>
                    <a:cubicBezTo>
                      <a:pt x="297297" y="97058"/>
                      <a:pt x="303421" y="93671"/>
                      <a:pt x="308241" y="88851"/>
                    </a:cubicBezTo>
                    <a:cubicBezTo>
                      <a:pt x="323353" y="73738"/>
                      <a:pt x="322963" y="48725"/>
                      <a:pt x="307850" y="33742"/>
                    </a:cubicBezTo>
                    <a:cubicBezTo>
                      <a:pt x="292738" y="18630"/>
                      <a:pt x="268115" y="18630"/>
                      <a:pt x="253003" y="33742"/>
                    </a:cubicBezTo>
                    <a:cubicBezTo>
                      <a:pt x="248182" y="38563"/>
                      <a:pt x="244795" y="44686"/>
                      <a:pt x="243101" y="51200"/>
                    </a:cubicBezTo>
                    <a:cubicBezTo>
                      <a:pt x="242450" y="54587"/>
                      <a:pt x="239714" y="57323"/>
                      <a:pt x="236196" y="58105"/>
                    </a:cubicBezTo>
                    <a:cubicBezTo>
                      <a:pt x="233070" y="59147"/>
                      <a:pt x="229292" y="58105"/>
                      <a:pt x="226947" y="55760"/>
                    </a:cubicBezTo>
                    <a:lnTo>
                      <a:pt x="171187" y="0"/>
                    </a:lnTo>
                    <a:lnTo>
                      <a:pt x="114646" y="56541"/>
                    </a:lnTo>
                    <a:cubicBezTo>
                      <a:pt x="112301" y="58886"/>
                      <a:pt x="108783" y="59668"/>
                      <a:pt x="105396" y="58886"/>
                    </a:cubicBezTo>
                    <a:cubicBezTo>
                      <a:pt x="102009" y="58235"/>
                      <a:pt x="99273" y="55499"/>
                      <a:pt x="98491" y="51982"/>
                    </a:cubicBezTo>
                    <a:cubicBezTo>
                      <a:pt x="96798" y="45468"/>
                      <a:pt x="93410" y="39344"/>
                      <a:pt x="88590" y="34524"/>
                    </a:cubicBezTo>
                    <a:cubicBezTo>
                      <a:pt x="73478" y="19412"/>
                      <a:pt x="48855" y="19412"/>
                      <a:pt x="33742" y="34524"/>
                    </a:cubicBezTo>
                    <a:cubicBezTo>
                      <a:pt x="18630" y="49636"/>
                      <a:pt x="18630" y="74259"/>
                      <a:pt x="33742" y="89372"/>
                    </a:cubicBezTo>
                    <a:cubicBezTo>
                      <a:pt x="38563" y="94192"/>
                      <a:pt x="44686" y="97579"/>
                      <a:pt x="51200" y="99273"/>
                    </a:cubicBezTo>
                    <a:cubicBezTo>
                      <a:pt x="54587" y="99924"/>
                      <a:pt x="57323" y="102660"/>
                      <a:pt x="58105" y="106178"/>
                    </a:cubicBezTo>
                    <a:cubicBezTo>
                      <a:pt x="59147" y="109304"/>
                      <a:pt x="58105" y="113083"/>
                      <a:pt x="55760" y="115428"/>
                    </a:cubicBezTo>
                    <a:lnTo>
                      <a:pt x="0" y="171187"/>
                    </a:lnTo>
                    <a:lnTo>
                      <a:pt x="55760" y="226947"/>
                    </a:lnTo>
                    <a:close/>
                  </a:path>
                </a:pathLst>
              </a:custGeom>
              <a:noFill/>
              <a:ln w="12700" cap="flat">
                <a:solidFill>
                  <a:schemeClr val="bg1"/>
                </a:solidFill>
                <a:prstDash val="solid"/>
                <a:miter/>
              </a:ln>
            </p:spPr>
            <p:txBody>
              <a:bodyPr rtlCol="0" anchor="ctr"/>
              <a:lstStyle/>
              <a:p>
                <a:endParaRPr lang="en-GB" sz="1600" dirty="0"/>
              </a:p>
            </p:txBody>
          </p:sp>
          <p:sp>
            <p:nvSpPr>
              <p:cNvPr id="191" name="Freeform: Shape 528">
                <a:extLst>
                  <a:ext uri="{FF2B5EF4-FFF2-40B4-BE49-F238E27FC236}">
                    <a16:creationId xmlns:a16="http://schemas.microsoft.com/office/drawing/2014/main" id="{3C6838F9-281B-6128-8F22-16ADF06D3307}"/>
                  </a:ext>
                </a:extLst>
              </p:cNvPr>
              <p:cNvSpPr/>
              <p:nvPr/>
            </p:nvSpPr>
            <p:spPr>
              <a:xfrm>
                <a:off x="8990073" y="5753505"/>
                <a:ext cx="338726" cy="338726"/>
              </a:xfrm>
              <a:custGeom>
                <a:avLst/>
                <a:gdLst>
                  <a:gd name="connsiteX0" fmla="*/ 115297 w 338726"/>
                  <a:gd name="connsiteY0" fmla="*/ 55760 h 338726"/>
                  <a:gd name="connsiteX1" fmla="*/ 112952 w 338726"/>
                  <a:gd name="connsiteY1" fmla="*/ 65009 h 338726"/>
                  <a:gd name="connsiteX2" fmla="*/ 119857 w 338726"/>
                  <a:gd name="connsiteY2" fmla="*/ 71914 h 338726"/>
                  <a:gd name="connsiteX3" fmla="*/ 137315 w 338726"/>
                  <a:gd name="connsiteY3" fmla="*/ 81815 h 338726"/>
                  <a:gd name="connsiteX4" fmla="*/ 137315 w 338726"/>
                  <a:gd name="connsiteY4" fmla="*/ 136663 h 338726"/>
                  <a:gd name="connsiteX5" fmla="*/ 82206 w 338726"/>
                  <a:gd name="connsiteY5" fmla="*/ 137054 h 338726"/>
                  <a:gd name="connsiteX6" fmla="*/ 72305 w 338726"/>
                  <a:gd name="connsiteY6" fmla="*/ 119597 h 338726"/>
                  <a:gd name="connsiteX7" fmla="*/ 65400 w 338726"/>
                  <a:gd name="connsiteY7" fmla="*/ 112692 h 338726"/>
                  <a:gd name="connsiteX8" fmla="*/ 56150 w 338726"/>
                  <a:gd name="connsiteY8" fmla="*/ 115037 h 338726"/>
                  <a:gd name="connsiteX9" fmla="*/ 0 w 338726"/>
                  <a:gd name="connsiteY9" fmla="*/ 171187 h 338726"/>
                  <a:gd name="connsiteX10" fmla="*/ 56541 w 338726"/>
                  <a:gd name="connsiteY10" fmla="*/ 227728 h 338726"/>
                  <a:gd name="connsiteX11" fmla="*/ 58886 w 338726"/>
                  <a:gd name="connsiteY11" fmla="*/ 236978 h 338726"/>
                  <a:gd name="connsiteX12" fmla="*/ 51981 w 338726"/>
                  <a:gd name="connsiteY12" fmla="*/ 243883 h 338726"/>
                  <a:gd name="connsiteX13" fmla="*/ 34524 w 338726"/>
                  <a:gd name="connsiteY13" fmla="*/ 253784 h 338726"/>
                  <a:gd name="connsiteX14" fmla="*/ 34524 w 338726"/>
                  <a:gd name="connsiteY14" fmla="*/ 308632 h 338726"/>
                  <a:gd name="connsiteX15" fmla="*/ 89371 w 338726"/>
                  <a:gd name="connsiteY15" fmla="*/ 308632 h 338726"/>
                  <a:gd name="connsiteX16" fmla="*/ 99273 w 338726"/>
                  <a:gd name="connsiteY16" fmla="*/ 291175 h 338726"/>
                  <a:gd name="connsiteX17" fmla="*/ 106178 w 338726"/>
                  <a:gd name="connsiteY17" fmla="*/ 284270 h 338726"/>
                  <a:gd name="connsiteX18" fmla="*/ 115427 w 338726"/>
                  <a:gd name="connsiteY18" fmla="*/ 286615 h 338726"/>
                  <a:gd name="connsiteX19" fmla="*/ 171187 w 338726"/>
                  <a:gd name="connsiteY19" fmla="*/ 342374 h 338726"/>
                  <a:gd name="connsiteX20" fmla="*/ 227338 w 338726"/>
                  <a:gd name="connsiteY20" fmla="*/ 286224 h 338726"/>
                  <a:gd name="connsiteX21" fmla="*/ 236587 w 338726"/>
                  <a:gd name="connsiteY21" fmla="*/ 283879 h 338726"/>
                  <a:gd name="connsiteX22" fmla="*/ 243492 w 338726"/>
                  <a:gd name="connsiteY22" fmla="*/ 290784 h 338726"/>
                  <a:gd name="connsiteX23" fmla="*/ 253394 w 338726"/>
                  <a:gd name="connsiteY23" fmla="*/ 308241 h 338726"/>
                  <a:gd name="connsiteX24" fmla="*/ 308501 w 338726"/>
                  <a:gd name="connsiteY24" fmla="*/ 307850 h 338726"/>
                  <a:gd name="connsiteX25" fmla="*/ 308501 w 338726"/>
                  <a:gd name="connsiteY25" fmla="*/ 253003 h 338726"/>
                  <a:gd name="connsiteX26" fmla="*/ 291044 w 338726"/>
                  <a:gd name="connsiteY26" fmla="*/ 243101 h 338726"/>
                  <a:gd name="connsiteX27" fmla="*/ 284139 w 338726"/>
                  <a:gd name="connsiteY27" fmla="*/ 236197 h 338726"/>
                  <a:gd name="connsiteX28" fmla="*/ 286484 w 338726"/>
                  <a:gd name="connsiteY28" fmla="*/ 226947 h 338726"/>
                  <a:gd name="connsiteX29" fmla="*/ 342244 w 338726"/>
                  <a:gd name="connsiteY29" fmla="*/ 171187 h 338726"/>
                  <a:gd name="connsiteX30" fmla="*/ 285703 w 338726"/>
                  <a:gd name="connsiteY30" fmla="*/ 114646 h 338726"/>
                  <a:gd name="connsiteX31" fmla="*/ 283358 w 338726"/>
                  <a:gd name="connsiteY31" fmla="*/ 105396 h 338726"/>
                  <a:gd name="connsiteX32" fmla="*/ 290262 w 338726"/>
                  <a:gd name="connsiteY32" fmla="*/ 98491 h 338726"/>
                  <a:gd name="connsiteX33" fmla="*/ 307720 w 338726"/>
                  <a:gd name="connsiteY33" fmla="*/ 88590 h 338726"/>
                  <a:gd name="connsiteX34" fmla="*/ 307720 w 338726"/>
                  <a:gd name="connsiteY34" fmla="*/ 33742 h 338726"/>
                  <a:gd name="connsiteX35" fmla="*/ 252872 w 338726"/>
                  <a:gd name="connsiteY35" fmla="*/ 33742 h 338726"/>
                  <a:gd name="connsiteX36" fmla="*/ 242971 w 338726"/>
                  <a:gd name="connsiteY36" fmla="*/ 51200 h 338726"/>
                  <a:gd name="connsiteX37" fmla="*/ 236066 w 338726"/>
                  <a:gd name="connsiteY37" fmla="*/ 58105 h 338726"/>
                  <a:gd name="connsiteX38" fmla="*/ 226816 w 338726"/>
                  <a:gd name="connsiteY38" fmla="*/ 55760 h 338726"/>
                  <a:gd name="connsiteX39" fmla="*/ 171057 w 338726"/>
                  <a:gd name="connsiteY39" fmla="*/ 0 h 338726"/>
                  <a:gd name="connsiteX40" fmla="*/ 115297 w 338726"/>
                  <a:gd name="connsiteY40" fmla="*/ 55760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115297" y="55760"/>
                    </a:moveTo>
                    <a:cubicBezTo>
                      <a:pt x="112952" y="58105"/>
                      <a:pt x="111910" y="61883"/>
                      <a:pt x="112952" y="65009"/>
                    </a:cubicBezTo>
                    <a:cubicBezTo>
                      <a:pt x="113604" y="68397"/>
                      <a:pt x="116339" y="71133"/>
                      <a:pt x="119857" y="71914"/>
                    </a:cubicBezTo>
                    <a:cubicBezTo>
                      <a:pt x="126371" y="73608"/>
                      <a:pt x="132494" y="76995"/>
                      <a:pt x="137315" y="81815"/>
                    </a:cubicBezTo>
                    <a:cubicBezTo>
                      <a:pt x="152427" y="96928"/>
                      <a:pt x="152427" y="121551"/>
                      <a:pt x="137315" y="136663"/>
                    </a:cubicBezTo>
                    <a:cubicBezTo>
                      <a:pt x="122202" y="151775"/>
                      <a:pt x="97188" y="152036"/>
                      <a:pt x="82206" y="137054"/>
                    </a:cubicBezTo>
                    <a:cubicBezTo>
                      <a:pt x="77386" y="132234"/>
                      <a:pt x="73999" y="126111"/>
                      <a:pt x="72305" y="119597"/>
                    </a:cubicBezTo>
                    <a:cubicBezTo>
                      <a:pt x="71654" y="116209"/>
                      <a:pt x="68918" y="113473"/>
                      <a:pt x="65400" y="112692"/>
                    </a:cubicBezTo>
                    <a:cubicBezTo>
                      <a:pt x="62013" y="112040"/>
                      <a:pt x="58495" y="112692"/>
                      <a:pt x="56150" y="115037"/>
                    </a:cubicBezTo>
                    <a:lnTo>
                      <a:pt x="0" y="171187"/>
                    </a:lnTo>
                    <a:lnTo>
                      <a:pt x="56541" y="227728"/>
                    </a:lnTo>
                    <a:cubicBezTo>
                      <a:pt x="58886" y="230073"/>
                      <a:pt x="59668" y="233591"/>
                      <a:pt x="58886" y="236978"/>
                    </a:cubicBezTo>
                    <a:cubicBezTo>
                      <a:pt x="58235" y="240365"/>
                      <a:pt x="55499" y="243101"/>
                      <a:pt x="51981" y="243883"/>
                    </a:cubicBezTo>
                    <a:cubicBezTo>
                      <a:pt x="45467" y="245577"/>
                      <a:pt x="39344" y="248964"/>
                      <a:pt x="34524" y="253784"/>
                    </a:cubicBezTo>
                    <a:cubicBezTo>
                      <a:pt x="19412" y="268897"/>
                      <a:pt x="19412" y="293519"/>
                      <a:pt x="34524" y="308632"/>
                    </a:cubicBezTo>
                    <a:cubicBezTo>
                      <a:pt x="49636" y="323744"/>
                      <a:pt x="74259" y="323744"/>
                      <a:pt x="89371" y="308632"/>
                    </a:cubicBezTo>
                    <a:cubicBezTo>
                      <a:pt x="94192" y="303812"/>
                      <a:pt x="97579" y="297688"/>
                      <a:pt x="99273" y="291175"/>
                    </a:cubicBezTo>
                    <a:cubicBezTo>
                      <a:pt x="99924" y="287787"/>
                      <a:pt x="102660" y="285051"/>
                      <a:pt x="106178" y="284270"/>
                    </a:cubicBezTo>
                    <a:cubicBezTo>
                      <a:pt x="109304" y="283227"/>
                      <a:pt x="113082" y="284270"/>
                      <a:pt x="115427" y="286615"/>
                    </a:cubicBezTo>
                    <a:lnTo>
                      <a:pt x="171187" y="342374"/>
                    </a:lnTo>
                    <a:lnTo>
                      <a:pt x="227338" y="286224"/>
                    </a:lnTo>
                    <a:cubicBezTo>
                      <a:pt x="229683" y="283879"/>
                      <a:pt x="233200" y="283097"/>
                      <a:pt x="236587" y="283879"/>
                    </a:cubicBezTo>
                    <a:cubicBezTo>
                      <a:pt x="239974" y="284530"/>
                      <a:pt x="242711" y="287266"/>
                      <a:pt x="243492" y="290784"/>
                    </a:cubicBezTo>
                    <a:cubicBezTo>
                      <a:pt x="245186" y="297298"/>
                      <a:pt x="248573" y="303421"/>
                      <a:pt x="253394" y="308241"/>
                    </a:cubicBezTo>
                    <a:cubicBezTo>
                      <a:pt x="268506" y="323354"/>
                      <a:pt x="293519" y="322963"/>
                      <a:pt x="308501" y="307850"/>
                    </a:cubicBezTo>
                    <a:cubicBezTo>
                      <a:pt x="323614" y="292738"/>
                      <a:pt x="323614" y="268115"/>
                      <a:pt x="308501" y="253003"/>
                    </a:cubicBezTo>
                    <a:cubicBezTo>
                      <a:pt x="303681" y="248182"/>
                      <a:pt x="297558" y="244795"/>
                      <a:pt x="291044" y="243101"/>
                    </a:cubicBezTo>
                    <a:cubicBezTo>
                      <a:pt x="287657" y="242450"/>
                      <a:pt x="284921" y="239714"/>
                      <a:pt x="284139" y="236197"/>
                    </a:cubicBezTo>
                    <a:cubicBezTo>
                      <a:pt x="283097" y="233070"/>
                      <a:pt x="284139" y="229292"/>
                      <a:pt x="286484" y="226947"/>
                    </a:cubicBezTo>
                    <a:lnTo>
                      <a:pt x="342244" y="171187"/>
                    </a:lnTo>
                    <a:lnTo>
                      <a:pt x="285703" y="114646"/>
                    </a:lnTo>
                    <a:cubicBezTo>
                      <a:pt x="283358" y="112301"/>
                      <a:pt x="282576" y="108783"/>
                      <a:pt x="283358" y="105396"/>
                    </a:cubicBezTo>
                    <a:cubicBezTo>
                      <a:pt x="284009" y="102009"/>
                      <a:pt x="286745" y="99273"/>
                      <a:pt x="290262" y="98491"/>
                    </a:cubicBezTo>
                    <a:cubicBezTo>
                      <a:pt x="296776" y="96798"/>
                      <a:pt x="302900" y="93410"/>
                      <a:pt x="307720" y="88590"/>
                    </a:cubicBezTo>
                    <a:cubicBezTo>
                      <a:pt x="322832" y="73478"/>
                      <a:pt x="322832" y="48855"/>
                      <a:pt x="307720" y="33742"/>
                    </a:cubicBezTo>
                    <a:cubicBezTo>
                      <a:pt x="292607" y="18630"/>
                      <a:pt x="267985" y="18630"/>
                      <a:pt x="252872" y="33742"/>
                    </a:cubicBezTo>
                    <a:cubicBezTo>
                      <a:pt x="248052" y="38563"/>
                      <a:pt x="244665" y="44686"/>
                      <a:pt x="242971" y="51200"/>
                    </a:cubicBezTo>
                    <a:cubicBezTo>
                      <a:pt x="242320" y="54587"/>
                      <a:pt x="239584" y="57323"/>
                      <a:pt x="236066" y="58105"/>
                    </a:cubicBezTo>
                    <a:cubicBezTo>
                      <a:pt x="232940" y="59147"/>
                      <a:pt x="229161" y="58105"/>
                      <a:pt x="226816" y="55760"/>
                    </a:cubicBezTo>
                    <a:lnTo>
                      <a:pt x="171057" y="0"/>
                    </a:lnTo>
                    <a:lnTo>
                      <a:pt x="115297" y="55760"/>
                    </a:lnTo>
                    <a:close/>
                  </a:path>
                </a:pathLst>
              </a:custGeom>
              <a:noFill/>
              <a:ln w="12700" cap="flat">
                <a:solidFill>
                  <a:schemeClr val="bg1"/>
                </a:solidFill>
                <a:prstDash val="solid"/>
                <a:miter/>
              </a:ln>
            </p:spPr>
            <p:txBody>
              <a:bodyPr rtlCol="0" anchor="ctr"/>
              <a:lstStyle/>
              <a:p>
                <a:endParaRPr lang="en-GB" sz="1600" dirty="0"/>
              </a:p>
            </p:txBody>
          </p:sp>
        </p:grpSp>
      </p:grpSp>
      <p:grpSp>
        <p:nvGrpSpPr>
          <p:cNvPr id="192" name="Group 191">
            <a:extLst>
              <a:ext uri="{FF2B5EF4-FFF2-40B4-BE49-F238E27FC236}">
                <a16:creationId xmlns:a16="http://schemas.microsoft.com/office/drawing/2014/main" id="{667B90F5-C273-5470-AFCA-7677E35282D3}"/>
              </a:ext>
              <a:ext uri="{C183D7F6-B498-43B3-948B-1728B52AA6E4}">
                <adec:decorative xmlns:adec="http://schemas.microsoft.com/office/drawing/2017/decorative" val="1"/>
              </a:ext>
            </a:extLst>
          </p:cNvPr>
          <p:cNvGrpSpPr/>
          <p:nvPr userDrawn="1"/>
        </p:nvGrpSpPr>
        <p:grpSpPr>
          <a:xfrm>
            <a:off x="4193487" y="5504688"/>
            <a:ext cx="444337" cy="436705"/>
            <a:chOff x="4105453" y="1314571"/>
            <a:chExt cx="578417" cy="568482"/>
          </a:xfrm>
          <a:noFill/>
        </p:grpSpPr>
        <p:sp>
          <p:nvSpPr>
            <p:cNvPr id="193" name="Freeform: Shape 66">
              <a:extLst>
                <a:ext uri="{FF2B5EF4-FFF2-40B4-BE49-F238E27FC236}">
                  <a16:creationId xmlns:a16="http://schemas.microsoft.com/office/drawing/2014/main" id="{6CAD09E9-CEC7-C6AD-A854-1AE8CB0F3882}"/>
                </a:ext>
              </a:extLst>
            </p:cNvPr>
            <p:cNvSpPr/>
            <p:nvPr/>
          </p:nvSpPr>
          <p:spPr>
            <a:xfrm>
              <a:off x="4178980" y="1396313"/>
              <a:ext cx="172227" cy="13248"/>
            </a:xfrm>
            <a:custGeom>
              <a:avLst/>
              <a:gdLst>
                <a:gd name="connsiteX0" fmla="*/ 0 w 172227"/>
                <a:gd name="connsiteY0" fmla="*/ 0 h 0"/>
                <a:gd name="connsiteX1" fmla="*/ 180573 w 172227"/>
                <a:gd name="connsiteY1" fmla="*/ 0 h 0"/>
              </a:gdLst>
              <a:ahLst/>
              <a:cxnLst>
                <a:cxn ang="0">
                  <a:pos x="connsiteX0" y="connsiteY0"/>
                </a:cxn>
                <a:cxn ang="0">
                  <a:pos x="connsiteX1" y="connsiteY1"/>
                </a:cxn>
              </a:cxnLst>
              <a:rect l="l" t="t" r="r" b="b"/>
              <a:pathLst>
                <a:path w="172227">
                  <a:moveTo>
                    <a:pt x="0" y="0"/>
                  </a:moveTo>
                  <a:lnTo>
                    <a:pt x="180573" y="0"/>
                  </a:lnTo>
                </a:path>
              </a:pathLst>
            </a:custGeom>
            <a:grpFill/>
            <a:ln w="12700" cap="rnd">
              <a:solidFill>
                <a:schemeClr val="bg1"/>
              </a:solidFill>
              <a:prstDash val="solid"/>
              <a:round/>
            </a:ln>
          </p:spPr>
          <p:txBody>
            <a:bodyPr rtlCol="0" anchor="ctr"/>
            <a:lstStyle/>
            <a:p>
              <a:endParaRPr lang="en-GB" sz="1600" dirty="0"/>
            </a:p>
          </p:txBody>
        </p:sp>
        <p:sp>
          <p:nvSpPr>
            <p:cNvPr id="194" name="Freeform: Shape 67">
              <a:extLst>
                <a:ext uri="{FF2B5EF4-FFF2-40B4-BE49-F238E27FC236}">
                  <a16:creationId xmlns:a16="http://schemas.microsoft.com/office/drawing/2014/main" id="{1C316F72-B187-B99E-E565-6E9F14306695}"/>
                </a:ext>
              </a:extLst>
            </p:cNvPr>
            <p:cNvSpPr/>
            <p:nvPr/>
          </p:nvSpPr>
          <p:spPr>
            <a:xfrm>
              <a:off x="4178980" y="1469973"/>
              <a:ext cx="172227" cy="13248"/>
            </a:xfrm>
            <a:custGeom>
              <a:avLst/>
              <a:gdLst>
                <a:gd name="connsiteX0" fmla="*/ 0 w 172227"/>
                <a:gd name="connsiteY0" fmla="*/ 0 h 0"/>
                <a:gd name="connsiteX1" fmla="*/ 180706 w 172227"/>
                <a:gd name="connsiteY1" fmla="*/ 0 h 0"/>
              </a:gdLst>
              <a:ahLst/>
              <a:cxnLst>
                <a:cxn ang="0">
                  <a:pos x="connsiteX0" y="connsiteY0"/>
                </a:cxn>
                <a:cxn ang="0">
                  <a:pos x="connsiteX1" y="connsiteY1"/>
                </a:cxn>
              </a:cxnLst>
              <a:rect l="l" t="t" r="r" b="b"/>
              <a:pathLst>
                <a:path w="172227">
                  <a:moveTo>
                    <a:pt x="0" y="0"/>
                  </a:moveTo>
                  <a:lnTo>
                    <a:pt x="180706" y="0"/>
                  </a:lnTo>
                </a:path>
              </a:pathLst>
            </a:custGeom>
            <a:grpFill/>
            <a:ln w="12700" cap="rnd">
              <a:solidFill>
                <a:schemeClr val="bg1"/>
              </a:solidFill>
              <a:prstDash val="solid"/>
              <a:round/>
            </a:ln>
          </p:spPr>
          <p:txBody>
            <a:bodyPr rtlCol="0" anchor="ctr"/>
            <a:lstStyle/>
            <a:p>
              <a:endParaRPr lang="en-GB" sz="1600" dirty="0"/>
            </a:p>
          </p:txBody>
        </p:sp>
        <p:sp>
          <p:nvSpPr>
            <p:cNvPr id="195" name="Freeform: Shape 68">
              <a:extLst>
                <a:ext uri="{FF2B5EF4-FFF2-40B4-BE49-F238E27FC236}">
                  <a16:creationId xmlns:a16="http://schemas.microsoft.com/office/drawing/2014/main" id="{8034CBC8-73EB-47CD-7D24-5647B2619572}"/>
                </a:ext>
              </a:extLst>
            </p:cNvPr>
            <p:cNvSpPr/>
            <p:nvPr/>
          </p:nvSpPr>
          <p:spPr>
            <a:xfrm>
              <a:off x="4105453" y="1314571"/>
              <a:ext cx="317958" cy="278213"/>
            </a:xfrm>
            <a:custGeom>
              <a:avLst/>
              <a:gdLst>
                <a:gd name="connsiteX0" fmla="*/ 0 w 317957"/>
                <a:gd name="connsiteY0" fmla="*/ 0 h 278213"/>
                <a:gd name="connsiteX1" fmla="*/ 0 w 317957"/>
                <a:gd name="connsiteY1" fmla="*/ 231049 h 278213"/>
                <a:gd name="connsiteX2" fmla="*/ 242708 w 317957"/>
                <a:gd name="connsiteY2" fmla="*/ 231049 h 278213"/>
                <a:gd name="connsiteX3" fmla="*/ 286162 w 317957"/>
                <a:gd name="connsiteY3" fmla="*/ 280730 h 278213"/>
                <a:gd name="connsiteX4" fmla="*/ 286162 w 317957"/>
                <a:gd name="connsiteY4" fmla="*/ 231049 h 278213"/>
                <a:gd name="connsiteX5" fmla="*/ 327629 w 317957"/>
                <a:gd name="connsiteY5" fmla="*/ 231049 h 278213"/>
                <a:gd name="connsiteX6" fmla="*/ 327629 w 317957"/>
                <a:gd name="connsiteY6" fmla="*/ 0 h 27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7957" h="278213">
                  <a:moveTo>
                    <a:pt x="0" y="0"/>
                  </a:moveTo>
                  <a:lnTo>
                    <a:pt x="0" y="231049"/>
                  </a:lnTo>
                  <a:lnTo>
                    <a:pt x="242708" y="231049"/>
                  </a:lnTo>
                  <a:lnTo>
                    <a:pt x="286162" y="280730"/>
                  </a:lnTo>
                  <a:lnTo>
                    <a:pt x="286162" y="231049"/>
                  </a:lnTo>
                  <a:lnTo>
                    <a:pt x="327629" y="231049"/>
                  </a:lnTo>
                  <a:lnTo>
                    <a:pt x="327629" y="0"/>
                  </a:lnTo>
                  <a:close/>
                </a:path>
              </a:pathLst>
            </a:custGeom>
            <a:grpFill/>
            <a:ln w="12700" cap="rnd">
              <a:solidFill>
                <a:schemeClr val="bg1"/>
              </a:solidFill>
              <a:prstDash val="solid"/>
              <a:round/>
            </a:ln>
          </p:spPr>
          <p:txBody>
            <a:bodyPr rtlCol="0" anchor="ctr"/>
            <a:lstStyle/>
            <a:p>
              <a:endParaRPr lang="en-GB" sz="1600" dirty="0"/>
            </a:p>
          </p:txBody>
        </p:sp>
        <p:sp>
          <p:nvSpPr>
            <p:cNvPr id="196" name="Freeform: Shape 69">
              <a:extLst>
                <a:ext uri="{FF2B5EF4-FFF2-40B4-BE49-F238E27FC236}">
                  <a16:creationId xmlns:a16="http://schemas.microsoft.com/office/drawing/2014/main" id="{86F143F5-6ABD-DA80-09DE-C06C3F3EDC24}"/>
                </a:ext>
              </a:extLst>
            </p:cNvPr>
            <p:cNvSpPr/>
            <p:nvPr/>
          </p:nvSpPr>
          <p:spPr>
            <a:xfrm>
              <a:off x="4326168" y="1657833"/>
              <a:ext cx="357702" cy="225220"/>
            </a:xfrm>
            <a:custGeom>
              <a:avLst/>
              <a:gdLst>
                <a:gd name="connsiteX0" fmla="*/ 0 w 357702"/>
                <a:gd name="connsiteY0" fmla="*/ 0 h 225220"/>
                <a:gd name="connsiteX1" fmla="*/ 359425 w 357702"/>
                <a:gd name="connsiteY1" fmla="*/ 0 h 225220"/>
                <a:gd name="connsiteX2" fmla="*/ 359425 w 357702"/>
                <a:gd name="connsiteY2" fmla="*/ 231712 h 225220"/>
                <a:gd name="connsiteX3" fmla="*/ 0 w 357702"/>
                <a:gd name="connsiteY3" fmla="*/ 231712 h 225220"/>
              </a:gdLst>
              <a:ahLst/>
              <a:cxnLst>
                <a:cxn ang="0">
                  <a:pos x="connsiteX0" y="connsiteY0"/>
                </a:cxn>
                <a:cxn ang="0">
                  <a:pos x="connsiteX1" y="connsiteY1"/>
                </a:cxn>
                <a:cxn ang="0">
                  <a:pos x="connsiteX2" y="connsiteY2"/>
                </a:cxn>
                <a:cxn ang="0">
                  <a:pos x="connsiteX3" y="connsiteY3"/>
                </a:cxn>
              </a:cxnLst>
              <a:rect l="l" t="t" r="r" b="b"/>
              <a:pathLst>
                <a:path w="357702" h="225220">
                  <a:moveTo>
                    <a:pt x="0" y="0"/>
                  </a:moveTo>
                  <a:lnTo>
                    <a:pt x="359425" y="0"/>
                  </a:lnTo>
                  <a:lnTo>
                    <a:pt x="359425" y="231712"/>
                  </a:lnTo>
                  <a:lnTo>
                    <a:pt x="0" y="231712"/>
                  </a:lnTo>
                  <a:close/>
                </a:path>
              </a:pathLst>
            </a:custGeom>
            <a:grpFill/>
            <a:ln w="12700" cap="rnd">
              <a:solidFill>
                <a:schemeClr val="bg1"/>
              </a:solidFill>
              <a:prstDash val="solid"/>
              <a:round/>
            </a:ln>
          </p:spPr>
          <p:txBody>
            <a:bodyPr rtlCol="0" anchor="ctr"/>
            <a:lstStyle/>
            <a:p>
              <a:endParaRPr lang="en-GB" sz="1600" dirty="0"/>
            </a:p>
          </p:txBody>
        </p:sp>
        <p:sp>
          <p:nvSpPr>
            <p:cNvPr id="197" name="Freeform: Shape 70">
              <a:extLst>
                <a:ext uri="{FF2B5EF4-FFF2-40B4-BE49-F238E27FC236}">
                  <a16:creationId xmlns:a16="http://schemas.microsoft.com/office/drawing/2014/main" id="{751AEC16-F401-7E2C-29D1-94BFB3653BAF}"/>
                </a:ext>
              </a:extLst>
            </p:cNvPr>
            <p:cNvSpPr/>
            <p:nvPr/>
          </p:nvSpPr>
          <p:spPr>
            <a:xfrm>
              <a:off x="4394794" y="1804359"/>
              <a:ext cx="211972" cy="26496"/>
            </a:xfrm>
            <a:custGeom>
              <a:avLst/>
              <a:gdLst>
                <a:gd name="connsiteX0" fmla="*/ 0 w 211971"/>
                <a:gd name="connsiteY0" fmla="*/ 0 h 26496"/>
                <a:gd name="connsiteX1" fmla="*/ 222173 w 211971"/>
                <a:gd name="connsiteY1" fmla="*/ 0 h 26496"/>
                <a:gd name="connsiteX2" fmla="*/ 222173 w 211971"/>
                <a:gd name="connsiteY2" fmla="*/ 33121 h 26496"/>
                <a:gd name="connsiteX3" fmla="*/ 0 w 211971"/>
                <a:gd name="connsiteY3" fmla="*/ 33121 h 26496"/>
              </a:gdLst>
              <a:ahLst/>
              <a:cxnLst>
                <a:cxn ang="0">
                  <a:pos x="connsiteX0" y="connsiteY0"/>
                </a:cxn>
                <a:cxn ang="0">
                  <a:pos x="connsiteX1" y="connsiteY1"/>
                </a:cxn>
                <a:cxn ang="0">
                  <a:pos x="connsiteX2" y="connsiteY2"/>
                </a:cxn>
                <a:cxn ang="0">
                  <a:pos x="connsiteX3" y="connsiteY3"/>
                </a:cxn>
              </a:cxnLst>
              <a:rect l="l" t="t" r="r" b="b"/>
              <a:pathLst>
                <a:path w="211971" h="26496">
                  <a:moveTo>
                    <a:pt x="0" y="0"/>
                  </a:moveTo>
                  <a:lnTo>
                    <a:pt x="222173" y="0"/>
                  </a:lnTo>
                  <a:lnTo>
                    <a:pt x="222173" y="33121"/>
                  </a:lnTo>
                  <a:lnTo>
                    <a:pt x="0" y="33121"/>
                  </a:lnTo>
                  <a:close/>
                </a:path>
              </a:pathLst>
            </a:custGeom>
            <a:grpFill/>
            <a:ln w="12700" cap="rnd">
              <a:solidFill>
                <a:schemeClr val="bg1"/>
              </a:solidFill>
              <a:prstDash val="solid"/>
              <a:round/>
            </a:ln>
          </p:spPr>
          <p:txBody>
            <a:bodyPr rtlCol="0" anchor="ctr"/>
            <a:lstStyle/>
            <a:p>
              <a:endParaRPr lang="en-GB" sz="1600" dirty="0"/>
            </a:p>
          </p:txBody>
        </p:sp>
        <p:sp>
          <p:nvSpPr>
            <p:cNvPr id="198" name="Freeform: Shape 71">
              <a:extLst>
                <a:ext uri="{FF2B5EF4-FFF2-40B4-BE49-F238E27FC236}">
                  <a16:creationId xmlns:a16="http://schemas.microsoft.com/office/drawing/2014/main" id="{484883EF-833F-AD73-CEDF-F9CA705B5D0B}"/>
                </a:ext>
              </a:extLst>
            </p:cNvPr>
            <p:cNvSpPr/>
            <p:nvPr/>
          </p:nvSpPr>
          <p:spPr>
            <a:xfrm>
              <a:off x="4417184" y="1710959"/>
              <a:ext cx="26496" cy="26496"/>
            </a:xfrm>
            <a:custGeom>
              <a:avLst/>
              <a:gdLst>
                <a:gd name="connsiteX0" fmla="*/ 0 w 26496"/>
                <a:gd name="connsiteY0" fmla="*/ 0 h 26496"/>
                <a:gd name="connsiteX1" fmla="*/ 33253 w 26496"/>
                <a:gd name="connsiteY1" fmla="*/ 33253 h 26496"/>
              </a:gdLst>
              <a:ahLst/>
              <a:cxnLst>
                <a:cxn ang="0">
                  <a:pos x="connsiteX0" y="connsiteY0"/>
                </a:cxn>
                <a:cxn ang="0">
                  <a:pos x="connsiteX1" y="connsiteY1"/>
                </a:cxn>
              </a:cxnLst>
              <a:rect l="l" t="t" r="r" b="b"/>
              <a:pathLst>
                <a:path w="26496" h="26496">
                  <a:moveTo>
                    <a:pt x="0" y="0"/>
                  </a:moveTo>
                  <a:lnTo>
                    <a:pt x="33253" y="33253"/>
                  </a:lnTo>
                </a:path>
              </a:pathLst>
            </a:custGeom>
            <a:grpFill/>
            <a:ln w="12700" cap="rnd">
              <a:solidFill>
                <a:schemeClr val="bg1"/>
              </a:solidFill>
              <a:prstDash val="solid"/>
              <a:round/>
            </a:ln>
          </p:spPr>
          <p:txBody>
            <a:bodyPr rtlCol="0" anchor="ctr"/>
            <a:lstStyle/>
            <a:p>
              <a:endParaRPr lang="en-GB" sz="1600" dirty="0"/>
            </a:p>
          </p:txBody>
        </p:sp>
        <p:sp>
          <p:nvSpPr>
            <p:cNvPr id="199" name="Freeform: Shape 72">
              <a:extLst>
                <a:ext uri="{FF2B5EF4-FFF2-40B4-BE49-F238E27FC236}">
                  <a16:creationId xmlns:a16="http://schemas.microsoft.com/office/drawing/2014/main" id="{FC774FFE-5367-E88D-0C49-3C99482880AE}"/>
                </a:ext>
              </a:extLst>
            </p:cNvPr>
            <p:cNvSpPr/>
            <p:nvPr/>
          </p:nvSpPr>
          <p:spPr>
            <a:xfrm>
              <a:off x="4417184" y="1710959"/>
              <a:ext cx="26496" cy="26496"/>
            </a:xfrm>
            <a:custGeom>
              <a:avLst/>
              <a:gdLst>
                <a:gd name="connsiteX0" fmla="*/ 33253 w 26496"/>
                <a:gd name="connsiteY0" fmla="*/ 0 h 26496"/>
                <a:gd name="connsiteX1" fmla="*/ 0 w 26496"/>
                <a:gd name="connsiteY1" fmla="*/ 33253 h 26496"/>
              </a:gdLst>
              <a:ahLst/>
              <a:cxnLst>
                <a:cxn ang="0">
                  <a:pos x="connsiteX0" y="connsiteY0"/>
                </a:cxn>
                <a:cxn ang="0">
                  <a:pos x="connsiteX1" y="connsiteY1"/>
                </a:cxn>
              </a:cxnLst>
              <a:rect l="l" t="t" r="r" b="b"/>
              <a:pathLst>
                <a:path w="26496" h="26496">
                  <a:moveTo>
                    <a:pt x="33253" y="0"/>
                  </a:moveTo>
                  <a:lnTo>
                    <a:pt x="0" y="33253"/>
                  </a:lnTo>
                </a:path>
              </a:pathLst>
            </a:custGeom>
            <a:grpFill/>
            <a:ln w="12700" cap="rnd">
              <a:solidFill>
                <a:schemeClr val="bg1"/>
              </a:solidFill>
              <a:prstDash val="solid"/>
              <a:round/>
            </a:ln>
          </p:spPr>
          <p:txBody>
            <a:bodyPr rtlCol="0" anchor="ctr"/>
            <a:lstStyle/>
            <a:p>
              <a:endParaRPr lang="en-GB" sz="1600" dirty="0"/>
            </a:p>
          </p:txBody>
        </p:sp>
        <p:sp>
          <p:nvSpPr>
            <p:cNvPr id="200" name="Freeform: Shape 73">
              <a:extLst>
                <a:ext uri="{FF2B5EF4-FFF2-40B4-BE49-F238E27FC236}">
                  <a16:creationId xmlns:a16="http://schemas.microsoft.com/office/drawing/2014/main" id="{FD2A2A61-FE52-3E59-B6B8-D07424A1A9D4}"/>
                </a:ext>
              </a:extLst>
            </p:cNvPr>
            <p:cNvSpPr/>
            <p:nvPr/>
          </p:nvSpPr>
          <p:spPr>
            <a:xfrm>
              <a:off x="4561457" y="1710959"/>
              <a:ext cx="26496" cy="26496"/>
            </a:xfrm>
            <a:custGeom>
              <a:avLst/>
              <a:gdLst>
                <a:gd name="connsiteX0" fmla="*/ 0 w 26496"/>
                <a:gd name="connsiteY0" fmla="*/ 0 h 26496"/>
                <a:gd name="connsiteX1" fmla="*/ 33121 w 26496"/>
                <a:gd name="connsiteY1" fmla="*/ 33253 h 26496"/>
              </a:gdLst>
              <a:ahLst/>
              <a:cxnLst>
                <a:cxn ang="0">
                  <a:pos x="connsiteX0" y="connsiteY0"/>
                </a:cxn>
                <a:cxn ang="0">
                  <a:pos x="connsiteX1" y="connsiteY1"/>
                </a:cxn>
              </a:cxnLst>
              <a:rect l="l" t="t" r="r" b="b"/>
              <a:pathLst>
                <a:path w="26496" h="26496">
                  <a:moveTo>
                    <a:pt x="0" y="0"/>
                  </a:moveTo>
                  <a:lnTo>
                    <a:pt x="33121" y="33253"/>
                  </a:lnTo>
                </a:path>
              </a:pathLst>
            </a:custGeom>
            <a:grpFill/>
            <a:ln w="12700" cap="rnd">
              <a:solidFill>
                <a:schemeClr val="bg1"/>
              </a:solidFill>
              <a:prstDash val="solid"/>
              <a:round/>
            </a:ln>
          </p:spPr>
          <p:txBody>
            <a:bodyPr rtlCol="0" anchor="ctr"/>
            <a:lstStyle/>
            <a:p>
              <a:endParaRPr lang="en-GB" sz="1600" dirty="0"/>
            </a:p>
          </p:txBody>
        </p:sp>
        <p:sp>
          <p:nvSpPr>
            <p:cNvPr id="201" name="Freeform: Shape 74">
              <a:extLst>
                <a:ext uri="{FF2B5EF4-FFF2-40B4-BE49-F238E27FC236}">
                  <a16:creationId xmlns:a16="http://schemas.microsoft.com/office/drawing/2014/main" id="{958FADFB-1640-5213-FF47-A430ECFE285C}"/>
                </a:ext>
              </a:extLst>
            </p:cNvPr>
            <p:cNvSpPr/>
            <p:nvPr/>
          </p:nvSpPr>
          <p:spPr>
            <a:xfrm>
              <a:off x="4561457" y="1710959"/>
              <a:ext cx="26496" cy="26496"/>
            </a:xfrm>
            <a:custGeom>
              <a:avLst/>
              <a:gdLst>
                <a:gd name="connsiteX0" fmla="*/ 33121 w 26496"/>
                <a:gd name="connsiteY0" fmla="*/ 0 h 26496"/>
                <a:gd name="connsiteX1" fmla="*/ 0 w 26496"/>
                <a:gd name="connsiteY1" fmla="*/ 33253 h 26496"/>
              </a:gdLst>
              <a:ahLst/>
              <a:cxnLst>
                <a:cxn ang="0">
                  <a:pos x="connsiteX0" y="connsiteY0"/>
                </a:cxn>
                <a:cxn ang="0">
                  <a:pos x="connsiteX1" y="connsiteY1"/>
                </a:cxn>
              </a:cxnLst>
              <a:rect l="l" t="t" r="r" b="b"/>
              <a:pathLst>
                <a:path w="26496" h="26496">
                  <a:moveTo>
                    <a:pt x="33121" y="0"/>
                  </a:moveTo>
                  <a:lnTo>
                    <a:pt x="0" y="33253"/>
                  </a:lnTo>
                </a:path>
              </a:pathLst>
            </a:custGeom>
            <a:grpFill/>
            <a:ln w="12700" cap="rnd">
              <a:solidFill>
                <a:schemeClr val="bg1"/>
              </a:solidFill>
              <a:prstDash val="solid"/>
              <a:round/>
            </a:ln>
          </p:spPr>
          <p:txBody>
            <a:bodyPr rtlCol="0" anchor="ctr"/>
            <a:lstStyle/>
            <a:p>
              <a:endParaRPr lang="en-GB" sz="1600" dirty="0"/>
            </a:p>
          </p:txBody>
        </p:sp>
        <p:sp>
          <p:nvSpPr>
            <p:cNvPr id="202" name="Freeform: Shape 75">
              <a:extLst>
                <a:ext uri="{FF2B5EF4-FFF2-40B4-BE49-F238E27FC236}">
                  <a16:creationId xmlns:a16="http://schemas.microsoft.com/office/drawing/2014/main" id="{C974164A-1642-0004-FC3B-4DB4C038AFF0}"/>
                </a:ext>
              </a:extLst>
            </p:cNvPr>
            <p:cNvSpPr/>
            <p:nvPr/>
          </p:nvSpPr>
          <p:spPr>
            <a:xfrm>
              <a:off x="4505947" y="1608152"/>
              <a:ext cx="13248" cy="39745"/>
            </a:xfrm>
            <a:custGeom>
              <a:avLst/>
              <a:gdLst>
                <a:gd name="connsiteX0" fmla="*/ 0 w 0"/>
                <a:gd name="connsiteY0" fmla="*/ 44912 h 39744"/>
                <a:gd name="connsiteX1" fmla="*/ 0 w 0"/>
                <a:gd name="connsiteY1" fmla="*/ 0 h 39744"/>
              </a:gdLst>
              <a:ahLst/>
              <a:cxnLst>
                <a:cxn ang="0">
                  <a:pos x="connsiteX0" y="connsiteY0"/>
                </a:cxn>
                <a:cxn ang="0">
                  <a:pos x="connsiteX1" y="connsiteY1"/>
                </a:cxn>
              </a:cxnLst>
              <a:rect l="l" t="t" r="r" b="b"/>
              <a:pathLst>
                <a:path h="39744">
                  <a:moveTo>
                    <a:pt x="0" y="44912"/>
                  </a:moveTo>
                  <a:lnTo>
                    <a:pt x="0" y="0"/>
                  </a:lnTo>
                </a:path>
              </a:pathLst>
            </a:custGeom>
            <a:grpFill/>
            <a:ln w="12700" cap="rnd">
              <a:solidFill>
                <a:schemeClr val="bg1"/>
              </a:solidFill>
              <a:prstDash val="solid"/>
              <a:round/>
            </a:ln>
          </p:spPr>
          <p:txBody>
            <a:bodyPr rtlCol="0" anchor="ctr"/>
            <a:lstStyle/>
            <a:p>
              <a:endParaRPr lang="en-GB" sz="1600" dirty="0"/>
            </a:p>
          </p:txBody>
        </p:sp>
        <p:sp>
          <p:nvSpPr>
            <p:cNvPr id="203" name="Freeform: Shape 76">
              <a:extLst>
                <a:ext uri="{FF2B5EF4-FFF2-40B4-BE49-F238E27FC236}">
                  <a16:creationId xmlns:a16="http://schemas.microsoft.com/office/drawing/2014/main" id="{E1FAF0DA-2748-C622-0896-1CF44272EA4E}"/>
                </a:ext>
              </a:extLst>
            </p:cNvPr>
            <p:cNvSpPr/>
            <p:nvPr/>
          </p:nvSpPr>
          <p:spPr>
            <a:xfrm>
              <a:off x="4488062" y="1568010"/>
              <a:ext cx="26496" cy="26496"/>
            </a:xfrm>
            <a:custGeom>
              <a:avLst/>
              <a:gdLst>
                <a:gd name="connsiteX0" fmla="*/ 35770 w 26496"/>
                <a:gd name="connsiteY0" fmla="*/ 17885 h 26496"/>
                <a:gd name="connsiteX1" fmla="*/ 17885 w 26496"/>
                <a:gd name="connsiteY1" fmla="*/ 35770 h 26496"/>
                <a:gd name="connsiteX2" fmla="*/ 0 w 26496"/>
                <a:gd name="connsiteY2" fmla="*/ 17885 h 26496"/>
                <a:gd name="connsiteX3" fmla="*/ 17885 w 26496"/>
                <a:gd name="connsiteY3" fmla="*/ 0 h 26496"/>
                <a:gd name="connsiteX4" fmla="*/ 35770 w 26496"/>
                <a:gd name="connsiteY4" fmla="*/ 17885 h 26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96" h="26496">
                  <a:moveTo>
                    <a:pt x="35770" y="17885"/>
                  </a:moveTo>
                  <a:cubicBezTo>
                    <a:pt x="35770" y="27763"/>
                    <a:pt x="27763" y="35770"/>
                    <a:pt x="17885" y="35770"/>
                  </a:cubicBezTo>
                  <a:cubicBezTo>
                    <a:pt x="8007" y="35770"/>
                    <a:pt x="0" y="27763"/>
                    <a:pt x="0" y="17885"/>
                  </a:cubicBezTo>
                  <a:cubicBezTo>
                    <a:pt x="0" y="8007"/>
                    <a:pt x="8007" y="0"/>
                    <a:pt x="17885" y="0"/>
                  </a:cubicBezTo>
                  <a:cubicBezTo>
                    <a:pt x="27763" y="0"/>
                    <a:pt x="35770" y="8007"/>
                    <a:pt x="35770" y="17885"/>
                  </a:cubicBezTo>
                  <a:close/>
                </a:path>
              </a:pathLst>
            </a:custGeom>
            <a:grpFill/>
            <a:ln w="12700" cap="rnd">
              <a:solidFill>
                <a:schemeClr val="bg1"/>
              </a:solidFill>
              <a:prstDash val="solid"/>
              <a:round/>
            </a:ln>
          </p:spPr>
          <p:txBody>
            <a:bodyPr rtlCol="0" anchor="ctr"/>
            <a:lstStyle/>
            <a:p>
              <a:endParaRPr lang="en-GB" sz="1600" dirty="0"/>
            </a:p>
          </p:txBody>
        </p:sp>
      </p:grpSp>
      <p:grpSp>
        <p:nvGrpSpPr>
          <p:cNvPr id="204" name="Group 203">
            <a:extLst>
              <a:ext uri="{FF2B5EF4-FFF2-40B4-BE49-F238E27FC236}">
                <a16:creationId xmlns:a16="http://schemas.microsoft.com/office/drawing/2014/main" id="{11BFB624-53BA-3956-E384-55ADD582EE4D}"/>
              </a:ext>
              <a:ext uri="{C183D7F6-B498-43B3-948B-1728B52AA6E4}">
                <adec:decorative xmlns:adec="http://schemas.microsoft.com/office/drawing/2017/decorative" val="1"/>
              </a:ext>
            </a:extLst>
          </p:cNvPr>
          <p:cNvGrpSpPr/>
          <p:nvPr userDrawn="1"/>
        </p:nvGrpSpPr>
        <p:grpSpPr>
          <a:xfrm>
            <a:off x="6559527" y="5590082"/>
            <a:ext cx="438168" cy="265916"/>
            <a:chOff x="4139310" y="2382327"/>
            <a:chExt cx="561027" cy="340478"/>
          </a:xfrm>
          <a:noFill/>
        </p:grpSpPr>
        <p:sp>
          <p:nvSpPr>
            <p:cNvPr id="205" name="Freeform: Shape 91">
              <a:extLst>
                <a:ext uri="{FF2B5EF4-FFF2-40B4-BE49-F238E27FC236}">
                  <a16:creationId xmlns:a16="http://schemas.microsoft.com/office/drawing/2014/main" id="{243FAA23-CF7F-7F75-22D4-4504B6FBC4E9}"/>
                </a:ext>
              </a:extLst>
            </p:cNvPr>
            <p:cNvSpPr/>
            <p:nvPr/>
          </p:nvSpPr>
          <p:spPr>
            <a:xfrm>
              <a:off x="4139310" y="2382327"/>
              <a:ext cx="340478" cy="340478"/>
            </a:xfrm>
            <a:custGeom>
              <a:avLst/>
              <a:gdLst>
                <a:gd name="connsiteX0" fmla="*/ 336148 w 340477"/>
                <a:gd name="connsiteY0" fmla="*/ 118636 h 340477"/>
                <a:gd name="connsiteX1" fmla="*/ 335494 w 340477"/>
                <a:gd name="connsiteY1" fmla="*/ 227981 h 340477"/>
                <a:gd name="connsiteX2" fmla="*/ 116802 w 340477"/>
                <a:gd name="connsiteY2" fmla="*/ 335494 h 340477"/>
                <a:gd name="connsiteX3" fmla="*/ 9290 w 340477"/>
                <a:gd name="connsiteY3" fmla="*/ 116802 h 340477"/>
                <a:gd name="connsiteX4" fmla="*/ 227981 w 340477"/>
                <a:gd name="connsiteY4" fmla="*/ 9290 h 340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77" h="340477">
                  <a:moveTo>
                    <a:pt x="336148" y="118636"/>
                  </a:moveTo>
                  <a:cubicBezTo>
                    <a:pt x="347410" y="152945"/>
                    <a:pt x="348065" y="191183"/>
                    <a:pt x="335494" y="227981"/>
                  </a:cubicBezTo>
                  <a:cubicBezTo>
                    <a:pt x="304851" y="318077"/>
                    <a:pt x="206898" y="366267"/>
                    <a:pt x="116802" y="335494"/>
                  </a:cubicBezTo>
                  <a:cubicBezTo>
                    <a:pt x="26707" y="304851"/>
                    <a:pt x="-21484" y="206898"/>
                    <a:pt x="9290" y="116802"/>
                  </a:cubicBezTo>
                  <a:cubicBezTo>
                    <a:pt x="40064" y="26707"/>
                    <a:pt x="137886" y="-21484"/>
                    <a:pt x="227981" y="9290"/>
                  </a:cubicBezTo>
                </a:path>
              </a:pathLst>
            </a:custGeom>
            <a:grpFill/>
            <a:ln w="12700" cap="flat">
              <a:solidFill>
                <a:schemeClr val="bg1"/>
              </a:solidFill>
              <a:prstDash val="solid"/>
              <a:round/>
            </a:ln>
          </p:spPr>
          <p:txBody>
            <a:bodyPr rtlCol="0" anchor="ctr"/>
            <a:lstStyle/>
            <a:p>
              <a:endParaRPr lang="en-GB" sz="1600" dirty="0"/>
            </a:p>
          </p:txBody>
        </p:sp>
        <p:sp>
          <p:nvSpPr>
            <p:cNvPr id="206" name="Freeform: Shape 92">
              <a:extLst>
                <a:ext uri="{FF2B5EF4-FFF2-40B4-BE49-F238E27FC236}">
                  <a16:creationId xmlns:a16="http://schemas.microsoft.com/office/drawing/2014/main" id="{B72F2B67-B118-6A31-2079-EBFA9D00D903}"/>
                </a:ext>
              </a:extLst>
            </p:cNvPr>
            <p:cNvSpPr/>
            <p:nvPr/>
          </p:nvSpPr>
          <p:spPr>
            <a:xfrm>
              <a:off x="4359859" y="2382327"/>
              <a:ext cx="340478" cy="340478"/>
            </a:xfrm>
            <a:custGeom>
              <a:avLst/>
              <a:gdLst>
                <a:gd name="connsiteX0" fmla="*/ 8610 w 340477"/>
                <a:gd name="connsiteY0" fmla="*/ 226148 h 340477"/>
                <a:gd name="connsiteX1" fmla="*/ 9265 w 340477"/>
                <a:gd name="connsiteY1" fmla="*/ 116802 h 340477"/>
                <a:gd name="connsiteX2" fmla="*/ 227956 w 340477"/>
                <a:gd name="connsiteY2" fmla="*/ 9290 h 340477"/>
                <a:gd name="connsiteX3" fmla="*/ 335469 w 340477"/>
                <a:gd name="connsiteY3" fmla="*/ 227981 h 340477"/>
                <a:gd name="connsiteX4" fmla="*/ 116777 w 340477"/>
                <a:gd name="connsiteY4" fmla="*/ 335494 h 340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77" h="340477">
                  <a:moveTo>
                    <a:pt x="8610" y="226148"/>
                  </a:moveTo>
                  <a:cubicBezTo>
                    <a:pt x="-2652" y="191838"/>
                    <a:pt x="-3307" y="153600"/>
                    <a:pt x="9265" y="116802"/>
                  </a:cubicBezTo>
                  <a:cubicBezTo>
                    <a:pt x="39908" y="26707"/>
                    <a:pt x="137861" y="-21484"/>
                    <a:pt x="227956" y="9290"/>
                  </a:cubicBezTo>
                  <a:cubicBezTo>
                    <a:pt x="318052" y="39933"/>
                    <a:pt x="366243" y="137886"/>
                    <a:pt x="335469" y="227981"/>
                  </a:cubicBezTo>
                  <a:cubicBezTo>
                    <a:pt x="304826" y="318077"/>
                    <a:pt x="206873" y="366267"/>
                    <a:pt x="116777" y="335494"/>
                  </a:cubicBezTo>
                </a:path>
              </a:pathLst>
            </a:custGeom>
            <a:grpFill/>
            <a:ln w="12700" cap="flat">
              <a:solidFill>
                <a:schemeClr val="bg1"/>
              </a:solidFill>
              <a:prstDash val="solid"/>
              <a:round/>
            </a:ln>
          </p:spPr>
          <p:txBody>
            <a:bodyPr rtlCol="0" anchor="ctr"/>
            <a:lstStyle/>
            <a:p>
              <a:endParaRPr lang="en-GB" sz="1600" dirty="0"/>
            </a:p>
          </p:txBody>
        </p:sp>
      </p:grpSp>
      <p:sp>
        <p:nvSpPr>
          <p:cNvPr id="207" name="Freeform: Shape 171">
            <a:extLst>
              <a:ext uri="{FF2B5EF4-FFF2-40B4-BE49-F238E27FC236}">
                <a16:creationId xmlns:a16="http://schemas.microsoft.com/office/drawing/2014/main" id="{A93A9519-39C1-01C7-54E4-92C5D2919E36}"/>
              </a:ext>
              <a:ext uri="{C183D7F6-B498-43B3-948B-1728B52AA6E4}">
                <adec:decorative xmlns:adec="http://schemas.microsoft.com/office/drawing/2017/decorative" val="1"/>
              </a:ext>
            </a:extLst>
          </p:cNvPr>
          <p:cNvSpPr/>
          <p:nvPr userDrawn="1"/>
        </p:nvSpPr>
        <p:spPr>
          <a:xfrm>
            <a:off x="8928119" y="5511775"/>
            <a:ext cx="262654" cy="422530"/>
          </a:xfrm>
          <a:custGeom>
            <a:avLst/>
            <a:gdLst>
              <a:gd name="connsiteX0" fmla="*/ 311668 w 301191"/>
              <a:gd name="connsiteY0" fmla="*/ 89179 h 484525"/>
              <a:gd name="connsiteX1" fmla="*/ 311668 w 301191"/>
              <a:gd name="connsiteY1" fmla="*/ 323977 h 484525"/>
              <a:gd name="connsiteX2" fmla="*/ 155834 w 301191"/>
              <a:gd name="connsiteY2" fmla="*/ 490550 h 484525"/>
              <a:gd name="connsiteX3" fmla="*/ 0 w 301191"/>
              <a:gd name="connsiteY3" fmla="*/ 325156 h 484525"/>
              <a:gd name="connsiteX4" fmla="*/ 0 w 301191"/>
              <a:gd name="connsiteY4" fmla="*/ 90489 h 484525"/>
              <a:gd name="connsiteX5" fmla="*/ 155834 w 301191"/>
              <a:gd name="connsiteY5" fmla="*/ 0 h 484525"/>
              <a:gd name="connsiteX6" fmla="*/ 311668 w 301191"/>
              <a:gd name="connsiteY6" fmla="*/ 89179 h 48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191" h="484525">
                <a:moveTo>
                  <a:pt x="311668" y="89179"/>
                </a:moveTo>
                <a:lnTo>
                  <a:pt x="311668" y="323977"/>
                </a:lnTo>
                <a:cubicBezTo>
                  <a:pt x="311668" y="399930"/>
                  <a:pt x="155834" y="490550"/>
                  <a:pt x="155834" y="490550"/>
                </a:cubicBezTo>
                <a:cubicBezTo>
                  <a:pt x="155834" y="490550"/>
                  <a:pt x="0" y="400061"/>
                  <a:pt x="0" y="325156"/>
                </a:cubicBezTo>
                <a:lnTo>
                  <a:pt x="0" y="90489"/>
                </a:lnTo>
                <a:cubicBezTo>
                  <a:pt x="0" y="90489"/>
                  <a:pt x="155834" y="71500"/>
                  <a:pt x="155834" y="0"/>
                </a:cubicBezTo>
                <a:cubicBezTo>
                  <a:pt x="155834" y="71238"/>
                  <a:pt x="311668" y="89179"/>
                  <a:pt x="311668" y="89179"/>
                </a:cubicBezTo>
                <a:close/>
              </a:path>
            </a:pathLst>
          </a:custGeom>
          <a:noFill/>
          <a:ln w="12700" cap="flat">
            <a:solidFill>
              <a:schemeClr val="bg1"/>
            </a:solidFill>
            <a:prstDash val="solid"/>
            <a:round/>
          </a:ln>
        </p:spPr>
        <p:txBody>
          <a:bodyPr rtlCol="0" anchor="ctr"/>
          <a:lstStyle/>
          <a:p>
            <a:endParaRPr lang="en-GB" sz="1600" dirty="0"/>
          </a:p>
        </p:txBody>
      </p:sp>
      <p:grpSp>
        <p:nvGrpSpPr>
          <p:cNvPr id="208" name="Group 207">
            <a:extLst>
              <a:ext uri="{FF2B5EF4-FFF2-40B4-BE49-F238E27FC236}">
                <a16:creationId xmlns:a16="http://schemas.microsoft.com/office/drawing/2014/main" id="{1404B479-2846-F226-1C7A-ED218AF855D8}"/>
              </a:ext>
              <a:ext uri="{C183D7F6-B498-43B3-948B-1728B52AA6E4}">
                <adec:decorative xmlns:adec="http://schemas.microsoft.com/office/drawing/2017/decorative" val="1"/>
              </a:ext>
            </a:extLst>
          </p:cNvPr>
          <p:cNvGrpSpPr/>
          <p:nvPr userDrawn="1"/>
        </p:nvGrpSpPr>
        <p:grpSpPr>
          <a:xfrm>
            <a:off x="670282" y="5327041"/>
            <a:ext cx="792000" cy="792000"/>
            <a:chOff x="616942" y="5297414"/>
            <a:chExt cx="792000" cy="792000"/>
          </a:xfrm>
        </p:grpSpPr>
        <p:sp>
          <p:nvSpPr>
            <p:cNvPr id="209" name="Oval 208">
              <a:extLst>
                <a:ext uri="{FF2B5EF4-FFF2-40B4-BE49-F238E27FC236}">
                  <a16:creationId xmlns:a16="http://schemas.microsoft.com/office/drawing/2014/main" id="{93F02B5D-99C8-8F28-426B-FF67E4A401C9}"/>
                </a:ext>
              </a:extLst>
            </p:cNvPr>
            <p:cNvSpPr/>
            <p:nvPr userDrawn="1"/>
          </p:nvSpPr>
          <p:spPr>
            <a:xfrm>
              <a:off x="616942" y="5297414"/>
              <a:ext cx="792000" cy="79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210" name="Group 209">
              <a:extLst>
                <a:ext uri="{FF2B5EF4-FFF2-40B4-BE49-F238E27FC236}">
                  <a16:creationId xmlns:a16="http://schemas.microsoft.com/office/drawing/2014/main" id="{E5CD9CFC-E4EF-3086-66F9-8A1593DBA0B7}"/>
                </a:ext>
              </a:extLst>
            </p:cNvPr>
            <p:cNvGrpSpPr/>
            <p:nvPr userDrawn="1"/>
          </p:nvGrpSpPr>
          <p:grpSpPr>
            <a:xfrm>
              <a:off x="784573" y="5468065"/>
              <a:ext cx="456737" cy="450699"/>
              <a:chOff x="8707777" y="3799709"/>
              <a:chExt cx="463408" cy="457281"/>
            </a:xfrm>
          </p:grpSpPr>
          <p:sp>
            <p:nvSpPr>
              <p:cNvPr id="211" name="Freeform: Shape 386">
                <a:extLst>
                  <a:ext uri="{FF2B5EF4-FFF2-40B4-BE49-F238E27FC236}">
                    <a16:creationId xmlns:a16="http://schemas.microsoft.com/office/drawing/2014/main" id="{B34FEEA2-C2D4-E653-2DE4-8A1C5410B29B}"/>
                  </a:ext>
                </a:extLst>
              </p:cNvPr>
              <p:cNvSpPr/>
              <p:nvPr/>
            </p:nvSpPr>
            <p:spPr>
              <a:xfrm>
                <a:off x="8707777" y="3799709"/>
                <a:ext cx="260559" cy="351754"/>
              </a:xfrm>
              <a:custGeom>
                <a:avLst/>
                <a:gdLst>
                  <a:gd name="connsiteX0" fmla="*/ 262513 w 260558"/>
                  <a:gd name="connsiteY0" fmla="*/ 131192 h 351754"/>
                  <a:gd name="connsiteX1" fmla="*/ 257302 w 260558"/>
                  <a:gd name="connsiteY1" fmla="*/ 167800 h 351754"/>
                  <a:gd name="connsiteX2" fmla="*/ 256520 w 260558"/>
                  <a:gd name="connsiteY2" fmla="*/ 170275 h 351754"/>
                  <a:gd name="connsiteX3" fmla="*/ 246228 w 260558"/>
                  <a:gd name="connsiteY3" fmla="*/ 194507 h 351754"/>
                  <a:gd name="connsiteX4" fmla="*/ 197894 w 260558"/>
                  <a:gd name="connsiteY4" fmla="*/ 358008 h 351754"/>
                  <a:gd name="connsiteX5" fmla="*/ 64749 w 260558"/>
                  <a:gd name="connsiteY5" fmla="*/ 358008 h 351754"/>
                  <a:gd name="connsiteX6" fmla="*/ 16676 w 260558"/>
                  <a:gd name="connsiteY6" fmla="*/ 195289 h 351754"/>
                  <a:gd name="connsiteX7" fmla="*/ 5732 w 260558"/>
                  <a:gd name="connsiteY7" fmla="*/ 169363 h 351754"/>
                  <a:gd name="connsiteX8" fmla="*/ 5211 w 260558"/>
                  <a:gd name="connsiteY8" fmla="*/ 167930 h 351754"/>
                  <a:gd name="connsiteX9" fmla="*/ 0 w 260558"/>
                  <a:gd name="connsiteY9" fmla="*/ 131322 h 351754"/>
                  <a:gd name="connsiteX10" fmla="*/ 131322 w 260558"/>
                  <a:gd name="connsiteY10" fmla="*/ 0 h 351754"/>
                  <a:gd name="connsiteX11" fmla="*/ 262513 w 260558"/>
                  <a:gd name="connsiteY11" fmla="*/ 131192 h 35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558" h="351754">
                    <a:moveTo>
                      <a:pt x="262513" y="131192"/>
                    </a:moveTo>
                    <a:cubicBezTo>
                      <a:pt x="262513" y="143959"/>
                      <a:pt x="260689" y="156205"/>
                      <a:pt x="257302" y="167800"/>
                    </a:cubicBezTo>
                    <a:cubicBezTo>
                      <a:pt x="257041" y="168712"/>
                      <a:pt x="256781" y="169494"/>
                      <a:pt x="256520" y="170275"/>
                    </a:cubicBezTo>
                    <a:cubicBezTo>
                      <a:pt x="256520" y="170275"/>
                      <a:pt x="249485" y="186039"/>
                      <a:pt x="246228" y="194507"/>
                    </a:cubicBezTo>
                    <a:cubicBezTo>
                      <a:pt x="218348" y="265119"/>
                      <a:pt x="197894" y="358008"/>
                      <a:pt x="197894" y="358008"/>
                    </a:cubicBezTo>
                    <a:lnTo>
                      <a:pt x="64749" y="358008"/>
                    </a:lnTo>
                    <a:cubicBezTo>
                      <a:pt x="64749" y="358008"/>
                      <a:pt x="44425" y="265770"/>
                      <a:pt x="16676" y="195289"/>
                    </a:cubicBezTo>
                    <a:cubicBezTo>
                      <a:pt x="13028" y="186169"/>
                      <a:pt x="9380" y="177441"/>
                      <a:pt x="5732" y="169363"/>
                    </a:cubicBezTo>
                    <a:cubicBezTo>
                      <a:pt x="5472" y="168973"/>
                      <a:pt x="5342" y="168451"/>
                      <a:pt x="5211" y="167930"/>
                    </a:cubicBezTo>
                    <a:cubicBezTo>
                      <a:pt x="1824" y="156335"/>
                      <a:pt x="0" y="144089"/>
                      <a:pt x="0" y="131322"/>
                    </a:cubicBezTo>
                    <a:cubicBezTo>
                      <a:pt x="0" y="58756"/>
                      <a:pt x="58886" y="0"/>
                      <a:pt x="131322" y="0"/>
                    </a:cubicBezTo>
                    <a:cubicBezTo>
                      <a:pt x="203757" y="-130"/>
                      <a:pt x="262513" y="58626"/>
                      <a:pt x="262513" y="131192"/>
                    </a:cubicBezTo>
                    <a:close/>
                  </a:path>
                </a:pathLst>
              </a:custGeom>
              <a:noFill/>
              <a:ln w="12700" cap="flat">
                <a:solidFill>
                  <a:schemeClr val="bg1"/>
                </a:solidFill>
                <a:prstDash val="solid"/>
                <a:round/>
              </a:ln>
            </p:spPr>
            <p:txBody>
              <a:bodyPr rtlCol="0" anchor="ctr"/>
              <a:lstStyle/>
              <a:p>
                <a:endParaRPr lang="en-GB" sz="1600" dirty="0"/>
              </a:p>
            </p:txBody>
          </p:sp>
          <p:sp>
            <p:nvSpPr>
              <p:cNvPr id="212" name="Freeform: Shape 387">
                <a:extLst>
                  <a:ext uri="{FF2B5EF4-FFF2-40B4-BE49-F238E27FC236}">
                    <a16:creationId xmlns:a16="http://schemas.microsoft.com/office/drawing/2014/main" id="{BEE58ACF-44F4-E301-98A0-3E583BA1BFEE}"/>
                  </a:ext>
                </a:extLst>
              </p:cNvPr>
              <p:cNvSpPr/>
              <p:nvPr/>
            </p:nvSpPr>
            <p:spPr>
              <a:xfrm>
                <a:off x="8772396" y="4191850"/>
                <a:ext cx="130279" cy="65140"/>
              </a:xfrm>
              <a:custGeom>
                <a:avLst/>
                <a:gdLst>
                  <a:gd name="connsiteX0" fmla="*/ 37130 w 130279"/>
                  <a:gd name="connsiteY0" fmla="*/ 76344 h 65139"/>
                  <a:gd name="connsiteX1" fmla="*/ 95886 w 130279"/>
                  <a:gd name="connsiteY1" fmla="*/ 76344 h 65139"/>
                  <a:gd name="connsiteX2" fmla="*/ 0 w 130279"/>
                  <a:gd name="connsiteY2" fmla="*/ 38172 h 65139"/>
                  <a:gd name="connsiteX3" fmla="*/ 133276 w 130279"/>
                  <a:gd name="connsiteY3" fmla="*/ 38172 h 65139"/>
                  <a:gd name="connsiteX4" fmla="*/ 0 w 130279"/>
                  <a:gd name="connsiteY4" fmla="*/ 0 h 65139"/>
                  <a:gd name="connsiteX5" fmla="*/ 133276 w 130279"/>
                  <a:gd name="connsiteY5" fmla="*/ 0 h 65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279" h="65139">
                    <a:moveTo>
                      <a:pt x="37130" y="76344"/>
                    </a:moveTo>
                    <a:lnTo>
                      <a:pt x="95886" y="76344"/>
                    </a:lnTo>
                    <a:moveTo>
                      <a:pt x="0" y="38172"/>
                    </a:moveTo>
                    <a:lnTo>
                      <a:pt x="133276" y="38172"/>
                    </a:lnTo>
                    <a:moveTo>
                      <a:pt x="0" y="0"/>
                    </a:moveTo>
                    <a:lnTo>
                      <a:pt x="133276" y="0"/>
                    </a:lnTo>
                  </a:path>
                </a:pathLst>
              </a:custGeom>
              <a:noFill/>
              <a:ln w="12700" cap="rnd">
                <a:solidFill>
                  <a:schemeClr val="bg1"/>
                </a:solidFill>
                <a:prstDash val="solid"/>
                <a:round/>
              </a:ln>
            </p:spPr>
            <p:txBody>
              <a:bodyPr rtlCol="0" anchor="ctr"/>
              <a:lstStyle/>
              <a:p>
                <a:endParaRPr lang="en-GB" sz="1600" dirty="0"/>
              </a:p>
            </p:txBody>
          </p:sp>
          <p:sp>
            <p:nvSpPr>
              <p:cNvPr id="213" name="Freeform: Shape 388">
                <a:extLst>
                  <a:ext uri="{FF2B5EF4-FFF2-40B4-BE49-F238E27FC236}">
                    <a16:creationId xmlns:a16="http://schemas.microsoft.com/office/drawing/2014/main" id="{7F133D10-368D-0068-6CE6-755287B99DB9}"/>
                  </a:ext>
                </a:extLst>
              </p:cNvPr>
              <p:cNvSpPr/>
              <p:nvPr/>
            </p:nvSpPr>
            <p:spPr>
              <a:xfrm>
                <a:off x="8949710" y="3891299"/>
                <a:ext cx="221475" cy="325698"/>
              </a:xfrm>
              <a:custGeom>
                <a:avLst/>
                <a:gdLst>
                  <a:gd name="connsiteX0" fmla="*/ 3123 w 221474"/>
                  <a:gd name="connsiteY0" fmla="*/ 303027 h 325698"/>
                  <a:gd name="connsiteX1" fmla="*/ 257 w 221474"/>
                  <a:gd name="connsiteY1" fmla="*/ 317488 h 325698"/>
                  <a:gd name="connsiteX2" fmla="*/ 10940 w 221474"/>
                  <a:gd name="connsiteY2" fmla="*/ 333512 h 325698"/>
                  <a:gd name="connsiteX3" fmla="*/ 35302 w 221474"/>
                  <a:gd name="connsiteY3" fmla="*/ 338463 h 325698"/>
                  <a:gd name="connsiteX4" fmla="*/ 51327 w 221474"/>
                  <a:gd name="connsiteY4" fmla="*/ 327780 h 325698"/>
                  <a:gd name="connsiteX5" fmla="*/ 54193 w 221474"/>
                  <a:gd name="connsiteY5" fmla="*/ 313319 h 325698"/>
                  <a:gd name="connsiteX6" fmla="*/ 114121 w 221474"/>
                  <a:gd name="connsiteY6" fmla="*/ 301333 h 325698"/>
                  <a:gd name="connsiteX7" fmla="*/ 121678 w 221474"/>
                  <a:gd name="connsiteY7" fmla="*/ 312797 h 325698"/>
                  <a:gd name="connsiteX8" fmla="*/ 140438 w 221474"/>
                  <a:gd name="connsiteY8" fmla="*/ 316576 h 325698"/>
                  <a:gd name="connsiteX9" fmla="*/ 161283 w 221474"/>
                  <a:gd name="connsiteY9" fmla="*/ 302766 h 325698"/>
                  <a:gd name="connsiteX10" fmla="*/ 165061 w 221474"/>
                  <a:gd name="connsiteY10" fmla="*/ 284006 h 325698"/>
                  <a:gd name="connsiteX11" fmla="*/ 157244 w 221474"/>
                  <a:gd name="connsiteY11" fmla="*/ 272150 h 325698"/>
                  <a:gd name="connsiteX12" fmla="*/ 190205 w 221474"/>
                  <a:gd name="connsiteY12" fmla="*/ 222774 h 325698"/>
                  <a:gd name="connsiteX13" fmla="*/ 204796 w 221474"/>
                  <a:gd name="connsiteY13" fmla="*/ 225771 h 325698"/>
                  <a:gd name="connsiteX14" fmla="*/ 220690 w 221474"/>
                  <a:gd name="connsiteY14" fmla="*/ 215218 h 325698"/>
                  <a:gd name="connsiteX15" fmla="*/ 225641 w 221474"/>
                  <a:gd name="connsiteY15" fmla="*/ 190726 h 325698"/>
                  <a:gd name="connsiteX16" fmla="*/ 215088 w 221474"/>
                  <a:gd name="connsiteY16" fmla="*/ 174832 h 325698"/>
                  <a:gd name="connsiteX17" fmla="*/ 200497 w 221474"/>
                  <a:gd name="connsiteY17" fmla="*/ 171835 h 325698"/>
                  <a:gd name="connsiteX18" fmla="*/ 186036 w 221474"/>
                  <a:gd name="connsiteY18" fmla="*/ 106305 h 325698"/>
                  <a:gd name="connsiteX19" fmla="*/ 198282 w 221474"/>
                  <a:gd name="connsiteY19" fmla="*/ 98227 h 325698"/>
                  <a:gd name="connsiteX20" fmla="*/ 202060 w 221474"/>
                  <a:gd name="connsiteY20" fmla="*/ 79467 h 325698"/>
                  <a:gd name="connsiteX21" fmla="*/ 188381 w 221474"/>
                  <a:gd name="connsiteY21" fmla="*/ 58622 h 325698"/>
                  <a:gd name="connsiteX22" fmla="*/ 169620 w 221474"/>
                  <a:gd name="connsiteY22" fmla="*/ 54844 h 325698"/>
                  <a:gd name="connsiteX23" fmla="*/ 155420 w 221474"/>
                  <a:gd name="connsiteY23" fmla="*/ 64355 h 325698"/>
                  <a:gd name="connsiteX24" fmla="*/ 110474 w 221474"/>
                  <a:gd name="connsiteY24" fmla="*/ 35693 h 325698"/>
                  <a:gd name="connsiteX25" fmla="*/ 113340 w 221474"/>
                  <a:gd name="connsiteY25" fmla="*/ 21232 h 325698"/>
                  <a:gd name="connsiteX26" fmla="*/ 102657 w 221474"/>
                  <a:gd name="connsiteY26" fmla="*/ 5208 h 325698"/>
                  <a:gd name="connsiteX27" fmla="*/ 78295 w 221474"/>
                  <a:gd name="connsiteY27" fmla="*/ 257 h 325698"/>
                  <a:gd name="connsiteX28" fmla="*/ 62270 w 221474"/>
                  <a:gd name="connsiteY28" fmla="*/ 10940 h 325698"/>
                  <a:gd name="connsiteX29" fmla="*/ 59404 w 221474"/>
                  <a:gd name="connsiteY29" fmla="*/ 25401 h 325698"/>
                  <a:gd name="connsiteX30" fmla="*/ 50675 w 221474"/>
                  <a:gd name="connsiteY30" fmla="*/ 67872 h 325698"/>
                  <a:gd name="connsiteX31" fmla="*/ 76862 w 221474"/>
                  <a:gd name="connsiteY31" fmla="*/ 69696 h 325698"/>
                  <a:gd name="connsiteX32" fmla="*/ 156332 w 221474"/>
                  <a:gd name="connsiteY32" fmla="*/ 189553 h 325698"/>
                  <a:gd name="connsiteX33" fmla="*/ 36475 w 221474"/>
                  <a:gd name="connsiteY33" fmla="*/ 269154 h 325698"/>
                  <a:gd name="connsiteX34" fmla="*/ 11592 w 221474"/>
                  <a:gd name="connsiteY34" fmla="*/ 260686 h 32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1474" h="325698">
                    <a:moveTo>
                      <a:pt x="3123" y="303027"/>
                    </a:moveTo>
                    <a:lnTo>
                      <a:pt x="257" y="317488"/>
                    </a:lnTo>
                    <a:cubicBezTo>
                      <a:pt x="-1176" y="324783"/>
                      <a:pt x="3514" y="332079"/>
                      <a:pt x="10940" y="333512"/>
                    </a:cubicBezTo>
                    <a:lnTo>
                      <a:pt x="35302" y="338463"/>
                    </a:lnTo>
                    <a:cubicBezTo>
                      <a:pt x="42598" y="339896"/>
                      <a:pt x="49763" y="335206"/>
                      <a:pt x="51327" y="327780"/>
                    </a:cubicBezTo>
                    <a:lnTo>
                      <a:pt x="54193" y="313319"/>
                    </a:lnTo>
                    <a:cubicBezTo>
                      <a:pt x="75298" y="313709"/>
                      <a:pt x="95622" y="309541"/>
                      <a:pt x="114121" y="301333"/>
                    </a:cubicBezTo>
                    <a:lnTo>
                      <a:pt x="121678" y="312797"/>
                    </a:lnTo>
                    <a:cubicBezTo>
                      <a:pt x="125847" y="319051"/>
                      <a:pt x="134315" y="320745"/>
                      <a:pt x="140438" y="316576"/>
                    </a:cubicBezTo>
                    <a:lnTo>
                      <a:pt x="161283" y="302766"/>
                    </a:lnTo>
                    <a:cubicBezTo>
                      <a:pt x="167536" y="298597"/>
                      <a:pt x="169230" y="290259"/>
                      <a:pt x="165061" y="284006"/>
                    </a:cubicBezTo>
                    <a:lnTo>
                      <a:pt x="157244" y="272150"/>
                    </a:lnTo>
                    <a:cubicBezTo>
                      <a:pt x="171314" y="258471"/>
                      <a:pt x="182648" y="241795"/>
                      <a:pt x="190205" y="222774"/>
                    </a:cubicBezTo>
                    <a:lnTo>
                      <a:pt x="204796" y="225771"/>
                    </a:lnTo>
                    <a:cubicBezTo>
                      <a:pt x="212092" y="227204"/>
                      <a:pt x="219257" y="222514"/>
                      <a:pt x="220690" y="215218"/>
                    </a:cubicBezTo>
                    <a:lnTo>
                      <a:pt x="225641" y="190726"/>
                    </a:lnTo>
                    <a:cubicBezTo>
                      <a:pt x="227074" y="183430"/>
                      <a:pt x="222384" y="176265"/>
                      <a:pt x="215088" y="174832"/>
                    </a:cubicBezTo>
                    <a:lnTo>
                      <a:pt x="200497" y="171835"/>
                    </a:lnTo>
                    <a:cubicBezTo>
                      <a:pt x="201018" y="148776"/>
                      <a:pt x="195807" y="126368"/>
                      <a:pt x="186036" y="106305"/>
                    </a:cubicBezTo>
                    <a:lnTo>
                      <a:pt x="198282" y="98227"/>
                    </a:lnTo>
                    <a:cubicBezTo>
                      <a:pt x="204535" y="94058"/>
                      <a:pt x="206229" y="85721"/>
                      <a:pt x="202060" y="79467"/>
                    </a:cubicBezTo>
                    <a:lnTo>
                      <a:pt x="188381" y="58622"/>
                    </a:lnTo>
                    <a:cubicBezTo>
                      <a:pt x="184212" y="52369"/>
                      <a:pt x="175874" y="50675"/>
                      <a:pt x="169620" y="54844"/>
                    </a:cubicBezTo>
                    <a:lnTo>
                      <a:pt x="155420" y="64355"/>
                    </a:lnTo>
                    <a:cubicBezTo>
                      <a:pt x="142653" y="52369"/>
                      <a:pt x="127410" y="42468"/>
                      <a:pt x="110474" y="35693"/>
                    </a:cubicBezTo>
                    <a:lnTo>
                      <a:pt x="113340" y="21232"/>
                    </a:lnTo>
                    <a:cubicBezTo>
                      <a:pt x="114773" y="13937"/>
                      <a:pt x="110083" y="6771"/>
                      <a:pt x="102657" y="5208"/>
                    </a:cubicBezTo>
                    <a:lnTo>
                      <a:pt x="78295" y="257"/>
                    </a:lnTo>
                    <a:cubicBezTo>
                      <a:pt x="70999" y="-1176"/>
                      <a:pt x="63703" y="3514"/>
                      <a:pt x="62270" y="10940"/>
                    </a:cubicBezTo>
                    <a:lnTo>
                      <a:pt x="59404" y="25401"/>
                    </a:lnTo>
                    <a:moveTo>
                      <a:pt x="50675" y="67872"/>
                    </a:moveTo>
                    <a:cubicBezTo>
                      <a:pt x="59274" y="67351"/>
                      <a:pt x="68003" y="68003"/>
                      <a:pt x="76862" y="69696"/>
                    </a:cubicBezTo>
                    <a:cubicBezTo>
                      <a:pt x="131839" y="80770"/>
                      <a:pt x="167536" y="134575"/>
                      <a:pt x="156332" y="189553"/>
                    </a:cubicBezTo>
                    <a:cubicBezTo>
                      <a:pt x="145258" y="244531"/>
                      <a:pt x="91583" y="280228"/>
                      <a:pt x="36475" y="269154"/>
                    </a:cubicBezTo>
                    <a:cubicBezTo>
                      <a:pt x="27616" y="267330"/>
                      <a:pt x="19278" y="264464"/>
                      <a:pt x="11592" y="260686"/>
                    </a:cubicBezTo>
                  </a:path>
                </a:pathLst>
              </a:custGeom>
              <a:noFill/>
              <a:ln w="12700" cap="rnd">
                <a:solidFill>
                  <a:schemeClr val="bg1"/>
                </a:solidFill>
                <a:prstDash val="solid"/>
                <a:miter/>
              </a:ln>
            </p:spPr>
            <p:txBody>
              <a:bodyPr rtlCol="0" anchor="ctr"/>
              <a:lstStyle/>
              <a:p>
                <a:endParaRPr lang="en-GB" sz="1600" dirty="0"/>
              </a:p>
            </p:txBody>
          </p:sp>
        </p:grpSp>
      </p:grpSp>
      <p:grpSp>
        <p:nvGrpSpPr>
          <p:cNvPr id="214" name="Group 213">
            <a:extLst>
              <a:ext uri="{FF2B5EF4-FFF2-40B4-BE49-F238E27FC236}">
                <a16:creationId xmlns:a16="http://schemas.microsoft.com/office/drawing/2014/main" id="{1D0E7B0F-AF0C-8BC9-143F-033AB76D9167}"/>
              </a:ext>
              <a:ext uri="{C183D7F6-B498-43B3-948B-1728B52AA6E4}">
                <adec:decorative xmlns:adec="http://schemas.microsoft.com/office/drawing/2017/decorative" val="1"/>
              </a:ext>
            </a:extLst>
          </p:cNvPr>
          <p:cNvGrpSpPr/>
          <p:nvPr userDrawn="1"/>
        </p:nvGrpSpPr>
        <p:grpSpPr>
          <a:xfrm>
            <a:off x="670282" y="3265284"/>
            <a:ext cx="792000" cy="792000"/>
            <a:chOff x="616942" y="2848838"/>
            <a:chExt cx="792000" cy="792000"/>
          </a:xfrm>
        </p:grpSpPr>
        <p:sp>
          <p:nvSpPr>
            <p:cNvPr id="215" name="Oval 214">
              <a:extLst>
                <a:ext uri="{FF2B5EF4-FFF2-40B4-BE49-F238E27FC236}">
                  <a16:creationId xmlns:a16="http://schemas.microsoft.com/office/drawing/2014/main" id="{3D4884F7-261F-5BD8-A67A-60CD9EF4C32D}"/>
                </a:ext>
              </a:extLst>
            </p:cNvPr>
            <p:cNvSpPr/>
            <p:nvPr userDrawn="1"/>
          </p:nvSpPr>
          <p:spPr>
            <a:xfrm>
              <a:off x="616942" y="2848838"/>
              <a:ext cx="792000" cy="792000"/>
            </a:xfrm>
            <a:prstGeom prst="ellipse">
              <a:avLst/>
            </a:prstGeom>
            <a:solidFill>
              <a:srgbClr val="8C16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216" name="Group 215">
              <a:extLst>
                <a:ext uri="{FF2B5EF4-FFF2-40B4-BE49-F238E27FC236}">
                  <a16:creationId xmlns:a16="http://schemas.microsoft.com/office/drawing/2014/main" id="{E4836CDD-2918-55C8-8A51-7BADB3294DE2}"/>
                </a:ext>
              </a:extLst>
            </p:cNvPr>
            <p:cNvGrpSpPr>
              <a:grpSpLocks noChangeAspect="1"/>
            </p:cNvGrpSpPr>
            <p:nvPr userDrawn="1"/>
          </p:nvGrpSpPr>
          <p:grpSpPr>
            <a:xfrm>
              <a:off x="861436" y="2993589"/>
              <a:ext cx="303012" cy="502498"/>
              <a:chOff x="7330925" y="1169779"/>
              <a:chExt cx="343825" cy="570179"/>
            </a:xfrm>
          </p:grpSpPr>
          <p:sp>
            <p:nvSpPr>
              <p:cNvPr id="217" name="Freeform: Shape 182">
                <a:extLst>
                  <a:ext uri="{FF2B5EF4-FFF2-40B4-BE49-F238E27FC236}">
                    <a16:creationId xmlns:a16="http://schemas.microsoft.com/office/drawing/2014/main" id="{8221EB50-05D6-C0E3-030A-C9BF7F5D0BEB}"/>
                  </a:ext>
                </a:extLst>
              </p:cNvPr>
              <p:cNvSpPr/>
              <p:nvPr/>
            </p:nvSpPr>
            <p:spPr>
              <a:xfrm>
                <a:off x="7361324" y="1169779"/>
                <a:ext cx="313426" cy="261189"/>
              </a:xfrm>
              <a:custGeom>
                <a:avLst/>
                <a:gdLst>
                  <a:gd name="connsiteX0" fmla="*/ 198428 w 228600"/>
                  <a:gd name="connsiteY0" fmla="*/ 198409 h 190500"/>
                  <a:gd name="connsiteX1" fmla="*/ 232432 w 228600"/>
                  <a:gd name="connsiteY1" fmla="*/ 116209 h 190500"/>
                  <a:gd name="connsiteX2" fmla="*/ 198428 w 228600"/>
                  <a:gd name="connsiteY2" fmla="*/ 34008 h 190500"/>
                  <a:gd name="connsiteX3" fmla="*/ 188045 w 228600"/>
                  <a:gd name="connsiteY3" fmla="*/ 24769 h 190500"/>
                  <a:gd name="connsiteX4" fmla="*/ 64506 w 228600"/>
                  <a:gd name="connsiteY4" fmla="*/ 12100 h 190500"/>
                  <a:gd name="connsiteX5" fmla="*/ 61554 w 228600"/>
                  <a:gd name="connsiteY5" fmla="*/ 13624 h 190500"/>
                  <a:gd name="connsiteX6" fmla="*/ 34026 w 228600"/>
                  <a:gd name="connsiteY6" fmla="*/ 34008 h 190500"/>
                  <a:gd name="connsiteX7" fmla="*/ 593 w 228600"/>
                  <a:gd name="connsiteY7" fmla="*/ 104493 h 190500"/>
                  <a:gd name="connsiteX8" fmla="*/ 18501 w 228600"/>
                  <a:gd name="connsiteY8" fmla="*/ 179169 h 190500"/>
                  <a:gd name="connsiteX9" fmla="*/ 34026 w 228600"/>
                  <a:gd name="connsiteY9" fmla="*/ 19840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600" h="190500">
                    <a:moveTo>
                      <a:pt x="198428" y="198409"/>
                    </a:moveTo>
                    <a:cubicBezTo>
                      <a:pt x="220335" y="176407"/>
                      <a:pt x="232432" y="147260"/>
                      <a:pt x="232432" y="116209"/>
                    </a:cubicBezTo>
                    <a:cubicBezTo>
                      <a:pt x="232432" y="85157"/>
                      <a:pt x="220335" y="56011"/>
                      <a:pt x="198428" y="34008"/>
                    </a:cubicBezTo>
                    <a:cubicBezTo>
                      <a:pt x="195189" y="30769"/>
                      <a:pt x="191665" y="27626"/>
                      <a:pt x="188045" y="24769"/>
                    </a:cubicBezTo>
                    <a:cubicBezTo>
                      <a:pt x="152993" y="-2854"/>
                      <a:pt x="104511" y="-7807"/>
                      <a:pt x="64506" y="12100"/>
                    </a:cubicBezTo>
                    <a:cubicBezTo>
                      <a:pt x="64030" y="12386"/>
                      <a:pt x="62125" y="13339"/>
                      <a:pt x="61554" y="13624"/>
                    </a:cubicBezTo>
                    <a:cubicBezTo>
                      <a:pt x="51457" y="19054"/>
                      <a:pt x="42218" y="25912"/>
                      <a:pt x="34026" y="34008"/>
                    </a:cubicBezTo>
                    <a:cubicBezTo>
                      <a:pt x="15167" y="52867"/>
                      <a:pt x="3261" y="77918"/>
                      <a:pt x="593" y="104493"/>
                    </a:cubicBezTo>
                    <a:cubicBezTo>
                      <a:pt x="-2073" y="130687"/>
                      <a:pt x="4308" y="157166"/>
                      <a:pt x="18501" y="179169"/>
                    </a:cubicBezTo>
                    <a:cubicBezTo>
                      <a:pt x="22977" y="186122"/>
                      <a:pt x="28216" y="192599"/>
                      <a:pt x="34026" y="198409"/>
                    </a:cubicBezTo>
                  </a:path>
                </a:pathLst>
              </a:custGeom>
              <a:noFill/>
              <a:ln w="12700" cap="rnd">
                <a:solidFill>
                  <a:schemeClr val="bg1"/>
                </a:solidFill>
                <a:prstDash val="solid"/>
                <a:miter/>
              </a:ln>
            </p:spPr>
            <p:txBody>
              <a:bodyPr rtlCol="0" anchor="ctr"/>
              <a:lstStyle/>
              <a:p>
                <a:endParaRPr lang="en-GB" sz="1600" dirty="0"/>
              </a:p>
            </p:txBody>
          </p:sp>
          <p:sp>
            <p:nvSpPr>
              <p:cNvPr id="218" name="Freeform: Shape 183">
                <a:extLst>
                  <a:ext uri="{FF2B5EF4-FFF2-40B4-BE49-F238E27FC236}">
                    <a16:creationId xmlns:a16="http://schemas.microsoft.com/office/drawing/2014/main" id="{24B0BB4C-6F65-D47F-CDCD-8B12A63F20B1}"/>
                  </a:ext>
                </a:extLst>
              </p:cNvPr>
              <p:cNvSpPr/>
              <p:nvPr/>
            </p:nvSpPr>
            <p:spPr>
              <a:xfrm>
                <a:off x="7420031" y="1228656"/>
                <a:ext cx="195891" cy="169773"/>
              </a:xfrm>
              <a:custGeom>
                <a:avLst/>
                <a:gdLst>
                  <a:gd name="connsiteX0" fmla="*/ 125320 w 142875"/>
                  <a:gd name="connsiteY0" fmla="*/ 125272 h 123825"/>
                  <a:gd name="connsiteX1" fmla="*/ 125320 w 142875"/>
                  <a:gd name="connsiteY1" fmla="*/ 21449 h 123825"/>
                  <a:gd name="connsiteX2" fmla="*/ 118748 w 142875"/>
                  <a:gd name="connsiteY2" fmla="*/ 15639 h 123825"/>
                  <a:gd name="connsiteX3" fmla="*/ 40643 w 142875"/>
                  <a:gd name="connsiteY3" fmla="*/ 7638 h 123825"/>
                  <a:gd name="connsiteX4" fmla="*/ 38833 w 142875"/>
                  <a:gd name="connsiteY4" fmla="*/ 8590 h 123825"/>
                  <a:gd name="connsiteX5" fmla="*/ 21497 w 142875"/>
                  <a:gd name="connsiteY5" fmla="*/ 21449 h 123825"/>
                  <a:gd name="connsiteX6" fmla="*/ 352 w 142875"/>
                  <a:gd name="connsiteY6" fmla="*/ 66026 h 123825"/>
                  <a:gd name="connsiteX7" fmla="*/ 11686 w 142875"/>
                  <a:gd name="connsiteY7" fmla="*/ 113175 h 123825"/>
                  <a:gd name="connsiteX8" fmla="*/ 21497 w 142875"/>
                  <a:gd name="connsiteY8" fmla="*/ 125367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75" h="123825">
                    <a:moveTo>
                      <a:pt x="125320" y="125272"/>
                    </a:moveTo>
                    <a:cubicBezTo>
                      <a:pt x="153990" y="96601"/>
                      <a:pt x="153990" y="50024"/>
                      <a:pt x="125320" y="21449"/>
                    </a:cubicBezTo>
                    <a:cubicBezTo>
                      <a:pt x="123224" y="19354"/>
                      <a:pt x="121034" y="17449"/>
                      <a:pt x="118748" y="15639"/>
                    </a:cubicBezTo>
                    <a:cubicBezTo>
                      <a:pt x="96554" y="-1792"/>
                      <a:pt x="65979" y="-4935"/>
                      <a:pt x="40643" y="7638"/>
                    </a:cubicBezTo>
                    <a:lnTo>
                      <a:pt x="38833" y="8590"/>
                    </a:lnTo>
                    <a:cubicBezTo>
                      <a:pt x="32451" y="12019"/>
                      <a:pt x="26641" y="16306"/>
                      <a:pt x="21497" y="21449"/>
                    </a:cubicBezTo>
                    <a:cubicBezTo>
                      <a:pt x="9591" y="33355"/>
                      <a:pt x="2067" y="49167"/>
                      <a:pt x="352" y="66026"/>
                    </a:cubicBezTo>
                    <a:cubicBezTo>
                      <a:pt x="-1268" y="82600"/>
                      <a:pt x="2733" y="99364"/>
                      <a:pt x="11686" y="113175"/>
                    </a:cubicBezTo>
                    <a:cubicBezTo>
                      <a:pt x="14544" y="117556"/>
                      <a:pt x="17782" y="121652"/>
                      <a:pt x="21497" y="125367"/>
                    </a:cubicBezTo>
                  </a:path>
                </a:pathLst>
              </a:custGeom>
              <a:noFill/>
              <a:ln w="12700" cap="rnd">
                <a:solidFill>
                  <a:schemeClr val="bg1"/>
                </a:solidFill>
                <a:prstDash val="solid"/>
                <a:miter/>
              </a:ln>
            </p:spPr>
            <p:txBody>
              <a:bodyPr rtlCol="0" anchor="ctr"/>
              <a:lstStyle/>
              <a:p>
                <a:endParaRPr lang="en-GB" sz="1600" dirty="0"/>
              </a:p>
            </p:txBody>
          </p:sp>
          <p:sp>
            <p:nvSpPr>
              <p:cNvPr id="219" name="Freeform: Shape 184">
                <a:extLst>
                  <a:ext uri="{FF2B5EF4-FFF2-40B4-BE49-F238E27FC236}">
                    <a16:creationId xmlns:a16="http://schemas.microsoft.com/office/drawing/2014/main" id="{FEB05D38-2E1E-1DF8-C690-4EE682F978CE}"/>
                  </a:ext>
                </a:extLst>
              </p:cNvPr>
              <p:cNvSpPr/>
              <p:nvPr/>
            </p:nvSpPr>
            <p:spPr>
              <a:xfrm>
                <a:off x="7330925" y="1335116"/>
                <a:ext cx="274248" cy="404842"/>
              </a:xfrm>
              <a:custGeom>
                <a:avLst/>
                <a:gdLst>
                  <a:gd name="connsiteX0" fmla="*/ 133445 w 200025"/>
                  <a:gd name="connsiteY0" fmla="*/ 297371 h 295275"/>
                  <a:gd name="connsiteX1" fmla="*/ 44863 w 200025"/>
                  <a:gd name="connsiteY1" fmla="*/ 297371 h 295275"/>
                  <a:gd name="connsiteX2" fmla="*/ 286 w 200025"/>
                  <a:gd name="connsiteY2" fmla="*/ 252889 h 295275"/>
                  <a:gd name="connsiteX3" fmla="*/ 0 w 200025"/>
                  <a:gd name="connsiteY3" fmla="*/ 125540 h 295275"/>
                  <a:gd name="connsiteX4" fmla="*/ 23908 w 200025"/>
                  <a:gd name="connsiteY4" fmla="*/ 98870 h 295275"/>
                  <a:gd name="connsiteX5" fmla="*/ 24289 w 200025"/>
                  <a:gd name="connsiteY5" fmla="*/ 98870 h 295275"/>
                  <a:gd name="connsiteX6" fmla="*/ 42672 w 200025"/>
                  <a:gd name="connsiteY6" fmla="*/ 105346 h 295275"/>
                  <a:gd name="connsiteX7" fmla="*/ 61817 w 200025"/>
                  <a:gd name="connsiteY7" fmla="*/ 97917 h 295275"/>
                  <a:gd name="connsiteX8" fmla="*/ 81439 w 200025"/>
                  <a:gd name="connsiteY8" fmla="*/ 105537 h 295275"/>
                  <a:gd name="connsiteX9" fmla="*/ 100394 w 200025"/>
                  <a:gd name="connsiteY9" fmla="*/ 97917 h 295275"/>
                  <a:gd name="connsiteX10" fmla="*/ 113538 w 200025"/>
                  <a:gd name="connsiteY10" fmla="*/ 100870 h 295275"/>
                  <a:gd name="connsiteX11" fmla="*/ 113538 w 200025"/>
                  <a:gd name="connsiteY11" fmla="*/ 27718 h 295275"/>
                  <a:gd name="connsiteX12" fmla="*/ 138208 w 200025"/>
                  <a:gd name="connsiteY12" fmla="*/ 0 h 295275"/>
                  <a:gd name="connsiteX13" fmla="*/ 155448 w 200025"/>
                  <a:gd name="connsiteY13" fmla="*/ 6382 h 295275"/>
                  <a:gd name="connsiteX14" fmla="*/ 162496 w 200025"/>
                  <a:gd name="connsiteY14" fmla="*/ 27527 h 295275"/>
                  <a:gd name="connsiteX15" fmla="*/ 162496 w 200025"/>
                  <a:gd name="connsiteY15" fmla="*/ 27813 h 295275"/>
                  <a:gd name="connsiteX16" fmla="*/ 162496 w 200025"/>
                  <a:gd name="connsiteY16" fmla="*/ 132683 h 295275"/>
                  <a:gd name="connsiteX17" fmla="*/ 175832 w 200025"/>
                  <a:gd name="connsiteY17" fmla="*/ 129159 h 295275"/>
                  <a:gd name="connsiteX18" fmla="*/ 193263 w 200025"/>
                  <a:gd name="connsiteY18" fmla="*/ 135731 h 295275"/>
                  <a:gd name="connsiteX19" fmla="*/ 200311 w 200025"/>
                  <a:gd name="connsiteY19" fmla="*/ 156591 h 295275"/>
                  <a:gd name="connsiteX20" fmla="*/ 200311 w 200025"/>
                  <a:gd name="connsiteY20" fmla="*/ 156782 h 295275"/>
                  <a:gd name="connsiteX21" fmla="*/ 200120 w 200025"/>
                  <a:gd name="connsiteY21" fmla="*/ 158210 h 295275"/>
                  <a:gd name="connsiteX22" fmla="*/ 170022 w 200025"/>
                  <a:gd name="connsiteY22" fmla="*/ 269462 h 295275"/>
                  <a:gd name="connsiteX23" fmla="*/ 133445 w 200025"/>
                  <a:gd name="connsiteY23" fmla="*/ 297371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0025" h="295275">
                    <a:moveTo>
                      <a:pt x="133445" y="297371"/>
                    </a:moveTo>
                    <a:lnTo>
                      <a:pt x="44863" y="297371"/>
                    </a:lnTo>
                    <a:cubicBezTo>
                      <a:pt x="20384" y="297371"/>
                      <a:pt x="381" y="277463"/>
                      <a:pt x="286" y="252889"/>
                    </a:cubicBezTo>
                    <a:lnTo>
                      <a:pt x="0" y="125540"/>
                    </a:lnTo>
                    <a:cubicBezTo>
                      <a:pt x="0" y="108966"/>
                      <a:pt x="8858" y="98965"/>
                      <a:pt x="23908" y="98870"/>
                    </a:cubicBezTo>
                    <a:lnTo>
                      <a:pt x="24289" y="98870"/>
                    </a:lnTo>
                    <a:cubicBezTo>
                      <a:pt x="33242" y="98870"/>
                      <a:pt x="38958" y="101727"/>
                      <a:pt x="42672" y="105346"/>
                    </a:cubicBezTo>
                    <a:cubicBezTo>
                      <a:pt x="46863" y="100584"/>
                      <a:pt x="53436" y="97917"/>
                      <a:pt x="61817" y="97917"/>
                    </a:cubicBezTo>
                    <a:cubicBezTo>
                      <a:pt x="70390" y="97917"/>
                      <a:pt x="77058" y="100584"/>
                      <a:pt x="81439" y="105537"/>
                    </a:cubicBezTo>
                    <a:cubicBezTo>
                      <a:pt x="85725" y="100584"/>
                      <a:pt x="92202" y="97917"/>
                      <a:pt x="100394" y="97917"/>
                    </a:cubicBezTo>
                    <a:cubicBezTo>
                      <a:pt x="105442" y="97917"/>
                      <a:pt x="109919" y="98965"/>
                      <a:pt x="113538" y="100870"/>
                    </a:cubicBezTo>
                    <a:lnTo>
                      <a:pt x="113538" y="27718"/>
                    </a:lnTo>
                    <a:cubicBezTo>
                      <a:pt x="113538" y="2667"/>
                      <a:pt x="130779" y="0"/>
                      <a:pt x="138208" y="0"/>
                    </a:cubicBezTo>
                    <a:cubicBezTo>
                      <a:pt x="145447" y="0"/>
                      <a:pt x="151257" y="2096"/>
                      <a:pt x="155448" y="6382"/>
                    </a:cubicBezTo>
                    <a:cubicBezTo>
                      <a:pt x="162496" y="13430"/>
                      <a:pt x="162496" y="24003"/>
                      <a:pt x="162496" y="27527"/>
                    </a:cubicBezTo>
                    <a:lnTo>
                      <a:pt x="162496" y="27813"/>
                    </a:lnTo>
                    <a:lnTo>
                      <a:pt x="162496" y="132683"/>
                    </a:lnTo>
                    <a:cubicBezTo>
                      <a:pt x="165831" y="130493"/>
                      <a:pt x="170212" y="129159"/>
                      <a:pt x="175832" y="129159"/>
                    </a:cubicBezTo>
                    <a:cubicBezTo>
                      <a:pt x="183071" y="129159"/>
                      <a:pt x="188976" y="131350"/>
                      <a:pt x="193263" y="135731"/>
                    </a:cubicBezTo>
                    <a:cubicBezTo>
                      <a:pt x="196596" y="139065"/>
                      <a:pt x="200501" y="145447"/>
                      <a:pt x="200311" y="156591"/>
                    </a:cubicBezTo>
                    <a:lnTo>
                      <a:pt x="200311" y="156782"/>
                    </a:lnTo>
                    <a:cubicBezTo>
                      <a:pt x="200311" y="157258"/>
                      <a:pt x="200216" y="157734"/>
                      <a:pt x="200120" y="158210"/>
                    </a:cubicBezTo>
                    <a:lnTo>
                      <a:pt x="170022" y="269462"/>
                    </a:lnTo>
                    <a:cubicBezTo>
                      <a:pt x="165545" y="285845"/>
                      <a:pt x="150495" y="297371"/>
                      <a:pt x="133445" y="297371"/>
                    </a:cubicBezTo>
                    <a:close/>
                  </a:path>
                </a:pathLst>
              </a:custGeom>
              <a:noFill/>
              <a:ln w="12700" cap="rnd">
                <a:solidFill>
                  <a:schemeClr val="bg1"/>
                </a:solidFill>
                <a:prstDash val="solid"/>
                <a:round/>
              </a:ln>
            </p:spPr>
            <p:txBody>
              <a:bodyPr rtlCol="0" anchor="ctr"/>
              <a:lstStyle/>
              <a:p>
                <a:endParaRPr lang="en-GB" sz="1600" dirty="0"/>
              </a:p>
            </p:txBody>
          </p:sp>
          <p:sp>
            <p:nvSpPr>
              <p:cNvPr id="220" name="Freeform: Shape 185">
                <a:extLst>
                  <a:ext uri="{FF2B5EF4-FFF2-40B4-BE49-F238E27FC236}">
                    <a16:creationId xmlns:a16="http://schemas.microsoft.com/office/drawing/2014/main" id="{B5D04CC8-6A4D-C52C-5DF0-A0A1E351E235}"/>
                  </a:ext>
                </a:extLst>
              </p:cNvPr>
              <p:cNvSpPr/>
              <p:nvPr/>
            </p:nvSpPr>
            <p:spPr>
              <a:xfrm>
                <a:off x="7482208" y="1290305"/>
                <a:ext cx="65297" cy="52238"/>
              </a:xfrm>
              <a:custGeom>
                <a:avLst/>
                <a:gdLst>
                  <a:gd name="connsiteX0" fmla="*/ 5293 w 47625"/>
                  <a:gd name="connsiteY0" fmla="*/ 44874 h 38100"/>
                  <a:gd name="connsiteX1" fmla="*/ 7294 w 47625"/>
                  <a:gd name="connsiteY1" fmla="*/ 9346 h 38100"/>
                  <a:gd name="connsiteX2" fmla="*/ 13771 w 47625"/>
                  <a:gd name="connsiteY2" fmla="*/ 4012 h 38100"/>
                  <a:gd name="connsiteX3" fmla="*/ 14438 w 47625"/>
                  <a:gd name="connsiteY3" fmla="*/ 3631 h 38100"/>
                  <a:gd name="connsiteX4" fmla="*/ 44727 w 47625"/>
                  <a:gd name="connsiteY4" fmla="*/ 5155 h 38100"/>
                  <a:gd name="connsiteX5" fmla="*/ 47394 w 47625"/>
                  <a:gd name="connsiteY5" fmla="*/ 7251 h 38100"/>
                  <a:gd name="connsiteX6" fmla="*/ 51204 w 47625"/>
                  <a:gd name="connsiteY6" fmla="*/ 4506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625" h="38100">
                    <a:moveTo>
                      <a:pt x="5293" y="44874"/>
                    </a:moveTo>
                    <a:cubicBezTo>
                      <a:pt x="-2422" y="34111"/>
                      <a:pt x="-1660" y="19157"/>
                      <a:pt x="7294" y="9346"/>
                    </a:cubicBezTo>
                    <a:cubicBezTo>
                      <a:pt x="9198" y="7251"/>
                      <a:pt x="11390" y="5441"/>
                      <a:pt x="13771" y="4012"/>
                    </a:cubicBezTo>
                    <a:lnTo>
                      <a:pt x="14438" y="3631"/>
                    </a:lnTo>
                    <a:cubicBezTo>
                      <a:pt x="23963" y="-1703"/>
                      <a:pt x="35869" y="-1131"/>
                      <a:pt x="44727" y="5155"/>
                    </a:cubicBezTo>
                    <a:cubicBezTo>
                      <a:pt x="45679" y="5822"/>
                      <a:pt x="46537" y="6489"/>
                      <a:pt x="47394" y="7251"/>
                    </a:cubicBezTo>
                    <a:cubicBezTo>
                      <a:pt x="58252" y="17061"/>
                      <a:pt x="59872" y="33349"/>
                      <a:pt x="51204" y="45065"/>
                    </a:cubicBezTo>
                  </a:path>
                </a:pathLst>
              </a:custGeom>
              <a:noFill/>
              <a:ln w="12700" cap="rnd">
                <a:solidFill>
                  <a:schemeClr val="bg1"/>
                </a:solidFill>
                <a:prstDash val="solid"/>
                <a:miter/>
              </a:ln>
            </p:spPr>
            <p:txBody>
              <a:bodyPr rtlCol="0" anchor="ctr"/>
              <a:lstStyle/>
              <a:p>
                <a:endParaRPr lang="en-GB" sz="1600" dirty="0"/>
              </a:p>
            </p:txBody>
          </p:sp>
        </p:grpSp>
      </p:grpSp>
      <p:grpSp>
        <p:nvGrpSpPr>
          <p:cNvPr id="221" name="Group 220">
            <a:extLst>
              <a:ext uri="{FF2B5EF4-FFF2-40B4-BE49-F238E27FC236}">
                <a16:creationId xmlns:a16="http://schemas.microsoft.com/office/drawing/2014/main" id="{09CD7B70-45FD-4292-2180-090E64A10F74}"/>
              </a:ext>
              <a:ext uri="{C183D7F6-B498-43B3-948B-1728B52AA6E4}">
                <adec:decorative xmlns:adec="http://schemas.microsoft.com/office/drawing/2017/decorative" val="1"/>
              </a:ext>
            </a:extLst>
          </p:cNvPr>
          <p:cNvGrpSpPr/>
          <p:nvPr userDrawn="1"/>
        </p:nvGrpSpPr>
        <p:grpSpPr>
          <a:xfrm>
            <a:off x="6610110" y="3477486"/>
            <a:ext cx="367596" cy="367596"/>
            <a:chOff x="6151532" y="1261203"/>
            <a:chExt cx="481497" cy="481497"/>
          </a:xfrm>
        </p:grpSpPr>
        <p:sp>
          <p:nvSpPr>
            <p:cNvPr id="222" name="Freeform: Shape 156">
              <a:extLst>
                <a:ext uri="{FF2B5EF4-FFF2-40B4-BE49-F238E27FC236}">
                  <a16:creationId xmlns:a16="http://schemas.microsoft.com/office/drawing/2014/main" id="{A752C42D-CC4D-7AA3-93BB-724CD2F524E0}"/>
                </a:ext>
              </a:extLst>
            </p:cNvPr>
            <p:cNvSpPr/>
            <p:nvPr/>
          </p:nvSpPr>
          <p:spPr>
            <a:xfrm>
              <a:off x="6162237" y="1271778"/>
              <a:ext cx="457080" cy="457080"/>
            </a:xfrm>
            <a:custGeom>
              <a:avLst/>
              <a:gdLst>
                <a:gd name="connsiteX0" fmla="*/ 112871 w 333375"/>
                <a:gd name="connsiteY0" fmla="*/ 204883 h 333375"/>
                <a:gd name="connsiteX1" fmla="*/ 106871 w 333375"/>
                <a:gd name="connsiteY1" fmla="*/ 198882 h 333375"/>
                <a:gd name="connsiteX2" fmla="*/ 305753 w 333375"/>
                <a:gd name="connsiteY2" fmla="*/ 0 h 333375"/>
                <a:gd name="connsiteX3" fmla="*/ 341947 w 333375"/>
                <a:gd name="connsiteY3" fmla="*/ 36290 h 333375"/>
                <a:gd name="connsiteX4" fmla="*/ 143066 w 333375"/>
                <a:gd name="connsiteY4" fmla="*/ 235172 h 333375"/>
                <a:gd name="connsiteX5" fmla="*/ 137160 w 333375"/>
                <a:gd name="connsiteY5" fmla="*/ 229267 h 333375"/>
                <a:gd name="connsiteX6" fmla="*/ 92393 w 333375"/>
                <a:gd name="connsiteY6" fmla="*/ 274034 h 333375"/>
                <a:gd name="connsiteX7" fmla="*/ 74771 w 333375"/>
                <a:gd name="connsiteY7" fmla="*/ 307181 h 333375"/>
                <a:gd name="connsiteX8" fmla="*/ 24289 w 333375"/>
                <a:gd name="connsiteY8" fmla="*/ 342043 h 333375"/>
                <a:gd name="connsiteX9" fmla="*/ 0 w 333375"/>
                <a:gd name="connsiteY9" fmla="*/ 317754 h 333375"/>
                <a:gd name="connsiteX10" fmla="*/ 34862 w 333375"/>
                <a:gd name="connsiteY10" fmla="*/ 267272 h 333375"/>
                <a:gd name="connsiteX11" fmla="*/ 68009 w 333375"/>
                <a:gd name="connsiteY11" fmla="*/ 249746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3375" h="333375">
                  <a:moveTo>
                    <a:pt x="112871" y="204883"/>
                  </a:moveTo>
                  <a:lnTo>
                    <a:pt x="106871" y="198882"/>
                  </a:lnTo>
                  <a:lnTo>
                    <a:pt x="305753" y="0"/>
                  </a:lnTo>
                  <a:lnTo>
                    <a:pt x="341947" y="36290"/>
                  </a:lnTo>
                  <a:lnTo>
                    <a:pt x="143066" y="235172"/>
                  </a:lnTo>
                  <a:lnTo>
                    <a:pt x="137160" y="229267"/>
                  </a:lnTo>
                  <a:lnTo>
                    <a:pt x="92393" y="274034"/>
                  </a:lnTo>
                  <a:lnTo>
                    <a:pt x="74771" y="307181"/>
                  </a:lnTo>
                  <a:lnTo>
                    <a:pt x="24289" y="342043"/>
                  </a:lnTo>
                  <a:lnTo>
                    <a:pt x="0" y="317754"/>
                  </a:lnTo>
                  <a:lnTo>
                    <a:pt x="34862" y="267272"/>
                  </a:lnTo>
                  <a:lnTo>
                    <a:pt x="68009" y="249746"/>
                  </a:lnTo>
                  <a:close/>
                </a:path>
              </a:pathLst>
            </a:custGeom>
            <a:noFill/>
            <a:ln w="12700" cap="rnd">
              <a:solidFill>
                <a:schemeClr val="bg1"/>
              </a:solidFill>
              <a:prstDash val="solid"/>
              <a:round/>
            </a:ln>
          </p:spPr>
          <p:txBody>
            <a:bodyPr rtlCol="0" anchor="ctr"/>
            <a:lstStyle/>
            <a:p>
              <a:endParaRPr lang="en-GB" sz="1600" dirty="0"/>
            </a:p>
          </p:txBody>
        </p:sp>
        <p:sp>
          <p:nvSpPr>
            <p:cNvPr id="223" name="Freeform: Shape 158">
              <a:extLst>
                <a:ext uri="{FF2B5EF4-FFF2-40B4-BE49-F238E27FC236}">
                  <a16:creationId xmlns:a16="http://schemas.microsoft.com/office/drawing/2014/main" id="{52EE9CB2-D32F-8A03-3687-6D3AD5F7EDB4}"/>
                </a:ext>
              </a:extLst>
            </p:cNvPr>
            <p:cNvSpPr/>
            <p:nvPr/>
          </p:nvSpPr>
          <p:spPr>
            <a:xfrm>
              <a:off x="6397959" y="1507630"/>
              <a:ext cx="235070" cy="235070"/>
            </a:xfrm>
            <a:custGeom>
              <a:avLst/>
              <a:gdLst>
                <a:gd name="connsiteX0" fmla="*/ 36290 w 171450"/>
                <a:gd name="connsiteY0" fmla="*/ 0 h 171450"/>
                <a:gd name="connsiteX1" fmla="*/ 177832 w 171450"/>
                <a:gd name="connsiteY1" fmla="*/ 141542 h 171450"/>
                <a:gd name="connsiteX2" fmla="*/ 141541 w 171450"/>
                <a:gd name="connsiteY2" fmla="*/ 177832 h 171450"/>
                <a:gd name="connsiteX3" fmla="*/ 0 w 171450"/>
                <a:gd name="connsiteY3" fmla="*/ 36290 h 171450"/>
              </a:gdLst>
              <a:ahLst/>
              <a:cxnLst>
                <a:cxn ang="0">
                  <a:pos x="connsiteX0" y="connsiteY0"/>
                </a:cxn>
                <a:cxn ang="0">
                  <a:pos x="connsiteX1" y="connsiteY1"/>
                </a:cxn>
                <a:cxn ang="0">
                  <a:pos x="connsiteX2" y="connsiteY2"/>
                </a:cxn>
                <a:cxn ang="0">
                  <a:pos x="connsiteX3" y="connsiteY3"/>
                </a:cxn>
              </a:cxnLst>
              <a:rect l="l" t="t" r="r" b="b"/>
              <a:pathLst>
                <a:path w="171450" h="171450">
                  <a:moveTo>
                    <a:pt x="36290" y="0"/>
                  </a:moveTo>
                  <a:lnTo>
                    <a:pt x="177832" y="141542"/>
                  </a:lnTo>
                  <a:lnTo>
                    <a:pt x="141541" y="177832"/>
                  </a:lnTo>
                  <a:lnTo>
                    <a:pt x="0" y="36290"/>
                  </a:lnTo>
                </a:path>
              </a:pathLst>
            </a:custGeom>
            <a:noFill/>
            <a:ln w="12700" cap="rnd">
              <a:solidFill>
                <a:schemeClr val="bg1"/>
              </a:solidFill>
              <a:prstDash val="solid"/>
              <a:round/>
            </a:ln>
          </p:spPr>
          <p:txBody>
            <a:bodyPr rtlCol="0" anchor="ctr"/>
            <a:lstStyle/>
            <a:p>
              <a:endParaRPr lang="en-GB" sz="1600" dirty="0"/>
            </a:p>
          </p:txBody>
        </p:sp>
        <p:sp>
          <p:nvSpPr>
            <p:cNvPr id="224" name="Freeform: Shape 160">
              <a:extLst>
                <a:ext uri="{FF2B5EF4-FFF2-40B4-BE49-F238E27FC236}">
                  <a16:creationId xmlns:a16="http://schemas.microsoft.com/office/drawing/2014/main" id="{E082B66F-8186-841E-F483-E0C7DCB451A1}"/>
                </a:ext>
              </a:extLst>
            </p:cNvPr>
            <p:cNvSpPr/>
            <p:nvPr/>
          </p:nvSpPr>
          <p:spPr>
            <a:xfrm>
              <a:off x="6151532" y="1261203"/>
              <a:ext cx="235070" cy="235070"/>
            </a:xfrm>
            <a:custGeom>
              <a:avLst/>
              <a:gdLst>
                <a:gd name="connsiteX0" fmla="*/ 141634 w 171450"/>
                <a:gd name="connsiteY0" fmla="*/ 177924 h 171450"/>
                <a:gd name="connsiteX1" fmla="*/ 112297 w 171450"/>
                <a:gd name="connsiteY1" fmla="*/ 148587 h 171450"/>
                <a:gd name="connsiteX2" fmla="*/ 22857 w 171450"/>
                <a:gd name="connsiteY2" fmla="*/ 133538 h 171450"/>
                <a:gd name="connsiteX3" fmla="*/ 5236 w 171450"/>
                <a:gd name="connsiteY3" fmla="*/ 50099 h 171450"/>
                <a:gd name="connsiteX4" fmla="*/ 49908 w 171450"/>
                <a:gd name="connsiteY4" fmla="*/ 94771 h 171450"/>
                <a:gd name="connsiteX5" fmla="*/ 88484 w 171450"/>
                <a:gd name="connsiteY5" fmla="*/ 94676 h 171450"/>
                <a:gd name="connsiteX6" fmla="*/ 94676 w 171450"/>
                <a:gd name="connsiteY6" fmla="*/ 88484 h 171450"/>
                <a:gd name="connsiteX7" fmla="*/ 94771 w 171450"/>
                <a:gd name="connsiteY7" fmla="*/ 49908 h 171450"/>
                <a:gd name="connsiteX8" fmla="*/ 50099 w 171450"/>
                <a:gd name="connsiteY8" fmla="*/ 5236 h 171450"/>
                <a:gd name="connsiteX9" fmla="*/ 133538 w 171450"/>
                <a:gd name="connsiteY9" fmla="*/ 22857 h 171450"/>
                <a:gd name="connsiteX10" fmla="*/ 148587 w 171450"/>
                <a:gd name="connsiteY10" fmla="*/ 112297 h 171450"/>
                <a:gd name="connsiteX11" fmla="*/ 178686 w 171450"/>
                <a:gd name="connsiteY11" fmla="*/ 142396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450" h="171450">
                  <a:moveTo>
                    <a:pt x="141634" y="177924"/>
                  </a:moveTo>
                  <a:lnTo>
                    <a:pt x="112297" y="148587"/>
                  </a:lnTo>
                  <a:cubicBezTo>
                    <a:pt x="83150" y="162779"/>
                    <a:pt x="47051" y="157636"/>
                    <a:pt x="22857" y="133538"/>
                  </a:cubicBezTo>
                  <a:cubicBezTo>
                    <a:pt x="283" y="110963"/>
                    <a:pt x="-5527" y="78007"/>
                    <a:pt x="5236" y="50099"/>
                  </a:cubicBezTo>
                  <a:lnTo>
                    <a:pt x="49908" y="94771"/>
                  </a:lnTo>
                  <a:cubicBezTo>
                    <a:pt x="60481" y="105344"/>
                    <a:pt x="77912" y="105248"/>
                    <a:pt x="88484" y="94676"/>
                  </a:cubicBezTo>
                  <a:lnTo>
                    <a:pt x="94676" y="88484"/>
                  </a:lnTo>
                  <a:cubicBezTo>
                    <a:pt x="105248" y="77912"/>
                    <a:pt x="105344" y="60481"/>
                    <a:pt x="94771" y="49908"/>
                  </a:cubicBezTo>
                  <a:lnTo>
                    <a:pt x="50099" y="5236"/>
                  </a:lnTo>
                  <a:cubicBezTo>
                    <a:pt x="78102" y="-5527"/>
                    <a:pt x="110963" y="283"/>
                    <a:pt x="133538" y="22857"/>
                  </a:cubicBezTo>
                  <a:cubicBezTo>
                    <a:pt x="157636" y="46955"/>
                    <a:pt x="162780" y="83150"/>
                    <a:pt x="148587" y="112297"/>
                  </a:cubicBezTo>
                  <a:lnTo>
                    <a:pt x="178686" y="142396"/>
                  </a:lnTo>
                </a:path>
              </a:pathLst>
            </a:custGeom>
            <a:noFill/>
            <a:ln w="12700" cap="rnd">
              <a:solidFill>
                <a:schemeClr val="bg1"/>
              </a:solidFill>
              <a:prstDash val="solid"/>
              <a:round/>
            </a:ln>
          </p:spPr>
          <p:txBody>
            <a:bodyPr rtlCol="0" anchor="ctr"/>
            <a:lstStyle/>
            <a:p>
              <a:endParaRPr lang="en-GB" sz="1600" dirty="0"/>
            </a:p>
          </p:txBody>
        </p:sp>
      </p:grpSp>
      <p:grpSp>
        <p:nvGrpSpPr>
          <p:cNvPr id="225" name="Group 224">
            <a:extLst>
              <a:ext uri="{FF2B5EF4-FFF2-40B4-BE49-F238E27FC236}">
                <a16:creationId xmlns:a16="http://schemas.microsoft.com/office/drawing/2014/main" id="{485B6DE6-67C2-9971-2D31-95C8D52FA003}"/>
              </a:ext>
              <a:ext uri="{C183D7F6-B498-43B3-948B-1728B52AA6E4}">
                <adec:decorative xmlns:adec="http://schemas.microsoft.com/office/drawing/2017/decorative" val="1"/>
              </a:ext>
            </a:extLst>
          </p:cNvPr>
          <p:cNvGrpSpPr/>
          <p:nvPr userDrawn="1"/>
        </p:nvGrpSpPr>
        <p:grpSpPr>
          <a:xfrm>
            <a:off x="4235165" y="3450598"/>
            <a:ext cx="432810" cy="421372"/>
            <a:chOff x="2827687" y="2375038"/>
            <a:chExt cx="496315" cy="483199"/>
          </a:xfrm>
        </p:grpSpPr>
        <p:sp>
          <p:nvSpPr>
            <p:cNvPr id="226" name="Freeform: Shape 139">
              <a:extLst>
                <a:ext uri="{FF2B5EF4-FFF2-40B4-BE49-F238E27FC236}">
                  <a16:creationId xmlns:a16="http://schemas.microsoft.com/office/drawing/2014/main" id="{7BFF8FEA-A81F-947D-1DEC-EEC29FE49FE6}"/>
                </a:ext>
              </a:extLst>
            </p:cNvPr>
            <p:cNvSpPr/>
            <p:nvPr/>
          </p:nvSpPr>
          <p:spPr>
            <a:xfrm>
              <a:off x="3008517" y="2375038"/>
              <a:ext cx="130594" cy="483199"/>
            </a:xfrm>
            <a:custGeom>
              <a:avLst/>
              <a:gdLst>
                <a:gd name="connsiteX0" fmla="*/ 102108 w 95250"/>
                <a:gd name="connsiteY0" fmla="*/ 177070 h 352425"/>
                <a:gd name="connsiteX1" fmla="*/ 51054 w 95250"/>
                <a:gd name="connsiteY1" fmla="*/ 354140 h 352425"/>
                <a:gd name="connsiteX2" fmla="*/ 0 w 95250"/>
                <a:gd name="connsiteY2" fmla="*/ 177070 h 352425"/>
                <a:gd name="connsiteX3" fmla="*/ 51054 w 95250"/>
                <a:gd name="connsiteY3" fmla="*/ 0 h 352425"/>
                <a:gd name="connsiteX4" fmla="*/ 102108 w 95250"/>
                <a:gd name="connsiteY4" fmla="*/ 177070 h 352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352425">
                  <a:moveTo>
                    <a:pt x="102108" y="177070"/>
                  </a:moveTo>
                  <a:cubicBezTo>
                    <a:pt x="102108" y="274863"/>
                    <a:pt x="79250" y="354140"/>
                    <a:pt x="51054" y="354140"/>
                  </a:cubicBezTo>
                  <a:cubicBezTo>
                    <a:pt x="22858" y="354140"/>
                    <a:pt x="0" y="274863"/>
                    <a:pt x="0" y="177070"/>
                  </a:cubicBezTo>
                  <a:cubicBezTo>
                    <a:pt x="0" y="79277"/>
                    <a:pt x="22858" y="0"/>
                    <a:pt x="51054" y="0"/>
                  </a:cubicBezTo>
                  <a:cubicBezTo>
                    <a:pt x="79250" y="0"/>
                    <a:pt x="102108" y="79277"/>
                    <a:pt x="102108" y="177070"/>
                  </a:cubicBezTo>
                  <a:close/>
                </a:path>
              </a:pathLst>
            </a:custGeom>
            <a:noFill/>
            <a:ln w="12700" cap="flat">
              <a:solidFill>
                <a:schemeClr val="bg1"/>
              </a:solidFill>
              <a:prstDash val="solid"/>
              <a:miter/>
            </a:ln>
          </p:spPr>
          <p:txBody>
            <a:bodyPr rtlCol="0" anchor="ctr"/>
            <a:lstStyle/>
            <a:p>
              <a:endParaRPr lang="en-GB" sz="1600" dirty="0"/>
            </a:p>
          </p:txBody>
        </p:sp>
        <p:sp>
          <p:nvSpPr>
            <p:cNvPr id="227" name="Freeform: Shape 140">
              <a:extLst>
                <a:ext uri="{FF2B5EF4-FFF2-40B4-BE49-F238E27FC236}">
                  <a16:creationId xmlns:a16="http://schemas.microsoft.com/office/drawing/2014/main" id="{17020E61-DC83-9BEB-84B2-9154A01F88BD}"/>
                </a:ext>
              </a:extLst>
            </p:cNvPr>
            <p:cNvSpPr/>
            <p:nvPr/>
          </p:nvSpPr>
          <p:spPr>
            <a:xfrm>
              <a:off x="2827687" y="2458076"/>
              <a:ext cx="496258" cy="313426"/>
            </a:xfrm>
            <a:custGeom>
              <a:avLst/>
              <a:gdLst>
                <a:gd name="connsiteX0" fmla="*/ 202936 w 361950"/>
                <a:gd name="connsiteY0" fmla="*/ 69482 h 228600"/>
                <a:gd name="connsiteX1" fmla="*/ 345771 w 361950"/>
                <a:gd name="connsiteY1" fmla="*/ 185924 h 228600"/>
                <a:gd name="connsiteX2" fmla="*/ 162869 w 361950"/>
                <a:gd name="connsiteY2" fmla="*/ 163401 h 228600"/>
                <a:gd name="connsiteX3" fmla="*/ 20034 w 361950"/>
                <a:gd name="connsiteY3" fmla="*/ 46959 h 228600"/>
                <a:gd name="connsiteX4" fmla="*/ 202936 w 361950"/>
                <a:gd name="connsiteY4" fmla="*/ 69482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202936" y="69482"/>
                  </a:moveTo>
                  <a:cubicBezTo>
                    <a:pt x="292886" y="107856"/>
                    <a:pt x="356835" y="159989"/>
                    <a:pt x="345771" y="185924"/>
                  </a:cubicBezTo>
                  <a:cubicBezTo>
                    <a:pt x="334707" y="211859"/>
                    <a:pt x="252819" y="201775"/>
                    <a:pt x="162869" y="163401"/>
                  </a:cubicBezTo>
                  <a:cubicBezTo>
                    <a:pt x="72919" y="125027"/>
                    <a:pt x="8969" y="72895"/>
                    <a:pt x="20034" y="46959"/>
                  </a:cubicBezTo>
                  <a:cubicBezTo>
                    <a:pt x="31098" y="21024"/>
                    <a:pt x="112986" y="31108"/>
                    <a:pt x="202936" y="69482"/>
                  </a:cubicBezTo>
                  <a:close/>
                </a:path>
              </a:pathLst>
            </a:custGeom>
            <a:noFill/>
            <a:ln w="12700" cap="flat">
              <a:solidFill>
                <a:schemeClr val="bg1"/>
              </a:solidFill>
              <a:prstDash val="solid"/>
              <a:miter/>
            </a:ln>
          </p:spPr>
          <p:txBody>
            <a:bodyPr rtlCol="0" anchor="ctr"/>
            <a:lstStyle/>
            <a:p>
              <a:endParaRPr lang="en-GB" sz="1600" dirty="0"/>
            </a:p>
          </p:txBody>
        </p:sp>
        <p:sp>
          <p:nvSpPr>
            <p:cNvPr id="228" name="Freeform: Shape 141">
              <a:extLst>
                <a:ext uri="{FF2B5EF4-FFF2-40B4-BE49-F238E27FC236}">
                  <a16:creationId xmlns:a16="http://schemas.microsoft.com/office/drawing/2014/main" id="{85893C0B-92AB-DAAA-27FA-E31B4BF6163A}"/>
                </a:ext>
              </a:extLst>
            </p:cNvPr>
            <p:cNvSpPr/>
            <p:nvPr/>
          </p:nvSpPr>
          <p:spPr>
            <a:xfrm>
              <a:off x="2827744" y="2458188"/>
              <a:ext cx="496258" cy="313426"/>
            </a:xfrm>
            <a:custGeom>
              <a:avLst/>
              <a:gdLst>
                <a:gd name="connsiteX0" fmla="*/ 345771 w 361950"/>
                <a:gd name="connsiteY0" fmla="*/ 46959 h 228600"/>
                <a:gd name="connsiteX1" fmla="*/ 202936 w 361950"/>
                <a:gd name="connsiteY1" fmla="*/ 163401 h 228600"/>
                <a:gd name="connsiteX2" fmla="*/ 20034 w 361950"/>
                <a:gd name="connsiteY2" fmla="*/ 185924 h 228600"/>
                <a:gd name="connsiteX3" fmla="*/ 162869 w 361950"/>
                <a:gd name="connsiteY3" fmla="*/ 69482 h 228600"/>
                <a:gd name="connsiteX4" fmla="*/ 345771 w 361950"/>
                <a:gd name="connsiteY4" fmla="*/ 46959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345771" y="46959"/>
                  </a:moveTo>
                  <a:cubicBezTo>
                    <a:pt x="356835" y="72894"/>
                    <a:pt x="292886" y="125027"/>
                    <a:pt x="202936" y="163401"/>
                  </a:cubicBezTo>
                  <a:cubicBezTo>
                    <a:pt x="112986" y="201775"/>
                    <a:pt x="31098" y="211859"/>
                    <a:pt x="20034" y="185924"/>
                  </a:cubicBezTo>
                  <a:cubicBezTo>
                    <a:pt x="8969" y="159989"/>
                    <a:pt x="72919" y="107856"/>
                    <a:pt x="162869" y="69482"/>
                  </a:cubicBezTo>
                  <a:cubicBezTo>
                    <a:pt x="252819" y="31108"/>
                    <a:pt x="334707" y="21025"/>
                    <a:pt x="345771" y="46959"/>
                  </a:cubicBezTo>
                  <a:close/>
                </a:path>
              </a:pathLst>
            </a:custGeom>
            <a:noFill/>
            <a:ln w="12700" cap="flat">
              <a:solidFill>
                <a:schemeClr val="bg1"/>
              </a:solidFill>
              <a:prstDash val="solid"/>
              <a:miter/>
            </a:ln>
          </p:spPr>
          <p:txBody>
            <a:bodyPr rtlCol="0" anchor="ctr"/>
            <a:lstStyle/>
            <a:p>
              <a:endParaRPr lang="en-GB" sz="1600" dirty="0"/>
            </a:p>
          </p:txBody>
        </p:sp>
        <p:sp>
          <p:nvSpPr>
            <p:cNvPr id="229" name="Freeform: Shape 142">
              <a:extLst>
                <a:ext uri="{FF2B5EF4-FFF2-40B4-BE49-F238E27FC236}">
                  <a16:creationId xmlns:a16="http://schemas.microsoft.com/office/drawing/2014/main" id="{0606ED6A-9CCF-052B-7968-CC76B30EBE9F}"/>
                </a:ext>
              </a:extLst>
            </p:cNvPr>
            <p:cNvSpPr/>
            <p:nvPr/>
          </p:nvSpPr>
          <p:spPr>
            <a:xfrm>
              <a:off x="3047173" y="2586469"/>
              <a:ext cx="52238" cy="52238"/>
            </a:xfrm>
            <a:custGeom>
              <a:avLst/>
              <a:gdLst>
                <a:gd name="connsiteX0" fmla="*/ 45720 w 38100"/>
                <a:gd name="connsiteY0" fmla="*/ 22860 h 38100"/>
                <a:gd name="connsiteX1" fmla="*/ 22860 w 38100"/>
                <a:gd name="connsiteY1" fmla="*/ 45720 h 38100"/>
                <a:gd name="connsiteX2" fmla="*/ 0 w 38100"/>
                <a:gd name="connsiteY2" fmla="*/ 22860 h 38100"/>
                <a:gd name="connsiteX3" fmla="*/ 22860 w 38100"/>
                <a:gd name="connsiteY3" fmla="*/ 0 h 38100"/>
                <a:gd name="connsiteX4" fmla="*/ 45720 w 38100"/>
                <a:gd name="connsiteY4" fmla="*/ 2286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45720" y="22860"/>
                  </a:moveTo>
                  <a:cubicBezTo>
                    <a:pt x="45720" y="35485"/>
                    <a:pt x="35485" y="45720"/>
                    <a:pt x="22860" y="45720"/>
                  </a:cubicBezTo>
                  <a:cubicBezTo>
                    <a:pt x="10235" y="45720"/>
                    <a:pt x="0" y="35485"/>
                    <a:pt x="0" y="22860"/>
                  </a:cubicBezTo>
                  <a:cubicBezTo>
                    <a:pt x="0" y="10235"/>
                    <a:pt x="10235" y="0"/>
                    <a:pt x="22860" y="0"/>
                  </a:cubicBezTo>
                  <a:cubicBezTo>
                    <a:pt x="35485" y="0"/>
                    <a:pt x="45720" y="10235"/>
                    <a:pt x="45720" y="22860"/>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230" name="Freeform: Shape 143">
              <a:extLst>
                <a:ext uri="{FF2B5EF4-FFF2-40B4-BE49-F238E27FC236}">
                  <a16:creationId xmlns:a16="http://schemas.microsoft.com/office/drawing/2014/main" id="{4ED31D7A-AB53-4D4E-FF19-958390D0F71F}"/>
                </a:ext>
              </a:extLst>
            </p:cNvPr>
            <p:cNvSpPr/>
            <p:nvPr/>
          </p:nvSpPr>
          <p:spPr>
            <a:xfrm>
              <a:off x="2930421" y="249048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231" name="Freeform: Shape 144">
              <a:extLst>
                <a:ext uri="{FF2B5EF4-FFF2-40B4-BE49-F238E27FC236}">
                  <a16:creationId xmlns:a16="http://schemas.microsoft.com/office/drawing/2014/main" id="{FE4BA34F-2035-B51D-6B85-64D1061AE3B3}"/>
                </a:ext>
              </a:extLst>
            </p:cNvPr>
            <p:cNvSpPr/>
            <p:nvPr/>
          </p:nvSpPr>
          <p:spPr>
            <a:xfrm>
              <a:off x="3250508" y="2570276"/>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232" name="Freeform: Shape 145">
              <a:extLst>
                <a:ext uri="{FF2B5EF4-FFF2-40B4-BE49-F238E27FC236}">
                  <a16:creationId xmlns:a16="http://schemas.microsoft.com/office/drawing/2014/main" id="{0F1158F5-B0E1-9028-E095-2872951290C6}"/>
                </a:ext>
              </a:extLst>
            </p:cNvPr>
            <p:cNvSpPr/>
            <p:nvPr/>
          </p:nvSpPr>
          <p:spPr>
            <a:xfrm>
              <a:off x="3102675" y="280051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grpSp>
      <p:grpSp>
        <p:nvGrpSpPr>
          <p:cNvPr id="233" name="Group 232">
            <a:extLst>
              <a:ext uri="{FF2B5EF4-FFF2-40B4-BE49-F238E27FC236}">
                <a16:creationId xmlns:a16="http://schemas.microsoft.com/office/drawing/2014/main" id="{554672E4-62FC-CB80-9018-64944B76C42F}"/>
              </a:ext>
              <a:ext uri="{C183D7F6-B498-43B3-948B-1728B52AA6E4}">
                <adec:decorative xmlns:adec="http://schemas.microsoft.com/office/drawing/2017/decorative" val="1"/>
              </a:ext>
            </a:extLst>
          </p:cNvPr>
          <p:cNvGrpSpPr/>
          <p:nvPr userDrawn="1"/>
        </p:nvGrpSpPr>
        <p:grpSpPr>
          <a:xfrm>
            <a:off x="8766081" y="3469196"/>
            <a:ext cx="325438" cy="384175"/>
            <a:chOff x="9007476" y="2855913"/>
            <a:chExt cx="325438" cy="384175"/>
          </a:xfrm>
        </p:grpSpPr>
        <p:sp>
          <p:nvSpPr>
            <p:cNvPr id="234" name="Freeform 12">
              <a:extLst>
                <a:ext uri="{FF2B5EF4-FFF2-40B4-BE49-F238E27FC236}">
                  <a16:creationId xmlns:a16="http://schemas.microsoft.com/office/drawing/2014/main" id="{9546A247-DA2A-BC9C-6579-CEB4F5F33E43}"/>
                </a:ext>
              </a:extLst>
            </p:cNvPr>
            <p:cNvSpPr>
              <a:spLocks/>
            </p:cNvSpPr>
            <p:nvPr userDrawn="1"/>
          </p:nvSpPr>
          <p:spPr bwMode="auto">
            <a:xfrm>
              <a:off x="9007476" y="2855913"/>
              <a:ext cx="325438" cy="153988"/>
            </a:xfrm>
            <a:custGeom>
              <a:avLst/>
              <a:gdLst>
                <a:gd name="T0" fmla="*/ 378 w 378"/>
                <a:gd name="T1" fmla="*/ 91 h 182"/>
                <a:gd name="T2" fmla="*/ 378 w 378"/>
                <a:gd name="T3" fmla="*/ 91 h 182"/>
                <a:gd name="T4" fmla="*/ 189 w 378"/>
                <a:gd name="T5" fmla="*/ 0 h 182"/>
                <a:gd name="T6" fmla="*/ 0 w 378"/>
                <a:gd name="T7" fmla="*/ 91 h 182"/>
                <a:gd name="T8" fmla="*/ 189 w 378"/>
                <a:gd name="T9" fmla="*/ 182 h 182"/>
                <a:gd name="T10" fmla="*/ 378 w 378"/>
                <a:gd name="T11" fmla="*/ 91 h 182"/>
                <a:gd name="T12" fmla="*/ 378 w 378"/>
                <a:gd name="T13" fmla="*/ 91 h 182"/>
              </a:gdLst>
              <a:ahLst/>
              <a:cxnLst>
                <a:cxn ang="0">
                  <a:pos x="T0" y="T1"/>
                </a:cxn>
                <a:cxn ang="0">
                  <a:pos x="T2" y="T3"/>
                </a:cxn>
                <a:cxn ang="0">
                  <a:pos x="T4" y="T5"/>
                </a:cxn>
                <a:cxn ang="0">
                  <a:pos x="T6" y="T7"/>
                </a:cxn>
                <a:cxn ang="0">
                  <a:pos x="T8" y="T9"/>
                </a:cxn>
                <a:cxn ang="0">
                  <a:pos x="T10" y="T11"/>
                </a:cxn>
                <a:cxn ang="0">
                  <a:pos x="T12" y="T13"/>
                </a:cxn>
              </a:cxnLst>
              <a:rect l="0" t="0" r="r" b="b"/>
              <a:pathLst>
                <a:path w="378" h="182">
                  <a:moveTo>
                    <a:pt x="378" y="91"/>
                  </a:moveTo>
                  <a:lnTo>
                    <a:pt x="378" y="91"/>
                  </a:lnTo>
                  <a:cubicBezTo>
                    <a:pt x="378" y="40"/>
                    <a:pt x="294" y="0"/>
                    <a:pt x="189" y="0"/>
                  </a:cubicBezTo>
                  <a:cubicBezTo>
                    <a:pt x="85" y="0"/>
                    <a:pt x="0" y="40"/>
                    <a:pt x="0" y="91"/>
                  </a:cubicBezTo>
                  <a:cubicBezTo>
                    <a:pt x="0" y="141"/>
                    <a:pt x="85" y="182"/>
                    <a:pt x="189" y="182"/>
                  </a:cubicBezTo>
                  <a:cubicBezTo>
                    <a:pt x="294" y="182"/>
                    <a:pt x="378" y="141"/>
                    <a:pt x="378" y="91"/>
                  </a:cubicBezTo>
                  <a:lnTo>
                    <a:pt x="378" y="91"/>
                  </a:ln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35" name="Freeform 13">
              <a:extLst>
                <a:ext uri="{FF2B5EF4-FFF2-40B4-BE49-F238E27FC236}">
                  <a16:creationId xmlns:a16="http://schemas.microsoft.com/office/drawing/2014/main" id="{6662F282-463E-EAB0-E649-6C92B3A475DA}"/>
                </a:ext>
              </a:extLst>
            </p:cNvPr>
            <p:cNvSpPr>
              <a:spLocks/>
            </p:cNvSpPr>
            <p:nvPr userDrawn="1"/>
          </p:nvSpPr>
          <p:spPr bwMode="auto">
            <a:xfrm>
              <a:off x="9007476" y="3009900"/>
              <a:ext cx="325438" cy="76200"/>
            </a:xfrm>
            <a:custGeom>
              <a:avLst/>
              <a:gdLst>
                <a:gd name="T0" fmla="*/ 0 w 378"/>
                <a:gd name="T1" fmla="*/ 0 h 92"/>
                <a:gd name="T2" fmla="*/ 0 w 378"/>
                <a:gd name="T3" fmla="*/ 0 h 92"/>
                <a:gd name="T4" fmla="*/ 189 w 378"/>
                <a:gd name="T5" fmla="*/ 92 h 92"/>
                <a:gd name="T6" fmla="*/ 378 w 378"/>
                <a:gd name="T7" fmla="*/ 0 h 92"/>
              </a:gdLst>
              <a:ahLst/>
              <a:cxnLst>
                <a:cxn ang="0">
                  <a:pos x="T0" y="T1"/>
                </a:cxn>
                <a:cxn ang="0">
                  <a:pos x="T2" y="T3"/>
                </a:cxn>
                <a:cxn ang="0">
                  <a:pos x="T4" y="T5"/>
                </a:cxn>
                <a:cxn ang="0">
                  <a:pos x="T6" y="T7"/>
                </a:cxn>
              </a:cxnLst>
              <a:rect l="0" t="0" r="r" b="b"/>
              <a:pathLst>
                <a:path w="378" h="92">
                  <a:moveTo>
                    <a:pt x="0" y="0"/>
                  </a:moveTo>
                  <a:lnTo>
                    <a:pt x="0" y="0"/>
                  </a:lnTo>
                  <a:cubicBezTo>
                    <a:pt x="0" y="51"/>
                    <a:pt x="85" y="92"/>
                    <a:pt x="189" y="92"/>
                  </a:cubicBezTo>
                  <a:cubicBezTo>
                    <a:pt x="294" y="92"/>
                    <a:pt x="378" y="51"/>
                    <a:pt x="378"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36" name="Freeform 14">
              <a:extLst>
                <a:ext uri="{FF2B5EF4-FFF2-40B4-BE49-F238E27FC236}">
                  <a16:creationId xmlns:a16="http://schemas.microsoft.com/office/drawing/2014/main" id="{30E0CFFA-348F-454F-E79D-DB7E5CD2E873}"/>
                </a:ext>
              </a:extLst>
            </p:cNvPr>
            <p:cNvSpPr>
              <a:spLocks/>
            </p:cNvSpPr>
            <p:nvPr userDrawn="1"/>
          </p:nvSpPr>
          <p:spPr bwMode="auto">
            <a:xfrm>
              <a:off x="9007476" y="3086100"/>
              <a:ext cx="325438" cy="77788"/>
            </a:xfrm>
            <a:custGeom>
              <a:avLst/>
              <a:gdLst>
                <a:gd name="T0" fmla="*/ 0 w 378"/>
                <a:gd name="T1" fmla="*/ 0 h 91"/>
                <a:gd name="T2" fmla="*/ 0 w 378"/>
                <a:gd name="T3" fmla="*/ 0 h 91"/>
                <a:gd name="T4" fmla="*/ 189 w 378"/>
                <a:gd name="T5" fmla="*/ 91 h 91"/>
                <a:gd name="T6" fmla="*/ 378 w 378"/>
                <a:gd name="T7" fmla="*/ 0 h 91"/>
              </a:gdLst>
              <a:ahLst/>
              <a:cxnLst>
                <a:cxn ang="0">
                  <a:pos x="T0" y="T1"/>
                </a:cxn>
                <a:cxn ang="0">
                  <a:pos x="T2" y="T3"/>
                </a:cxn>
                <a:cxn ang="0">
                  <a:pos x="T4" y="T5"/>
                </a:cxn>
                <a:cxn ang="0">
                  <a:pos x="T6" y="T7"/>
                </a:cxn>
              </a:cxnLst>
              <a:rect l="0" t="0" r="r" b="b"/>
              <a:pathLst>
                <a:path w="378" h="91">
                  <a:moveTo>
                    <a:pt x="0" y="0"/>
                  </a:moveTo>
                  <a:lnTo>
                    <a:pt x="0" y="0"/>
                  </a:lnTo>
                  <a:cubicBezTo>
                    <a:pt x="0" y="50"/>
                    <a:pt x="85" y="91"/>
                    <a:pt x="189" y="91"/>
                  </a:cubicBezTo>
                  <a:cubicBezTo>
                    <a:pt x="294" y="91"/>
                    <a:pt x="378" y="50"/>
                    <a:pt x="378"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37" name="Freeform 15">
              <a:extLst>
                <a:ext uri="{FF2B5EF4-FFF2-40B4-BE49-F238E27FC236}">
                  <a16:creationId xmlns:a16="http://schemas.microsoft.com/office/drawing/2014/main" id="{BA0CD7EF-D6FD-01A5-9474-7558E3E62DCA}"/>
                </a:ext>
              </a:extLst>
            </p:cNvPr>
            <p:cNvSpPr>
              <a:spLocks/>
            </p:cNvSpPr>
            <p:nvPr userDrawn="1"/>
          </p:nvSpPr>
          <p:spPr bwMode="auto">
            <a:xfrm>
              <a:off x="9007476" y="2932113"/>
              <a:ext cx="325438" cy="307975"/>
            </a:xfrm>
            <a:custGeom>
              <a:avLst/>
              <a:gdLst>
                <a:gd name="T0" fmla="*/ 378 w 378"/>
                <a:gd name="T1" fmla="*/ 0 h 366"/>
                <a:gd name="T2" fmla="*/ 378 w 378"/>
                <a:gd name="T3" fmla="*/ 0 h 366"/>
                <a:gd name="T4" fmla="*/ 378 w 378"/>
                <a:gd name="T5" fmla="*/ 274 h 366"/>
                <a:gd name="T6" fmla="*/ 189 w 378"/>
                <a:gd name="T7" fmla="*/ 366 h 366"/>
                <a:gd name="T8" fmla="*/ 0 w 378"/>
                <a:gd name="T9" fmla="*/ 274 h 366"/>
                <a:gd name="T10" fmla="*/ 0 w 378"/>
                <a:gd name="T11" fmla="*/ 0 h 366"/>
              </a:gdLst>
              <a:ahLst/>
              <a:cxnLst>
                <a:cxn ang="0">
                  <a:pos x="T0" y="T1"/>
                </a:cxn>
                <a:cxn ang="0">
                  <a:pos x="T2" y="T3"/>
                </a:cxn>
                <a:cxn ang="0">
                  <a:pos x="T4" y="T5"/>
                </a:cxn>
                <a:cxn ang="0">
                  <a:pos x="T6" y="T7"/>
                </a:cxn>
                <a:cxn ang="0">
                  <a:pos x="T8" y="T9"/>
                </a:cxn>
                <a:cxn ang="0">
                  <a:pos x="T10" y="T11"/>
                </a:cxn>
              </a:cxnLst>
              <a:rect l="0" t="0" r="r" b="b"/>
              <a:pathLst>
                <a:path w="378" h="366">
                  <a:moveTo>
                    <a:pt x="378" y="0"/>
                  </a:moveTo>
                  <a:lnTo>
                    <a:pt x="378" y="0"/>
                  </a:lnTo>
                  <a:lnTo>
                    <a:pt x="378" y="274"/>
                  </a:lnTo>
                  <a:cubicBezTo>
                    <a:pt x="378" y="325"/>
                    <a:pt x="294" y="366"/>
                    <a:pt x="189" y="366"/>
                  </a:cubicBezTo>
                  <a:cubicBezTo>
                    <a:pt x="85" y="366"/>
                    <a:pt x="0" y="325"/>
                    <a:pt x="0" y="274"/>
                  </a:cubicBezTo>
                  <a:lnTo>
                    <a:pt x="0" y="0"/>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15" name="TextBox 14">
            <a:extLst>
              <a:ext uri="{FF2B5EF4-FFF2-40B4-BE49-F238E27FC236}">
                <a16:creationId xmlns:a16="http://schemas.microsoft.com/office/drawing/2014/main" id="{21FB9583-48F7-1155-BD8D-B4BC6BEC7400}"/>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6227229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1_Our Industry Domain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172B90-F3DC-43C0-89F3-8DE17A9513CD}"/>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sp>
        <p:nvSpPr>
          <p:cNvPr id="7" name="TextBox 6">
            <a:extLst>
              <a:ext uri="{FF2B5EF4-FFF2-40B4-BE49-F238E27FC236}">
                <a16:creationId xmlns:a16="http://schemas.microsoft.com/office/drawing/2014/main" id="{E0B722DA-A7EF-42D4-97E8-22596004672B}"/>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9" name="Rectangle 8">
            <a:extLst>
              <a:ext uri="{FF2B5EF4-FFF2-40B4-BE49-F238E27FC236}">
                <a16:creationId xmlns:a16="http://schemas.microsoft.com/office/drawing/2014/main" id="{8C4EFE66-7746-438A-BDD7-D4C86ECB6589}"/>
              </a:ext>
              <a:ext uri="{C183D7F6-B498-43B3-948B-1728B52AA6E4}">
                <adec:decorative xmlns:adec="http://schemas.microsoft.com/office/drawing/2017/decorative" val="1"/>
              </a:ext>
            </a:extLst>
          </p:cNvPr>
          <p:cNvSpPr/>
          <p:nvPr userDrawn="1"/>
        </p:nvSpPr>
        <p:spPr>
          <a:xfrm>
            <a:off x="559048" y="2666040"/>
            <a:ext cx="2109124" cy="3107671"/>
          </a:xfrm>
          <a:prstGeom prst="rect">
            <a:avLst/>
          </a:prstGeom>
          <a:solidFill>
            <a:schemeClr val="bg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EBC5CC8-7786-408D-93AD-5F468B3DEAF7}"/>
              </a:ext>
              <a:ext uri="{C183D7F6-B498-43B3-948B-1728B52AA6E4}">
                <adec:decorative xmlns:adec="http://schemas.microsoft.com/office/drawing/2017/decorative" val="1"/>
              </a:ext>
            </a:extLst>
          </p:cNvPr>
          <p:cNvSpPr/>
          <p:nvPr userDrawn="1"/>
        </p:nvSpPr>
        <p:spPr>
          <a:xfrm>
            <a:off x="2803767" y="2666040"/>
            <a:ext cx="2109124" cy="3107671"/>
          </a:xfrm>
          <a:prstGeom prst="rect">
            <a:avLst/>
          </a:prstGeom>
          <a:solidFill>
            <a:schemeClr val="tx2">
              <a:lumMod val="20000"/>
              <a:lumOff val="80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8032315-9617-47FB-AD91-88C8100047DF}"/>
              </a:ext>
              <a:ext uri="{C183D7F6-B498-43B3-948B-1728B52AA6E4}">
                <adec:decorative xmlns:adec="http://schemas.microsoft.com/office/drawing/2017/decorative" val="1"/>
              </a:ext>
            </a:extLst>
          </p:cNvPr>
          <p:cNvSpPr/>
          <p:nvPr userDrawn="1"/>
        </p:nvSpPr>
        <p:spPr>
          <a:xfrm>
            <a:off x="5048486" y="2666040"/>
            <a:ext cx="2109124" cy="3107671"/>
          </a:xfrm>
          <a:prstGeom prst="rect">
            <a:avLst/>
          </a:prstGeom>
          <a:solidFill>
            <a:schemeClr val="bg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3D14EF52-ED62-4610-953D-3E9A49310ED6}"/>
              </a:ext>
              <a:ext uri="{C183D7F6-B498-43B3-948B-1728B52AA6E4}">
                <adec:decorative xmlns:adec="http://schemas.microsoft.com/office/drawing/2017/decorative" val="1"/>
              </a:ext>
            </a:extLst>
          </p:cNvPr>
          <p:cNvSpPr/>
          <p:nvPr userDrawn="1"/>
        </p:nvSpPr>
        <p:spPr>
          <a:xfrm>
            <a:off x="7293205" y="2666040"/>
            <a:ext cx="2109124" cy="3107671"/>
          </a:xfrm>
          <a:prstGeom prst="rect">
            <a:avLst/>
          </a:prstGeom>
          <a:solidFill>
            <a:schemeClr val="tx2">
              <a:lumMod val="20000"/>
              <a:lumOff val="80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2437078C-8DA1-4066-8E13-8329AA296C1B}"/>
              </a:ext>
              <a:ext uri="{C183D7F6-B498-43B3-948B-1728B52AA6E4}">
                <adec:decorative xmlns:adec="http://schemas.microsoft.com/office/drawing/2017/decorative" val="1"/>
              </a:ext>
            </a:extLst>
          </p:cNvPr>
          <p:cNvSpPr/>
          <p:nvPr userDrawn="1"/>
        </p:nvSpPr>
        <p:spPr>
          <a:xfrm>
            <a:off x="9537925" y="2666040"/>
            <a:ext cx="2109124" cy="3107671"/>
          </a:xfrm>
          <a:prstGeom prst="rect">
            <a:avLst/>
          </a:prstGeom>
          <a:solidFill>
            <a:schemeClr val="bg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noProof="0" dirty="0">
              <a:ln>
                <a:noFill/>
              </a:ln>
              <a:solidFill>
                <a:srgbClr val="FFFFFF"/>
              </a:solidFill>
              <a:effectLst/>
              <a:uLnTx/>
              <a:uFillTx/>
              <a:latin typeface="Calibri" panose="020F0502020204030204"/>
            </a:endParaRPr>
          </a:p>
        </p:txBody>
      </p:sp>
      <p:cxnSp>
        <p:nvCxnSpPr>
          <p:cNvPr id="15" name="Straight Connector 14">
            <a:extLst>
              <a:ext uri="{FF2B5EF4-FFF2-40B4-BE49-F238E27FC236}">
                <a16:creationId xmlns:a16="http://schemas.microsoft.com/office/drawing/2014/main" id="{ED352967-2C31-43D7-902C-CC6EB04D630B}"/>
              </a:ext>
              <a:ext uri="{C183D7F6-B498-43B3-948B-1728B52AA6E4}">
                <adec:decorative xmlns:adec="http://schemas.microsoft.com/office/drawing/2017/decorative" val="1"/>
              </a:ext>
            </a:extLst>
          </p:cNvPr>
          <p:cNvCxnSpPr>
            <a:cxnSpLocks/>
          </p:cNvCxnSpPr>
          <p:nvPr userDrawn="1"/>
        </p:nvCxnSpPr>
        <p:spPr>
          <a:xfrm>
            <a:off x="559048"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1B19A45-1B74-4568-B4D9-AFFE0B99B2ED}"/>
              </a:ext>
              <a:ext uri="{C183D7F6-B498-43B3-948B-1728B52AA6E4}">
                <adec:decorative xmlns:adec="http://schemas.microsoft.com/office/drawing/2017/decorative" val="1"/>
              </a:ext>
            </a:extLst>
          </p:cNvPr>
          <p:cNvCxnSpPr>
            <a:cxnSpLocks/>
          </p:cNvCxnSpPr>
          <p:nvPr userDrawn="1"/>
        </p:nvCxnSpPr>
        <p:spPr>
          <a:xfrm>
            <a:off x="2803767"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5DAC0FF-421A-4F45-8A74-C5F6EFC5C34E}"/>
              </a:ext>
              <a:ext uri="{C183D7F6-B498-43B3-948B-1728B52AA6E4}">
                <adec:decorative xmlns:adec="http://schemas.microsoft.com/office/drawing/2017/decorative" val="1"/>
              </a:ext>
            </a:extLst>
          </p:cNvPr>
          <p:cNvCxnSpPr>
            <a:cxnSpLocks/>
          </p:cNvCxnSpPr>
          <p:nvPr userDrawn="1"/>
        </p:nvCxnSpPr>
        <p:spPr>
          <a:xfrm>
            <a:off x="5048486"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EE9F117-E8FC-4305-98ED-CB78D87915F2}"/>
              </a:ext>
              <a:ext uri="{C183D7F6-B498-43B3-948B-1728B52AA6E4}">
                <adec:decorative xmlns:adec="http://schemas.microsoft.com/office/drawing/2017/decorative" val="1"/>
              </a:ext>
            </a:extLst>
          </p:cNvPr>
          <p:cNvCxnSpPr>
            <a:cxnSpLocks/>
          </p:cNvCxnSpPr>
          <p:nvPr userDrawn="1"/>
        </p:nvCxnSpPr>
        <p:spPr>
          <a:xfrm>
            <a:off x="7293205"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0C0CCFD-24F3-408E-AB82-1758702D40EC}"/>
              </a:ext>
              <a:ext uri="{C183D7F6-B498-43B3-948B-1728B52AA6E4}">
                <adec:decorative xmlns:adec="http://schemas.microsoft.com/office/drawing/2017/decorative" val="1"/>
              </a:ext>
            </a:extLst>
          </p:cNvPr>
          <p:cNvCxnSpPr>
            <a:cxnSpLocks/>
          </p:cNvCxnSpPr>
          <p:nvPr userDrawn="1"/>
        </p:nvCxnSpPr>
        <p:spPr>
          <a:xfrm>
            <a:off x="9537925"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itle 3">
            <a:extLst>
              <a:ext uri="{FF2B5EF4-FFF2-40B4-BE49-F238E27FC236}">
                <a16:creationId xmlns:a16="http://schemas.microsoft.com/office/drawing/2014/main" id="{AB509BF3-FEFE-4E4F-84DB-574D01A6710B}"/>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effectLst/>
                <a:uLnTx/>
                <a:uFillTx/>
                <a:latin typeface="Century Gothic" panose="020B0502020202020204" pitchFamily="34" charset="0"/>
                <a:ea typeface="+mj-ea"/>
                <a:cs typeface="+mj-cs"/>
              </a:rPr>
              <a:t>Our Industry Domains</a:t>
            </a:r>
          </a:p>
        </p:txBody>
      </p:sp>
      <p:sp>
        <p:nvSpPr>
          <p:cNvPr id="42" name="Rectangle 41">
            <a:extLst>
              <a:ext uri="{FF2B5EF4-FFF2-40B4-BE49-F238E27FC236}">
                <a16:creationId xmlns:a16="http://schemas.microsoft.com/office/drawing/2014/main" id="{D77F5919-F1F1-4E82-A66B-01C86AC9A48C}"/>
              </a:ext>
            </a:extLst>
          </p:cNvPr>
          <p:cNvSpPr/>
          <p:nvPr userDrawn="1"/>
        </p:nvSpPr>
        <p:spPr>
          <a:xfrm>
            <a:off x="1211521" y="2068246"/>
            <a:ext cx="1165919"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Banking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&amp; Payments</a:t>
            </a:r>
          </a:p>
        </p:txBody>
      </p:sp>
      <p:sp>
        <p:nvSpPr>
          <p:cNvPr id="32" name="Rectangle 31">
            <a:extLst>
              <a:ext uri="{FF2B5EF4-FFF2-40B4-BE49-F238E27FC236}">
                <a16:creationId xmlns:a16="http://schemas.microsoft.com/office/drawing/2014/main" id="{E1738EF0-2619-417F-8B0D-D40AEFAA5A19}"/>
              </a:ext>
            </a:extLst>
          </p:cNvPr>
          <p:cNvSpPr/>
          <p:nvPr userDrawn="1"/>
        </p:nvSpPr>
        <p:spPr>
          <a:xfrm>
            <a:off x="605177" y="2688401"/>
            <a:ext cx="2016865" cy="1562735"/>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accent3"/>
                </a:solidFill>
                <a:effectLst/>
                <a:uLnTx/>
                <a:uFillTx/>
                <a:latin typeface="+mn-lt"/>
                <a:ea typeface="Calibri" panose="020F0502020204030204" pitchFamily="34" charset="0"/>
                <a:cs typeface="Calibri" panose="020F0502020204030204" pitchFamily="34" charset="0"/>
              </a:rPr>
              <a:t>Innovation is fueling consumer expectations in banking and payments, requiring banks to implement huge changes to stay current. At Capco, we help our clients emerge as winners, achieving operational excellence whilst delivering transformed customer experiences.</a:t>
            </a:r>
          </a:p>
        </p:txBody>
      </p:sp>
      <p:sp>
        <p:nvSpPr>
          <p:cNvPr id="43" name="Rectangle 42">
            <a:extLst>
              <a:ext uri="{FF2B5EF4-FFF2-40B4-BE49-F238E27FC236}">
                <a16:creationId xmlns:a16="http://schemas.microsoft.com/office/drawing/2014/main" id="{02B92818-FBD7-427F-AFA8-8B33D4C3A7DC}"/>
              </a:ext>
            </a:extLst>
          </p:cNvPr>
          <p:cNvSpPr/>
          <p:nvPr userDrawn="1"/>
        </p:nvSpPr>
        <p:spPr>
          <a:xfrm>
            <a:off x="3465496" y="2168701"/>
            <a:ext cx="1401266"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Capital Markets</a:t>
            </a:r>
          </a:p>
        </p:txBody>
      </p:sp>
      <p:sp>
        <p:nvSpPr>
          <p:cNvPr id="33" name="Rectangle 32">
            <a:extLst>
              <a:ext uri="{FF2B5EF4-FFF2-40B4-BE49-F238E27FC236}">
                <a16:creationId xmlns:a16="http://schemas.microsoft.com/office/drawing/2014/main" id="{0850FDE8-2780-4C96-A7BC-E00685275EA8}"/>
              </a:ext>
            </a:extLst>
          </p:cNvPr>
          <p:cNvSpPr/>
          <p:nvPr userDrawn="1"/>
        </p:nvSpPr>
        <p:spPr>
          <a:xfrm>
            <a:off x="2849896" y="2688401"/>
            <a:ext cx="2016865" cy="1414554"/>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accent3"/>
                </a:solidFill>
                <a:effectLst/>
                <a:uLnTx/>
                <a:uFillTx/>
                <a:latin typeface="+mn-lt"/>
                <a:ea typeface="Calibri" panose="020F0502020204030204" pitchFamily="34" charset="0"/>
                <a:cs typeface="Calibri" panose="020F0502020204030204" pitchFamily="34" charset="0"/>
              </a:rPr>
              <a:t>Capital markets is where Capco started – it is at the heart of what we do. We understand today’s challenging regulatory landscape, the demand to stay competitive and the ever-present need to cut costs. We help banking clients optimize performance. Expertly.</a:t>
            </a:r>
          </a:p>
        </p:txBody>
      </p:sp>
      <p:sp>
        <p:nvSpPr>
          <p:cNvPr id="44" name="Rectangle 43">
            <a:extLst>
              <a:ext uri="{FF2B5EF4-FFF2-40B4-BE49-F238E27FC236}">
                <a16:creationId xmlns:a16="http://schemas.microsoft.com/office/drawing/2014/main" id="{B08B9DAD-430F-4DA7-A115-86AB80B3F2F8}"/>
              </a:ext>
            </a:extLst>
          </p:cNvPr>
          <p:cNvSpPr/>
          <p:nvPr userDrawn="1"/>
        </p:nvSpPr>
        <p:spPr>
          <a:xfrm>
            <a:off x="5412870" y="2052000"/>
            <a:ext cx="134798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Wealth &amp; Asset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Management</a:t>
            </a:r>
          </a:p>
        </p:txBody>
      </p:sp>
      <p:sp>
        <p:nvSpPr>
          <p:cNvPr id="34" name="Rectangle 33">
            <a:extLst>
              <a:ext uri="{FF2B5EF4-FFF2-40B4-BE49-F238E27FC236}">
                <a16:creationId xmlns:a16="http://schemas.microsoft.com/office/drawing/2014/main" id="{BE56F7C0-C4EA-460B-AF73-FD6A9E5FF401}"/>
              </a:ext>
            </a:extLst>
          </p:cNvPr>
          <p:cNvSpPr/>
          <p:nvPr userDrawn="1"/>
        </p:nvSpPr>
        <p:spPr>
          <a:xfrm>
            <a:off x="5094615" y="2688401"/>
            <a:ext cx="2016865" cy="2303644"/>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accent3"/>
                </a:solidFill>
                <a:effectLst/>
                <a:uLnTx/>
                <a:uFillTx/>
                <a:latin typeface="+mn-lt"/>
                <a:ea typeface="Calibri" panose="020F0502020204030204" pitchFamily="34" charset="0"/>
                <a:cs typeface="Calibri" panose="020F0502020204030204" pitchFamily="34" charset="0"/>
              </a:rPr>
              <a:t>Wealth and Asset Management is entering a revolution – the advisory space is now a hybrid of human and robotic interactions working together to deliver enhanced client services. We focus on digital trust, API and transformation strategy because we recognize that costs are on the rise, and regulatory pressures are adding to complexity. Our clients want to optimize operations while realizing digital opportunities – Capco helps to achieve this. </a:t>
            </a:r>
          </a:p>
        </p:txBody>
      </p:sp>
      <p:sp>
        <p:nvSpPr>
          <p:cNvPr id="45" name="Rectangle 44">
            <a:extLst>
              <a:ext uri="{FF2B5EF4-FFF2-40B4-BE49-F238E27FC236}">
                <a16:creationId xmlns:a16="http://schemas.microsoft.com/office/drawing/2014/main" id="{24DF95AB-02AA-44FC-9992-5157C865A72B}"/>
              </a:ext>
            </a:extLst>
          </p:cNvPr>
          <p:cNvSpPr/>
          <p:nvPr userDrawn="1"/>
        </p:nvSpPr>
        <p:spPr>
          <a:xfrm>
            <a:off x="7789484" y="2173474"/>
            <a:ext cx="920445"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Insurance</a:t>
            </a:r>
          </a:p>
        </p:txBody>
      </p:sp>
      <p:sp>
        <p:nvSpPr>
          <p:cNvPr id="35" name="Rectangle 34">
            <a:extLst>
              <a:ext uri="{FF2B5EF4-FFF2-40B4-BE49-F238E27FC236}">
                <a16:creationId xmlns:a16="http://schemas.microsoft.com/office/drawing/2014/main" id="{F93483C4-2792-4DBA-B44B-E29EC9B8FA5F}"/>
              </a:ext>
            </a:extLst>
          </p:cNvPr>
          <p:cNvSpPr/>
          <p:nvPr userDrawn="1"/>
        </p:nvSpPr>
        <p:spPr>
          <a:xfrm>
            <a:off x="7339335" y="2688401"/>
            <a:ext cx="2016865" cy="2451825"/>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accent3"/>
                </a:solidFill>
                <a:effectLst/>
                <a:uLnTx/>
                <a:uFillTx/>
                <a:latin typeface="+mn-lt"/>
                <a:ea typeface="Calibri" panose="020F0502020204030204" pitchFamily="34" charset="0"/>
                <a:cs typeface="Calibri" panose="020F0502020204030204" pitchFamily="34" charset="0"/>
              </a:rPr>
              <a:t>Adding value to our clients is our most important objective and thinking creatively is how we make it happen. Across the business areas of Property &amp; Casualty, Life &amp; Retirement, Reinsurance, Employee Benefits and Distribution (including brokers, MGAs, agents and wholesalers), Capco is innovating around the globe. Our services include a wide range of strategy and implementation offerings, from digital to core systems and data science.</a:t>
            </a:r>
          </a:p>
        </p:txBody>
      </p:sp>
      <p:sp>
        <p:nvSpPr>
          <p:cNvPr id="46" name="Rectangle 45">
            <a:extLst>
              <a:ext uri="{FF2B5EF4-FFF2-40B4-BE49-F238E27FC236}">
                <a16:creationId xmlns:a16="http://schemas.microsoft.com/office/drawing/2014/main" id="{68568709-4196-4F98-AC18-A8B75E682154}"/>
              </a:ext>
            </a:extLst>
          </p:cNvPr>
          <p:cNvSpPr/>
          <p:nvPr userDrawn="1"/>
        </p:nvSpPr>
        <p:spPr>
          <a:xfrm>
            <a:off x="10035978" y="2165178"/>
            <a:ext cx="696024"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Energy</a:t>
            </a:r>
          </a:p>
        </p:txBody>
      </p:sp>
      <p:sp>
        <p:nvSpPr>
          <p:cNvPr id="38" name="Rectangle 37">
            <a:extLst>
              <a:ext uri="{FF2B5EF4-FFF2-40B4-BE49-F238E27FC236}">
                <a16:creationId xmlns:a16="http://schemas.microsoft.com/office/drawing/2014/main" id="{0AAA2FA2-D9E1-4684-8894-9E96D1F1240D}"/>
              </a:ext>
            </a:extLst>
          </p:cNvPr>
          <p:cNvSpPr/>
          <p:nvPr userDrawn="1"/>
        </p:nvSpPr>
        <p:spPr>
          <a:xfrm>
            <a:off x="9584054" y="2688401"/>
            <a:ext cx="2016865" cy="1266372"/>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accent3"/>
                </a:solidFill>
                <a:effectLst/>
                <a:uLnTx/>
                <a:uFillTx/>
                <a:latin typeface="+mn-lt"/>
                <a:ea typeface="Calibri" panose="020F0502020204030204" pitchFamily="34" charset="0"/>
                <a:cs typeface="Calibri" panose="020F0502020204030204" pitchFamily="34" charset="0"/>
              </a:rPr>
              <a:t>Competition is fierce in today's energy markets. Regulation is tight, technology is disruptive, data is intensive, and processes are complex. We understand and simplify the energy industry to empower our clients to stay at the front of the pack.</a:t>
            </a:r>
          </a:p>
        </p:txBody>
      </p:sp>
      <p:pic>
        <p:nvPicPr>
          <p:cNvPr id="47" name="Graphic 46">
            <a:extLst>
              <a:ext uri="{FF2B5EF4-FFF2-40B4-BE49-F238E27FC236}">
                <a16:creationId xmlns:a16="http://schemas.microsoft.com/office/drawing/2014/main" id="{B69E219F-B828-4420-A2A4-24113626677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00390" y="2018074"/>
            <a:ext cx="161575" cy="409323"/>
          </a:xfrm>
          <a:prstGeom prst="rect">
            <a:avLst/>
          </a:prstGeom>
        </p:spPr>
      </p:pic>
      <p:pic>
        <p:nvPicPr>
          <p:cNvPr id="48" name="Graphic 47">
            <a:extLst>
              <a:ext uri="{FF2B5EF4-FFF2-40B4-BE49-F238E27FC236}">
                <a16:creationId xmlns:a16="http://schemas.microsoft.com/office/drawing/2014/main" id="{F14AF7E2-6AC3-4DCF-B758-BE35EF2CCBE9}"/>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34907" y="1974188"/>
            <a:ext cx="502206" cy="453210"/>
          </a:xfrm>
          <a:prstGeom prst="rect">
            <a:avLst/>
          </a:prstGeom>
        </p:spPr>
      </p:pic>
      <p:pic>
        <p:nvPicPr>
          <p:cNvPr id="49" name="Graphic 48">
            <a:extLst>
              <a:ext uri="{FF2B5EF4-FFF2-40B4-BE49-F238E27FC236}">
                <a16:creationId xmlns:a16="http://schemas.microsoft.com/office/drawing/2014/main" id="{69FE54B5-90E7-48C7-AE37-919CE06428A6}"/>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894109" y="1974188"/>
            <a:ext cx="557250" cy="445800"/>
          </a:xfrm>
          <a:prstGeom prst="rect">
            <a:avLst/>
          </a:prstGeom>
        </p:spPr>
      </p:pic>
      <p:pic>
        <p:nvPicPr>
          <p:cNvPr id="50" name="Graphic 49">
            <a:extLst>
              <a:ext uri="{FF2B5EF4-FFF2-40B4-BE49-F238E27FC236}">
                <a16:creationId xmlns:a16="http://schemas.microsoft.com/office/drawing/2014/main" id="{4EA1478D-747B-4005-B387-532CCCA7E067}"/>
              </a:ext>
              <a:ext uri="{C183D7F6-B498-43B3-948B-1728B52AA6E4}">
                <adec:decorative xmlns:adec="http://schemas.microsoft.com/office/drawing/2017/decorative" val="1"/>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668010" y="1924505"/>
            <a:ext cx="360343" cy="493803"/>
          </a:xfrm>
          <a:prstGeom prst="rect">
            <a:avLst/>
          </a:prstGeom>
        </p:spPr>
      </p:pic>
      <p:pic>
        <p:nvPicPr>
          <p:cNvPr id="51" name="Graphic 50">
            <a:extLst>
              <a:ext uri="{FF2B5EF4-FFF2-40B4-BE49-F238E27FC236}">
                <a16:creationId xmlns:a16="http://schemas.microsoft.com/office/drawing/2014/main" id="{1A91C601-C8A7-4220-B04D-6F8CF4260871}"/>
              </a:ext>
              <a:ext uri="{C183D7F6-B498-43B3-948B-1728B52AA6E4}">
                <adec:decorative xmlns:adec="http://schemas.microsoft.com/office/drawing/2017/decorative" val="1"/>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7346583" y="2001010"/>
            <a:ext cx="427338" cy="427338"/>
          </a:xfrm>
          <a:prstGeom prst="rect">
            <a:avLst/>
          </a:prstGeom>
        </p:spPr>
      </p:pic>
      <p:sp>
        <p:nvSpPr>
          <p:cNvPr id="2" name="TextBox 1">
            <a:extLst>
              <a:ext uri="{FF2B5EF4-FFF2-40B4-BE49-F238E27FC236}">
                <a16:creationId xmlns:a16="http://schemas.microsoft.com/office/drawing/2014/main" id="{8912EBE9-F48D-9407-12C8-75DD565156C3}"/>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6366219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blank" preserve="1">
  <p:cSld name="Our Industry Domains_dark">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3675C788-6157-482F-A486-0EEAF7161C22}"/>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rcRect t="75" b="75"/>
          <a:stretch/>
        </p:blipFill>
        <p:spPr>
          <a:xfrm>
            <a:off x="0" y="0"/>
            <a:ext cx="12192000" cy="6858000"/>
          </a:xfrm>
          <a:prstGeom prst="rect">
            <a:avLst/>
          </a:prstGeom>
        </p:spPr>
      </p:pic>
      <p:sp>
        <p:nvSpPr>
          <p:cNvPr id="7" name="TextBox 6">
            <a:extLst>
              <a:ext uri="{FF2B5EF4-FFF2-40B4-BE49-F238E27FC236}">
                <a16:creationId xmlns:a16="http://schemas.microsoft.com/office/drawing/2014/main" id="{E0B722DA-A7EF-42D4-97E8-22596004672B}"/>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3">
            <a:extLst>
              <a:ext uri="{FF2B5EF4-FFF2-40B4-BE49-F238E27FC236}">
                <a16:creationId xmlns:a16="http://schemas.microsoft.com/office/drawing/2014/main" id="{AB509BF3-FEFE-4E4F-84DB-574D01A6710B}"/>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Century Gothic" panose="020B0502020202020204" pitchFamily="34" charset="0"/>
                <a:ea typeface="+mj-ea"/>
                <a:cs typeface="+mj-cs"/>
              </a:rPr>
              <a:t>Our Industry Domains</a:t>
            </a:r>
          </a:p>
        </p:txBody>
      </p:sp>
      <p:sp>
        <p:nvSpPr>
          <p:cNvPr id="9" name="Rectangle 8">
            <a:extLst>
              <a:ext uri="{FF2B5EF4-FFF2-40B4-BE49-F238E27FC236}">
                <a16:creationId xmlns:a16="http://schemas.microsoft.com/office/drawing/2014/main" id="{8C4EFE66-7746-438A-BDD7-D4C86ECB6589}"/>
              </a:ext>
              <a:ext uri="{C183D7F6-B498-43B3-948B-1728B52AA6E4}">
                <adec:decorative xmlns:adec="http://schemas.microsoft.com/office/drawing/2017/decorative" val="1"/>
              </a:ext>
            </a:extLst>
          </p:cNvPr>
          <p:cNvSpPr/>
          <p:nvPr userDrawn="1"/>
        </p:nvSpPr>
        <p:spPr>
          <a:xfrm>
            <a:off x="559048" y="2666040"/>
            <a:ext cx="2109124" cy="31076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EBC5CC8-7786-408D-93AD-5F468B3DEAF7}"/>
              </a:ext>
              <a:ext uri="{C183D7F6-B498-43B3-948B-1728B52AA6E4}">
                <adec:decorative xmlns:adec="http://schemas.microsoft.com/office/drawing/2017/decorative" val="1"/>
              </a:ext>
            </a:extLst>
          </p:cNvPr>
          <p:cNvSpPr/>
          <p:nvPr userDrawn="1"/>
        </p:nvSpPr>
        <p:spPr>
          <a:xfrm>
            <a:off x="2803767" y="2666040"/>
            <a:ext cx="2109124" cy="31076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8032315-9617-47FB-AD91-88C8100047DF}"/>
              </a:ext>
              <a:ext uri="{C183D7F6-B498-43B3-948B-1728B52AA6E4}">
                <adec:decorative xmlns:adec="http://schemas.microsoft.com/office/drawing/2017/decorative" val="1"/>
              </a:ext>
            </a:extLst>
          </p:cNvPr>
          <p:cNvSpPr/>
          <p:nvPr userDrawn="1"/>
        </p:nvSpPr>
        <p:spPr>
          <a:xfrm>
            <a:off x="5048486" y="2666040"/>
            <a:ext cx="2109124" cy="31076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3D14EF52-ED62-4610-953D-3E9A49310ED6}"/>
              </a:ext>
              <a:ext uri="{C183D7F6-B498-43B3-948B-1728B52AA6E4}">
                <adec:decorative xmlns:adec="http://schemas.microsoft.com/office/drawing/2017/decorative" val="1"/>
              </a:ext>
            </a:extLst>
          </p:cNvPr>
          <p:cNvSpPr/>
          <p:nvPr userDrawn="1"/>
        </p:nvSpPr>
        <p:spPr>
          <a:xfrm>
            <a:off x="7293205" y="2666040"/>
            <a:ext cx="2109124" cy="31076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2437078C-8DA1-4066-8E13-8329AA296C1B}"/>
              </a:ext>
              <a:ext uri="{C183D7F6-B498-43B3-948B-1728B52AA6E4}">
                <adec:decorative xmlns:adec="http://schemas.microsoft.com/office/drawing/2017/decorative" val="1"/>
              </a:ext>
            </a:extLst>
          </p:cNvPr>
          <p:cNvSpPr/>
          <p:nvPr userDrawn="1"/>
        </p:nvSpPr>
        <p:spPr>
          <a:xfrm>
            <a:off x="9537925" y="2666040"/>
            <a:ext cx="2109124" cy="31076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noProof="0" dirty="0">
              <a:ln>
                <a:noFill/>
              </a:ln>
              <a:solidFill>
                <a:srgbClr val="FFFFFF"/>
              </a:solidFill>
              <a:effectLst/>
              <a:uLnTx/>
              <a:uFillTx/>
              <a:latin typeface="Calibri" panose="020F0502020204030204"/>
            </a:endParaRPr>
          </a:p>
        </p:txBody>
      </p:sp>
      <p:cxnSp>
        <p:nvCxnSpPr>
          <p:cNvPr id="15" name="Straight Connector 14">
            <a:extLst>
              <a:ext uri="{FF2B5EF4-FFF2-40B4-BE49-F238E27FC236}">
                <a16:creationId xmlns:a16="http://schemas.microsoft.com/office/drawing/2014/main" id="{ED352967-2C31-43D7-902C-CC6EB04D630B}"/>
              </a:ext>
              <a:ext uri="{C183D7F6-B498-43B3-948B-1728B52AA6E4}">
                <adec:decorative xmlns:adec="http://schemas.microsoft.com/office/drawing/2017/decorative" val="1"/>
              </a:ext>
            </a:extLst>
          </p:cNvPr>
          <p:cNvCxnSpPr>
            <a:cxnSpLocks/>
          </p:cNvCxnSpPr>
          <p:nvPr userDrawn="1"/>
        </p:nvCxnSpPr>
        <p:spPr>
          <a:xfrm>
            <a:off x="559048"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1B19A45-1B74-4568-B4D9-AFFE0B99B2ED}"/>
              </a:ext>
              <a:ext uri="{C183D7F6-B498-43B3-948B-1728B52AA6E4}">
                <adec:decorative xmlns:adec="http://schemas.microsoft.com/office/drawing/2017/decorative" val="1"/>
              </a:ext>
            </a:extLst>
          </p:cNvPr>
          <p:cNvCxnSpPr>
            <a:cxnSpLocks/>
          </p:cNvCxnSpPr>
          <p:nvPr userDrawn="1"/>
        </p:nvCxnSpPr>
        <p:spPr>
          <a:xfrm>
            <a:off x="2803767"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5DAC0FF-421A-4F45-8A74-C5F6EFC5C34E}"/>
              </a:ext>
              <a:ext uri="{C183D7F6-B498-43B3-948B-1728B52AA6E4}">
                <adec:decorative xmlns:adec="http://schemas.microsoft.com/office/drawing/2017/decorative" val="1"/>
              </a:ext>
            </a:extLst>
          </p:cNvPr>
          <p:cNvCxnSpPr>
            <a:cxnSpLocks/>
          </p:cNvCxnSpPr>
          <p:nvPr userDrawn="1"/>
        </p:nvCxnSpPr>
        <p:spPr>
          <a:xfrm>
            <a:off x="5048486"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EE9F117-E8FC-4305-98ED-CB78D87915F2}"/>
              </a:ext>
              <a:ext uri="{C183D7F6-B498-43B3-948B-1728B52AA6E4}">
                <adec:decorative xmlns:adec="http://schemas.microsoft.com/office/drawing/2017/decorative" val="1"/>
              </a:ext>
            </a:extLst>
          </p:cNvPr>
          <p:cNvCxnSpPr>
            <a:cxnSpLocks/>
          </p:cNvCxnSpPr>
          <p:nvPr userDrawn="1"/>
        </p:nvCxnSpPr>
        <p:spPr>
          <a:xfrm>
            <a:off x="7293205"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0C0CCFD-24F3-408E-AB82-1758702D40EC}"/>
              </a:ext>
              <a:ext uri="{C183D7F6-B498-43B3-948B-1728B52AA6E4}">
                <adec:decorative xmlns:adec="http://schemas.microsoft.com/office/drawing/2017/decorative" val="1"/>
              </a:ext>
            </a:extLst>
          </p:cNvPr>
          <p:cNvCxnSpPr>
            <a:cxnSpLocks/>
          </p:cNvCxnSpPr>
          <p:nvPr userDrawn="1"/>
        </p:nvCxnSpPr>
        <p:spPr>
          <a:xfrm>
            <a:off x="9537925"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DBBC811-0438-4FA0-8E60-0DD471662DDF}"/>
              </a:ext>
            </a:extLst>
          </p:cNvPr>
          <p:cNvSpPr/>
          <p:nvPr userDrawn="1"/>
        </p:nvSpPr>
        <p:spPr>
          <a:xfrm>
            <a:off x="1211521" y="2068246"/>
            <a:ext cx="1125279"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Banking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&amp; Payments</a:t>
            </a:r>
          </a:p>
        </p:txBody>
      </p:sp>
      <p:sp>
        <p:nvSpPr>
          <p:cNvPr id="32" name="Rectangle 31">
            <a:extLst>
              <a:ext uri="{FF2B5EF4-FFF2-40B4-BE49-F238E27FC236}">
                <a16:creationId xmlns:a16="http://schemas.microsoft.com/office/drawing/2014/main" id="{E1738EF0-2619-417F-8B0D-D40AEFAA5A19}"/>
              </a:ext>
            </a:extLst>
          </p:cNvPr>
          <p:cNvSpPr/>
          <p:nvPr userDrawn="1"/>
        </p:nvSpPr>
        <p:spPr>
          <a:xfrm>
            <a:off x="605177" y="2688401"/>
            <a:ext cx="2016865" cy="1562735"/>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Calibri" panose="020F0502020204030204" pitchFamily="34" charset="0"/>
                <a:cs typeface="Calibri" panose="020F0502020204030204" pitchFamily="34" charset="0"/>
              </a:rPr>
              <a:t>Innovation is fueling consumer expectations in banking and payments, requiring banks to implement huge changes to stay current. At Capco, we help our clients emerge as winners, achieving operational excellence whilst delivering transformed customer experiences.</a:t>
            </a:r>
          </a:p>
        </p:txBody>
      </p:sp>
      <p:sp>
        <p:nvSpPr>
          <p:cNvPr id="44" name="Rectangle 43">
            <a:extLst>
              <a:ext uri="{FF2B5EF4-FFF2-40B4-BE49-F238E27FC236}">
                <a16:creationId xmlns:a16="http://schemas.microsoft.com/office/drawing/2014/main" id="{EE7C0F63-1DC8-4339-AA43-2825A1B76588}"/>
              </a:ext>
            </a:extLst>
          </p:cNvPr>
          <p:cNvSpPr/>
          <p:nvPr userDrawn="1"/>
        </p:nvSpPr>
        <p:spPr>
          <a:xfrm>
            <a:off x="3465496" y="2168701"/>
            <a:ext cx="1401266"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Capital Markets</a:t>
            </a:r>
          </a:p>
        </p:txBody>
      </p:sp>
      <p:sp>
        <p:nvSpPr>
          <p:cNvPr id="33" name="Rectangle 32">
            <a:extLst>
              <a:ext uri="{FF2B5EF4-FFF2-40B4-BE49-F238E27FC236}">
                <a16:creationId xmlns:a16="http://schemas.microsoft.com/office/drawing/2014/main" id="{0850FDE8-2780-4C96-A7BC-E00685275EA8}"/>
              </a:ext>
            </a:extLst>
          </p:cNvPr>
          <p:cNvSpPr/>
          <p:nvPr userDrawn="1"/>
        </p:nvSpPr>
        <p:spPr>
          <a:xfrm>
            <a:off x="2849896" y="2688401"/>
            <a:ext cx="2016865" cy="1414554"/>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Calibri" panose="020F0502020204030204" pitchFamily="34" charset="0"/>
                <a:cs typeface="Calibri" panose="020F0502020204030204" pitchFamily="34" charset="0"/>
              </a:rPr>
              <a:t>Capital markets is where Capco started – it is at the heart of what we do. We understand today’s challenging regulatory landscape, the demand to stay competitive and the ever-present need to cut costs. We help banking clients optimize performance. Expertly.</a:t>
            </a:r>
          </a:p>
        </p:txBody>
      </p:sp>
      <p:sp>
        <p:nvSpPr>
          <p:cNvPr id="45" name="Rectangle 44">
            <a:extLst>
              <a:ext uri="{FF2B5EF4-FFF2-40B4-BE49-F238E27FC236}">
                <a16:creationId xmlns:a16="http://schemas.microsoft.com/office/drawing/2014/main" id="{C833D2A7-C25D-4E6F-8D16-357CB3B9D115}"/>
              </a:ext>
            </a:extLst>
          </p:cNvPr>
          <p:cNvSpPr/>
          <p:nvPr userDrawn="1"/>
        </p:nvSpPr>
        <p:spPr>
          <a:xfrm>
            <a:off x="5412870" y="2052000"/>
            <a:ext cx="134798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Wealth &amp; Asset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Management</a:t>
            </a:r>
          </a:p>
        </p:txBody>
      </p:sp>
      <p:sp>
        <p:nvSpPr>
          <p:cNvPr id="34" name="Rectangle 33">
            <a:extLst>
              <a:ext uri="{FF2B5EF4-FFF2-40B4-BE49-F238E27FC236}">
                <a16:creationId xmlns:a16="http://schemas.microsoft.com/office/drawing/2014/main" id="{BE56F7C0-C4EA-460B-AF73-FD6A9E5FF401}"/>
              </a:ext>
            </a:extLst>
          </p:cNvPr>
          <p:cNvSpPr/>
          <p:nvPr userDrawn="1"/>
        </p:nvSpPr>
        <p:spPr>
          <a:xfrm>
            <a:off x="5094615" y="2688401"/>
            <a:ext cx="2016865" cy="2303644"/>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Calibri" panose="020F0502020204030204" pitchFamily="34" charset="0"/>
                <a:cs typeface="Calibri" panose="020F0502020204030204" pitchFamily="34" charset="0"/>
              </a:rPr>
              <a:t>Wealth and Asset Management is entering a revolution – the advisory space is now a hybrid of human and robotic interactions working together to deliver enhanced client services. We focus on digital trust, API and transformation strategy because we recognize that costs are on the rise, and regulatory pressures are adding to complexity. Our clients want to optimize operations while realizing digital opportunities – Capco helps to achieve this. </a:t>
            </a:r>
          </a:p>
        </p:txBody>
      </p:sp>
      <p:sp>
        <p:nvSpPr>
          <p:cNvPr id="46" name="Rectangle 45">
            <a:extLst>
              <a:ext uri="{FF2B5EF4-FFF2-40B4-BE49-F238E27FC236}">
                <a16:creationId xmlns:a16="http://schemas.microsoft.com/office/drawing/2014/main" id="{32BD61C3-874A-48DC-B915-E3D2A1DF5A20}"/>
              </a:ext>
            </a:extLst>
          </p:cNvPr>
          <p:cNvSpPr/>
          <p:nvPr userDrawn="1"/>
        </p:nvSpPr>
        <p:spPr>
          <a:xfrm>
            <a:off x="7789484" y="2173474"/>
            <a:ext cx="920445"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Insurance</a:t>
            </a:r>
          </a:p>
        </p:txBody>
      </p:sp>
      <p:sp>
        <p:nvSpPr>
          <p:cNvPr id="35" name="Rectangle 34">
            <a:extLst>
              <a:ext uri="{FF2B5EF4-FFF2-40B4-BE49-F238E27FC236}">
                <a16:creationId xmlns:a16="http://schemas.microsoft.com/office/drawing/2014/main" id="{F93483C4-2792-4DBA-B44B-E29EC9B8FA5F}"/>
              </a:ext>
            </a:extLst>
          </p:cNvPr>
          <p:cNvSpPr/>
          <p:nvPr userDrawn="1"/>
        </p:nvSpPr>
        <p:spPr>
          <a:xfrm>
            <a:off x="7339335" y="2688401"/>
            <a:ext cx="2016865" cy="2451825"/>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Calibri" panose="020F0502020204030204" pitchFamily="34" charset="0"/>
                <a:cs typeface="Calibri" panose="020F0502020204030204" pitchFamily="34" charset="0"/>
              </a:rPr>
              <a:t>Adding value to our clients is our most important objective and thinking creatively is how we make it happen. Across the business areas of Property &amp; Casualty, Life &amp; Retirement, Reinsurance, Employee Benefits and Distribution (including brokers, MGAs, agents and wholesalers), Capco is innovating around the globe. Our services include a wide range of strategy and implementation offerings, from digital to core systems and data science.</a:t>
            </a:r>
          </a:p>
        </p:txBody>
      </p:sp>
      <p:sp>
        <p:nvSpPr>
          <p:cNvPr id="47" name="Rectangle 46">
            <a:extLst>
              <a:ext uri="{FF2B5EF4-FFF2-40B4-BE49-F238E27FC236}">
                <a16:creationId xmlns:a16="http://schemas.microsoft.com/office/drawing/2014/main" id="{F03E52A9-04CA-4816-AF10-02963F97616E}"/>
              </a:ext>
            </a:extLst>
          </p:cNvPr>
          <p:cNvSpPr/>
          <p:nvPr userDrawn="1"/>
        </p:nvSpPr>
        <p:spPr>
          <a:xfrm>
            <a:off x="10035978" y="2165178"/>
            <a:ext cx="696024"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Energy</a:t>
            </a:r>
          </a:p>
        </p:txBody>
      </p:sp>
      <p:sp>
        <p:nvSpPr>
          <p:cNvPr id="38" name="Rectangle 37">
            <a:extLst>
              <a:ext uri="{FF2B5EF4-FFF2-40B4-BE49-F238E27FC236}">
                <a16:creationId xmlns:a16="http://schemas.microsoft.com/office/drawing/2014/main" id="{0AAA2FA2-D9E1-4684-8894-9E96D1F1240D}"/>
              </a:ext>
            </a:extLst>
          </p:cNvPr>
          <p:cNvSpPr/>
          <p:nvPr userDrawn="1"/>
        </p:nvSpPr>
        <p:spPr>
          <a:xfrm>
            <a:off x="9584054" y="2688401"/>
            <a:ext cx="2016865" cy="1266372"/>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Calibri" panose="020F0502020204030204" pitchFamily="34" charset="0"/>
                <a:cs typeface="Calibri" panose="020F0502020204030204" pitchFamily="34" charset="0"/>
              </a:rPr>
              <a:t>Competition is fierce in today's energy markets. Regulation is tight, technology is disruptive, data is intensive, and processes are complex. We understand and simplify the energy industry to empower our clients to stay at the front of the pack.</a:t>
            </a:r>
          </a:p>
        </p:txBody>
      </p:sp>
      <p:pic>
        <p:nvPicPr>
          <p:cNvPr id="48" name="Graphic 47">
            <a:extLst>
              <a:ext uri="{FF2B5EF4-FFF2-40B4-BE49-F238E27FC236}">
                <a16:creationId xmlns:a16="http://schemas.microsoft.com/office/drawing/2014/main" id="{A5E4D6C9-30FD-491C-9EA7-9F1EE24D7DAE}"/>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00390" y="2018074"/>
            <a:ext cx="161575" cy="409323"/>
          </a:xfrm>
          <a:prstGeom prst="rect">
            <a:avLst/>
          </a:prstGeom>
        </p:spPr>
      </p:pic>
      <p:pic>
        <p:nvPicPr>
          <p:cNvPr id="49" name="Graphic 48">
            <a:extLst>
              <a:ext uri="{FF2B5EF4-FFF2-40B4-BE49-F238E27FC236}">
                <a16:creationId xmlns:a16="http://schemas.microsoft.com/office/drawing/2014/main" id="{2FC22D93-C4D9-4AF3-B8B7-8720D6ACBCF5}"/>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34907" y="1974188"/>
            <a:ext cx="502206" cy="453210"/>
          </a:xfrm>
          <a:prstGeom prst="rect">
            <a:avLst/>
          </a:prstGeom>
        </p:spPr>
      </p:pic>
      <p:pic>
        <p:nvPicPr>
          <p:cNvPr id="50" name="Graphic 49">
            <a:extLst>
              <a:ext uri="{FF2B5EF4-FFF2-40B4-BE49-F238E27FC236}">
                <a16:creationId xmlns:a16="http://schemas.microsoft.com/office/drawing/2014/main" id="{45D47D7A-72D8-45FF-AD20-65F0A8CA4721}"/>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894109" y="1974188"/>
            <a:ext cx="557250" cy="445800"/>
          </a:xfrm>
          <a:prstGeom prst="rect">
            <a:avLst/>
          </a:prstGeom>
        </p:spPr>
      </p:pic>
      <p:pic>
        <p:nvPicPr>
          <p:cNvPr id="51" name="Graphic 50">
            <a:extLst>
              <a:ext uri="{FF2B5EF4-FFF2-40B4-BE49-F238E27FC236}">
                <a16:creationId xmlns:a16="http://schemas.microsoft.com/office/drawing/2014/main" id="{B2F7D160-F8E2-4BEC-888C-44577106BE09}"/>
              </a:ext>
              <a:ext uri="{C183D7F6-B498-43B3-948B-1728B52AA6E4}">
                <adec:decorative xmlns:adec="http://schemas.microsoft.com/office/drawing/2017/decorative" val="1"/>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668010" y="1924505"/>
            <a:ext cx="360343" cy="493803"/>
          </a:xfrm>
          <a:prstGeom prst="rect">
            <a:avLst/>
          </a:prstGeom>
        </p:spPr>
      </p:pic>
      <p:pic>
        <p:nvPicPr>
          <p:cNvPr id="52" name="Graphic 51">
            <a:extLst>
              <a:ext uri="{FF2B5EF4-FFF2-40B4-BE49-F238E27FC236}">
                <a16:creationId xmlns:a16="http://schemas.microsoft.com/office/drawing/2014/main" id="{D4E24F0A-51F5-4072-B3F7-72CADD5FBF04}"/>
              </a:ext>
              <a:ext uri="{C183D7F6-B498-43B3-948B-1728B52AA6E4}">
                <adec:decorative xmlns:adec="http://schemas.microsoft.com/office/drawing/2017/decorative" val="1"/>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7346583" y="2001010"/>
            <a:ext cx="427338" cy="427338"/>
          </a:xfrm>
          <a:prstGeom prst="rect">
            <a:avLst/>
          </a:prstGeom>
        </p:spPr>
      </p:pic>
      <p:sp>
        <p:nvSpPr>
          <p:cNvPr id="2" name="TextBox 1">
            <a:extLst>
              <a:ext uri="{FF2B5EF4-FFF2-40B4-BE49-F238E27FC236}">
                <a16:creationId xmlns:a16="http://schemas.microsoft.com/office/drawing/2014/main" id="{3872573A-09EB-1DC9-CA9F-D0E62DD73E1D}"/>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4362380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About Capco">
    <p:spTree>
      <p:nvGrpSpPr>
        <p:cNvPr id="1" name=""/>
        <p:cNvGrpSpPr/>
        <p:nvPr/>
      </p:nvGrpSpPr>
      <p:grpSpPr>
        <a:xfrm>
          <a:off x="0" y="0"/>
          <a:ext cx="0" cy="0"/>
          <a:chOff x="0" y="0"/>
          <a:chExt cx="0" cy="0"/>
        </a:xfrm>
      </p:grpSpPr>
      <p:pic>
        <p:nvPicPr>
          <p:cNvPr id="79" name="Picture 78">
            <a:extLst>
              <a:ext uri="{FF2B5EF4-FFF2-40B4-BE49-F238E27FC236}">
                <a16:creationId xmlns:a16="http://schemas.microsoft.com/office/drawing/2014/main" id="{4A5946CE-9E95-4FA6-8D5F-7EC5C7F64ACF}"/>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cxnSp>
        <p:nvCxnSpPr>
          <p:cNvPr id="106" name="Straight Connector 105">
            <a:extLst>
              <a:ext uri="{FF2B5EF4-FFF2-40B4-BE49-F238E27FC236}">
                <a16:creationId xmlns:a16="http://schemas.microsoft.com/office/drawing/2014/main" id="{F560BF4C-BE22-40C2-BC16-8017322DB6DF}"/>
              </a:ext>
              <a:ext uri="{C183D7F6-B498-43B3-948B-1728B52AA6E4}">
                <adec:decorative xmlns:adec="http://schemas.microsoft.com/office/drawing/2017/decorative" val="1"/>
              </a:ext>
            </a:extLst>
          </p:cNvPr>
          <p:cNvCxnSpPr>
            <a:cxnSpLocks/>
          </p:cNvCxnSpPr>
          <p:nvPr userDrawn="1"/>
        </p:nvCxnSpPr>
        <p:spPr>
          <a:xfrm>
            <a:off x="559048" y="5866155"/>
            <a:ext cx="1389221"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7E97E5DF-E3D3-4B55-B37C-1E11FB417C4E}"/>
              </a:ext>
              <a:ext uri="{C183D7F6-B498-43B3-948B-1728B52AA6E4}">
                <adec:decorative xmlns:adec="http://schemas.microsoft.com/office/drawing/2017/decorative" val="1"/>
              </a:ext>
            </a:extLst>
          </p:cNvPr>
          <p:cNvGrpSpPr/>
          <p:nvPr userDrawn="1"/>
        </p:nvGrpSpPr>
        <p:grpSpPr>
          <a:xfrm>
            <a:off x="560383" y="5293369"/>
            <a:ext cx="472469" cy="459983"/>
            <a:chOff x="2827687" y="2375038"/>
            <a:chExt cx="496315" cy="483199"/>
          </a:xfrm>
        </p:grpSpPr>
        <p:sp>
          <p:nvSpPr>
            <p:cNvPr id="108" name="Freeform: Shape 107">
              <a:extLst>
                <a:ext uri="{FF2B5EF4-FFF2-40B4-BE49-F238E27FC236}">
                  <a16:creationId xmlns:a16="http://schemas.microsoft.com/office/drawing/2014/main" id="{3D5640B5-99EF-452E-AF49-2A5AB2D045D2}"/>
                </a:ext>
              </a:extLst>
            </p:cNvPr>
            <p:cNvSpPr/>
            <p:nvPr/>
          </p:nvSpPr>
          <p:spPr>
            <a:xfrm>
              <a:off x="3008517" y="2375038"/>
              <a:ext cx="130594" cy="483199"/>
            </a:xfrm>
            <a:custGeom>
              <a:avLst/>
              <a:gdLst>
                <a:gd name="connsiteX0" fmla="*/ 102108 w 95250"/>
                <a:gd name="connsiteY0" fmla="*/ 177070 h 352425"/>
                <a:gd name="connsiteX1" fmla="*/ 51054 w 95250"/>
                <a:gd name="connsiteY1" fmla="*/ 354140 h 352425"/>
                <a:gd name="connsiteX2" fmla="*/ 0 w 95250"/>
                <a:gd name="connsiteY2" fmla="*/ 177070 h 352425"/>
                <a:gd name="connsiteX3" fmla="*/ 51054 w 95250"/>
                <a:gd name="connsiteY3" fmla="*/ 0 h 352425"/>
                <a:gd name="connsiteX4" fmla="*/ 102108 w 95250"/>
                <a:gd name="connsiteY4" fmla="*/ 177070 h 352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352425">
                  <a:moveTo>
                    <a:pt x="102108" y="177070"/>
                  </a:moveTo>
                  <a:cubicBezTo>
                    <a:pt x="102108" y="274863"/>
                    <a:pt x="79250" y="354140"/>
                    <a:pt x="51054" y="354140"/>
                  </a:cubicBezTo>
                  <a:cubicBezTo>
                    <a:pt x="22858" y="354140"/>
                    <a:pt x="0" y="274863"/>
                    <a:pt x="0" y="177070"/>
                  </a:cubicBezTo>
                  <a:cubicBezTo>
                    <a:pt x="0" y="79277"/>
                    <a:pt x="22858" y="0"/>
                    <a:pt x="51054" y="0"/>
                  </a:cubicBezTo>
                  <a:cubicBezTo>
                    <a:pt x="79250" y="0"/>
                    <a:pt x="102108" y="79277"/>
                    <a:pt x="102108" y="177070"/>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109" name="Freeform: Shape 108">
              <a:extLst>
                <a:ext uri="{FF2B5EF4-FFF2-40B4-BE49-F238E27FC236}">
                  <a16:creationId xmlns:a16="http://schemas.microsoft.com/office/drawing/2014/main" id="{656B30B8-A790-4F65-A141-2A041A96E151}"/>
                </a:ext>
              </a:extLst>
            </p:cNvPr>
            <p:cNvSpPr/>
            <p:nvPr/>
          </p:nvSpPr>
          <p:spPr>
            <a:xfrm>
              <a:off x="2827687" y="2458076"/>
              <a:ext cx="496258" cy="313426"/>
            </a:xfrm>
            <a:custGeom>
              <a:avLst/>
              <a:gdLst>
                <a:gd name="connsiteX0" fmla="*/ 202936 w 361950"/>
                <a:gd name="connsiteY0" fmla="*/ 69482 h 228600"/>
                <a:gd name="connsiteX1" fmla="*/ 345771 w 361950"/>
                <a:gd name="connsiteY1" fmla="*/ 185924 h 228600"/>
                <a:gd name="connsiteX2" fmla="*/ 162869 w 361950"/>
                <a:gd name="connsiteY2" fmla="*/ 163401 h 228600"/>
                <a:gd name="connsiteX3" fmla="*/ 20034 w 361950"/>
                <a:gd name="connsiteY3" fmla="*/ 46959 h 228600"/>
                <a:gd name="connsiteX4" fmla="*/ 202936 w 361950"/>
                <a:gd name="connsiteY4" fmla="*/ 69482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202936" y="69482"/>
                  </a:moveTo>
                  <a:cubicBezTo>
                    <a:pt x="292886" y="107856"/>
                    <a:pt x="356835" y="159989"/>
                    <a:pt x="345771" y="185924"/>
                  </a:cubicBezTo>
                  <a:cubicBezTo>
                    <a:pt x="334707" y="211859"/>
                    <a:pt x="252819" y="201775"/>
                    <a:pt x="162869" y="163401"/>
                  </a:cubicBezTo>
                  <a:cubicBezTo>
                    <a:pt x="72919" y="125027"/>
                    <a:pt x="8969" y="72895"/>
                    <a:pt x="20034" y="46959"/>
                  </a:cubicBezTo>
                  <a:cubicBezTo>
                    <a:pt x="31098" y="21024"/>
                    <a:pt x="112986" y="31108"/>
                    <a:pt x="202936" y="69482"/>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110" name="Freeform: Shape 109">
              <a:extLst>
                <a:ext uri="{FF2B5EF4-FFF2-40B4-BE49-F238E27FC236}">
                  <a16:creationId xmlns:a16="http://schemas.microsoft.com/office/drawing/2014/main" id="{BF32DE55-E196-4BD5-AEA8-D84911AA6A10}"/>
                </a:ext>
              </a:extLst>
            </p:cNvPr>
            <p:cNvSpPr/>
            <p:nvPr/>
          </p:nvSpPr>
          <p:spPr>
            <a:xfrm>
              <a:off x="2827744" y="2458188"/>
              <a:ext cx="496258" cy="313426"/>
            </a:xfrm>
            <a:custGeom>
              <a:avLst/>
              <a:gdLst>
                <a:gd name="connsiteX0" fmla="*/ 345771 w 361950"/>
                <a:gd name="connsiteY0" fmla="*/ 46959 h 228600"/>
                <a:gd name="connsiteX1" fmla="*/ 202936 w 361950"/>
                <a:gd name="connsiteY1" fmla="*/ 163401 h 228600"/>
                <a:gd name="connsiteX2" fmla="*/ 20034 w 361950"/>
                <a:gd name="connsiteY2" fmla="*/ 185924 h 228600"/>
                <a:gd name="connsiteX3" fmla="*/ 162869 w 361950"/>
                <a:gd name="connsiteY3" fmla="*/ 69482 h 228600"/>
                <a:gd name="connsiteX4" fmla="*/ 345771 w 361950"/>
                <a:gd name="connsiteY4" fmla="*/ 46959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345771" y="46959"/>
                  </a:moveTo>
                  <a:cubicBezTo>
                    <a:pt x="356835" y="72894"/>
                    <a:pt x="292886" y="125027"/>
                    <a:pt x="202936" y="163401"/>
                  </a:cubicBezTo>
                  <a:cubicBezTo>
                    <a:pt x="112986" y="201775"/>
                    <a:pt x="31098" y="211859"/>
                    <a:pt x="20034" y="185924"/>
                  </a:cubicBezTo>
                  <a:cubicBezTo>
                    <a:pt x="8969" y="159989"/>
                    <a:pt x="72919" y="107856"/>
                    <a:pt x="162869" y="69482"/>
                  </a:cubicBezTo>
                  <a:cubicBezTo>
                    <a:pt x="252819" y="31108"/>
                    <a:pt x="334707" y="21025"/>
                    <a:pt x="345771" y="46959"/>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111" name="Freeform: Shape 110">
              <a:extLst>
                <a:ext uri="{FF2B5EF4-FFF2-40B4-BE49-F238E27FC236}">
                  <a16:creationId xmlns:a16="http://schemas.microsoft.com/office/drawing/2014/main" id="{4BEDB6F5-9DFB-44FA-B086-0136A0D30359}"/>
                </a:ext>
              </a:extLst>
            </p:cNvPr>
            <p:cNvSpPr/>
            <p:nvPr/>
          </p:nvSpPr>
          <p:spPr>
            <a:xfrm>
              <a:off x="3047173" y="2586469"/>
              <a:ext cx="52238" cy="52238"/>
            </a:xfrm>
            <a:custGeom>
              <a:avLst/>
              <a:gdLst>
                <a:gd name="connsiteX0" fmla="*/ 45720 w 38100"/>
                <a:gd name="connsiteY0" fmla="*/ 22860 h 38100"/>
                <a:gd name="connsiteX1" fmla="*/ 22860 w 38100"/>
                <a:gd name="connsiteY1" fmla="*/ 45720 h 38100"/>
                <a:gd name="connsiteX2" fmla="*/ 0 w 38100"/>
                <a:gd name="connsiteY2" fmla="*/ 22860 h 38100"/>
                <a:gd name="connsiteX3" fmla="*/ 22860 w 38100"/>
                <a:gd name="connsiteY3" fmla="*/ 0 h 38100"/>
                <a:gd name="connsiteX4" fmla="*/ 45720 w 38100"/>
                <a:gd name="connsiteY4" fmla="*/ 2286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45720" y="22860"/>
                  </a:moveTo>
                  <a:cubicBezTo>
                    <a:pt x="45720" y="35485"/>
                    <a:pt x="35485" y="45720"/>
                    <a:pt x="22860" y="45720"/>
                  </a:cubicBezTo>
                  <a:cubicBezTo>
                    <a:pt x="10235" y="45720"/>
                    <a:pt x="0" y="35485"/>
                    <a:pt x="0" y="22860"/>
                  </a:cubicBezTo>
                  <a:cubicBezTo>
                    <a:pt x="0" y="10235"/>
                    <a:pt x="10235" y="0"/>
                    <a:pt x="22860" y="0"/>
                  </a:cubicBezTo>
                  <a:cubicBezTo>
                    <a:pt x="35485" y="0"/>
                    <a:pt x="45720" y="10235"/>
                    <a:pt x="45720" y="22860"/>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112" name="Freeform: Shape 111">
              <a:extLst>
                <a:ext uri="{FF2B5EF4-FFF2-40B4-BE49-F238E27FC236}">
                  <a16:creationId xmlns:a16="http://schemas.microsoft.com/office/drawing/2014/main" id="{EAD7EADB-102D-4DE7-8CF0-22947A80ADA4}"/>
                </a:ext>
              </a:extLst>
            </p:cNvPr>
            <p:cNvSpPr/>
            <p:nvPr/>
          </p:nvSpPr>
          <p:spPr>
            <a:xfrm>
              <a:off x="2930421" y="249048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113" name="Freeform: Shape 112">
              <a:extLst>
                <a:ext uri="{FF2B5EF4-FFF2-40B4-BE49-F238E27FC236}">
                  <a16:creationId xmlns:a16="http://schemas.microsoft.com/office/drawing/2014/main" id="{133E9ABC-E23B-4C4B-B8B9-DFF45D0E7E5C}"/>
                </a:ext>
              </a:extLst>
            </p:cNvPr>
            <p:cNvSpPr/>
            <p:nvPr/>
          </p:nvSpPr>
          <p:spPr>
            <a:xfrm>
              <a:off x="3250508" y="2570276"/>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114" name="Freeform: Shape 113">
              <a:extLst>
                <a:ext uri="{FF2B5EF4-FFF2-40B4-BE49-F238E27FC236}">
                  <a16:creationId xmlns:a16="http://schemas.microsoft.com/office/drawing/2014/main" id="{E22AB3B5-9695-4D4A-BFDE-A798294B2483}"/>
                </a:ext>
              </a:extLst>
            </p:cNvPr>
            <p:cNvSpPr/>
            <p:nvPr/>
          </p:nvSpPr>
          <p:spPr>
            <a:xfrm>
              <a:off x="3102675" y="280051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grpSp>
      <p:cxnSp>
        <p:nvCxnSpPr>
          <p:cNvPr id="116" name="Straight Connector 115">
            <a:extLst>
              <a:ext uri="{FF2B5EF4-FFF2-40B4-BE49-F238E27FC236}">
                <a16:creationId xmlns:a16="http://schemas.microsoft.com/office/drawing/2014/main" id="{F2E24110-EE3D-461A-AAF6-51C3A5C4CAF4}"/>
              </a:ext>
              <a:ext uri="{C183D7F6-B498-43B3-948B-1728B52AA6E4}">
                <adec:decorative xmlns:adec="http://schemas.microsoft.com/office/drawing/2017/decorative" val="1"/>
              </a:ext>
            </a:extLst>
          </p:cNvPr>
          <p:cNvCxnSpPr>
            <a:cxnSpLocks/>
          </p:cNvCxnSpPr>
          <p:nvPr userDrawn="1"/>
        </p:nvCxnSpPr>
        <p:spPr>
          <a:xfrm>
            <a:off x="2983743"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33" name="Group 132">
            <a:extLst>
              <a:ext uri="{FF2B5EF4-FFF2-40B4-BE49-F238E27FC236}">
                <a16:creationId xmlns:a16="http://schemas.microsoft.com/office/drawing/2014/main" id="{2C6D0E3F-1E60-4F92-B2AC-81E22770C62B}"/>
              </a:ext>
              <a:ext uri="{C183D7F6-B498-43B3-948B-1728B52AA6E4}">
                <adec:decorative xmlns:adec="http://schemas.microsoft.com/office/drawing/2017/decorative" val="1"/>
              </a:ext>
            </a:extLst>
          </p:cNvPr>
          <p:cNvGrpSpPr/>
          <p:nvPr userDrawn="1"/>
        </p:nvGrpSpPr>
        <p:grpSpPr>
          <a:xfrm>
            <a:off x="3096992" y="5293867"/>
            <a:ext cx="248640" cy="459485"/>
            <a:chOff x="6265015" y="5709762"/>
            <a:chExt cx="261189" cy="482675"/>
          </a:xfrm>
        </p:grpSpPr>
        <p:sp>
          <p:nvSpPr>
            <p:cNvPr id="134" name="Freeform: Shape 133">
              <a:extLst>
                <a:ext uri="{FF2B5EF4-FFF2-40B4-BE49-F238E27FC236}">
                  <a16:creationId xmlns:a16="http://schemas.microsoft.com/office/drawing/2014/main" id="{5E601E43-4963-4281-B92C-FFE84ED854ED}"/>
                </a:ext>
              </a:extLst>
            </p:cNvPr>
            <p:cNvSpPr/>
            <p:nvPr/>
          </p:nvSpPr>
          <p:spPr>
            <a:xfrm>
              <a:off x="6265015" y="5709762"/>
              <a:ext cx="261189" cy="352604"/>
            </a:xfrm>
            <a:custGeom>
              <a:avLst/>
              <a:gdLst>
                <a:gd name="connsiteX0" fmla="*/ 192024 w 190500"/>
                <a:gd name="connsiteY0" fmla="*/ 95917 h 257175"/>
                <a:gd name="connsiteX1" fmla="*/ 188214 w 190500"/>
                <a:gd name="connsiteY1" fmla="*/ 122682 h 257175"/>
                <a:gd name="connsiteX2" fmla="*/ 187643 w 190500"/>
                <a:gd name="connsiteY2" fmla="*/ 124492 h 257175"/>
                <a:gd name="connsiteX3" fmla="*/ 180118 w 190500"/>
                <a:gd name="connsiteY3" fmla="*/ 142208 h 257175"/>
                <a:gd name="connsiteX4" fmla="*/ 144780 w 190500"/>
                <a:gd name="connsiteY4" fmla="*/ 261747 h 257175"/>
                <a:gd name="connsiteX5" fmla="*/ 47339 w 190500"/>
                <a:gd name="connsiteY5" fmla="*/ 261747 h 257175"/>
                <a:gd name="connsiteX6" fmla="*/ 12192 w 190500"/>
                <a:gd name="connsiteY6" fmla="*/ 142780 h 257175"/>
                <a:gd name="connsiteX7" fmla="*/ 4191 w 190500"/>
                <a:gd name="connsiteY7" fmla="*/ 123825 h 257175"/>
                <a:gd name="connsiteX8" fmla="*/ 3810 w 190500"/>
                <a:gd name="connsiteY8" fmla="*/ 122777 h 257175"/>
                <a:gd name="connsiteX9" fmla="*/ 0 w 190500"/>
                <a:gd name="connsiteY9" fmla="*/ 96012 h 257175"/>
                <a:gd name="connsiteX10" fmla="*/ 96012 w 190500"/>
                <a:gd name="connsiteY10" fmla="*/ 0 h 257175"/>
                <a:gd name="connsiteX11" fmla="*/ 192024 w 190500"/>
                <a:gd name="connsiteY11" fmla="*/ 95917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500" h="257175">
                  <a:moveTo>
                    <a:pt x="192024" y="95917"/>
                  </a:moveTo>
                  <a:cubicBezTo>
                    <a:pt x="192024" y="105251"/>
                    <a:pt x="190691" y="114205"/>
                    <a:pt x="188214" y="122682"/>
                  </a:cubicBezTo>
                  <a:cubicBezTo>
                    <a:pt x="188024" y="123254"/>
                    <a:pt x="187833" y="123921"/>
                    <a:pt x="187643" y="124492"/>
                  </a:cubicBezTo>
                  <a:cubicBezTo>
                    <a:pt x="187643" y="124492"/>
                    <a:pt x="182594" y="136017"/>
                    <a:pt x="180118" y="142208"/>
                  </a:cubicBezTo>
                  <a:cubicBezTo>
                    <a:pt x="159734" y="193834"/>
                    <a:pt x="144780" y="261747"/>
                    <a:pt x="144780" y="261747"/>
                  </a:cubicBezTo>
                  <a:lnTo>
                    <a:pt x="47339" y="261747"/>
                  </a:lnTo>
                  <a:cubicBezTo>
                    <a:pt x="47339" y="261747"/>
                    <a:pt x="32480" y="194310"/>
                    <a:pt x="12192" y="142780"/>
                  </a:cubicBezTo>
                  <a:cubicBezTo>
                    <a:pt x="9525" y="136112"/>
                    <a:pt x="6858" y="129731"/>
                    <a:pt x="4191" y="123825"/>
                  </a:cubicBezTo>
                  <a:cubicBezTo>
                    <a:pt x="4001" y="123539"/>
                    <a:pt x="3905" y="123158"/>
                    <a:pt x="3810" y="122777"/>
                  </a:cubicBezTo>
                  <a:cubicBezTo>
                    <a:pt x="1334" y="114300"/>
                    <a:pt x="0" y="105347"/>
                    <a:pt x="0" y="96012"/>
                  </a:cubicBezTo>
                  <a:cubicBezTo>
                    <a:pt x="0" y="42958"/>
                    <a:pt x="43053" y="0"/>
                    <a:pt x="96012" y="0"/>
                  </a:cubicBezTo>
                  <a:cubicBezTo>
                    <a:pt x="149066" y="-95"/>
                    <a:pt x="192024" y="42863"/>
                    <a:pt x="192024" y="95917"/>
                  </a:cubicBezTo>
                  <a:close/>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135" name="Freeform: Shape 134">
              <a:extLst>
                <a:ext uri="{FF2B5EF4-FFF2-40B4-BE49-F238E27FC236}">
                  <a16:creationId xmlns:a16="http://schemas.microsoft.com/office/drawing/2014/main" id="{B96E3853-C661-4C3D-B8EB-4C0187E0EA93}"/>
                </a:ext>
              </a:extLst>
            </p:cNvPr>
            <p:cNvSpPr/>
            <p:nvPr/>
          </p:nvSpPr>
          <p:spPr>
            <a:xfrm>
              <a:off x="6329920" y="6102851"/>
              <a:ext cx="130594" cy="13059"/>
            </a:xfrm>
            <a:custGeom>
              <a:avLst/>
              <a:gdLst>
                <a:gd name="connsiteX0" fmla="*/ 0 w 95250"/>
                <a:gd name="connsiteY0" fmla="*/ 0 h 0"/>
                <a:gd name="connsiteX1" fmla="*/ 97536 w 95250"/>
                <a:gd name="connsiteY1" fmla="*/ 0 h 0"/>
              </a:gdLst>
              <a:ahLst/>
              <a:cxnLst>
                <a:cxn ang="0">
                  <a:pos x="connsiteX0" y="connsiteY0"/>
                </a:cxn>
                <a:cxn ang="0">
                  <a:pos x="connsiteX1" y="connsiteY1"/>
                </a:cxn>
              </a:cxnLst>
              <a:rect l="l" t="t" r="r" b="b"/>
              <a:pathLst>
                <a:path w="95250">
                  <a:moveTo>
                    <a:pt x="0" y="0"/>
                  </a:moveTo>
                  <a:lnTo>
                    <a:pt x="97536"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sp>
          <p:nvSpPr>
            <p:cNvPr id="137" name="Freeform: Shape 136">
              <a:extLst>
                <a:ext uri="{FF2B5EF4-FFF2-40B4-BE49-F238E27FC236}">
                  <a16:creationId xmlns:a16="http://schemas.microsoft.com/office/drawing/2014/main" id="{F16154B4-DB7F-4FFF-9BD4-E1FB03CA7407}"/>
                </a:ext>
              </a:extLst>
            </p:cNvPr>
            <p:cNvSpPr/>
            <p:nvPr/>
          </p:nvSpPr>
          <p:spPr>
            <a:xfrm>
              <a:off x="6329790" y="6141115"/>
              <a:ext cx="130594" cy="13059"/>
            </a:xfrm>
            <a:custGeom>
              <a:avLst/>
              <a:gdLst>
                <a:gd name="connsiteX0" fmla="*/ 0 w 95250"/>
                <a:gd name="connsiteY0" fmla="*/ 0 h 0"/>
                <a:gd name="connsiteX1" fmla="*/ 97536 w 95250"/>
                <a:gd name="connsiteY1" fmla="*/ 0 h 0"/>
              </a:gdLst>
              <a:ahLst/>
              <a:cxnLst>
                <a:cxn ang="0">
                  <a:pos x="connsiteX0" y="connsiteY0"/>
                </a:cxn>
                <a:cxn ang="0">
                  <a:pos x="connsiteX1" y="connsiteY1"/>
                </a:cxn>
              </a:cxnLst>
              <a:rect l="l" t="t" r="r" b="b"/>
              <a:pathLst>
                <a:path w="95250">
                  <a:moveTo>
                    <a:pt x="0" y="0"/>
                  </a:moveTo>
                  <a:lnTo>
                    <a:pt x="97536"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sp>
          <p:nvSpPr>
            <p:cNvPr id="138" name="Freeform: Shape 137">
              <a:extLst>
                <a:ext uri="{FF2B5EF4-FFF2-40B4-BE49-F238E27FC236}">
                  <a16:creationId xmlns:a16="http://schemas.microsoft.com/office/drawing/2014/main" id="{6A5AAC20-292A-4CC2-99BE-A68587A6D5E1}"/>
                </a:ext>
              </a:extLst>
            </p:cNvPr>
            <p:cNvSpPr/>
            <p:nvPr/>
          </p:nvSpPr>
          <p:spPr>
            <a:xfrm>
              <a:off x="6367139" y="6179378"/>
              <a:ext cx="52238" cy="13059"/>
            </a:xfrm>
            <a:custGeom>
              <a:avLst/>
              <a:gdLst>
                <a:gd name="connsiteX0" fmla="*/ 0 w 38100"/>
                <a:gd name="connsiteY0" fmla="*/ 0 h 0"/>
                <a:gd name="connsiteX1" fmla="*/ 42958 w 38100"/>
                <a:gd name="connsiteY1" fmla="*/ 0 h 0"/>
              </a:gdLst>
              <a:ahLst/>
              <a:cxnLst>
                <a:cxn ang="0">
                  <a:pos x="connsiteX0" y="connsiteY0"/>
                </a:cxn>
                <a:cxn ang="0">
                  <a:pos x="connsiteX1" y="connsiteY1"/>
                </a:cxn>
              </a:cxnLst>
              <a:rect l="l" t="t" r="r" b="b"/>
              <a:pathLst>
                <a:path w="38100">
                  <a:moveTo>
                    <a:pt x="0" y="0"/>
                  </a:moveTo>
                  <a:lnTo>
                    <a:pt x="42958"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grpSp>
      <p:cxnSp>
        <p:nvCxnSpPr>
          <p:cNvPr id="140" name="Straight Connector 139">
            <a:extLst>
              <a:ext uri="{FF2B5EF4-FFF2-40B4-BE49-F238E27FC236}">
                <a16:creationId xmlns:a16="http://schemas.microsoft.com/office/drawing/2014/main" id="{7425658E-8321-4145-96A3-EA5156942F3B}"/>
              </a:ext>
              <a:ext uri="{C183D7F6-B498-43B3-948B-1728B52AA6E4}">
                <adec:decorative xmlns:adec="http://schemas.microsoft.com/office/drawing/2017/decorative" val="1"/>
              </a:ext>
            </a:extLst>
          </p:cNvPr>
          <p:cNvCxnSpPr>
            <a:cxnSpLocks/>
          </p:cNvCxnSpPr>
          <p:nvPr userDrawn="1"/>
        </p:nvCxnSpPr>
        <p:spPr>
          <a:xfrm>
            <a:off x="5408438"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41" name="Group 140">
            <a:extLst>
              <a:ext uri="{FF2B5EF4-FFF2-40B4-BE49-F238E27FC236}">
                <a16:creationId xmlns:a16="http://schemas.microsoft.com/office/drawing/2014/main" id="{D55B8996-E0B8-4C62-AE5F-DFB770548E15}"/>
              </a:ext>
              <a:ext uri="{C183D7F6-B498-43B3-948B-1728B52AA6E4}">
                <adec:decorative xmlns:adec="http://schemas.microsoft.com/office/drawing/2017/decorative" val="1"/>
              </a:ext>
            </a:extLst>
          </p:cNvPr>
          <p:cNvGrpSpPr/>
          <p:nvPr userDrawn="1"/>
        </p:nvGrpSpPr>
        <p:grpSpPr>
          <a:xfrm>
            <a:off x="5436203" y="5337357"/>
            <a:ext cx="419609" cy="415995"/>
            <a:chOff x="6443026" y="2417970"/>
            <a:chExt cx="440787" cy="436990"/>
          </a:xfrm>
        </p:grpSpPr>
        <p:sp>
          <p:nvSpPr>
            <p:cNvPr id="142" name="Freeform: Shape 141">
              <a:extLst>
                <a:ext uri="{FF2B5EF4-FFF2-40B4-BE49-F238E27FC236}">
                  <a16:creationId xmlns:a16="http://schemas.microsoft.com/office/drawing/2014/main" id="{46A29C76-FB4E-4492-A39E-34FCCFFCCA7B}"/>
                </a:ext>
              </a:extLst>
            </p:cNvPr>
            <p:cNvSpPr/>
            <p:nvPr/>
          </p:nvSpPr>
          <p:spPr>
            <a:xfrm>
              <a:off x="6443026" y="2417970"/>
              <a:ext cx="65476" cy="65476"/>
            </a:xfrm>
            <a:custGeom>
              <a:avLst/>
              <a:gdLst>
                <a:gd name="connsiteX0" fmla="*/ 0 w 65476"/>
                <a:gd name="connsiteY0" fmla="*/ 70715 h 65476"/>
                <a:gd name="connsiteX1" fmla="*/ 0 w 65476"/>
                <a:gd name="connsiteY1" fmla="*/ 0 h 65476"/>
                <a:gd name="connsiteX2" fmla="*/ 68226 w 65476"/>
                <a:gd name="connsiteY2" fmla="*/ 0 h 65476"/>
              </a:gdLst>
              <a:ahLst/>
              <a:cxnLst>
                <a:cxn ang="0">
                  <a:pos x="connsiteX0" y="connsiteY0"/>
                </a:cxn>
                <a:cxn ang="0">
                  <a:pos x="connsiteX1" y="connsiteY1"/>
                </a:cxn>
                <a:cxn ang="0">
                  <a:pos x="connsiteX2" y="connsiteY2"/>
                </a:cxn>
              </a:cxnLst>
              <a:rect l="l" t="t" r="r" b="b"/>
              <a:pathLst>
                <a:path w="65476" h="65476">
                  <a:moveTo>
                    <a:pt x="0" y="70715"/>
                  </a:moveTo>
                  <a:lnTo>
                    <a:pt x="0" y="0"/>
                  </a:lnTo>
                  <a:lnTo>
                    <a:pt x="68226" y="0"/>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143" name="Freeform: Shape 142">
              <a:extLst>
                <a:ext uri="{FF2B5EF4-FFF2-40B4-BE49-F238E27FC236}">
                  <a16:creationId xmlns:a16="http://schemas.microsoft.com/office/drawing/2014/main" id="{19A1706B-B7D2-4C04-B0E8-6285AC5C83DB}"/>
                </a:ext>
              </a:extLst>
            </p:cNvPr>
            <p:cNvSpPr/>
            <p:nvPr/>
          </p:nvSpPr>
          <p:spPr>
            <a:xfrm>
              <a:off x="6815849" y="2417970"/>
              <a:ext cx="65476" cy="65476"/>
            </a:xfrm>
            <a:custGeom>
              <a:avLst/>
              <a:gdLst>
                <a:gd name="connsiteX0" fmla="*/ 0 w 65476"/>
                <a:gd name="connsiteY0" fmla="*/ 0 h 65476"/>
                <a:gd name="connsiteX1" fmla="*/ 70846 w 65476"/>
                <a:gd name="connsiteY1" fmla="*/ 0 h 65476"/>
                <a:gd name="connsiteX2" fmla="*/ 70846 w 65476"/>
                <a:gd name="connsiteY2" fmla="*/ 68226 h 65476"/>
              </a:gdLst>
              <a:ahLst/>
              <a:cxnLst>
                <a:cxn ang="0">
                  <a:pos x="connsiteX0" y="connsiteY0"/>
                </a:cxn>
                <a:cxn ang="0">
                  <a:pos x="connsiteX1" y="connsiteY1"/>
                </a:cxn>
                <a:cxn ang="0">
                  <a:pos x="connsiteX2" y="connsiteY2"/>
                </a:cxn>
              </a:cxnLst>
              <a:rect l="l" t="t" r="r" b="b"/>
              <a:pathLst>
                <a:path w="65476" h="65476">
                  <a:moveTo>
                    <a:pt x="0" y="0"/>
                  </a:moveTo>
                  <a:lnTo>
                    <a:pt x="70846" y="0"/>
                  </a:lnTo>
                  <a:lnTo>
                    <a:pt x="70846" y="68226"/>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144" name="Freeform: Shape 143">
              <a:extLst>
                <a:ext uri="{FF2B5EF4-FFF2-40B4-BE49-F238E27FC236}">
                  <a16:creationId xmlns:a16="http://schemas.microsoft.com/office/drawing/2014/main" id="{A066030C-B5BE-4669-9376-08175DF9BE4E}"/>
                </a:ext>
              </a:extLst>
            </p:cNvPr>
            <p:cNvSpPr/>
            <p:nvPr/>
          </p:nvSpPr>
          <p:spPr>
            <a:xfrm>
              <a:off x="6818337" y="2786996"/>
              <a:ext cx="65476" cy="65476"/>
            </a:xfrm>
            <a:custGeom>
              <a:avLst/>
              <a:gdLst>
                <a:gd name="connsiteX0" fmla="*/ 68357 w 65476"/>
                <a:gd name="connsiteY0" fmla="*/ 0 h 65476"/>
                <a:gd name="connsiteX1" fmla="*/ 68357 w 65476"/>
                <a:gd name="connsiteY1" fmla="*/ 70715 h 65476"/>
                <a:gd name="connsiteX2" fmla="*/ 0 w 65476"/>
                <a:gd name="connsiteY2" fmla="*/ 70715 h 65476"/>
              </a:gdLst>
              <a:ahLst/>
              <a:cxnLst>
                <a:cxn ang="0">
                  <a:pos x="connsiteX0" y="connsiteY0"/>
                </a:cxn>
                <a:cxn ang="0">
                  <a:pos x="connsiteX1" y="connsiteY1"/>
                </a:cxn>
                <a:cxn ang="0">
                  <a:pos x="connsiteX2" y="connsiteY2"/>
                </a:cxn>
              </a:cxnLst>
              <a:rect l="l" t="t" r="r" b="b"/>
              <a:pathLst>
                <a:path w="65476" h="65476">
                  <a:moveTo>
                    <a:pt x="68357" y="0"/>
                  </a:moveTo>
                  <a:lnTo>
                    <a:pt x="68357" y="70715"/>
                  </a:lnTo>
                  <a:lnTo>
                    <a:pt x="0" y="70715"/>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145" name="Freeform: Shape 144">
              <a:extLst>
                <a:ext uri="{FF2B5EF4-FFF2-40B4-BE49-F238E27FC236}">
                  <a16:creationId xmlns:a16="http://schemas.microsoft.com/office/drawing/2014/main" id="{F9F704FF-F519-4224-8B0F-4EB032D15DE7}"/>
                </a:ext>
              </a:extLst>
            </p:cNvPr>
            <p:cNvSpPr/>
            <p:nvPr/>
          </p:nvSpPr>
          <p:spPr>
            <a:xfrm>
              <a:off x="6443026" y="2789484"/>
              <a:ext cx="65476" cy="65476"/>
            </a:xfrm>
            <a:custGeom>
              <a:avLst/>
              <a:gdLst>
                <a:gd name="connsiteX0" fmla="*/ 70846 w 65476"/>
                <a:gd name="connsiteY0" fmla="*/ 68226 h 65476"/>
                <a:gd name="connsiteX1" fmla="*/ 0 w 65476"/>
                <a:gd name="connsiteY1" fmla="*/ 68226 h 65476"/>
                <a:gd name="connsiteX2" fmla="*/ 0 w 65476"/>
                <a:gd name="connsiteY2" fmla="*/ 0 h 65476"/>
              </a:gdLst>
              <a:ahLst/>
              <a:cxnLst>
                <a:cxn ang="0">
                  <a:pos x="connsiteX0" y="connsiteY0"/>
                </a:cxn>
                <a:cxn ang="0">
                  <a:pos x="connsiteX1" y="connsiteY1"/>
                </a:cxn>
                <a:cxn ang="0">
                  <a:pos x="connsiteX2" y="connsiteY2"/>
                </a:cxn>
              </a:cxnLst>
              <a:rect l="l" t="t" r="r" b="b"/>
              <a:pathLst>
                <a:path w="65476" h="65476">
                  <a:moveTo>
                    <a:pt x="70846" y="68226"/>
                  </a:moveTo>
                  <a:lnTo>
                    <a:pt x="0" y="68226"/>
                  </a:lnTo>
                  <a:lnTo>
                    <a:pt x="0" y="0"/>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146" name="Freeform: Shape 145">
              <a:extLst>
                <a:ext uri="{FF2B5EF4-FFF2-40B4-BE49-F238E27FC236}">
                  <a16:creationId xmlns:a16="http://schemas.microsoft.com/office/drawing/2014/main" id="{58217CFB-C212-463F-8E90-581B1C75BD4E}"/>
                </a:ext>
              </a:extLst>
            </p:cNvPr>
            <p:cNvSpPr/>
            <p:nvPr/>
          </p:nvSpPr>
          <p:spPr>
            <a:xfrm>
              <a:off x="6554205" y="2635352"/>
              <a:ext cx="209525" cy="13095"/>
            </a:xfrm>
            <a:custGeom>
              <a:avLst/>
              <a:gdLst>
                <a:gd name="connsiteX0" fmla="*/ 0 w 209524"/>
                <a:gd name="connsiteY0" fmla="*/ 0 h 0"/>
                <a:gd name="connsiteX1" fmla="*/ 222489 w 209524"/>
                <a:gd name="connsiteY1" fmla="*/ 0 h 0"/>
              </a:gdLst>
              <a:ahLst/>
              <a:cxnLst>
                <a:cxn ang="0">
                  <a:pos x="connsiteX0" y="connsiteY0"/>
                </a:cxn>
                <a:cxn ang="0">
                  <a:pos x="connsiteX1" y="connsiteY1"/>
                </a:cxn>
              </a:cxnLst>
              <a:rect l="l" t="t" r="r" b="b"/>
              <a:pathLst>
                <a:path w="209524">
                  <a:moveTo>
                    <a:pt x="0" y="0"/>
                  </a:moveTo>
                  <a:lnTo>
                    <a:pt x="222489" y="0"/>
                  </a:lnTo>
                </a:path>
              </a:pathLst>
            </a:custGeom>
            <a:ln w="12700" cap="flat">
              <a:solidFill>
                <a:schemeClr val="accent5"/>
              </a:solidFill>
              <a:prstDash val="solid"/>
              <a:round/>
            </a:ln>
          </p:spPr>
          <p:txBody>
            <a:bodyPr rtlCol="0" anchor="ctr"/>
            <a:lstStyle/>
            <a:p>
              <a:endParaRPr lang="en-GB" sz="1400" b="1" dirty="0">
                <a:solidFill>
                  <a:schemeClr val="tx1"/>
                </a:solidFill>
              </a:endParaRPr>
            </a:p>
          </p:txBody>
        </p:sp>
        <p:sp>
          <p:nvSpPr>
            <p:cNvPr id="147" name="Freeform: Shape 146">
              <a:extLst>
                <a:ext uri="{FF2B5EF4-FFF2-40B4-BE49-F238E27FC236}">
                  <a16:creationId xmlns:a16="http://schemas.microsoft.com/office/drawing/2014/main" id="{AB0C0BCA-628D-4526-BE39-0D6F89A9DC5A}"/>
                </a:ext>
              </a:extLst>
            </p:cNvPr>
            <p:cNvSpPr/>
            <p:nvPr/>
          </p:nvSpPr>
          <p:spPr>
            <a:xfrm>
              <a:off x="6665515" y="2524173"/>
              <a:ext cx="13095" cy="209525"/>
            </a:xfrm>
            <a:custGeom>
              <a:avLst/>
              <a:gdLst>
                <a:gd name="connsiteX0" fmla="*/ 0 w 0"/>
                <a:gd name="connsiteY0" fmla="*/ 222358 h 209524"/>
                <a:gd name="connsiteX1" fmla="*/ 0 w 0"/>
                <a:gd name="connsiteY1" fmla="*/ 0 h 209524"/>
              </a:gdLst>
              <a:ahLst/>
              <a:cxnLst>
                <a:cxn ang="0">
                  <a:pos x="connsiteX0" y="connsiteY0"/>
                </a:cxn>
                <a:cxn ang="0">
                  <a:pos x="connsiteX1" y="connsiteY1"/>
                </a:cxn>
              </a:cxnLst>
              <a:rect l="l" t="t" r="r" b="b"/>
              <a:pathLst>
                <a:path h="209524">
                  <a:moveTo>
                    <a:pt x="0" y="222358"/>
                  </a:moveTo>
                  <a:lnTo>
                    <a:pt x="0" y="0"/>
                  </a:lnTo>
                </a:path>
              </a:pathLst>
            </a:custGeom>
            <a:ln w="12700" cap="flat">
              <a:solidFill>
                <a:schemeClr val="accent5"/>
              </a:solidFill>
              <a:prstDash val="solid"/>
              <a:round/>
            </a:ln>
          </p:spPr>
          <p:txBody>
            <a:bodyPr rtlCol="0" anchor="ctr"/>
            <a:lstStyle/>
            <a:p>
              <a:endParaRPr lang="en-GB" sz="1400" b="1" dirty="0">
                <a:solidFill>
                  <a:schemeClr val="tx1"/>
                </a:solidFill>
              </a:endParaRPr>
            </a:p>
          </p:txBody>
        </p:sp>
      </p:grpSp>
      <p:cxnSp>
        <p:nvCxnSpPr>
          <p:cNvPr id="149" name="Straight Connector 148">
            <a:extLst>
              <a:ext uri="{FF2B5EF4-FFF2-40B4-BE49-F238E27FC236}">
                <a16:creationId xmlns:a16="http://schemas.microsoft.com/office/drawing/2014/main" id="{BFE3E24F-D539-4871-8DAA-E6AD97C0D678}"/>
              </a:ext>
              <a:ext uri="{C183D7F6-B498-43B3-948B-1728B52AA6E4}">
                <adec:decorative xmlns:adec="http://schemas.microsoft.com/office/drawing/2017/decorative" val="1"/>
              </a:ext>
            </a:extLst>
          </p:cNvPr>
          <p:cNvCxnSpPr>
            <a:cxnSpLocks/>
          </p:cNvCxnSpPr>
          <p:nvPr userDrawn="1"/>
        </p:nvCxnSpPr>
        <p:spPr>
          <a:xfrm>
            <a:off x="7833133"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0" name="Freeform: Shape 149">
            <a:extLst>
              <a:ext uri="{FF2B5EF4-FFF2-40B4-BE49-F238E27FC236}">
                <a16:creationId xmlns:a16="http://schemas.microsoft.com/office/drawing/2014/main" id="{3E9D8417-83B7-4F1F-8562-61890D5905B8}"/>
              </a:ext>
              <a:ext uri="{C183D7F6-B498-43B3-948B-1728B52AA6E4}">
                <adec:decorative xmlns:adec="http://schemas.microsoft.com/office/drawing/2017/decorative" val="1"/>
              </a:ext>
            </a:extLst>
          </p:cNvPr>
          <p:cNvSpPr/>
          <p:nvPr userDrawn="1"/>
        </p:nvSpPr>
        <p:spPr>
          <a:xfrm>
            <a:off x="7840711" y="5367961"/>
            <a:ext cx="459983" cy="385391"/>
          </a:xfrm>
          <a:custGeom>
            <a:avLst/>
            <a:gdLst>
              <a:gd name="connsiteX0" fmla="*/ 348104 w 352425"/>
              <a:gd name="connsiteY0" fmla="*/ 128975 h 295275"/>
              <a:gd name="connsiteX1" fmla="*/ 178844 w 352425"/>
              <a:gd name="connsiteY1" fmla="*/ 295472 h 295275"/>
              <a:gd name="connsiteX2" fmla="*/ 9680 w 352425"/>
              <a:gd name="connsiteY2" fmla="*/ 128975 h 295275"/>
              <a:gd name="connsiteX3" fmla="*/ 56924 w 352425"/>
              <a:gd name="connsiteY3" fmla="*/ 7817 h 295275"/>
              <a:gd name="connsiteX4" fmla="*/ 178082 w 352425"/>
              <a:gd name="connsiteY4" fmla="*/ 55061 h 295275"/>
              <a:gd name="connsiteX5" fmla="*/ 179606 w 352425"/>
              <a:gd name="connsiteY5" fmla="*/ 55061 h 295275"/>
              <a:gd name="connsiteX6" fmla="*/ 300860 w 352425"/>
              <a:gd name="connsiteY6" fmla="*/ 7817 h 295275"/>
              <a:gd name="connsiteX7" fmla="*/ 348104 w 352425"/>
              <a:gd name="connsiteY7" fmla="*/ 128975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425" h="295275">
                <a:moveTo>
                  <a:pt x="348104" y="128975"/>
                </a:moveTo>
                <a:cubicBezTo>
                  <a:pt x="298478" y="219462"/>
                  <a:pt x="178844" y="295472"/>
                  <a:pt x="178844" y="295472"/>
                </a:cubicBezTo>
                <a:cubicBezTo>
                  <a:pt x="178844" y="295472"/>
                  <a:pt x="60734" y="219843"/>
                  <a:pt x="9680" y="128975"/>
                </a:cubicBezTo>
                <a:cubicBezTo>
                  <a:pt x="-15180" y="84779"/>
                  <a:pt x="10442" y="28200"/>
                  <a:pt x="56924" y="7817"/>
                </a:cubicBezTo>
                <a:cubicBezTo>
                  <a:pt x="103502" y="-12567"/>
                  <a:pt x="157699" y="8579"/>
                  <a:pt x="178082" y="55061"/>
                </a:cubicBezTo>
                <a:cubicBezTo>
                  <a:pt x="178368" y="55632"/>
                  <a:pt x="179321" y="55632"/>
                  <a:pt x="179606" y="55061"/>
                </a:cubicBezTo>
                <a:cubicBezTo>
                  <a:pt x="199990" y="8484"/>
                  <a:pt x="254282" y="-12662"/>
                  <a:pt x="300860" y="7817"/>
                </a:cubicBezTo>
                <a:cubicBezTo>
                  <a:pt x="347342" y="28200"/>
                  <a:pt x="372488" y="84493"/>
                  <a:pt x="348104" y="128975"/>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cxnSp>
        <p:nvCxnSpPr>
          <p:cNvPr id="152" name="Straight Connector 151">
            <a:extLst>
              <a:ext uri="{FF2B5EF4-FFF2-40B4-BE49-F238E27FC236}">
                <a16:creationId xmlns:a16="http://schemas.microsoft.com/office/drawing/2014/main" id="{8575DB60-28A7-4D6D-BEDF-7904E347891B}"/>
              </a:ext>
              <a:ext uri="{C183D7F6-B498-43B3-948B-1728B52AA6E4}">
                <adec:decorative xmlns:adec="http://schemas.microsoft.com/office/drawing/2017/decorative" val="1"/>
              </a:ext>
            </a:extLst>
          </p:cNvPr>
          <p:cNvCxnSpPr>
            <a:cxnSpLocks/>
          </p:cNvCxnSpPr>
          <p:nvPr userDrawn="1"/>
        </p:nvCxnSpPr>
        <p:spPr>
          <a:xfrm>
            <a:off x="10257827"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3" name="Group 152">
            <a:extLst>
              <a:ext uri="{FF2B5EF4-FFF2-40B4-BE49-F238E27FC236}">
                <a16:creationId xmlns:a16="http://schemas.microsoft.com/office/drawing/2014/main" id="{EA0D26CA-3BAE-45DA-AB03-84069EE571D0}"/>
              </a:ext>
              <a:ext uri="{C183D7F6-B498-43B3-948B-1728B52AA6E4}">
                <adec:decorative xmlns:adec="http://schemas.microsoft.com/office/drawing/2017/decorative" val="1"/>
              </a:ext>
            </a:extLst>
          </p:cNvPr>
          <p:cNvGrpSpPr/>
          <p:nvPr userDrawn="1"/>
        </p:nvGrpSpPr>
        <p:grpSpPr>
          <a:xfrm>
            <a:off x="10277836" y="5369827"/>
            <a:ext cx="435119" cy="383525"/>
            <a:chOff x="5055450" y="4606241"/>
            <a:chExt cx="457080" cy="402882"/>
          </a:xfrm>
        </p:grpSpPr>
        <p:sp>
          <p:nvSpPr>
            <p:cNvPr id="154" name="Freeform: Shape 153">
              <a:extLst>
                <a:ext uri="{FF2B5EF4-FFF2-40B4-BE49-F238E27FC236}">
                  <a16:creationId xmlns:a16="http://schemas.microsoft.com/office/drawing/2014/main" id="{30DCA5FA-A661-41DD-ABDD-D030DEE1A37B}"/>
                </a:ext>
              </a:extLst>
            </p:cNvPr>
            <p:cNvSpPr/>
            <p:nvPr/>
          </p:nvSpPr>
          <p:spPr>
            <a:xfrm>
              <a:off x="5055450" y="4606241"/>
              <a:ext cx="457080" cy="222010"/>
            </a:xfrm>
            <a:custGeom>
              <a:avLst/>
              <a:gdLst>
                <a:gd name="connsiteX0" fmla="*/ 0 w 333375"/>
                <a:gd name="connsiteY0" fmla="*/ 166973 h 161925"/>
                <a:gd name="connsiteX1" fmla="*/ 166973 w 333375"/>
                <a:gd name="connsiteY1" fmla="*/ 0 h 161925"/>
                <a:gd name="connsiteX2" fmla="*/ 334042 w 333375"/>
                <a:gd name="connsiteY2" fmla="*/ 166973 h 161925"/>
              </a:gdLst>
              <a:ahLst/>
              <a:cxnLst>
                <a:cxn ang="0">
                  <a:pos x="connsiteX0" y="connsiteY0"/>
                </a:cxn>
                <a:cxn ang="0">
                  <a:pos x="connsiteX1" y="connsiteY1"/>
                </a:cxn>
                <a:cxn ang="0">
                  <a:pos x="connsiteX2" y="connsiteY2"/>
                </a:cxn>
              </a:cxnLst>
              <a:rect l="l" t="t" r="r" b="b"/>
              <a:pathLst>
                <a:path w="333375" h="161925">
                  <a:moveTo>
                    <a:pt x="0" y="166973"/>
                  </a:moveTo>
                  <a:lnTo>
                    <a:pt x="166973" y="0"/>
                  </a:lnTo>
                  <a:lnTo>
                    <a:pt x="334042" y="166973"/>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sp>
          <p:nvSpPr>
            <p:cNvPr id="155" name="Freeform: Shape 154">
              <a:extLst>
                <a:ext uri="{FF2B5EF4-FFF2-40B4-BE49-F238E27FC236}">
                  <a16:creationId xmlns:a16="http://schemas.microsoft.com/office/drawing/2014/main" id="{13C8752F-66B7-4CCD-B120-21632D62481D}"/>
                </a:ext>
              </a:extLst>
            </p:cNvPr>
            <p:cNvSpPr/>
            <p:nvPr/>
          </p:nvSpPr>
          <p:spPr>
            <a:xfrm>
              <a:off x="5055450" y="4696612"/>
              <a:ext cx="457080" cy="222010"/>
            </a:xfrm>
            <a:custGeom>
              <a:avLst/>
              <a:gdLst>
                <a:gd name="connsiteX0" fmla="*/ 0 w 333375"/>
                <a:gd name="connsiteY0" fmla="*/ 167069 h 161925"/>
                <a:gd name="connsiteX1" fmla="*/ 166973 w 333375"/>
                <a:gd name="connsiteY1" fmla="*/ 0 h 161925"/>
                <a:gd name="connsiteX2" fmla="*/ 334042 w 333375"/>
                <a:gd name="connsiteY2" fmla="*/ 167069 h 161925"/>
              </a:gdLst>
              <a:ahLst/>
              <a:cxnLst>
                <a:cxn ang="0">
                  <a:pos x="connsiteX0" y="connsiteY0"/>
                </a:cxn>
                <a:cxn ang="0">
                  <a:pos x="connsiteX1" y="connsiteY1"/>
                </a:cxn>
                <a:cxn ang="0">
                  <a:pos x="connsiteX2" y="connsiteY2"/>
                </a:cxn>
              </a:cxnLst>
              <a:rect l="l" t="t" r="r" b="b"/>
              <a:pathLst>
                <a:path w="333375" h="161925">
                  <a:moveTo>
                    <a:pt x="0" y="167069"/>
                  </a:moveTo>
                  <a:lnTo>
                    <a:pt x="166973" y="0"/>
                  </a:lnTo>
                  <a:lnTo>
                    <a:pt x="334042" y="167069"/>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sp>
          <p:nvSpPr>
            <p:cNvPr id="156" name="Freeform: Shape 155">
              <a:extLst>
                <a:ext uri="{FF2B5EF4-FFF2-40B4-BE49-F238E27FC236}">
                  <a16:creationId xmlns:a16="http://schemas.microsoft.com/office/drawing/2014/main" id="{9B482BE3-F5CE-428E-BAD5-22D10DE77E64}"/>
                </a:ext>
              </a:extLst>
            </p:cNvPr>
            <p:cNvSpPr/>
            <p:nvPr/>
          </p:nvSpPr>
          <p:spPr>
            <a:xfrm>
              <a:off x="5055450" y="4787113"/>
              <a:ext cx="457080" cy="222010"/>
            </a:xfrm>
            <a:custGeom>
              <a:avLst/>
              <a:gdLst>
                <a:gd name="connsiteX0" fmla="*/ 0 w 333375"/>
                <a:gd name="connsiteY0" fmla="*/ 167068 h 161925"/>
                <a:gd name="connsiteX1" fmla="*/ 166973 w 333375"/>
                <a:gd name="connsiteY1" fmla="*/ 0 h 161925"/>
                <a:gd name="connsiteX2" fmla="*/ 334042 w 333375"/>
                <a:gd name="connsiteY2" fmla="*/ 167068 h 161925"/>
              </a:gdLst>
              <a:ahLst/>
              <a:cxnLst>
                <a:cxn ang="0">
                  <a:pos x="connsiteX0" y="connsiteY0"/>
                </a:cxn>
                <a:cxn ang="0">
                  <a:pos x="connsiteX1" y="connsiteY1"/>
                </a:cxn>
                <a:cxn ang="0">
                  <a:pos x="connsiteX2" y="connsiteY2"/>
                </a:cxn>
              </a:cxnLst>
              <a:rect l="l" t="t" r="r" b="b"/>
              <a:pathLst>
                <a:path w="333375" h="161925">
                  <a:moveTo>
                    <a:pt x="0" y="167068"/>
                  </a:moveTo>
                  <a:lnTo>
                    <a:pt x="166973" y="0"/>
                  </a:lnTo>
                  <a:lnTo>
                    <a:pt x="334042" y="167068"/>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grpSp>
      <p:sp>
        <p:nvSpPr>
          <p:cNvPr id="226" name="TextBox 225">
            <a:extLst>
              <a:ext uri="{FF2B5EF4-FFF2-40B4-BE49-F238E27FC236}">
                <a16:creationId xmlns:a16="http://schemas.microsoft.com/office/drawing/2014/main" id="{2CDEF80D-16AE-4621-B914-5D2BA327DE2A}"/>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227" name="Title 3">
            <a:extLst>
              <a:ext uri="{FF2B5EF4-FFF2-40B4-BE49-F238E27FC236}">
                <a16:creationId xmlns:a16="http://schemas.microsoft.com/office/drawing/2014/main" id="{B67BC9FD-E999-4F55-A2A8-B400B3CC6A76}"/>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lvl="0"/>
            <a:r>
              <a:rPr lang="en-US" cap="none" baseline="0" dirty="0"/>
              <a:t>Who We Are</a:t>
            </a:r>
          </a:p>
        </p:txBody>
      </p:sp>
      <p:sp>
        <p:nvSpPr>
          <p:cNvPr id="80" name="Rectangle 79">
            <a:extLst>
              <a:ext uri="{FF2B5EF4-FFF2-40B4-BE49-F238E27FC236}">
                <a16:creationId xmlns:a16="http://schemas.microsoft.com/office/drawing/2014/main" id="{3445D70D-9499-4704-B0AE-FF93917F92F2}"/>
              </a:ext>
              <a:ext uri="{C183D7F6-B498-43B3-948B-1728B52AA6E4}">
                <adec:decorative xmlns:adec="http://schemas.microsoft.com/office/drawing/2017/decorative" val="1"/>
              </a:ext>
            </a:extLst>
          </p:cNvPr>
          <p:cNvSpPr/>
          <p:nvPr userDrawn="1"/>
        </p:nvSpPr>
        <p:spPr>
          <a:xfrm>
            <a:off x="0" y="4069721"/>
            <a:ext cx="12192000" cy="9879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4" name="Group 83" descr="founded in 1998">
            <a:extLst>
              <a:ext uri="{FF2B5EF4-FFF2-40B4-BE49-F238E27FC236}">
                <a16:creationId xmlns:a16="http://schemas.microsoft.com/office/drawing/2014/main" id="{08E9C0D1-1952-4AA2-8A63-39D7A7B9BF6D}"/>
              </a:ext>
            </a:extLst>
          </p:cNvPr>
          <p:cNvGrpSpPr/>
          <p:nvPr userDrawn="1"/>
        </p:nvGrpSpPr>
        <p:grpSpPr>
          <a:xfrm>
            <a:off x="631097" y="4096840"/>
            <a:ext cx="1284982" cy="847554"/>
            <a:chOff x="631098" y="3789723"/>
            <a:chExt cx="1284982" cy="847554"/>
          </a:xfrm>
        </p:grpSpPr>
        <p:sp>
          <p:nvSpPr>
            <p:cNvPr id="85" name="TextBox 84">
              <a:extLst>
                <a:ext uri="{FF2B5EF4-FFF2-40B4-BE49-F238E27FC236}">
                  <a16:creationId xmlns:a16="http://schemas.microsoft.com/office/drawing/2014/main" id="{2268AFC9-6EAD-475F-90FF-EAD4C15AA456}"/>
                </a:ext>
              </a:extLst>
            </p:cNvPr>
            <p:cNvSpPr txBox="1"/>
            <p:nvPr/>
          </p:nvSpPr>
          <p:spPr>
            <a:xfrm>
              <a:off x="631098" y="3789723"/>
              <a:ext cx="1284982" cy="677108"/>
            </a:xfrm>
            <a:prstGeom prst="rect">
              <a:avLst/>
            </a:prstGeom>
            <a:noFill/>
            <a:ln>
              <a:noFill/>
            </a:ln>
          </p:spPr>
          <p:txBody>
            <a:bodyPr wrap="square" lIns="0" tIns="0" rIns="0" bIns="0" rtlCol="0">
              <a:spAutoFit/>
            </a:bodyPr>
            <a:lstStyle/>
            <a:p>
              <a:pPr algn="l"/>
              <a:r>
                <a:rPr lang="en-US" sz="4400" b="1" i="0" dirty="0">
                  <a:solidFill>
                    <a:schemeClr val="bg1"/>
                  </a:solidFill>
                  <a:latin typeface="Century Gothic" panose="020B0502020202020204" pitchFamily="34" charset="0"/>
                </a:rPr>
                <a:t>1998</a:t>
              </a:r>
              <a:endParaRPr lang="en-GB" sz="4400" b="1" i="0" dirty="0">
                <a:solidFill>
                  <a:schemeClr val="bg1"/>
                </a:solidFill>
                <a:latin typeface="Century Gothic" panose="020B0502020202020204" pitchFamily="34" charset="0"/>
              </a:endParaRPr>
            </a:p>
          </p:txBody>
        </p:sp>
        <p:sp>
          <p:nvSpPr>
            <p:cNvPr id="86" name="TextBox 85">
              <a:extLst>
                <a:ext uri="{FF2B5EF4-FFF2-40B4-BE49-F238E27FC236}">
                  <a16:creationId xmlns:a16="http://schemas.microsoft.com/office/drawing/2014/main" id="{0F35FEE9-55B2-4061-8A3E-54563758BBAD}"/>
                </a:ext>
              </a:extLst>
            </p:cNvPr>
            <p:cNvSpPr txBox="1"/>
            <p:nvPr/>
          </p:nvSpPr>
          <p:spPr>
            <a:xfrm>
              <a:off x="722384" y="4360278"/>
              <a:ext cx="1126839" cy="276999"/>
            </a:xfrm>
            <a:prstGeom prst="rect">
              <a:avLst/>
            </a:prstGeom>
            <a:noFill/>
            <a:ln>
              <a:noFill/>
            </a:ln>
          </p:spPr>
          <p:txBody>
            <a:bodyPr wrap="square" lIns="0" tIns="0" rIns="0" bIns="0" rtlCol="0">
              <a:spAutoFit/>
            </a:bodyPr>
            <a:lstStyle/>
            <a:p>
              <a:pPr algn="l"/>
              <a:r>
                <a:rPr lang="sk-SK" i="0" dirty="0">
                  <a:solidFill>
                    <a:schemeClr val="bg1"/>
                  </a:solidFill>
                  <a:latin typeface="Century Gothic" panose="020B0502020202020204" pitchFamily="34" charset="0"/>
                </a:rPr>
                <a:t>FOUNDED</a:t>
              </a:r>
              <a:endParaRPr lang="en-GB" i="0" dirty="0">
                <a:solidFill>
                  <a:schemeClr val="bg1"/>
                </a:solidFill>
                <a:latin typeface="Century Gothic" panose="020B0502020202020204" pitchFamily="34" charset="0"/>
              </a:endParaRPr>
            </a:p>
          </p:txBody>
        </p:sp>
      </p:grpSp>
      <p:grpSp>
        <p:nvGrpSpPr>
          <p:cNvPr id="92" name="Group 91" descr="37 worldwide offices across 4 continents">
            <a:extLst>
              <a:ext uri="{FF2B5EF4-FFF2-40B4-BE49-F238E27FC236}">
                <a16:creationId xmlns:a16="http://schemas.microsoft.com/office/drawing/2014/main" id="{89787249-E01B-49C8-AD8A-AE508C570E0B}"/>
              </a:ext>
            </a:extLst>
          </p:cNvPr>
          <p:cNvGrpSpPr/>
          <p:nvPr userDrawn="1"/>
        </p:nvGrpSpPr>
        <p:grpSpPr>
          <a:xfrm>
            <a:off x="3152098" y="4183076"/>
            <a:ext cx="3048767" cy="738664"/>
            <a:chOff x="2419726" y="3853396"/>
            <a:chExt cx="3048767" cy="738664"/>
          </a:xfrm>
        </p:grpSpPr>
        <p:sp>
          <p:nvSpPr>
            <p:cNvPr id="93" name="TextBox 92">
              <a:extLst>
                <a:ext uri="{FF2B5EF4-FFF2-40B4-BE49-F238E27FC236}">
                  <a16:creationId xmlns:a16="http://schemas.microsoft.com/office/drawing/2014/main" id="{8C13A353-A80C-4CF3-9670-40F6373DAB48}"/>
                </a:ext>
              </a:extLst>
            </p:cNvPr>
            <p:cNvSpPr txBox="1"/>
            <p:nvPr/>
          </p:nvSpPr>
          <p:spPr>
            <a:xfrm>
              <a:off x="2419726" y="3853396"/>
              <a:ext cx="1095089" cy="738664"/>
            </a:xfrm>
            <a:prstGeom prst="rect">
              <a:avLst/>
            </a:prstGeom>
            <a:noFill/>
            <a:ln>
              <a:noFill/>
            </a:ln>
          </p:spPr>
          <p:txBody>
            <a:bodyPr wrap="square" lIns="0" tIns="0" rIns="0" bIns="0" rtlCol="0">
              <a:spAutoFit/>
            </a:bodyPr>
            <a:lstStyle/>
            <a:p>
              <a:pPr algn="l"/>
              <a:r>
                <a:rPr lang="en-US" sz="4800" b="1" dirty="0">
                  <a:solidFill>
                    <a:schemeClr val="bg1"/>
                  </a:solidFill>
                  <a:latin typeface="Century Gothic" panose="020B0502020202020204" pitchFamily="34" charset="0"/>
                </a:rPr>
                <a:t>34</a:t>
              </a:r>
              <a:endParaRPr lang="en-GB" sz="4400" b="1" dirty="0">
                <a:solidFill>
                  <a:schemeClr val="bg1"/>
                </a:solidFill>
                <a:latin typeface="Century Gothic" panose="020B0502020202020204" pitchFamily="34" charset="0"/>
              </a:endParaRPr>
            </a:p>
          </p:txBody>
        </p:sp>
        <p:sp>
          <p:nvSpPr>
            <p:cNvPr id="94" name="TextBox 93">
              <a:extLst>
                <a:ext uri="{FF2B5EF4-FFF2-40B4-BE49-F238E27FC236}">
                  <a16:creationId xmlns:a16="http://schemas.microsoft.com/office/drawing/2014/main" id="{18038903-CD59-4286-9135-CE4B163E7C94}"/>
                </a:ext>
              </a:extLst>
            </p:cNvPr>
            <p:cNvSpPr txBox="1"/>
            <p:nvPr/>
          </p:nvSpPr>
          <p:spPr>
            <a:xfrm>
              <a:off x="3148433" y="3957557"/>
              <a:ext cx="2320059" cy="276999"/>
            </a:xfrm>
            <a:prstGeom prst="rect">
              <a:avLst/>
            </a:prstGeom>
            <a:noFill/>
            <a:ln>
              <a:noFill/>
            </a:ln>
          </p:spPr>
          <p:txBody>
            <a:bodyPr wrap="square" lIns="0" tIns="0" rIns="0" bIns="0" rtlCol="0" anchor="ctr" anchorCtr="0">
              <a:spAutoFit/>
            </a:bodyPr>
            <a:lstStyle/>
            <a:p>
              <a:r>
                <a:rPr lang="sk-SK" b="1" dirty="0">
                  <a:solidFill>
                    <a:schemeClr val="bg1"/>
                  </a:solidFill>
                  <a:latin typeface="Century Gothic" panose="020B0502020202020204" pitchFamily="34" charset="0"/>
                </a:rPr>
                <a:t>WORLDWIDE OFFICES</a:t>
              </a:r>
            </a:p>
          </p:txBody>
        </p:sp>
        <p:sp>
          <p:nvSpPr>
            <p:cNvPr id="95" name="TextBox 94">
              <a:extLst>
                <a:ext uri="{FF2B5EF4-FFF2-40B4-BE49-F238E27FC236}">
                  <a16:creationId xmlns:a16="http://schemas.microsoft.com/office/drawing/2014/main" id="{3E57EE01-6658-4ED8-85AE-F39A252FA6E1}"/>
                </a:ext>
              </a:extLst>
            </p:cNvPr>
            <p:cNvSpPr txBox="1"/>
            <p:nvPr/>
          </p:nvSpPr>
          <p:spPr>
            <a:xfrm>
              <a:off x="3170417" y="4229206"/>
              <a:ext cx="2298076" cy="246221"/>
            </a:xfrm>
            <a:prstGeom prst="rect">
              <a:avLst/>
            </a:prstGeom>
            <a:noFill/>
            <a:ln>
              <a:noFill/>
            </a:ln>
          </p:spPr>
          <p:txBody>
            <a:bodyPr wrap="square" lIns="0" tIns="0" rIns="0" bIns="0" rtlCol="0" anchor="ctr" anchorCtr="0">
              <a:spAutoFit/>
            </a:bodyPr>
            <a:lstStyle/>
            <a:p>
              <a:pPr algn="l"/>
              <a:r>
                <a:rPr lang="sk-SK" sz="1600" b="0" dirty="0">
                  <a:solidFill>
                    <a:schemeClr val="bg1"/>
                  </a:solidFill>
                  <a:latin typeface="Century Gothic" panose="020B0502020202020204" pitchFamily="34" charset="0"/>
                </a:rPr>
                <a:t>ACROSS 4 CONTINENTS</a:t>
              </a:r>
              <a:endParaRPr lang="en-GB" sz="1600" b="0" dirty="0">
                <a:solidFill>
                  <a:schemeClr val="bg1"/>
                </a:solidFill>
                <a:latin typeface="Century Gothic" panose="020B0502020202020204" pitchFamily="34" charset="0"/>
              </a:endParaRPr>
            </a:p>
          </p:txBody>
        </p:sp>
      </p:grpSp>
      <p:grpSp>
        <p:nvGrpSpPr>
          <p:cNvPr id="3" name="Group 2" descr="more than 20 years of industry experience">
            <a:extLst>
              <a:ext uri="{FF2B5EF4-FFF2-40B4-BE49-F238E27FC236}">
                <a16:creationId xmlns:a16="http://schemas.microsoft.com/office/drawing/2014/main" id="{DC2E9607-AD44-66ED-8C29-0E28F16C9552}"/>
              </a:ext>
            </a:extLst>
          </p:cNvPr>
          <p:cNvGrpSpPr/>
          <p:nvPr userDrawn="1"/>
        </p:nvGrpSpPr>
        <p:grpSpPr>
          <a:xfrm>
            <a:off x="7436884" y="4088424"/>
            <a:ext cx="1410143" cy="853498"/>
            <a:chOff x="8216897" y="4088424"/>
            <a:chExt cx="1410143" cy="853498"/>
          </a:xfrm>
        </p:grpSpPr>
        <p:sp>
          <p:nvSpPr>
            <p:cNvPr id="157" name="TextBox 156">
              <a:extLst>
                <a:ext uri="{FF2B5EF4-FFF2-40B4-BE49-F238E27FC236}">
                  <a16:creationId xmlns:a16="http://schemas.microsoft.com/office/drawing/2014/main" id="{4E5AC523-E96B-409D-814E-AF0482151FA2}"/>
                </a:ext>
              </a:extLst>
            </p:cNvPr>
            <p:cNvSpPr txBox="1"/>
            <p:nvPr userDrawn="1"/>
          </p:nvSpPr>
          <p:spPr>
            <a:xfrm>
              <a:off x="8724141" y="4088424"/>
              <a:ext cx="199329" cy="307777"/>
            </a:xfrm>
            <a:prstGeom prst="rect">
              <a:avLst/>
            </a:prstGeom>
            <a:noFill/>
            <a:ln>
              <a:noFill/>
            </a:ln>
          </p:spPr>
          <p:txBody>
            <a:bodyPr wrap="square" lIns="0" tIns="0" rIns="0" bIns="0" rtlCol="0">
              <a:spAutoFit/>
            </a:bodyPr>
            <a:lstStyle/>
            <a:p>
              <a:pPr algn="l"/>
              <a:r>
                <a:rPr lang="sk-SK" sz="2000" b="1" dirty="0">
                  <a:solidFill>
                    <a:schemeClr val="bg1"/>
                  </a:solidFill>
                  <a:latin typeface="Century Gothic" panose="020B0502020202020204" pitchFamily="34" charset="0"/>
                </a:rPr>
                <a:t>+</a:t>
              </a:r>
              <a:endParaRPr lang="en-GB" sz="2800" b="1" dirty="0">
                <a:solidFill>
                  <a:schemeClr val="bg1"/>
                </a:solidFill>
                <a:latin typeface="Century Gothic" panose="020B0502020202020204" pitchFamily="34" charset="0"/>
              </a:endParaRPr>
            </a:p>
          </p:txBody>
        </p:sp>
        <p:grpSp>
          <p:nvGrpSpPr>
            <p:cNvPr id="87" name="Group 86" descr="more than 20 years of industry experience">
              <a:extLst>
                <a:ext uri="{FF2B5EF4-FFF2-40B4-BE49-F238E27FC236}">
                  <a16:creationId xmlns:a16="http://schemas.microsoft.com/office/drawing/2014/main" id="{FA1E3E11-011F-4F7F-B687-19EFCC1C6C34}"/>
                </a:ext>
              </a:extLst>
            </p:cNvPr>
            <p:cNvGrpSpPr/>
            <p:nvPr userDrawn="1"/>
          </p:nvGrpSpPr>
          <p:grpSpPr>
            <a:xfrm>
              <a:off x="8216897" y="4154732"/>
              <a:ext cx="1410143" cy="787190"/>
              <a:chOff x="7881875" y="3805941"/>
              <a:chExt cx="1410143" cy="787190"/>
            </a:xfrm>
          </p:grpSpPr>
          <p:sp>
            <p:nvSpPr>
              <p:cNvPr id="88" name="TextBox 87">
                <a:extLst>
                  <a:ext uri="{FF2B5EF4-FFF2-40B4-BE49-F238E27FC236}">
                    <a16:creationId xmlns:a16="http://schemas.microsoft.com/office/drawing/2014/main" id="{94AEA838-9FA1-49C2-9DA9-8514253B6264}"/>
                  </a:ext>
                </a:extLst>
              </p:cNvPr>
              <p:cNvSpPr txBox="1"/>
              <p:nvPr/>
            </p:nvSpPr>
            <p:spPr>
              <a:xfrm>
                <a:off x="7881875" y="3805941"/>
                <a:ext cx="1238228" cy="615553"/>
              </a:xfrm>
              <a:prstGeom prst="rect">
                <a:avLst/>
              </a:prstGeom>
              <a:noFill/>
              <a:ln>
                <a:noFill/>
              </a:ln>
            </p:spPr>
            <p:txBody>
              <a:bodyPr wrap="square" lIns="0" tIns="0" rIns="0" bIns="0" rtlCol="0">
                <a:spAutoFit/>
              </a:bodyPr>
              <a:lstStyle/>
              <a:p>
                <a:pPr algn="l"/>
                <a:r>
                  <a:rPr lang="sk-SK" sz="4000" b="1" dirty="0">
                    <a:solidFill>
                      <a:schemeClr val="bg1"/>
                    </a:solidFill>
                    <a:latin typeface="Century Gothic" panose="020B0502020202020204" pitchFamily="34" charset="0"/>
                  </a:rPr>
                  <a:t>2</a:t>
                </a:r>
                <a:r>
                  <a:rPr lang="en-GB" sz="4000" b="1" dirty="0">
                    <a:solidFill>
                      <a:schemeClr val="bg1"/>
                    </a:solidFill>
                    <a:latin typeface="Century Gothic" panose="020B0502020202020204" pitchFamily="34" charset="0"/>
                  </a:rPr>
                  <a:t>5</a:t>
                </a:r>
                <a:endParaRPr lang="en-GB" sz="5400" b="1" dirty="0">
                  <a:solidFill>
                    <a:schemeClr val="bg1"/>
                  </a:solidFill>
                  <a:latin typeface="Century Gothic" panose="020B0502020202020204" pitchFamily="34" charset="0"/>
                </a:endParaRPr>
              </a:p>
            </p:txBody>
          </p:sp>
          <p:sp>
            <p:nvSpPr>
              <p:cNvPr id="89" name="TextBox 88">
                <a:extLst>
                  <a:ext uri="{FF2B5EF4-FFF2-40B4-BE49-F238E27FC236}">
                    <a16:creationId xmlns:a16="http://schemas.microsoft.com/office/drawing/2014/main" id="{222450DF-2F32-4374-B91F-D3F7A2C44725}"/>
                  </a:ext>
                </a:extLst>
              </p:cNvPr>
              <p:cNvSpPr txBox="1"/>
              <p:nvPr/>
            </p:nvSpPr>
            <p:spPr>
              <a:xfrm>
                <a:off x="7892661" y="4316132"/>
                <a:ext cx="1399356" cy="276999"/>
              </a:xfrm>
              <a:prstGeom prst="rect">
                <a:avLst/>
              </a:prstGeom>
              <a:noFill/>
              <a:ln>
                <a:noFill/>
              </a:ln>
            </p:spPr>
            <p:txBody>
              <a:bodyPr wrap="square" lIns="0" tIns="0" rIns="0" bIns="0" rtlCol="0">
                <a:spAutoFit/>
              </a:bodyPr>
              <a:lstStyle/>
              <a:p>
                <a:pPr algn="l"/>
                <a:r>
                  <a:rPr lang="sk-SK" sz="1800" dirty="0">
                    <a:solidFill>
                      <a:schemeClr val="bg1"/>
                    </a:solidFill>
                    <a:latin typeface="Century Gothic" panose="020B0502020202020204" pitchFamily="34" charset="0"/>
                  </a:rPr>
                  <a:t>EXPERIENCE</a:t>
                </a:r>
                <a:endParaRPr lang="en-GB" sz="1800" dirty="0">
                  <a:solidFill>
                    <a:schemeClr val="bg1"/>
                  </a:solidFill>
                  <a:latin typeface="Century Gothic" panose="020B0502020202020204" pitchFamily="34" charset="0"/>
                </a:endParaRPr>
              </a:p>
            </p:txBody>
          </p:sp>
          <p:sp>
            <p:nvSpPr>
              <p:cNvPr id="90" name="TextBox 89">
                <a:extLst>
                  <a:ext uri="{FF2B5EF4-FFF2-40B4-BE49-F238E27FC236}">
                    <a16:creationId xmlns:a16="http://schemas.microsoft.com/office/drawing/2014/main" id="{35173D68-0348-494F-A232-0ED95D147242}"/>
                  </a:ext>
                </a:extLst>
              </p:cNvPr>
              <p:cNvSpPr txBox="1"/>
              <p:nvPr/>
            </p:nvSpPr>
            <p:spPr>
              <a:xfrm>
                <a:off x="8553523" y="4153157"/>
                <a:ext cx="716144" cy="192360"/>
              </a:xfrm>
              <a:prstGeom prst="rect">
                <a:avLst/>
              </a:prstGeom>
              <a:noFill/>
              <a:ln>
                <a:noFill/>
              </a:ln>
            </p:spPr>
            <p:txBody>
              <a:bodyPr wrap="square" lIns="0" tIns="0" rIns="0" bIns="0" rtlCol="0">
                <a:spAutoFit/>
              </a:bodyPr>
              <a:lstStyle/>
              <a:p>
                <a:pPr algn="l"/>
                <a:r>
                  <a:rPr lang="sk-SK" sz="1250" dirty="0">
                    <a:solidFill>
                      <a:schemeClr val="bg1"/>
                    </a:solidFill>
                    <a:latin typeface="Century Gothic" panose="020B0502020202020204" pitchFamily="34" charset="0"/>
                  </a:rPr>
                  <a:t>INDUSTRY</a:t>
                </a:r>
                <a:endParaRPr lang="en-GB" sz="1250" dirty="0">
                  <a:solidFill>
                    <a:schemeClr val="bg1"/>
                  </a:solidFill>
                  <a:latin typeface="Century Gothic" panose="020B0502020202020204" pitchFamily="34" charset="0"/>
                </a:endParaRPr>
              </a:p>
            </p:txBody>
          </p:sp>
          <p:sp>
            <p:nvSpPr>
              <p:cNvPr id="91" name="TextBox 90">
                <a:extLst>
                  <a:ext uri="{FF2B5EF4-FFF2-40B4-BE49-F238E27FC236}">
                    <a16:creationId xmlns:a16="http://schemas.microsoft.com/office/drawing/2014/main" id="{5E93BA02-6706-421C-9FC9-330704ADFD0C}"/>
                  </a:ext>
                </a:extLst>
              </p:cNvPr>
              <p:cNvSpPr txBox="1"/>
              <p:nvPr/>
            </p:nvSpPr>
            <p:spPr>
              <a:xfrm>
                <a:off x="8517814" y="3873192"/>
                <a:ext cx="774204" cy="307777"/>
              </a:xfrm>
              <a:prstGeom prst="rect">
                <a:avLst/>
              </a:prstGeom>
              <a:noFill/>
              <a:ln>
                <a:noFill/>
              </a:ln>
            </p:spPr>
            <p:txBody>
              <a:bodyPr wrap="square" lIns="0" tIns="0" rIns="0" bIns="0" rtlCol="0">
                <a:spAutoFit/>
              </a:bodyPr>
              <a:lstStyle/>
              <a:p>
                <a:pPr algn="l"/>
                <a:r>
                  <a:rPr lang="sk-SK" sz="2000" b="1" dirty="0">
                    <a:solidFill>
                      <a:schemeClr val="bg1"/>
                    </a:solidFill>
                    <a:latin typeface="Century Gothic" panose="020B0502020202020204" pitchFamily="34" charset="0"/>
                  </a:rPr>
                  <a:t>YEARS</a:t>
                </a:r>
                <a:endParaRPr lang="en-GB" sz="2000" b="1" dirty="0">
                  <a:solidFill>
                    <a:schemeClr val="bg1"/>
                  </a:solidFill>
                  <a:latin typeface="Century Gothic" panose="020B0502020202020204" pitchFamily="34" charset="0"/>
                </a:endParaRPr>
              </a:p>
            </p:txBody>
          </p:sp>
        </p:grpSp>
      </p:grpSp>
      <p:grpSp>
        <p:nvGrpSpPr>
          <p:cNvPr id="76" name="Group 75" descr="about 7000 employees">
            <a:extLst>
              <a:ext uri="{FF2B5EF4-FFF2-40B4-BE49-F238E27FC236}">
                <a16:creationId xmlns:a16="http://schemas.microsoft.com/office/drawing/2014/main" id="{5323C358-5B69-C22E-5DE4-3D9780449B65}"/>
              </a:ext>
            </a:extLst>
          </p:cNvPr>
          <p:cNvGrpSpPr/>
          <p:nvPr userDrawn="1"/>
        </p:nvGrpSpPr>
        <p:grpSpPr>
          <a:xfrm>
            <a:off x="10083045" y="4150394"/>
            <a:ext cx="1288292" cy="789342"/>
            <a:chOff x="9818544" y="3812992"/>
            <a:chExt cx="1288292" cy="789342"/>
          </a:xfrm>
        </p:grpSpPr>
        <p:sp>
          <p:nvSpPr>
            <p:cNvPr id="77" name="TextBox 76">
              <a:extLst>
                <a:ext uri="{FF2B5EF4-FFF2-40B4-BE49-F238E27FC236}">
                  <a16:creationId xmlns:a16="http://schemas.microsoft.com/office/drawing/2014/main" id="{F2E14E4A-4DB7-A664-4A7C-A32375B90DAD}"/>
                </a:ext>
              </a:extLst>
            </p:cNvPr>
            <p:cNvSpPr txBox="1"/>
            <p:nvPr/>
          </p:nvSpPr>
          <p:spPr>
            <a:xfrm>
              <a:off x="9818544" y="3812992"/>
              <a:ext cx="1288292" cy="553998"/>
            </a:xfrm>
            <a:prstGeom prst="rect">
              <a:avLst/>
            </a:prstGeom>
            <a:noFill/>
            <a:ln>
              <a:noFill/>
            </a:ln>
          </p:spPr>
          <p:txBody>
            <a:bodyPr wrap="square" lIns="0" tIns="0" rIns="0" bIns="0" rtlCol="0">
              <a:spAutoFit/>
            </a:bodyPr>
            <a:lstStyle/>
            <a:p>
              <a:pPr algn="l"/>
              <a:r>
                <a:rPr lang="sk-SK" sz="5400" b="1" baseline="-25000" dirty="0">
                  <a:solidFill>
                    <a:schemeClr val="bg1"/>
                  </a:solidFill>
                  <a:latin typeface="Century Gothic" panose="020B0502020202020204" pitchFamily="34" charset="0"/>
                </a:rPr>
                <a:t>˜</a:t>
              </a:r>
              <a:r>
                <a:rPr lang="sk-SK" sz="3600" b="1" dirty="0">
                  <a:solidFill>
                    <a:schemeClr val="bg1"/>
                  </a:solidFill>
                  <a:latin typeface="Century Gothic" panose="020B0502020202020204" pitchFamily="34" charset="0"/>
                </a:rPr>
                <a:t>7</a:t>
              </a:r>
              <a:r>
                <a:rPr lang="sk-SK" sz="3600" b="1" i="0" dirty="0">
                  <a:solidFill>
                    <a:schemeClr val="bg1"/>
                  </a:solidFill>
                  <a:latin typeface="Century Gothic" panose="020B0502020202020204" pitchFamily="34" charset="0"/>
                </a:rPr>
                <a:t>000</a:t>
              </a:r>
              <a:endParaRPr lang="en-GB" sz="3600" b="1" i="0" dirty="0">
                <a:solidFill>
                  <a:schemeClr val="bg1"/>
                </a:solidFill>
                <a:latin typeface="Century Gothic" panose="020B0502020202020204" pitchFamily="34" charset="0"/>
              </a:endParaRPr>
            </a:p>
          </p:txBody>
        </p:sp>
        <p:sp>
          <p:nvSpPr>
            <p:cNvPr id="78" name="TextBox 77">
              <a:extLst>
                <a:ext uri="{FF2B5EF4-FFF2-40B4-BE49-F238E27FC236}">
                  <a16:creationId xmlns:a16="http://schemas.microsoft.com/office/drawing/2014/main" id="{430D3B79-7AF0-25C4-4A9E-4F4B3B09DA0B}"/>
                </a:ext>
              </a:extLst>
            </p:cNvPr>
            <p:cNvSpPr txBox="1"/>
            <p:nvPr/>
          </p:nvSpPr>
          <p:spPr>
            <a:xfrm>
              <a:off x="9855169" y="4340724"/>
              <a:ext cx="1251667" cy="261610"/>
            </a:xfrm>
            <a:prstGeom prst="rect">
              <a:avLst/>
            </a:prstGeom>
            <a:noFill/>
            <a:ln>
              <a:noFill/>
            </a:ln>
          </p:spPr>
          <p:txBody>
            <a:bodyPr wrap="square" lIns="0" tIns="0" rIns="0" bIns="0" rtlCol="0">
              <a:spAutoFit/>
            </a:bodyPr>
            <a:lstStyle/>
            <a:p>
              <a:pPr algn="l"/>
              <a:r>
                <a:rPr lang="sk-SK" sz="1700" i="0" dirty="0">
                  <a:solidFill>
                    <a:schemeClr val="bg1"/>
                  </a:solidFill>
                  <a:latin typeface="Century Gothic" panose="020B0502020202020204" pitchFamily="34" charset="0"/>
                </a:rPr>
                <a:t>EMPLOYEES</a:t>
              </a:r>
              <a:endParaRPr lang="en-GB" sz="1700" i="0" dirty="0">
                <a:solidFill>
                  <a:schemeClr val="bg1"/>
                </a:solidFill>
                <a:latin typeface="Century Gothic" panose="020B0502020202020204" pitchFamily="34" charset="0"/>
              </a:endParaRPr>
            </a:p>
          </p:txBody>
        </p:sp>
      </p:grpSp>
      <p:sp>
        <p:nvSpPr>
          <p:cNvPr id="2" name="TextBox 1">
            <a:extLst>
              <a:ext uri="{FF2B5EF4-FFF2-40B4-BE49-F238E27FC236}">
                <a16:creationId xmlns:a16="http://schemas.microsoft.com/office/drawing/2014/main" id="{C87C9CDB-1CC9-4C0E-5A43-A7BD4DA29350}"/>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4" name="Title 3">
            <a:extLst>
              <a:ext uri="{FF2B5EF4-FFF2-40B4-BE49-F238E27FC236}">
                <a16:creationId xmlns:a16="http://schemas.microsoft.com/office/drawing/2014/main" id="{35071F3D-87F4-1A10-7783-199562B7735A}"/>
              </a:ext>
            </a:extLst>
          </p:cNvPr>
          <p:cNvSpPr txBox="1">
            <a:spLocks/>
          </p:cNvSpPr>
          <p:nvPr userDrawn="1"/>
        </p:nvSpPr>
        <p:spPr>
          <a:xfrm>
            <a:off x="542647" y="1357250"/>
            <a:ext cx="3203389" cy="362300"/>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tx1"/>
                </a:solidFill>
                <a:latin typeface="Century Gothic (Headings)"/>
                <a:ea typeface="Verdana" panose="020B0604030504040204" pitchFamily="34" charset="0"/>
                <a:cs typeface="Calibri" panose="020F0502020204030204" pitchFamily="34" charset="0"/>
              </a:rPr>
              <a:t>Trusted Advisors</a:t>
            </a:r>
          </a:p>
        </p:txBody>
      </p:sp>
      <p:sp>
        <p:nvSpPr>
          <p:cNvPr id="5" name="Content Placeholder 7">
            <a:extLst>
              <a:ext uri="{FF2B5EF4-FFF2-40B4-BE49-F238E27FC236}">
                <a16:creationId xmlns:a16="http://schemas.microsoft.com/office/drawing/2014/main" id="{122AA3CC-DFAD-9D36-2C70-9C03F3360294}"/>
              </a:ext>
            </a:extLst>
          </p:cNvPr>
          <p:cNvSpPr txBox="1">
            <a:spLocks/>
          </p:cNvSpPr>
          <p:nvPr userDrawn="1"/>
        </p:nvSpPr>
        <p:spPr>
          <a:xfrm>
            <a:off x="3835400" y="1259928"/>
            <a:ext cx="7711712" cy="536827"/>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Our collaborative and entrepreneurial approach position us as trusted long-term partners to our clients.</a:t>
            </a:r>
          </a:p>
        </p:txBody>
      </p:sp>
      <p:cxnSp>
        <p:nvCxnSpPr>
          <p:cNvPr id="6" name="Straight Connector 5">
            <a:extLst>
              <a:ext uri="{FF2B5EF4-FFF2-40B4-BE49-F238E27FC236}">
                <a16:creationId xmlns:a16="http://schemas.microsoft.com/office/drawing/2014/main" id="{B1B9C3DA-AA7E-0747-C9E4-BBD883EE42D6}"/>
              </a:ext>
              <a:ext uri="{C183D7F6-B498-43B3-948B-1728B52AA6E4}">
                <adec:decorative xmlns:adec="http://schemas.microsoft.com/office/drawing/2017/decorative" val="1"/>
              </a:ext>
            </a:extLst>
          </p:cNvPr>
          <p:cNvCxnSpPr>
            <a:cxnSpLocks/>
          </p:cNvCxnSpPr>
          <p:nvPr userDrawn="1"/>
        </p:nvCxnSpPr>
        <p:spPr>
          <a:xfrm>
            <a:off x="546499" y="1825844"/>
            <a:ext cx="1100061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itle 3">
            <a:extLst>
              <a:ext uri="{FF2B5EF4-FFF2-40B4-BE49-F238E27FC236}">
                <a16:creationId xmlns:a16="http://schemas.microsoft.com/office/drawing/2014/main" id="{793612FC-E433-755A-2E08-D0D4A12BC00F}"/>
              </a:ext>
            </a:extLst>
          </p:cNvPr>
          <p:cNvSpPr txBox="1">
            <a:spLocks/>
          </p:cNvSpPr>
          <p:nvPr userDrawn="1"/>
        </p:nvSpPr>
        <p:spPr>
          <a:xfrm>
            <a:off x="542647" y="2014850"/>
            <a:ext cx="3203389" cy="329259"/>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accent5"/>
                </a:solidFill>
                <a:latin typeface="Century Gothic (Headings)"/>
                <a:ea typeface="Verdana" panose="020B0604030504040204" pitchFamily="34" charset="0"/>
                <a:cs typeface="Calibri" panose="020F0502020204030204" pitchFamily="34" charset="0"/>
              </a:rPr>
              <a:t>Deep Expertise</a:t>
            </a:r>
          </a:p>
        </p:txBody>
      </p:sp>
      <p:sp>
        <p:nvSpPr>
          <p:cNvPr id="8" name="Content Placeholder 7">
            <a:extLst>
              <a:ext uri="{FF2B5EF4-FFF2-40B4-BE49-F238E27FC236}">
                <a16:creationId xmlns:a16="http://schemas.microsoft.com/office/drawing/2014/main" id="{3630A41F-91D0-82DE-50D6-5C131C744017}"/>
              </a:ext>
            </a:extLst>
          </p:cNvPr>
          <p:cNvSpPr txBox="1">
            <a:spLocks/>
          </p:cNvSpPr>
          <p:nvPr userDrawn="1"/>
        </p:nvSpPr>
        <p:spPr>
          <a:xfrm>
            <a:off x="3835400" y="1912547"/>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Clients look to us for clear guidance, proven expertise, and the support they need to set their companies up for success.</a:t>
            </a:r>
          </a:p>
        </p:txBody>
      </p:sp>
      <p:cxnSp>
        <p:nvCxnSpPr>
          <p:cNvPr id="9" name="Straight Connector 8">
            <a:extLst>
              <a:ext uri="{FF2B5EF4-FFF2-40B4-BE49-F238E27FC236}">
                <a16:creationId xmlns:a16="http://schemas.microsoft.com/office/drawing/2014/main" id="{B0E2D88E-6979-7152-A893-4619985EE9BE}"/>
              </a:ext>
              <a:ext uri="{C183D7F6-B498-43B3-948B-1728B52AA6E4}">
                <adec:decorative xmlns:adec="http://schemas.microsoft.com/office/drawing/2017/decorative" val="1"/>
              </a:ext>
            </a:extLst>
          </p:cNvPr>
          <p:cNvCxnSpPr>
            <a:cxnSpLocks/>
          </p:cNvCxnSpPr>
          <p:nvPr userDrawn="1"/>
        </p:nvCxnSpPr>
        <p:spPr>
          <a:xfrm>
            <a:off x="546499" y="2500503"/>
            <a:ext cx="1100061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3">
            <a:extLst>
              <a:ext uri="{FF2B5EF4-FFF2-40B4-BE49-F238E27FC236}">
                <a16:creationId xmlns:a16="http://schemas.microsoft.com/office/drawing/2014/main" id="{9F44FCE0-5436-29BC-4DE9-96CB436615FB}"/>
              </a:ext>
            </a:extLst>
          </p:cNvPr>
          <p:cNvSpPr txBox="1">
            <a:spLocks/>
          </p:cNvSpPr>
          <p:nvPr userDrawn="1"/>
        </p:nvSpPr>
        <p:spPr>
          <a:xfrm>
            <a:off x="542647" y="2711396"/>
            <a:ext cx="3203389" cy="359450"/>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tx1"/>
                </a:solidFill>
                <a:latin typeface="Century Gothic (Headings)"/>
                <a:ea typeface="Verdana" panose="020B0604030504040204" pitchFamily="34" charset="0"/>
                <a:cs typeface="Calibri" panose="020F0502020204030204" pitchFamily="34" charset="0"/>
              </a:rPr>
              <a:t>Disruptive Solutions</a:t>
            </a:r>
          </a:p>
        </p:txBody>
      </p:sp>
      <p:sp>
        <p:nvSpPr>
          <p:cNvPr id="11" name="Content Placeholder 7">
            <a:extLst>
              <a:ext uri="{FF2B5EF4-FFF2-40B4-BE49-F238E27FC236}">
                <a16:creationId xmlns:a16="http://schemas.microsoft.com/office/drawing/2014/main" id="{FB7B9A17-1789-4C7F-AEC7-C0DCBEDFC8B3}"/>
              </a:ext>
            </a:extLst>
          </p:cNvPr>
          <p:cNvSpPr txBox="1">
            <a:spLocks/>
          </p:cNvSpPr>
          <p:nvPr userDrawn="1"/>
        </p:nvSpPr>
        <p:spPr>
          <a:xfrm>
            <a:off x="3835400" y="2625804"/>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We do not provide off-the-shelf answers to clients’ challenges. Instead, we work in close collaboration to understand the issues, and craft disruptive, bespoke solutions.</a:t>
            </a:r>
          </a:p>
        </p:txBody>
      </p:sp>
      <p:cxnSp>
        <p:nvCxnSpPr>
          <p:cNvPr id="12" name="Straight Connector 11">
            <a:extLst>
              <a:ext uri="{FF2B5EF4-FFF2-40B4-BE49-F238E27FC236}">
                <a16:creationId xmlns:a16="http://schemas.microsoft.com/office/drawing/2014/main" id="{D93F9A6B-65DD-8BB3-2E8B-6197D7A778D9}"/>
              </a:ext>
              <a:ext uri="{C183D7F6-B498-43B3-948B-1728B52AA6E4}">
                <adec:decorative xmlns:adec="http://schemas.microsoft.com/office/drawing/2017/decorative" val="1"/>
              </a:ext>
            </a:extLst>
          </p:cNvPr>
          <p:cNvCxnSpPr>
            <a:cxnSpLocks/>
          </p:cNvCxnSpPr>
          <p:nvPr userDrawn="1"/>
        </p:nvCxnSpPr>
        <p:spPr>
          <a:xfrm>
            <a:off x="546689" y="3189947"/>
            <a:ext cx="1100023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itle 3">
            <a:extLst>
              <a:ext uri="{FF2B5EF4-FFF2-40B4-BE49-F238E27FC236}">
                <a16:creationId xmlns:a16="http://schemas.microsoft.com/office/drawing/2014/main" id="{2D612BFE-3997-D1DF-89DE-6CF81092287D}"/>
              </a:ext>
            </a:extLst>
          </p:cNvPr>
          <p:cNvSpPr txBox="1">
            <a:spLocks/>
          </p:cNvSpPr>
          <p:nvPr userDrawn="1"/>
        </p:nvSpPr>
        <p:spPr>
          <a:xfrm>
            <a:off x="542647" y="3366529"/>
            <a:ext cx="3203389" cy="361017"/>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accent5"/>
                </a:solidFill>
                <a:latin typeface="Century Gothic (Headings)"/>
                <a:ea typeface="Verdana" panose="020B0604030504040204" pitchFamily="34" charset="0"/>
                <a:cs typeface="Calibri" panose="020F0502020204030204" pitchFamily="34" charset="0"/>
              </a:rPr>
              <a:t>Accountability and Ownership</a:t>
            </a:r>
          </a:p>
        </p:txBody>
      </p:sp>
      <p:sp>
        <p:nvSpPr>
          <p:cNvPr id="14" name="Content Placeholder 7">
            <a:extLst>
              <a:ext uri="{FF2B5EF4-FFF2-40B4-BE49-F238E27FC236}">
                <a16:creationId xmlns:a16="http://schemas.microsoft.com/office/drawing/2014/main" id="{6B8AAA33-1DC1-9CF3-DC49-76E341E1FFC1}"/>
              </a:ext>
            </a:extLst>
          </p:cNvPr>
          <p:cNvSpPr txBox="1">
            <a:spLocks/>
          </p:cNvSpPr>
          <p:nvPr userDrawn="1"/>
        </p:nvSpPr>
        <p:spPr>
          <a:xfrm>
            <a:off x="3835400" y="3300763"/>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We recognize every client has distinct needs and expectations, and we take ownership and accountability for the solutions we design, build, and deliver.</a:t>
            </a:r>
          </a:p>
        </p:txBody>
      </p:sp>
      <p:sp>
        <p:nvSpPr>
          <p:cNvPr id="15" name="TextBox 14">
            <a:extLst>
              <a:ext uri="{FF2B5EF4-FFF2-40B4-BE49-F238E27FC236}">
                <a16:creationId xmlns:a16="http://schemas.microsoft.com/office/drawing/2014/main" id="{3530D31F-05DA-2DEC-DEA9-1F424F819FC6}"/>
              </a:ext>
            </a:extLst>
          </p:cNvPr>
          <p:cNvSpPr txBox="1"/>
          <p:nvPr userDrawn="1"/>
        </p:nvSpPr>
        <p:spPr>
          <a:xfrm>
            <a:off x="2983743" y="5921995"/>
            <a:ext cx="1389221" cy="323165"/>
          </a:xfrm>
          <a:prstGeom prst="rect">
            <a:avLst/>
          </a:prstGeom>
          <a:noFill/>
          <a:ln>
            <a:noFill/>
          </a:ln>
        </p:spPr>
        <p:txBody>
          <a:bodyPr wrap="square" lIns="0" tIns="0" rIns="0" bIns="0" rtlCol="0">
            <a:spAutoFit/>
          </a:bodyPr>
          <a:lstStyle/>
          <a:p>
            <a:pPr algn="l"/>
            <a:r>
              <a:rPr lang="en-GB" sz="1050" b="1" noProof="0">
                <a:solidFill>
                  <a:schemeClr val="tx1"/>
                </a:solidFill>
                <a:latin typeface="Century Gothic" panose="020B0502020202020204" pitchFamily="34" charset="0"/>
              </a:rPr>
              <a:t>Innovation</a:t>
            </a:r>
            <a:r>
              <a:rPr lang="en-GB" sz="1050" b="1" dirty="0">
                <a:solidFill>
                  <a:schemeClr val="tx1"/>
                </a:solidFill>
                <a:latin typeface="Century Gothic" panose="020B0502020202020204" pitchFamily="34" charset="0"/>
              </a:rPr>
              <a:t> </a:t>
            </a:r>
            <a:r>
              <a:rPr lang="en-GB" altLang="en-US" sz="1050" b="1" kern="1200" dirty="0">
                <a:solidFill>
                  <a:schemeClr val="tx1"/>
                </a:solidFill>
                <a:latin typeface="Century Gothic" panose="020B0502020202020204" pitchFamily="34" charset="0"/>
                <a:sym typeface="Wingdings" panose="05000000000000000000" pitchFamily="2" charset="2"/>
              </a:rPr>
              <a:t>and Thought Leadership</a:t>
            </a:r>
          </a:p>
        </p:txBody>
      </p:sp>
      <p:sp>
        <p:nvSpPr>
          <p:cNvPr id="16" name="TextBox 15">
            <a:extLst>
              <a:ext uri="{FF2B5EF4-FFF2-40B4-BE49-F238E27FC236}">
                <a16:creationId xmlns:a16="http://schemas.microsoft.com/office/drawing/2014/main" id="{9107EBE5-4DED-67F9-A85A-531165F5A5BB}"/>
              </a:ext>
            </a:extLst>
          </p:cNvPr>
          <p:cNvSpPr txBox="1"/>
          <p:nvPr userDrawn="1"/>
        </p:nvSpPr>
        <p:spPr>
          <a:xfrm>
            <a:off x="5408438" y="5921995"/>
            <a:ext cx="1389221" cy="323165"/>
          </a:xfrm>
          <a:prstGeom prst="rect">
            <a:avLst/>
          </a:prstGeom>
          <a:noFill/>
          <a:ln>
            <a:noFill/>
          </a:ln>
        </p:spPr>
        <p:txBody>
          <a:bodyPr wrap="square" lIns="0" tIns="0" rIns="0" bIns="0" rtlCol="0">
            <a:spAutoFit/>
          </a:bodyPr>
          <a:lstStyle/>
          <a:p>
            <a:pPr algn="l"/>
            <a:r>
              <a:rPr lang="en-GB" sz="1050" b="1" noProof="0" dirty="0">
                <a:solidFill>
                  <a:schemeClr val="tx1"/>
                </a:solidFill>
                <a:latin typeface="Century Gothic" panose="020B0502020202020204" pitchFamily="34" charset="0"/>
              </a:rPr>
              <a:t>Execution</a:t>
            </a:r>
          </a:p>
          <a:p>
            <a:pPr algn="l"/>
            <a:r>
              <a:rPr lang="en-GB" altLang="en-US" sz="1050" b="1" kern="1200" noProof="0" dirty="0">
                <a:solidFill>
                  <a:schemeClr val="tx1"/>
                </a:solidFill>
                <a:latin typeface="Century Gothic" panose="020B0502020202020204" pitchFamily="34" charset="0"/>
                <a:sym typeface="Wingdings" panose="05000000000000000000" pitchFamily="2" charset="2"/>
              </a:rPr>
              <a:t>Excellence</a:t>
            </a:r>
          </a:p>
        </p:txBody>
      </p:sp>
      <p:sp>
        <p:nvSpPr>
          <p:cNvPr id="17" name="TextBox 16">
            <a:extLst>
              <a:ext uri="{FF2B5EF4-FFF2-40B4-BE49-F238E27FC236}">
                <a16:creationId xmlns:a16="http://schemas.microsoft.com/office/drawing/2014/main" id="{826507AF-E2BD-73D3-9D13-62F3AE99AF97}"/>
              </a:ext>
            </a:extLst>
          </p:cNvPr>
          <p:cNvSpPr txBox="1"/>
          <p:nvPr userDrawn="1"/>
        </p:nvSpPr>
        <p:spPr>
          <a:xfrm>
            <a:off x="7833133" y="5921995"/>
            <a:ext cx="1389221" cy="323165"/>
          </a:xfrm>
          <a:prstGeom prst="rect">
            <a:avLst/>
          </a:prstGeom>
          <a:noFill/>
          <a:ln>
            <a:noFill/>
          </a:ln>
        </p:spPr>
        <p:txBody>
          <a:bodyPr wrap="square" lIns="0" tIns="0" rIns="0" bIns="0" rtlCol="0">
            <a:spAutoFit/>
          </a:bodyPr>
          <a:lstStyle/>
          <a:p>
            <a:r>
              <a:rPr lang="en-GB" sz="1050" b="1" noProof="0" dirty="0">
                <a:solidFill>
                  <a:schemeClr val="tx1"/>
                </a:solidFill>
                <a:latin typeface="Century Gothic" panose="020B0502020202020204" pitchFamily="34" charset="0"/>
              </a:rPr>
              <a:t>Unique</a:t>
            </a:r>
          </a:p>
          <a:p>
            <a:r>
              <a:rPr lang="en-GB" sz="1050" b="1" noProof="0" dirty="0">
                <a:solidFill>
                  <a:schemeClr val="tx1"/>
                </a:solidFill>
                <a:latin typeface="Century Gothic" panose="020B0502020202020204" pitchFamily="34" charset="0"/>
              </a:rPr>
              <a:t>Culture</a:t>
            </a:r>
          </a:p>
        </p:txBody>
      </p:sp>
      <p:sp>
        <p:nvSpPr>
          <p:cNvPr id="18" name="TextBox 17">
            <a:extLst>
              <a:ext uri="{FF2B5EF4-FFF2-40B4-BE49-F238E27FC236}">
                <a16:creationId xmlns:a16="http://schemas.microsoft.com/office/drawing/2014/main" id="{DD112A97-7E89-9249-D66E-FB494D856AC9}"/>
              </a:ext>
            </a:extLst>
          </p:cNvPr>
          <p:cNvSpPr txBox="1"/>
          <p:nvPr userDrawn="1"/>
        </p:nvSpPr>
        <p:spPr>
          <a:xfrm>
            <a:off x="559048" y="5921995"/>
            <a:ext cx="1389221" cy="323165"/>
          </a:xfrm>
          <a:prstGeom prst="rect">
            <a:avLst/>
          </a:prstGeom>
          <a:noFill/>
          <a:ln>
            <a:noFill/>
          </a:ln>
        </p:spPr>
        <p:txBody>
          <a:bodyPr wrap="square" lIns="0" tIns="0" rIns="0" bIns="0" rtlCol="0">
            <a:spAutoFit/>
          </a:bodyPr>
          <a:lstStyle/>
          <a:p>
            <a:pPr algn="l"/>
            <a:r>
              <a:rPr lang="en-US" sz="1050" b="1" noProof="0" dirty="0">
                <a:solidFill>
                  <a:schemeClr val="tx1"/>
                </a:solidFill>
                <a:latin typeface="Century Gothic (Headings)"/>
              </a:rPr>
              <a:t>Business</a:t>
            </a:r>
          </a:p>
          <a:p>
            <a:pPr algn="l"/>
            <a:r>
              <a:rPr lang="en-US" altLang="en-US" sz="1050" b="1" kern="1200" noProof="0" dirty="0">
                <a:solidFill>
                  <a:schemeClr val="tx1"/>
                </a:solidFill>
                <a:latin typeface="Century Gothic (Headings)"/>
                <a:sym typeface="Wingdings" panose="05000000000000000000" pitchFamily="2" charset="2"/>
              </a:rPr>
              <a:t>Transformation</a:t>
            </a:r>
          </a:p>
        </p:txBody>
      </p:sp>
      <p:sp>
        <p:nvSpPr>
          <p:cNvPr id="19" name="TextBox 18">
            <a:extLst>
              <a:ext uri="{FF2B5EF4-FFF2-40B4-BE49-F238E27FC236}">
                <a16:creationId xmlns:a16="http://schemas.microsoft.com/office/drawing/2014/main" id="{068991DB-0A43-0AF1-D9C0-282586F0B485}"/>
              </a:ext>
            </a:extLst>
          </p:cNvPr>
          <p:cNvSpPr txBox="1"/>
          <p:nvPr userDrawn="1"/>
        </p:nvSpPr>
        <p:spPr>
          <a:xfrm>
            <a:off x="10257827" y="5921995"/>
            <a:ext cx="1389221" cy="323165"/>
          </a:xfrm>
          <a:prstGeom prst="rect">
            <a:avLst/>
          </a:prstGeom>
          <a:noFill/>
          <a:ln>
            <a:noFill/>
          </a:ln>
        </p:spPr>
        <p:txBody>
          <a:bodyPr wrap="square" lIns="0" tIns="0" rIns="0" bIns="0" rtlCol="0">
            <a:spAutoFit/>
          </a:bodyPr>
          <a:lstStyle/>
          <a:p>
            <a:r>
              <a:rPr lang="en-US" sz="1050" b="1" noProof="0" dirty="0">
                <a:solidFill>
                  <a:schemeClr val="tx1"/>
                </a:solidFill>
                <a:latin typeface="Century Gothic (Headings)"/>
              </a:rPr>
              <a:t>Deep Industry</a:t>
            </a:r>
          </a:p>
          <a:p>
            <a:r>
              <a:rPr lang="en-US" sz="1050" b="1" noProof="0" dirty="0">
                <a:solidFill>
                  <a:schemeClr val="tx1"/>
                </a:solidFill>
                <a:latin typeface="Century Gothic (Headings)"/>
              </a:rPr>
              <a:t>Experience</a:t>
            </a:r>
          </a:p>
        </p:txBody>
      </p:sp>
    </p:spTree>
    <p:extLst>
      <p:ext uri="{BB962C8B-B14F-4D97-AF65-F5344CB8AC3E}">
        <p14:creationId xmlns:p14="http://schemas.microsoft.com/office/powerpoint/2010/main" val="17118239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About Capco_dark">
    <p:bg>
      <p:bgPr>
        <a:solidFill>
          <a:schemeClr val="tx1"/>
        </a:solidFill>
        <a:effectLst/>
      </p:bgPr>
    </p:bg>
    <p:spTree>
      <p:nvGrpSpPr>
        <p:cNvPr id="1" name=""/>
        <p:cNvGrpSpPr/>
        <p:nvPr/>
      </p:nvGrpSpPr>
      <p:grpSpPr>
        <a:xfrm>
          <a:off x="0" y="0"/>
          <a:ext cx="0" cy="0"/>
          <a:chOff x="0" y="0"/>
          <a:chExt cx="0" cy="0"/>
        </a:xfrm>
      </p:grpSpPr>
      <p:pic>
        <p:nvPicPr>
          <p:cNvPr id="91" name="Picture 90">
            <a:extLst>
              <a:ext uri="{FF2B5EF4-FFF2-40B4-BE49-F238E27FC236}">
                <a16:creationId xmlns:a16="http://schemas.microsoft.com/office/drawing/2014/main" id="{2FCE8830-C961-4112-93E9-ACEBCFB88A45}"/>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rcRect t="75" b="75"/>
          <a:stretch/>
        </p:blipFill>
        <p:spPr>
          <a:xfrm>
            <a:off x="0" y="0"/>
            <a:ext cx="12192000" cy="6858000"/>
          </a:xfrm>
          <a:prstGeom prst="rect">
            <a:avLst/>
          </a:prstGeom>
        </p:spPr>
      </p:pic>
      <p:cxnSp>
        <p:nvCxnSpPr>
          <p:cNvPr id="4" name="Straight Connector 3">
            <a:extLst>
              <a:ext uri="{FF2B5EF4-FFF2-40B4-BE49-F238E27FC236}">
                <a16:creationId xmlns:a16="http://schemas.microsoft.com/office/drawing/2014/main" id="{3C3CE953-EEF6-F0D8-D5CB-AF3212C28380}"/>
              </a:ext>
              <a:ext uri="{C183D7F6-B498-43B3-948B-1728B52AA6E4}">
                <adec:decorative xmlns:adec="http://schemas.microsoft.com/office/drawing/2017/decorative" val="1"/>
              </a:ext>
            </a:extLst>
          </p:cNvPr>
          <p:cNvCxnSpPr>
            <a:cxnSpLocks/>
          </p:cNvCxnSpPr>
          <p:nvPr userDrawn="1"/>
        </p:nvCxnSpPr>
        <p:spPr>
          <a:xfrm>
            <a:off x="559048" y="5866155"/>
            <a:ext cx="1389221"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87EA80C2-E289-14CA-C832-6248B3F640CB}"/>
              </a:ext>
              <a:ext uri="{C183D7F6-B498-43B3-948B-1728B52AA6E4}">
                <adec:decorative xmlns:adec="http://schemas.microsoft.com/office/drawing/2017/decorative" val="1"/>
              </a:ext>
            </a:extLst>
          </p:cNvPr>
          <p:cNvGrpSpPr/>
          <p:nvPr userDrawn="1"/>
        </p:nvGrpSpPr>
        <p:grpSpPr>
          <a:xfrm>
            <a:off x="560383" y="5293369"/>
            <a:ext cx="472469" cy="459983"/>
            <a:chOff x="2827687" y="2375038"/>
            <a:chExt cx="496315" cy="483199"/>
          </a:xfrm>
        </p:grpSpPr>
        <p:sp>
          <p:nvSpPr>
            <p:cNvPr id="28" name="Freeform: Shape 27">
              <a:extLst>
                <a:ext uri="{FF2B5EF4-FFF2-40B4-BE49-F238E27FC236}">
                  <a16:creationId xmlns:a16="http://schemas.microsoft.com/office/drawing/2014/main" id="{2CB0763F-DC65-BDFE-5274-578DC94CDF81}"/>
                </a:ext>
              </a:extLst>
            </p:cNvPr>
            <p:cNvSpPr/>
            <p:nvPr/>
          </p:nvSpPr>
          <p:spPr>
            <a:xfrm>
              <a:off x="3008517" y="2375038"/>
              <a:ext cx="130594" cy="483199"/>
            </a:xfrm>
            <a:custGeom>
              <a:avLst/>
              <a:gdLst>
                <a:gd name="connsiteX0" fmla="*/ 102108 w 95250"/>
                <a:gd name="connsiteY0" fmla="*/ 177070 h 352425"/>
                <a:gd name="connsiteX1" fmla="*/ 51054 w 95250"/>
                <a:gd name="connsiteY1" fmla="*/ 354140 h 352425"/>
                <a:gd name="connsiteX2" fmla="*/ 0 w 95250"/>
                <a:gd name="connsiteY2" fmla="*/ 177070 h 352425"/>
                <a:gd name="connsiteX3" fmla="*/ 51054 w 95250"/>
                <a:gd name="connsiteY3" fmla="*/ 0 h 352425"/>
                <a:gd name="connsiteX4" fmla="*/ 102108 w 95250"/>
                <a:gd name="connsiteY4" fmla="*/ 177070 h 352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352425">
                  <a:moveTo>
                    <a:pt x="102108" y="177070"/>
                  </a:moveTo>
                  <a:cubicBezTo>
                    <a:pt x="102108" y="274863"/>
                    <a:pt x="79250" y="354140"/>
                    <a:pt x="51054" y="354140"/>
                  </a:cubicBezTo>
                  <a:cubicBezTo>
                    <a:pt x="22858" y="354140"/>
                    <a:pt x="0" y="274863"/>
                    <a:pt x="0" y="177070"/>
                  </a:cubicBezTo>
                  <a:cubicBezTo>
                    <a:pt x="0" y="79277"/>
                    <a:pt x="22858" y="0"/>
                    <a:pt x="51054" y="0"/>
                  </a:cubicBezTo>
                  <a:cubicBezTo>
                    <a:pt x="79250" y="0"/>
                    <a:pt x="102108" y="79277"/>
                    <a:pt x="102108" y="177070"/>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29" name="Freeform: Shape 28">
              <a:extLst>
                <a:ext uri="{FF2B5EF4-FFF2-40B4-BE49-F238E27FC236}">
                  <a16:creationId xmlns:a16="http://schemas.microsoft.com/office/drawing/2014/main" id="{0E9F66E9-0C8B-D126-AF88-13601A545058}"/>
                </a:ext>
              </a:extLst>
            </p:cNvPr>
            <p:cNvSpPr/>
            <p:nvPr/>
          </p:nvSpPr>
          <p:spPr>
            <a:xfrm>
              <a:off x="2827687" y="2458076"/>
              <a:ext cx="496258" cy="313426"/>
            </a:xfrm>
            <a:custGeom>
              <a:avLst/>
              <a:gdLst>
                <a:gd name="connsiteX0" fmla="*/ 202936 w 361950"/>
                <a:gd name="connsiteY0" fmla="*/ 69482 h 228600"/>
                <a:gd name="connsiteX1" fmla="*/ 345771 w 361950"/>
                <a:gd name="connsiteY1" fmla="*/ 185924 h 228600"/>
                <a:gd name="connsiteX2" fmla="*/ 162869 w 361950"/>
                <a:gd name="connsiteY2" fmla="*/ 163401 h 228600"/>
                <a:gd name="connsiteX3" fmla="*/ 20034 w 361950"/>
                <a:gd name="connsiteY3" fmla="*/ 46959 h 228600"/>
                <a:gd name="connsiteX4" fmla="*/ 202936 w 361950"/>
                <a:gd name="connsiteY4" fmla="*/ 69482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202936" y="69482"/>
                  </a:moveTo>
                  <a:cubicBezTo>
                    <a:pt x="292886" y="107856"/>
                    <a:pt x="356835" y="159989"/>
                    <a:pt x="345771" y="185924"/>
                  </a:cubicBezTo>
                  <a:cubicBezTo>
                    <a:pt x="334707" y="211859"/>
                    <a:pt x="252819" y="201775"/>
                    <a:pt x="162869" y="163401"/>
                  </a:cubicBezTo>
                  <a:cubicBezTo>
                    <a:pt x="72919" y="125027"/>
                    <a:pt x="8969" y="72895"/>
                    <a:pt x="20034" y="46959"/>
                  </a:cubicBezTo>
                  <a:cubicBezTo>
                    <a:pt x="31098" y="21024"/>
                    <a:pt x="112986" y="31108"/>
                    <a:pt x="202936" y="69482"/>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30" name="Freeform: Shape 29">
              <a:extLst>
                <a:ext uri="{FF2B5EF4-FFF2-40B4-BE49-F238E27FC236}">
                  <a16:creationId xmlns:a16="http://schemas.microsoft.com/office/drawing/2014/main" id="{801FD892-71C5-85DE-BACC-F9D0B9085072}"/>
                </a:ext>
              </a:extLst>
            </p:cNvPr>
            <p:cNvSpPr/>
            <p:nvPr/>
          </p:nvSpPr>
          <p:spPr>
            <a:xfrm>
              <a:off x="2827744" y="2458188"/>
              <a:ext cx="496258" cy="313426"/>
            </a:xfrm>
            <a:custGeom>
              <a:avLst/>
              <a:gdLst>
                <a:gd name="connsiteX0" fmla="*/ 345771 w 361950"/>
                <a:gd name="connsiteY0" fmla="*/ 46959 h 228600"/>
                <a:gd name="connsiteX1" fmla="*/ 202936 w 361950"/>
                <a:gd name="connsiteY1" fmla="*/ 163401 h 228600"/>
                <a:gd name="connsiteX2" fmla="*/ 20034 w 361950"/>
                <a:gd name="connsiteY2" fmla="*/ 185924 h 228600"/>
                <a:gd name="connsiteX3" fmla="*/ 162869 w 361950"/>
                <a:gd name="connsiteY3" fmla="*/ 69482 h 228600"/>
                <a:gd name="connsiteX4" fmla="*/ 345771 w 361950"/>
                <a:gd name="connsiteY4" fmla="*/ 46959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345771" y="46959"/>
                  </a:moveTo>
                  <a:cubicBezTo>
                    <a:pt x="356835" y="72894"/>
                    <a:pt x="292886" y="125027"/>
                    <a:pt x="202936" y="163401"/>
                  </a:cubicBezTo>
                  <a:cubicBezTo>
                    <a:pt x="112986" y="201775"/>
                    <a:pt x="31098" y="211859"/>
                    <a:pt x="20034" y="185924"/>
                  </a:cubicBezTo>
                  <a:cubicBezTo>
                    <a:pt x="8969" y="159989"/>
                    <a:pt x="72919" y="107856"/>
                    <a:pt x="162869" y="69482"/>
                  </a:cubicBezTo>
                  <a:cubicBezTo>
                    <a:pt x="252819" y="31108"/>
                    <a:pt x="334707" y="21025"/>
                    <a:pt x="345771" y="46959"/>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31" name="Freeform: Shape 30">
              <a:extLst>
                <a:ext uri="{FF2B5EF4-FFF2-40B4-BE49-F238E27FC236}">
                  <a16:creationId xmlns:a16="http://schemas.microsoft.com/office/drawing/2014/main" id="{171BC0D4-D1D4-15C7-0668-B2C5FAF132D1}"/>
                </a:ext>
              </a:extLst>
            </p:cNvPr>
            <p:cNvSpPr/>
            <p:nvPr/>
          </p:nvSpPr>
          <p:spPr>
            <a:xfrm>
              <a:off x="3047173" y="2586469"/>
              <a:ext cx="52238" cy="52238"/>
            </a:xfrm>
            <a:custGeom>
              <a:avLst/>
              <a:gdLst>
                <a:gd name="connsiteX0" fmla="*/ 45720 w 38100"/>
                <a:gd name="connsiteY0" fmla="*/ 22860 h 38100"/>
                <a:gd name="connsiteX1" fmla="*/ 22860 w 38100"/>
                <a:gd name="connsiteY1" fmla="*/ 45720 h 38100"/>
                <a:gd name="connsiteX2" fmla="*/ 0 w 38100"/>
                <a:gd name="connsiteY2" fmla="*/ 22860 h 38100"/>
                <a:gd name="connsiteX3" fmla="*/ 22860 w 38100"/>
                <a:gd name="connsiteY3" fmla="*/ 0 h 38100"/>
                <a:gd name="connsiteX4" fmla="*/ 45720 w 38100"/>
                <a:gd name="connsiteY4" fmla="*/ 2286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45720" y="22860"/>
                  </a:moveTo>
                  <a:cubicBezTo>
                    <a:pt x="45720" y="35485"/>
                    <a:pt x="35485" y="45720"/>
                    <a:pt x="22860" y="45720"/>
                  </a:cubicBezTo>
                  <a:cubicBezTo>
                    <a:pt x="10235" y="45720"/>
                    <a:pt x="0" y="35485"/>
                    <a:pt x="0" y="22860"/>
                  </a:cubicBezTo>
                  <a:cubicBezTo>
                    <a:pt x="0" y="10235"/>
                    <a:pt x="10235" y="0"/>
                    <a:pt x="22860" y="0"/>
                  </a:cubicBezTo>
                  <a:cubicBezTo>
                    <a:pt x="35485" y="0"/>
                    <a:pt x="45720" y="10235"/>
                    <a:pt x="45720" y="22860"/>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42" name="Freeform: Shape 41">
              <a:extLst>
                <a:ext uri="{FF2B5EF4-FFF2-40B4-BE49-F238E27FC236}">
                  <a16:creationId xmlns:a16="http://schemas.microsoft.com/office/drawing/2014/main" id="{4070F2C6-BE14-A912-2C07-249BADF60198}"/>
                </a:ext>
              </a:extLst>
            </p:cNvPr>
            <p:cNvSpPr/>
            <p:nvPr/>
          </p:nvSpPr>
          <p:spPr>
            <a:xfrm>
              <a:off x="2930421" y="249048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50" name="Freeform: Shape 49">
              <a:extLst>
                <a:ext uri="{FF2B5EF4-FFF2-40B4-BE49-F238E27FC236}">
                  <a16:creationId xmlns:a16="http://schemas.microsoft.com/office/drawing/2014/main" id="{75A5A291-AE26-2868-7F8C-562249C85887}"/>
                </a:ext>
              </a:extLst>
            </p:cNvPr>
            <p:cNvSpPr/>
            <p:nvPr/>
          </p:nvSpPr>
          <p:spPr>
            <a:xfrm>
              <a:off x="3250508" y="2570276"/>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60" name="Freeform: Shape 59">
              <a:extLst>
                <a:ext uri="{FF2B5EF4-FFF2-40B4-BE49-F238E27FC236}">
                  <a16:creationId xmlns:a16="http://schemas.microsoft.com/office/drawing/2014/main" id="{4766689E-0918-1E60-90BA-B0FA47D3BE14}"/>
                </a:ext>
              </a:extLst>
            </p:cNvPr>
            <p:cNvSpPr/>
            <p:nvPr/>
          </p:nvSpPr>
          <p:spPr>
            <a:xfrm>
              <a:off x="3102675" y="280051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grpSp>
      <p:cxnSp>
        <p:nvCxnSpPr>
          <p:cNvPr id="64" name="Straight Connector 63">
            <a:extLst>
              <a:ext uri="{FF2B5EF4-FFF2-40B4-BE49-F238E27FC236}">
                <a16:creationId xmlns:a16="http://schemas.microsoft.com/office/drawing/2014/main" id="{B0DAB5A8-D322-DB5B-F905-5260215CE685}"/>
              </a:ext>
              <a:ext uri="{C183D7F6-B498-43B3-948B-1728B52AA6E4}">
                <adec:decorative xmlns:adec="http://schemas.microsoft.com/office/drawing/2017/decorative" val="1"/>
              </a:ext>
            </a:extLst>
          </p:cNvPr>
          <p:cNvCxnSpPr>
            <a:cxnSpLocks/>
          </p:cNvCxnSpPr>
          <p:nvPr userDrawn="1"/>
        </p:nvCxnSpPr>
        <p:spPr>
          <a:xfrm>
            <a:off x="2983743"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C6747139-2B21-5AD7-BA77-CB47F4DB96CF}"/>
              </a:ext>
              <a:ext uri="{C183D7F6-B498-43B3-948B-1728B52AA6E4}">
                <adec:decorative xmlns:adec="http://schemas.microsoft.com/office/drawing/2017/decorative" val="1"/>
              </a:ext>
            </a:extLst>
          </p:cNvPr>
          <p:cNvGrpSpPr/>
          <p:nvPr userDrawn="1"/>
        </p:nvGrpSpPr>
        <p:grpSpPr>
          <a:xfrm>
            <a:off x="3096992" y="5293867"/>
            <a:ext cx="248640" cy="459485"/>
            <a:chOff x="6265015" y="5709762"/>
            <a:chExt cx="261189" cy="482675"/>
          </a:xfrm>
        </p:grpSpPr>
        <p:sp>
          <p:nvSpPr>
            <p:cNvPr id="81" name="Freeform: Shape 80">
              <a:extLst>
                <a:ext uri="{FF2B5EF4-FFF2-40B4-BE49-F238E27FC236}">
                  <a16:creationId xmlns:a16="http://schemas.microsoft.com/office/drawing/2014/main" id="{59E9F754-7678-300C-C237-90F89BDE5EAD}"/>
                </a:ext>
              </a:extLst>
            </p:cNvPr>
            <p:cNvSpPr/>
            <p:nvPr/>
          </p:nvSpPr>
          <p:spPr>
            <a:xfrm>
              <a:off x="6265015" y="5709762"/>
              <a:ext cx="261189" cy="352604"/>
            </a:xfrm>
            <a:custGeom>
              <a:avLst/>
              <a:gdLst>
                <a:gd name="connsiteX0" fmla="*/ 192024 w 190500"/>
                <a:gd name="connsiteY0" fmla="*/ 95917 h 257175"/>
                <a:gd name="connsiteX1" fmla="*/ 188214 w 190500"/>
                <a:gd name="connsiteY1" fmla="*/ 122682 h 257175"/>
                <a:gd name="connsiteX2" fmla="*/ 187643 w 190500"/>
                <a:gd name="connsiteY2" fmla="*/ 124492 h 257175"/>
                <a:gd name="connsiteX3" fmla="*/ 180118 w 190500"/>
                <a:gd name="connsiteY3" fmla="*/ 142208 h 257175"/>
                <a:gd name="connsiteX4" fmla="*/ 144780 w 190500"/>
                <a:gd name="connsiteY4" fmla="*/ 261747 h 257175"/>
                <a:gd name="connsiteX5" fmla="*/ 47339 w 190500"/>
                <a:gd name="connsiteY5" fmla="*/ 261747 h 257175"/>
                <a:gd name="connsiteX6" fmla="*/ 12192 w 190500"/>
                <a:gd name="connsiteY6" fmla="*/ 142780 h 257175"/>
                <a:gd name="connsiteX7" fmla="*/ 4191 w 190500"/>
                <a:gd name="connsiteY7" fmla="*/ 123825 h 257175"/>
                <a:gd name="connsiteX8" fmla="*/ 3810 w 190500"/>
                <a:gd name="connsiteY8" fmla="*/ 122777 h 257175"/>
                <a:gd name="connsiteX9" fmla="*/ 0 w 190500"/>
                <a:gd name="connsiteY9" fmla="*/ 96012 h 257175"/>
                <a:gd name="connsiteX10" fmla="*/ 96012 w 190500"/>
                <a:gd name="connsiteY10" fmla="*/ 0 h 257175"/>
                <a:gd name="connsiteX11" fmla="*/ 192024 w 190500"/>
                <a:gd name="connsiteY11" fmla="*/ 95917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500" h="257175">
                  <a:moveTo>
                    <a:pt x="192024" y="95917"/>
                  </a:moveTo>
                  <a:cubicBezTo>
                    <a:pt x="192024" y="105251"/>
                    <a:pt x="190691" y="114205"/>
                    <a:pt x="188214" y="122682"/>
                  </a:cubicBezTo>
                  <a:cubicBezTo>
                    <a:pt x="188024" y="123254"/>
                    <a:pt x="187833" y="123921"/>
                    <a:pt x="187643" y="124492"/>
                  </a:cubicBezTo>
                  <a:cubicBezTo>
                    <a:pt x="187643" y="124492"/>
                    <a:pt x="182594" y="136017"/>
                    <a:pt x="180118" y="142208"/>
                  </a:cubicBezTo>
                  <a:cubicBezTo>
                    <a:pt x="159734" y="193834"/>
                    <a:pt x="144780" y="261747"/>
                    <a:pt x="144780" y="261747"/>
                  </a:cubicBezTo>
                  <a:lnTo>
                    <a:pt x="47339" y="261747"/>
                  </a:lnTo>
                  <a:cubicBezTo>
                    <a:pt x="47339" y="261747"/>
                    <a:pt x="32480" y="194310"/>
                    <a:pt x="12192" y="142780"/>
                  </a:cubicBezTo>
                  <a:cubicBezTo>
                    <a:pt x="9525" y="136112"/>
                    <a:pt x="6858" y="129731"/>
                    <a:pt x="4191" y="123825"/>
                  </a:cubicBezTo>
                  <a:cubicBezTo>
                    <a:pt x="4001" y="123539"/>
                    <a:pt x="3905" y="123158"/>
                    <a:pt x="3810" y="122777"/>
                  </a:cubicBezTo>
                  <a:cubicBezTo>
                    <a:pt x="1334" y="114300"/>
                    <a:pt x="0" y="105347"/>
                    <a:pt x="0" y="96012"/>
                  </a:cubicBezTo>
                  <a:cubicBezTo>
                    <a:pt x="0" y="42958"/>
                    <a:pt x="43053" y="0"/>
                    <a:pt x="96012" y="0"/>
                  </a:cubicBezTo>
                  <a:cubicBezTo>
                    <a:pt x="149066" y="-95"/>
                    <a:pt x="192024" y="42863"/>
                    <a:pt x="192024" y="95917"/>
                  </a:cubicBezTo>
                  <a:close/>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82" name="Freeform: Shape 81">
              <a:extLst>
                <a:ext uri="{FF2B5EF4-FFF2-40B4-BE49-F238E27FC236}">
                  <a16:creationId xmlns:a16="http://schemas.microsoft.com/office/drawing/2014/main" id="{7C466616-4F91-E8EA-3D3F-A8692A7CFA03}"/>
                </a:ext>
              </a:extLst>
            </p:cNvPr>
            <p:cNvSpPr/>
            <p:nvPr/>
          </p:nvSpPr>
          <p:spPr>
            <a:xfrm>
              <a:off x="6329920" y="6102851"/>
              <a:ext cx="130594" cy="13059"/>
            </a:xfrm>
            <a:custGeom>
              <a:avLst/>
              <a:gdLst>
                <a:gd name="connsiteX0" fmla="*/ 0 w 95250"/>
                <a:gd name="connsiteY0" fmla="*/ 0 h 0"/>
                <a:gd name="connsiteX1" fmla="*/ 97536 w 95250"/>
                <a:gd name="connsiteY1" fmla="*/ 0 h 0"/>
              </a:gdLst>
              <a:ahLst/>
              <a:cxnLst>
                <a:cxn ang="0">
                  <a:pos x="connsiteX0" y="connsiteY0"/>
                </a:cxn>
                <a:cxn ang="0">
                  <a:pos x="connsiteX1" y="connsiteY1"/>
                </a:cxn>
              </a:cxnLst>
              <a:rect l="l" t="t" r="r" b="b"/>
              <a:pathLst>
                <a:path w="95250">
                  <a:moveTo>
                    <a:pt x="0" y="0"/>
                  </a:moveTo>
                  <a:lnTo>
                    <a:pt x="97536"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sp>
          <p:nvSpPr>
            <p:cNvPr id="88" name="Freeform: Shape 87">
              <a:extLst>
                <a:ext uri="{FF2B5EF4-FFF2-40B4-BE49-F238E27FC236}">
                  <a16:creationId xmlns:a16="http://schemas.microsoft.com/office/drawing/2014/main" id="{D81C4B18-9CF8-1401-1460-B48026BD795A}"/>
                </a:ext>
              </a:extLst>
            </p:cNvPr>
            <p:cNvSpPr/>
            <p:nvPr/>
          </p:nvSpPr>
          <p:spPr>
            <a:xfrm>
              <a:off x="6329790" y="6141115"/>
              <a:ext cx="130594" cy="13059"/>
            </a:xfrm>
            <a:custGeom>
              <a:avLst/>
              <a:gdLst>
                <a:gd name="connsiteX0" fmla="*/ 0 w 95250"/>
                <a:gd name="connsiteY0" fmla="*/ 0 h 0"/>
                <a:gd name="connsiteX1" fmla="*/ 97536 w 95250"/>
                <a:gd name="connsiteY1" fmla="*/ 0 h 0"/>
              </a:gdLst>
              <a:ahLst/>
              <a:cxnLst>
                <a:cxn ang="0">
                  <a:pos x="connsiteX0" y="connsiteY0"/>
                </a:cxn>
                <a:cxn ang="0">
                  <a:pos x="connsiteX1" y="connsiteY1"/>
                </a:cxn>
              </a:cxnLst>
              <a:rect l="l" t="t" r="r" b="b"/>
              <a:pathLst>
                <a:path w="95250">
                  <a:moveTo>
                    <a:pt x="0" y="0"/>
                  </a:moveTo>
                  <a:lnTo>
                    <a:pt x="97536"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sp>
          <p:nvSpPr>
            <p:cNvPr id="89" name="Freeform: Shape 88">
              <a:extLst>
                <a:ext uri="{FF2B5EF4-FFF2-40B4-BE49-F238E27FC236}">
                  <a16:creationId xmlns:a16="http://schemas.microsoft.com/office/drawing/2014/main" id="{D3DA7587-95A4-75BD-1131-7B0402EE7A89}"/>
                </a:ext>
              </a:extLst>
            </p:cNvPr>
            <p:cNvSpPr/>
            <p:nvPr/>
          </p:nvSpPr>
          <p:spPr>
            <a:xfrm>
              <a:off x="6367139" y="6179378"/>
              <a:ext cx="52238" cy="13059"/>
            </a:xfrm>
            <a:custGeom>
              <a:avLst/>
              <a:gdLst>
                <a:gd name="connsiteX0" fmla="*/ 0 w 38100"/>
                <a:gd name="connsiteY0" fmla="*/ 0 h 0"/>
                <a:gd name="connsiteX1" fmla="*/ 42958 w 38100"/>
                <a:gd name="connsiteY1" fmla="*/ 0 h 0"/>
              </a:gdLst>
              <a:ahLst/>
              <a:cxnLst>
                <a:cxn ang="0">
                  <a:pos x="connsiteX0" y="connsiteY0"/>
                </a:cxn>
                <a:cxn ang="0">
                  <a:pos x="connsiteX1" y="connsiteY1"/>
                </a:cxn>
              </a:cxnLst>
              <a:rect l="l" t="t" r="r" b="b"/>
              <a:pathLst>
                <a:path w="38100">
                  <a:moveTo>
                    <a:pt x="0" y="0"/>
                  </a:moveTo>
                  <a:lnTo>
                    <a:pt x="42958"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grpSp>
      <p:cxnSp>
        <p:nvCxnSpPr>
          <p:cNvPr id="90" name="Straight Connector 89">
            <a:extLst>
              <a:ext uri="{FF2B5EF4-FFF2-40B4-BE49-F238E27FC236}">
                <a16:creationId xmlns:a16="http://schemas.microsoft.com/office/drawing/2014/main" id="{93ED91D0-F47D-C03D-FA4A-66C094230B98}"/>
              </a:ext>
              <a:ext uri="{C183D7F6-B498-43B3-948B-1728B52AA6E4}">
                <adec:decorative xmlns:adec="http://schemas.microsoft.com/office/drawing/2017/decorative" val="1"/>
              </a:ext>
            </a:extLst>
          </p:cNvPr>
          <p:cNvCxnSpPr>
            <a:cxnSpLocks/>
          </p:cNvCxnSpPr>
          <p:nvPr userDrawn="1"/>
        </p:nvCxnSpPr>
        <p:spPr>
          <a:xfrm>
            <a:off x="5408438"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38757A12-84CA-AE2B-64C2-92089CF5D72C}"/>
              </a:ext>
              <a:ext uri="{C183D7F6-B498-43B3-948B-1728B52AA6E4}">
                <adec:decorative xmlns:adec="http://schemas.microsoft.com/office/drawing/2017/decorative" val="1"/>
              </a:ext>
            </a:extLst>
          </p:cNvPr>
          <p:cNvGrpSpPr/>
          <p:nvPr userDrawn="1"/>
        </p:nvGrpSpPr>
        <p:grpSpPr>
          <a:xfrm>
            <a:off x="5436203" y="5337357"/>
            <a:ext cx="419609" cy="415995"/>
            <a:chOff x="6443026" y="2417970"/>
            <a:chExt cx="440787" cy="436990"/>
          </a:xfrm>
        </p:grpSpPr>
        <p:sp>
          <p:nvSpPr>
            <p:cNvPr id="93" name="Freeform: Shape 92">
              <a:extLst>
                <a:ext uri="{FF2B5EF4-FFF2-40B4-BE49-F238E27FC236}">
                  <a16:creationId xmlns:a16="http://schemas.microsoft.com/office/drawing/2014/main" id="{0EB194A2-013F-8781-755C-AB84D814D73B}"/>
                </a:ext>
              </a:extLst>
            </p:cNvPr>
            <p:cNvSpPr/>
            <p:nvPr/>
          </p:nvSpPr>
          <p:spPr>
            <a:xfrm>
              <a:off x="6443026" y="2417970"/>
              <a:ext cx="65476" cy="65476"/>
            </a:xfrm>
            <a:custGeom>
              <a:avLst/>
              <a:gdLst>
                <a:gd name="connsiteX0" fmla="*/ 0 w 65476"/>
                <a:gd name="connsiteY0" fmla="*/ 70715 h 65476"/>
                <a:gd name="connsiteX1" fmla="*/ 0 w 65476"/>
                <a:gd name="connsiteY1" fmla="*/ 0 h 65476"/>
                <a:gd name="connsiteX2" fmla="*/ 68226 w 65476"/>
                <a:gd name="connsiteY2" fmla="*/ 0 h 65476"/>
              </a:gdLst>
              <a:ahLst/>
              <a:cxnLst>
                <a:cxn ang="0">
                  <a:pos x="connsiteX0" y="connsiteY0"/>
                </a:cxn>
                <a:cxn ang="0">
                  <a:pos x="connsiteX1" y="connsiteY1"/>
                </a:cxn>
                <a:cxn ang="0">
                  <a:pos x="connsiteX2" y="connsiteY2"/>
                </a:cxn>
              </a:cxnLst>
              <a:rect l="l" t="t" r="r" b="b"/>
              <a:pathLst>
                <a:path w="65476" h="65476">
                  <a:moveTo>
                    <a:pt x="0" y="70715"/>
                  </a:moveTo>
                  <a:lnTo>
                    <a:pt x="0" y="0"/>
                  </a:lnTo>
                  <a:lnTo>
                    <a:pt x="68226" y="0"/>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94" name="Freeform: Shape 93">
              <a:extLst>
                <a:ext uri="{FF2B5EF4-FFF2-40B4-BE49-F238E27FC236}">
                  <a16:creationId xmlns:a16="http://schemas.microsoft.com/office/drawing/2014/main" id="{BD11FB61-E9FE-454C-95D8-186CB8CAEE9B}"/>
                </a:ext>
              </a:extLst>
            </p:cNvPr>
            <p:cNvSpPr/>
            <p:nvPr/>
          </p:nvSpPr>
          <p:spPr>
            <a:xfrm>
              <a:off x="6815849" y="2417970"/>
              <a:ext cx="65476" cy="65476"/>
            </a:xfrm>
            <a:custGeom>
              <a:avLst/>
              <a:gdLst>
                <a:gd name="connsiteX0" fmla="*/ 0 w 65476"/>
                <a:gd name="connsiteY0" fmla="*/ 0 h 65476"/>
                <a:gd name="connsiteX1" fmla="*/ 70846 w 65476"/>
                <a:gd name="connsiteY1" fmla="*/ 0 h 65476"/>
                <a:gd name="connsiteX2" fmla="*/ 70846 w 65476"/>
                <a:gd name="connsiteY2" fmla="*/ 68226 h 65476"/>
              </a:gdLst>
              <a:ahLst/>
              <a:cxnLst>
                <a:cxn ang="0">
                  <a:pos x="connsiteX0" y="connsiteY0"/>
                </a:cxn>
                <a:cxn ang="0">
                  <a:pos x="connsiteX1" y="connsiteY1"/>
                </a:cxn>
                <a:cxn ang="0">
                  <a:pos x="connsiteX2" y="connsiteY2"/>
                </a:cxn>
              </a:cxnLst>
              <a:rect l="l" t="t" r="r" b="b"/>
              <a:pathLst>
                <a:path w="65476" h="65476">
                  <a:moveTo>
                    <a:pt x="0" y="0"/>
                  </a:moveTo>
                  <a:lnTo>
                    <a:pt x="70846" y="0"/>
                  </a:lnTo>
                  <a:lnTo>
                    <a:pt x="70846" y="68226"/>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95" name="Freeform: Shape 94">
              <a:extLst>
                <a:ext uri="{FF2B5EF4-FFF2-40B4-BE49-F238E27FC236}">
                  <a16:creationId xmlns:a16="http://schemas.microsoft.com/office/drawing/2014/main" id="{25808660-7D71-81D3-D6F2-28C0FE0F1207}"/>
                </a:ext>
              </a:extLst>
            </p:cNvPr>
            <p:cNvSpPr/>
            <p:nvPr/>
          </p:nvSpPr>
          <p:spPr>
            <a:xfrm>
              <a:off x="6818337" y="2786996"/>
              <a:ext cx="65476" cy="65476"/>
            </a:xfrm>
            <a:custGeom>
              <a:avLst/>
              <a:gdLst>
                <a:gd name="connsiteX0" fmla="*/ 68357 w 65476"/>
                <a:gd name="connsiteY0" fmla="*/ 0 h 65476"/>
                <a:gd name="connsiteX1" fmla="*/ 68357 w 65476"/>
                <a:gd name="connsiteY1" fmla="*/ 70715 h 65476"/>
                <a:gd name="connsiteX2" fmla="*/ 0 w 65476"/>
                <a:gd name="connsiteY2" fmla="*/ 70715 h 65476"/>
              </a:gdLst>
              <a:ahLst/>
              <a:cxnLst>
                <a:cxn ang="0">
                  <a:pos x="connsiteX0" y="connsiteY0"/>
                </a:cxn>
                <a:cxn ang="0">
                  <a:pos x="connsiteX1" y="connsiteY1"/>
                </a:cxn>
                <a:cxn ang="0">
                  <a:pos x="connsiteX2" y="connsiteY2"/>
                </a:cxn>
              </a:cxnLst>
              <a:rect l="l" t="t" r="r" b="b"/>
              <a:pathLst>
                <a:path w="65476" h="65476">
                  <a:moveTo>
                    <a:pt x="68357" y="0"/>
                  </a:moveTo>
                  <a:lnTo>
                    <a:pt x="68357" y="70715"/>
                  </a:lnTo>
                  <a:lnTo>
                    <a:pt x="0" y="70715"/>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96" name="Freeform: Shape 95">
              <a:extLst>
                <a:ext uri="{FF2B5EF4-FFF2-40B4-BE49-F238E27FC236}">
                  <a16:creationId xmlns:a16="http://schemas.microsoft.com/office/drawing/2014/main" id="{11C26FD0-01CA-52A3-0D0F-C47CDA6D7BBD}"/>
                </a:ext>
              </a:extLst>
            </p:cNvPr>
            <p:cNvSpPr/>
            <p:nvPr/>
          </p:nvSpPr>
          <p:spPr>
            <a:xfrm>
              <a:off x="6443026" y="2789484"/>
              <a:ext cx="65476" cy="65476"/>
            </a:xfrm>
            <a:custGeom>
              <a:avLst/>
              <a:gdLst>
                <a:gd name="connsiteX0" fmla="*/ 70846 w 65476"/>
                <a:gd name="connsiteY0" fmla="*/ 68226 h 65476"/>
                <a:gd name="connsiteX1" fmla="*/ 0 w 65476"/>
                <a:gd name="connsiteY1" fmla="*/ 68226 h 65476"/>
                <a:gd name="connsiteX2" fmla="*/ 0 w 65476"/>
                <a:gd name="connsiteY2" fmla="*/ 0 h 65476"/>
              </a:gdLst>
              <a:ahLst/>
              <a:cxnLst>
                <a:cxn ang="0">
                  <a:pos x="connsiteX0" y="connsiteY0"/>
                </a:cxn>
                <a:cxn ang="0">
                  <a:pos x="connsiteX1" y="connsiteY1"/>
                </a:cxn>
                <a:cxn ang="0">
                  <a:pos x="connsiteX2" y="connsiteY2"/>
                </a:cxn>
              </a:cxnLst>
              <a:rect l="l" t="t" r="r" b="b"/>
              <a:pathLst>
                <a:path w="65476" h="65476">
                  <a:moveTo>
                    <a:pt x="70846" y="68226"/>
                  </a:moveTo>
                  <a:lnTo>
                    <a:pt x="0" y="68226"/>
                  </a:lnTo>
                  <a:lnTo>
                    <a:pt x="0" y="0"/>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97" name="Freeform: Shape 96">
              <a:extLst>
                <a:ext uri="{FF2B5EF4-FFF2-40B4-BE49-F238E27FC236}">
                  <a16:creationId xmlns:a16="http://schemas.microsoft.com/office/drawing/2014/main" id="{8C93533C-3182-4C11-1382-F1D0DA318F76}"/>
                </a:ext>
              </a:extLst>
            </p:cNvPr>
            <p:cNvSpPr/>
            <p:nvPr/>
          </p:nvSpPr>
          <p:spPr>
            <a:xfrm>
              <a:off x="6554205" y="2635352"/>
              <a:ext cx="209525" cy="13095"/>
            </a:xfrm>
            <a:custGeom>
              <a:avLst/>
              <a:gdLst>
                <a:gd name="connsiteX0" fmla="*/ 0 w 209524"/>
                <a:gd name="connsiteY0" fmla="*/ 0 h 0"/>
                <a:gd name="connsiteX1" fmla="*/ 222489 w 209524"/>
                <a:gd name="connsiteY1" fmla="*/ 0 h 0"/>
              </a:gdLst>
              <a:ahLst/>
              <a:cxnLst>
                <a:cxn ang="0">
                  <a:pos x="connsiteX0" y="connsiteY0"/>
                </a:cxn>
                <a:cxn ang="0">
                  <a:pos x="connsiteX1" y="connsiteY1"/>
                </a:cxn>
              </a:cxnLst>
              <a:rect l="l" t="t" r="r" b="b"/>
              <a:pathLst>
                <a:path w="209524">
                  <a:moveTo>
                    <a:pt x="0" y="0"/>
                  </a:moveTo>
                  <a:lnTo>
                    <a:pt x="222489" y="0"/>
                  </a:lnTo>
                </a:path>
              </a:pathLst>
            </a:custGeom>
            <a:ln w="12700" cap="flat">
              <a:solidFill>
                <a:schemeClr val="accent5"/>
              </a:solidFill>
              <a:prstDash val="solid"/>
              <a:round/>
            </a:ln>
          </p:spPr>
          <p:txBody>
            <a:bodyPr rtlCol="0" anchor="ctr"/>
            <a:lstStyle/>
            <a:p>
              <a:endParaRPr lang="en-GB" sz="1400" b="1" dirty="0">
                <a:solidFill>
                  <a:schemeClr val="tx1"/>
                </a:solidFill>
              </a:endParaRPr>
            </a:p>
          </p:txBody>
        </p:sp>
        <p:sp>
          <p:nvSpPr>
            <p:cNvPr id="98" name="Freeform: Shape 97">
              <a:extLst>
                <a:ext uri="{FF2B5EF4-FFF2-40B4-BE49-F238E27FC236}">
                  <a16:creationId xmlns:a16="http://schemas.microsoft.com/office/drawing/2014/main" id="{141199C7-1575-724C-1DA6-3A589A4B3040}"/>
                </a:ext>
              </a:extLst>
            </p:cNvPr>
            <p:cNvSpPr/>
            <p:nvPr/>
          </p:nvSpPr>
          <p:spPr>
            <a:xfrm>
              <a:off x="6665515" y="2524173"/>
              <a:ext cx="13095" cy="209525"/>
            </a:xfrm>
            <a:custGeom>
              <a:avLst/>
              <a:gdLst>
                <a:gd name="connsiteX0" fmla="*/ 0 w 0"/>
                <a:gd name="connsiteY0" fmla="*/ 222358 h 209524"/>
                <a:gd name="connsiteX1" fmla="*/ 0 w 0"/>
                <a:gd name="connsiteY1" fmla="*/ 0 h 209524"/>
              </a:gdLst>
              <a:ahLst/>
              <a:cxnLst>
                <a:cxn ang="0">
                  <a:pos x="connsiteX0" y="connsiteY0"/>
                </a:cxn>
                <a:cxn ang="0">
                  <a:pos x="connsiteX1" y="connsiteY1"/>
                </a:cxn>
              </a:cxnLst>
              <a:rect l="l" t="t" r="r" b="b"/>
              <a:pathLst>
                <a:path h="209524">
                  <a:moveTo>
                    <a:pt x="0" y="222358"/>
                  </a:moveTo>
                  <a:lnTo>
                    <a:pt x="0" y="0"/>
                  </a:lnTo>
                </a:path>
              </a:pathLst>
            </a:custGeom>
            <a:ln w="12700" cap="flat">
              <a:solidFill>
                <a:schemeClr val="accent5"/>
              </a:solidFill>
              <a:prstDash val="solid"/>
              <a:round/>
            </a:ln>
          </p:spPr>
          <p:txBody>
            <a:bodyPr rtlCol="0" anchor="ctr"/>
            <a:lstStyle/>
            <a:p>
              <a:endParaRPr lang="en-GB" sz="1400" b="1" dirty="0">
                <a:solidFill>
                  <a:schemeClr val="tx1"/>
                </a:solidFill>
              </a:endParaRPr>
            </a:p>
          </p:txBody>
        </p:sp>
      </p:grpSp>
      <p:cxnSp>
        <p:nvCxnSpPr>
          <p:cNvPr id="99" name="Straight Connector 98">
            <a:extLst>
              <a:ext uri="{FF2B5EF4-FFF2-40B4-BE49-F238E27FC236}">
                <a16:creationId xmlns:a16="http://schemas.microsoft.com/office/drawing/2014/main" id="{37401907-43F1-75B6-39B4-1A0F01EAA5DD}"/>
              </a:ext>
              <a:ext uri="{C183D7F6-B498-43B3-948B-1728B52AA6E4}">
                <adec:decorative xmlns:adec="http://schemas.microsoft.com/office/drawing/2017/decorative" val="1"/>
              </a:ext>
            </a:extLst>
          </p:cNvPr>
          <p:cNvCxnSpPr>
            <a:cxnSpLocks/>
          </p:cNvCxnSpPr>
          <p:nvPr userDrawn="1"/>
        </p:nvCxnSpPr>
        <p:spPr>
          <a:xfrm>
            <a:off x="7833133"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0" name="Freeform: Shape 99">
            <a:extLst>
              <a:ext uri="{FF2B5EF4-FFF2-40B4-BE49-F238E27FC236}">
                <a16:creationId xmlns:a16="http://schemas.microsoft.com/office/drawing/2014/main" id="{354BCBBD-6EDB-5C5C-018B-A1B61B97E5CE}"/>
              </a:ext>
              <a:ext uri="{C183D7F6-B498-43B3-948B-1728B52AA6E4}">
                <adec:decorative xmlns:adec="http://schemas.microsoft.com/office/drawing/2017/decorative" val="1"/>
              </a:ext>
            </a:extLst>
          </p:cNvPr>
          <p:cNvSpPr/>
          <p:nvPr userDrawn="1"/>
        </p:nvSpPr>
        <p:spPr>
          <a:xfrm>
            <a:off x="7840711" y="5367961"/>
            <a:ext cx="459983" cy="385391"/>
          </a:xfrm>
          <a:custGeom>
            <a:avLst/>
            <a:gdLst>
              <a:gd name="connsiteX0" fmla="*/ 348104 w 352425"/>
              <a:gd name="connsiteY0" fmla="*/ 128975 h 295275"/>
              <a:gd name="connsiteX1" fmla="*/ 178844 w 352425"/>
              <a:gd name="connsiteY1" fmla="*/ 295472 h 295275"/>
              <a:gd name="connsiteX2" fmla="*/ 9680 w 352425"/>
              <a:gd name="connsiteY2" fmla="*/ 128975 h 295275"/>
              <a:gd name="connsiteX3" fmla="*/ 56924 w 352425"/>
              <a:gd name="connsiteY3" fmla="*/ 7817 h 295275"/>
              <a:gd name="connsiteX4" fmla="*/ 178082 w 352425"/>
              <a:gd name="connsiteY4" fmla="*/ 55061 h 295275"/>
              <a:gd name="connsiteX5" fmla="*/ 179606 w 352425"/>
              <a:gd name="connsiteY5" fmla="*/ 55061 h 295275"/>
              <a:gd name="connsiteX6" fmla="*/ 300860 w 352425"/>
              <a:gd name="connsiteY6" fmla="*/ 7817 h 295275"/>
              <a:gd name="connsiteX7" fmla="*/ 348104 w 352425"/>
              <a:gd name="connsiteY7" fmla="*/ 128975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425" h="295275">
                <a:moveTo>
                  <a:pt x="348104" y="128975"/>
                </a:moveTo>
                <a:cubicBezTo>
                  <a:pt x="298478" y="219462"/>
                  <a:pt x="178844" y="295472"/>
                  <a:pt x="178844" y="295472"/>
                </a:cubicBezTo>
                <a:cubicBezTo>
                  <a:pt x="178844" y="295472"/>
                  <a:pt x="60734" y="219843"/>
                  <a:pt x="9680" y="128975"/>
                </a:cubicBezTo>
                <a:cubicBezTo>
                  <a:pt x="-15180" y="84779"/>
                  <a:pt x="10442" y="28200"/>
                  <a:pt x="56924" y="7817"/>
                </a:cubicBezTo>
                <a:cubicBezTo>
                  <a:pt x="103502" y="-12567"/>
                  <a:pt x="157699" y="8579"/>
                  <a:pt x="178082" y="55061"/>
                </a:cubicBezTo>
                <a:cubicBezTo>
                  <a:pt x="178368" y="55632"/>
                  <a:pt x="179321" y="55632"/>
                  <a:pt x="179606" y="55061"/>
                </a:cubicBezTo>
                <a:cubicBezTo>
                  <a:pt x="199990" y="8484"/>
                  <a:pt x="254282" y="-12662"/>
                  <a:pt x="300860" y="7817"/>
                </a:cubicBezTo>
                <a:cubicBezTo>
                  <a:pt x="347342" y="28200"/>
                  <a:pt x="372488" y="84493"/>
                  <a:pt x="348104" y="128975"/>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cxnSp>
        <p:nvCxnSpPr>
          <p:cNvPr id="101" name="Straight Connector 100">
            <a:extLst>
              <a:ext uri="{FF2B5EF4-FFF2-40B4-BE49-F238E27FC236}">
                <a16:creationId xmlns:a16="http://schemas.microsoft.com/office/drawing/2014/main" id="{644C1E4A-FBFA-78A4-8B42-386D7419FAED}"/>
              </a:ext>
              <a:ext uri="{C183D7F6-B498-43B3-948B-1728B52AA6E4}">
                <adec:decorative xmlns:adec="http://schemas.microsoft.com/office/drawing/2017/decorative" val="1"/>
              </a:ext>
            </a:extLst>
          </p:cNvPr>
          <p:cNvCxnSpPr>
            <a:cxnSpLocks/>
          </p:cNvCxnSpPr>
          <p:nvPr userDrawn="1"/>
        </p:nvCxnSpPr>
        <p:spPr>
          <a:xfrm>
            <a:off x="10257827"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a16="http://schemas.microsoft.com/office/drawing/2014/main" id="{513189C8-4A17-8BEC-963C-45B8C5E09E9E}"/>
              </a:ext>
              <a:ext uri="{C183D7F6-B498-43B3-948B-1728B52AA6E4}">
                <adec:decorative xmlns:adec="http://schemas.microsoft.com/office/drawing/2017/decorative" val="1"/>
              </a:ext>
            </a:extLst>
          </p:cNvPr>
          <p:cNvGrpSpPr/>
          <p:nvPr userDrawn="1"/>
        </p:nvGrpSpPr>
        <p:grpSpPr>
          <a:xfrm>
            <a:off x="10277836" y="5369827"/>
            <a:ext cx="435119" cy="383525"/>
            <a:chOff x="5055450" y="4606241"/>
            <a:chExt cx="457080" cy="402882"/>
          </a:xfrm>
        </p:grpSpPr>
        <p:sp>
          <p:nvSpPr>
            <p:cNvPr id="103" name="Freeform: Shape 102">
              <a:extLst>
                <a:ext uri="{FF2B5EF4-FFF2-40B4-BE49-F238E27FC236}">
                  <a16:creationId xmlns:a16="http://schemas.microsoft.com/office/drawing/2014/main" id="{E678D0F5-883C-1DBC-D7E3-A7126DE8A65B}"/>
                </a:ext>
              </a:extLst>
            </p:cNvPr>
            <p:cNvSpPr/>
            <p:nvPr/>
          </p:nvSpPr>
          <p:spPr>
            <a:xfrm>
              <a:off x="5055450" y="4606241"/>
              <a:ext cx="457080" cy="222010"/>
            </a:xfrm>
            <a:custGeom>
              <a:avLst/>
              <a:gdLst>
                <a:gd name="connsiteX0" fmla="*/ 0 w 333375"/>
                <a:gd name="connsiteY0" fmla="*/ 166973 h 161925"/>
                <a:gd name="connsiteX1" fmla="*/ 166973 w 333375"/>
                <a:gd name="connsiteY1" fmla="*/ 0 h 161925"/>
                <a:gd name="connsiteX2" fmla="*/ 334042 w 333375"/>
                <a:gd name="connsiteY2" fmla="*/ 166973 h 161925"/>
              </a:gdLst>
              <a:ahLst/>
              <a:cxnLst>
                <a:cxn ang="0">
                  <a:pos x="connsiteX0" y="connsiteY0"/>
                </a:cxn>
                <a:cxn ang="0">
                  <a:pos x="connsiteX1" y="connsiteY1"/>
                </a:cxn>
                <a:cxn ang="0">
                  <a:pos x="connsiteX2" y="connsiteY2"/>
                </a:cxn>
              </a:cxnLst>
              <a:rect l="l" t="t" r="r" b="b"/>
              <a:pathLst>
                <a:path w="333375" h="161925">
                  <a:moveTo>
                    <a:pt x="0" y="166973"/>
                  </a:moveTo>
                  <a:lnTo>
                    <a:pt x="166973" y="0"/>
                  </a:lnTo>
                  <a:lnTo>
                    <a:pt x="334042" y="166973"/>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sp>
          <p:nvSpPr>
            <p:cNvPr id="104" name="Freeform: Shape 103">
              <a:extLst>
                <a:ext uri="{FF2B5EF4-FFF2-40B4-BE49-F238E27FC236}">
                  <a16:creationId xmlns:a16="http://schemas.microsoft.com/office/drawing/2014/main" id="{B9A67F64-C8A1-FFF2-F044-176243794D99}"/>
                </a:ext>
              </a:extLst>
            </p:cNvPr>
            <p:cNvSpPr/>
            <p:nvPr/>
          </p:nvSpPr>
          <p:spPr>
            <a:xfrm>
              <a:off x="5055450" y="4696612"/>
              <a:ext cx="457080" cy="222010"/>
            </a:xfrm>
            <a:custGeom>
              <a:avLst/>
              <a:gdLst>
                <a:gd name="connsiteX0" fmla="*/ 0 w 333375"/>
                <a:gd name="connsiteY0" fmla="*/ 167069 h 161925"/>
                <a:gd name="connsiteX1" fmla="*/ 166973 w 333375"/>
                <a:gd name="connsiteY1" fmla="*/ 0 h 161925"/>
                <a:gd name="connsiteX2" fmla="*/ 334042 w 333375"/>
                <a:gd name="connsiteY2" fmla="*/ 167069 h 161925"/>
              </a:gdLst>
              <a:ahLst/>
              <a:cxnLst>
                <a:cxn ang="0">
                  <a:pos x="connsiteX0" y="connsiteY0"/>
                </a:cxn>
                <a:cxn ang="0">
                  <a:pos x="connsiteX1" y="connsiteY1"/>
                </a:cxn>
                <a:cxn ang="0">
                  <a:pos x="connsiteX2" y="connsiteY2"/>
                </a:cxn>
              </a:cxnLst>
              <a:rect l="l" t="t" r="r" b="b"/>
              <a:pathLst>
                <a:path w="333375" h="161925">
                  <a:moveTo>
                    <a:pt x="0" y="167069"/>
                  </a:moveTo>
                  <a:lnTo>
                    <a:pt x="166973" y="0"/>
                  </a:lnTo>
                  <a:lnTo>
                    <a:pt x="334042" y="167069"/>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sp>
          <p:nvSpPr>
            <p:cNvPr id="105" name="Freeform: Shape 104">
              <a:extLst>
                <a:ext uri="{FF2B5EF4-FFF2-40B4-BE49-F238E27FC236}">
                  <a16:creationId xmlns:a16="http://schemas.microsoft.com/office/drawing/2014/main" id="{CF2BE612-BA59-00CC-6522-19D8A0AB28AA}"/>
                </a:ext>
              </a:extLst>
            </p:cNvPr>
            <p:cNvSpPr/>
            <p:nvPr/>
          </p:nvSpPr>
          <p:spPr>
            <a:xfrm>
              <a:off x="5055450" y="4787113"/>
              <a:ext cx="457080" cy="222010"/>
            </a:xfrm>
            <a:custGeom>
              <a:avLst/>
              <a:gdLst>
                <a:gd name="connsiteX0" fmla="*/ 0 w 333375"/>
                <a:gd name="connsiteY0" fmla="*/ 167068 h 161925"/>
                <a:gd name="connsiteX1" fmla="*/ 166973 w 333375"/>
                <a:gd name="connsiteY1" fmla="*/ 0 h 161925"/>
                <a:gd name="connsiteX2" fmla="*/ 334042 w 333375"/>
                <a:gd name="connsiteY2" fmla="*/ 167068 h 161925"/>
              </a:gdLst>
              <a:ahLst/>
              <a:cxnLst>
                <a:cxn ang="0">
                  <a:pos x="connsiteX0" y="connsiteY0"/>
                </a:cxn>
                <a:cxn ang="0">
                  <a:pos x="connsiteX1" y="connsiteY1"/>
                </a:cxn>
                <a:cxn ang="0">
                  <a:pos x="connsiteX2" y="connsiteY2"/>
                </a:cxn>
              </a:cxnLst>
              <a:rect l="l" t="t" r="r" b="b"/>
              <a:pathLst>
                <a:path w="333375" h="161925">
                  <a:moveTo>
                    <a:pt x="0" y="167068"/>
                  </a:moveTo>
                  <a:lnTo>
                    <a:pt x="166973" y="0"/>
                  </a:lnTo>
                  <a:lnTo>
                    <a:pt x="334042" y="167068"/>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grpSp>
      <p:sp>
        <p:nvSpPr>
          <p:cNvPr id="109" name="TextBox 108">
            <a:extLst>
              <a:ext uri="{FF2B5EF4-FFF2-40B4-BE49-F238E27FC236}">
                <a16:creationId xmlns:a16="http://schemas.microsoft.com/office/drawing/2014/main" id="{C16BB024-5DFC-6AC7-3C8F-07BCAED7C974}"/>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133" name="Title 3">
            <a:extLst>
              <a:ext uri="{FF2B5EF4-FFF2-40B4-BE49-F238E27FC236}">
                <a16:creationId xmlns:a16="http://schemas.microsoft.com/office/drawing/2014/main" id="{256076FF-DAD0-BCB9-7F3E-3C91DAD19B89}"/>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lvl="0"/>
            <a:r>
              <a:rPr lang="en-US" cap="none" baseline="0" dirty="0">
                <a:solidFill>
                  <a:schemeClr val="bg1"/>
                </a:solidFill>
              </a:rPr>
              <a:t>Who We Are</a:t>
            </a:r>
          </a:p>
        </p:txBody>
      </p:sp>
      <p:sp>
        <p:nvSpPr>
          <p:cNvPr id="26" name="Rectangle 25">
            <a:extLst>
              <a:ext uri="{FF2B5EF4-FFF2-40B4-BE49-F238E27FC236}">
                <a16:creationId xmlns:a16="http://schemas.microsoft.com/office/drawing/2014/main" id="{799CF838-7DB4-4CE0-6348-791DCFCAAB74}"/>
              </a:ext>
              <a:ext uri="{C183D7F6-B498-43B3-948B-1728B52AA6E4}">
                <adec:decorative xmlns:adec="http://schemas.microsoft.com/office/drawing/2017/decorative" val="1"/>
              </a:ext>
            </a:extLst>
          </p:cNvPr>
          <p:cNvSpPr/>
          <p:nvPr userDrawn="1"/>
        </p:nvSpPr>
        <p:spPr>
          <a:xfrm>
            <a:off x="0" y="4069721"/>
            <a:ext cx="12192000" cy="987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32" name="Group 31" descr="founded in 1998">
            <a:extLst>
              <a:ext uri="{FF2B5EF4-FFF2-40B4-BE49-F238E27FC236}">
                <a16:creationId xmlns:a16="http://schemas.microsoft.com/office/drawing/2014/main" id="{35461C67-7A5E-EC45-1782-4B0D138C8FC7}"/>
              </a:ext>
            </a:extLst>
          </p:cNvPr>
          <p:cNvGrpSpPr/>
          <p:nvPr userDrawn="1"/>
        </p:nvGrpSpPr>
        <p:grpSpPr>
          <a:xfrm>
            <a:off x="631097" y="4096840"/>
            <a:ext cx="1284982" cy="847554"/>
            <a:chOff x="631098" y="3789723"/>
            <a:chExt cx="1284982" cy="847554"/>
          </a:xfrm>
        </p:grpSpPr>
        <p:sp>
          <p:nvSpPr>
            <p:cNvPr id="33" name="TextBox 32">
              <a:extLst>
                <a:ext uri="{FF2B5EF4-FFF2-40B4-BE49-F238E27FC236}">
                  <a16:creationId xmlns:a16="http://schemas.microsoft.com/office/drawing/2014/main" id="{EED4AB50-5FB6-579F-F8FD-6F39B0AAB729}"/>
                </a:ext>
              </a:extLst>
            </p:cNvPr>
            <p:cNvSpPr txBox="1"/>
            <p:nvPr/>
          </p:nvSpPr>
          <p:spPr>
            <a:xfrm>
              <a:off x="631098" y="3789723"/>
              <a:ext cx="1284982" cy="677108"/>
            </a:xfrm>
            <a:prstGeom prst="rect">
              <a:avLst/>
            </a:prstGeom>
            <a:noFill/>
            <a:ln>
              <a:noFill/>
            </a:ln>
          </p:spPr>
          <p:txBody>
            <a:bodyPr wrap="square" lIns="0" tIns="0" rIns="0" bIns="0" rtlCol="0">
              <a:spAutoFit/>
            </a:bodyPr>
            <a:lstStyle/>
            <a:p>
              <a:pPr algn="l"/>
              <a:r>
                <a:rPr lang="en-US" sz="4400" b="1" i="0" dirty="0">
                  <a:solidFill>
                    <a:schemeClr val="tx1"/>
                  </a:solidFill>
                  <a:latin typeface="Century Gothic" panose="020B0502020202020204" pitchFamily="34" charset="0"/>
                </a:rPr>
                <a:t>1998</a:t>
              </a:r>
              <a:endParaRPr lang="en-GB" sz="4400" b="1" i="0" dirty="0">
                <a:solidFill>
                  <a:schemeClr val="tx1"/>
                </a:solidFill>
                <a:latin typeface="Century Gothic" panose="020B0502020202020204" pitchFamily="34" charset="0"/>
              </a:endParaRPr>
            </a:p>
          </p:txBody>
        </p:sp>
        <p:sp>
          <p:nvSpPr>
            <p:cNvPr id="34" name="TextBox 33">
              <a:extLst>
                <a:ext uri="{FF2B5EF4-FFF2-40B4-BE49-F238E27FC236}">
                  <a16:creationId xmlns:a16="http://schemas.microsoft.com/office/drawing/2014/main" id="{3EE9F575-F26F-F305-818B-047098207CBB}"/>
                </a:ext>
              </a:extLst>
            </p:cNvPr>
            <p:cNvSpPr txBox="1"/>
            <p:nvPr/>
          </p:nvSpPr>
          <p:spPr>
            <a:xfrm>
              <a:off x="722384" y="4360278"/>
              <a:ext cx="1126839" cy="276999"/>
            </a:xfrm>
            <a:prstGeom prst="rect">
              <a:avLst/>
            </a:prstGeom>
            <a:noFill/>
            <a:ln>
              <a:noFill/>
            </a:ln>
          </p:spPr>
          <p:txBody>
            <a:bodyPr wrap="square" lIns="0" tIns="0" rIns="0" bIns="0" rtlCol="0">
              <a:spAutoFit/>
            </a:bodyPr>
            <a:lstStyle/>
            <a:p>
              <a:pPr algn="l"/>
              <a:r>
                <a:rPr lang="sk-SK" i="0" dirty="0">
                  <a:solidFill>
                    <a:schemeClr val="tx1"/>
                  </a:solidFill>
                  <a:latin typeface="Century Gothic" panose="020B0502020202020204" pitchFamily="34" charset="0"/>
                </a:rPr>
                <a:t>FOUNDED</a:t>
              </a:r>
              <a:endParaRPr lang="en-GB" i="0" dirty="0">
                <a:solidFill>
                  <a:schemeClr val="tx1"/>
                </a:solidFill>
                <a:latin typeface="Century Gothic" panose="020B0502020202020204" pitchFamily="34" charset="0"/>
              </a:endParaRPr>
            </a:p>
          </p:txBody>
        </p:sp>
      </p:grpSp>
      <p:grpSp>
        <p:nvGrpSpPr>
          <p:cNvPr id="35" name="Group 34" descr="37 worldwide offices across 4 continents">
            <a:extLst>
              <a:ext uri="{FF2B5EF4-FFF2-40B4-BE49-F238E27FC236}">
                <a16:creationId xmlns:a16="http://schemas.microsoft.com/office/drawing/2014/main" id="{E18E37B3-5E9A-0D59-565B-435FEA8B7D6C}"/>
              </a:ext>
            </a:extLst>
          </p:cNvPr>
          <p:cNvGrpSpPr/>
          <p:nvPr userDrawn="1"/>
        </p:nvGrpSpPr>
        <p:grpSpPr>
          <a:xfrm>
            <a:off x="3152098" y="4183076"/>
            <a:ext cx="3048767" cy="738664"/>
            <a:chOff x="2419726" y="3853396"/>
            <a:chExt cx="3048767" cy="738664"/>
          </a:xfrm>
        </p:grpSpPr>
        <p:sp>
          <p:nvSpPr>
            <p:cNvPr id="36" name="TextBox 35">
              <a:extLst>
                <a:ext uri="{FF2B5EF4-FFF2-40B4-BE49-F238E27FC236}">
                  <a16:creationId xmlns:a16="http://schemas.microsoft.com/office/drawing/2014/main" id="{3882BA10-E76C-4247-4F5B-C04AB92BFDEB}"/>
                </a:ext>
              </a:extLst>
            </p:cNvPr>
            <p:cNvSpPr txBox="1"/>
            <p:nvPr/>
          </p:nvSpPr>
          <p:spPr>
            <a:xfrm>
              <a:off x="2419726" y="3853396"/>
              <a:ext cx="1095089" cy="738664"/>
            </a:xfrm>
            <a:prstGeom prst="rect">
              <a:avLst/>
            </a:prstGeom>
            <a:noFill/>
            <a:ln>
              <a:noFill/>
            </a:ln>
          </p:spPr>
          <p:txBody>
            <a:bodyPr wrap="square" lIns="0" tIns="0" rIns="0" bIns="0" rtlCol="0">
              <a:spAutoFit/>
            </a:bodyPr>
            <a:lstStyle/>
            <a:p>
              <a:pPr algn="l"/>
              <a:r>
                <a:rPr lang="en-US" sz="4800" b="1" dirty="0">
                  <a:solidFill>
                    <a:schemeClr val="tx1"/>
                  </a:solidFill>
                  <a:latin typeface="Century Gothic" panose="020B0502020202020204" pitchFamily="34" charset="0"/>
                </a:rPr>
                <a:t>34</a:t>
              </a:r>
              <a:endParaRPr lang="en-GB" sz="4400" b="1" dirty="0">
                <a:solidFill>
                  <a:schemeClr val="tx1"/>
                </a:solidFill>
                <a:latin typeface="Century Gothic" panose="020B0502020202020204" pitchFamily="34" charset="0"/>
              </a:endParaRPr>
            </a:p>
          </p:txBody>
        </p:sp>
        <p:sp>
          <p:nvSpPr>
            <p:cNvPr id="37" name="TextBox 36">
              <a:extLst>
                <a:ext uri="{FF2B5EF4-FFF2-40B4-BE49-F238E27FC236}">
                  <a16:creationId xmlns:a16="http://schemas.microsoft.com/office/drawing/2014/main" id="{4210C324-9963-D37B-B9AF-C6EC2BAB65CA}"/>
                </a:ext>
              </a:extLst>
            </p:cNvPr>
            <p:cNvSpPr txBox="1"/>
            <p:nvPr/>
          </p:nvSpPr>
          <p:spPr>
            <a:xfrm>
              <a:off x="3148433" y="3957557"/>
              <a:ext cx="2320059" cy="276999"/>
            </a:xfrm>
            <a:prstGeom prst="rect">
              <a:avLst/>
            </a:prstGeom>
            <a:noFill/>
            <a:ln>
              <a:noFill/>
            </a:ln>
          </p:spPr>
          <p:txBody>
            <a:bodyPr wrap="square" lIns="0" tIns="0" rIns="0" bIns="0" rtlCol="0" anchor="ctr" anchorCtr="0">
              <a:spAutoFit/>
            </a:bodyPr>
            <a:lstStyle/>
            <a:p>
              <a:r>
                <a:rPr lang="sk-SK" b="1" dirty="0">
                  <a:solidFill>
                    <a:schemeClr val="tx1"/>
                  </a:solidFill>
                  <a:latin typeface="Century Gothic" panose="020B0502020202020204" pitchFamily="34" charset="0"/>
                </a:rPr>
                <a:t>WORLDWIDE OFFICES</a:t>
              </a:r>
            </a:p>
          </p:txBody>
        </p:sp>
        <p:sp>
          <p:nvSpPr>
            <p:cNvPr id="38" name="TextBox 37">
              <a:extLst>
                <a:ext uri="{FF2B5EF4-FFF2-40B4-BE49-F238E27FC236}">
                  <a16:creationId xmlns:a16="http://schemas.microsoft.com/office/drawing/2014/main" id="{E8FB8B40-247C-A28F-2D21-86EF4B0329F4}"/>
                </a:ext>
              </a:extLst>
            </p:cNvPr>
            <p:cNvSpPr txBox="1"/>
            <p:nvPr/>
          </p:nvSpPr>
          <p:spPr>
            <a:xfrm>
              <a:off x="3170417" y="4229206"/>
              <a:ext cx="2298076" cy="246221"/>
            </a:xfrm>
            <a:prstGeom prst="rect">
              <a:avLst/>
            </a:prstGeom>
            <a:noFill/>
            <a:ln>
              <a:noFill/>
            </a:ln>
          </p:spPr>
          <p:txBody>
            <a:bodyPr wrap="square" lIns="0" tIns="0" rIns="0" bIns="0" rtlCol="0" anchor="ctr" anchorCtr="0">
              <a:spAutoFit/>
            </a:bodyPr>
            <a:lstStyle/>
            <a:p>
              <a:pPr algn="l"/>
              <a:r>
                <a:rPr lang="sk-SK" sz="1600" b="0" dirty="0">
                  <a:solidFill>
                    <a:schemeClr val="tx1"/>
                  </a:solidFill>
                  <a:latin typeface="Century Gothic" panose="020B0502020202020204" pitchFamily="34" charset="0"/>
                </a:rPr>
                <a:t>ACROSS 4 CONTINENTS</a:t>
              </a:r>
              <a:endParaRPr lang="en-GB" sz="1600" b="0" dirty="0">
                <a:solidFill>
                  <a:schemeClr val="tx1"/>
                </a:solidFill>
                <a:latin typeface="Century Gothic" panose="020B0502020202020204" pitchFamily="34" charset="0"/>
              </a:endParaRPr>
            </a:p>
          </p:txBody>
        </p:sp>
      </p:grpSp>
      <p:grpSp>
        <p:nvGrpSpPr>
          <p:cNvPr id="45" name="Group 44" descr="more than 20 years of industry experience">
            <a:extLst>
              <a:ext uri="{FF2B5EF4-FFF2-40B4-BE49-F238E27FC236}">
                <a16:creationId xmlns:a16="http://schemas.microsoft.com/office/drawing/2014/main" id="{A55FB6D5-17F1-01CE-7586-B6837AFA10E5}"/>
              </a:ext>
            </a:extLst>
          </p:cNvPr>
          <p:cNvGrpSpPr/>
          <p:nvPr userDrawn="1"/>
        </p:nvGrpSpPr>
        <p:grpSpPr>
          <a:xfrm>
            <a:off x="7436884" y="4088424"/>
            <a:ext cx="1410143" cy="853498"/>
            <a:chOff x="8216897" y="4088424"/>
            <a:chExt cx="1410143" cy="853498"/>
          </a:xfrm>
        </p:grpSpPr>
        <p:sp>
          <p:nvSpPr>
            <p:cNvPr id="46" name="TextBox 45">
              <a:extLst>
                <a:ext uri="{FF2B5EF4-FFF2-40B4-BE49-F238E27FC236}">
                  <a16:creationId xmlns:a16="http://schemas.microsoft.com/office/drawing/2014/main" id="{CA349679-46CE-91A6-7B1A-E36139AA8BE5}"/>
                </a:ext>
              </a:extLst>
            </p:cNvPr>
            <p:cNvSpPr txBox="1"/>
            <p:nvPr userDrawn="1"/>
          </p:nvSpPr>
          <p:spPr>
            <a:xfrm>
              <a:off x="8724141" y="4088424"/>
              <a:ext cx="199329" cy="307777"/>
            </a:xfrm>
            <a:prstGeom prst="rect">
              <a:avLst/>
            </a:prstGeom>
            <a:noFill/>
            <a:ln>
              <a:noFill/>
            </a:ln>
          </p:spPr>
          <p:txBody>
            <a:bodyPr wrap="square" lIns="0" tIns="0" rIns="0" bIns="0" rtlCol="0">
              <a:spAutoFit/>
            </a:bodyPr>
            <a:lstStyle/>
            <a:p>
              <a:pPr algn="l"/>
              <a:r>
                <a:rPr lang="sk-SK" sz="2000" b="1" dirty="0">
                  <a:solidFill>
                    <a:schemeClr val="tx1"/>
                  </a:solidFill>
                  <a:latin typeface="Century Gothic" panose="020B0502020202020204" pitchFamily="34" charset="0"/>
                </a:rPr>
                <a:t>+</a:t>
              </a:r>
              <a:endParaRPr lang="en-GB" sz="2800" b="1" dirty="0">
                <a:solidFill>
                  <a:schemeClr val="tx1"/>
                </a:solidFill>
                <a:latin typeface="Century Gothic" panose="020B0502020202020204" pitchFamily="34" charset="0"/>
              </a:endParaRPr>
            </a:p>
          </p:txBody>
        </p:sp>
        <p:grpSp>
          <p:nvGrpSpPr>
            <p:cNvPr id="47" name="Group 46" descr="more than 20 years of industry experience">
              <a:extLst>
                <a:ext uri="{FF2B5EF4-FFF2-40B4-BE49-F238E27FC236}">
                  <a16:creationId xmlns:a16="http://schemas.microsoft.com/office/drawing/2014/main" id="{7F7AF0E9-C835-FA5D-60FB-A79B1F95E20C}"/>
                </a:ext>
              </a:extLst>
            </p:cNvPr>
            <p:cNvGrpSpPr/>
            <p:nvPr userDrawn="1"/>
          </p:nvGrpSpPr>
          <p:grpSpPr>
            <a:xfrm>
              <a:off x="8216897" y="4154732"/>
              <a:ext cx="1410143" cy="787190"/>
              <a:chOff x="7881875" y="3805941"/>
              <a:chExt cx="1410143" cy="787190"/>
            </a:xfrm>
          </p:grpSpPr>
          <p:sp>
            <p:nvSpPr>
              <p:cNvPr id="48" name="TextBox 47">
                <a:extLst>
                  <a:ext uri="{FF2B5EF4-FFF2-40B4-BE49-F238E27FC236}">
                    <a16:creationId xmlns:a16="http://schemas.microsoft.com/office/drawing/2014/main" id="{BCB8FFFB-D6E8-0571-C6EC-22E60C1A5B40}"/>
                  </a:ext>
                </a:extLst>
              </p:cNvPr>
              <p:cNvSpPr txBox="1"/>
              <p:nvPr/>
            </p:nvSpPr>
            <p:spPr>
              <a:xfrm>
                <a:off x="7881875" y="3805941"/>
                <a:ext cx="1238228" cy="615553"/>
              </a:xfrm>
              <a:prstGeom prst="rect">
                <a:avLst/>
              </a:prstGeom>
              <a:noFill/>
              <a:ln>
                <a:noFill/>
              </a:ln>
            </p:spPr>
            <p:txBody>
              <a:bodyPr wrap="square" lIns="0" tIns="0" rIns="0" bIns="0" rtlCol="0">
                <a:spAutoFit/>
              </a:bodyPr>
              <a:lstStyle/>
              <a:p>
                <a:pPr algn="l"/>
                <a:r>
                  <a:rPr lang="sk-SK" sz="4000" b="1" dirty="0">
                    <a:solidFill>
                      <a:schemeClr val="tx1"/>
                    </a:solidFill>
                    <a:latin typeface="Century Gothic" panose="020B0502020202020204" pitchFamily="34" charset="0"/>
                  </a:rPr>
                  <a:t>2</a:t>
                </a:r>
                <a:r>
                  <a:rPr lang="en-GB" sz="4000" b="1" dirty="0">
                    <a:solidFill>
                      <a:schemeClr val="tx1"/>
                    </a:solidFill>
                    <a:latin typeface="Century Gothic" panose="020B0502020202020204" pitchFamily="34" charset="0"/>
                  </a:rPr>
                  <a:t>5</a:t>
                </a:r>
                <a:endParaRPr lang="en-GB" sz="5400" b="1" dirty="0">
                  <a:solidFill>
                    <a:schemeClr val="tx1"/>
                  </a:solidFill>
                  <a:latin typeface="Century Gothic" panose="020B0502020202020204" pitchFamily="34" charset="0"/>
                </a:endParaRPr>
              </a:p>
            </p:txBody>
          </p:sp>
          <p:sp>
            <p:nvSpPr>
              <p:cNvPr id="49" name="TextBox 48">
                <a:extLst>
                  <a:ext uri="{FF2B5EF4-FFF2-40B4-BE49-F238E27FC236}">
                    <a16:creationId xmlns:a16="http://schemas.microsoft.com/office/drawing/2014/main" id="{370798B9-7F8A-73AF-5079-C50D016C98DB}"/>
                  </a:ext>
                </a:extLst>
              </p:cNvPr>
              <p:cNvSpPr txBox="1"/>
              <p:nvPr/>
            </p:nvSpPr>
            <p:spPr>
              <a:xfrm>
                <a:off x="7892661" y="4316132"/>
                <a:ext cx="1399356" cy="276999"/>
              </a:xfrm>
              <a:prstGeom prst="rect">
                <a:avLst/>
              </a:prstGeom>
              <a:noFill/>
              <a:ln>
                <a:noFill/>
              </a:ln>
            </p:spPr>
            <p:txBody>
              <a:bodyPr wrap="square" lIns="0" tIns="0" rIns="0" bIns="0" rtlCol="0">
                <a:spAutoFit/>
              </a:bodyPr>
              <a:lstStyle/>
              <a:p>
                <a:pPr algn="l"/>
                <a:r>
                  <a:rPr lang="sk-SK" sz="1800" dirty="0">
                    <a:solidFill>
                      <a:schemeClr val="tx1"/>
                    </a:solidFill>
                    <a:latin typeface="Century Gothic" panose="020B0502020202020204" pitchFamily="34" charset="0"/>
                  </a:rPr>
                  <a:t>EXPERIENCE</a:t>
                </a:r>
                <a:endParaRPr lang="en-GB" sz="1800" dirty="0">
                  <a:solidFill>
                    <a:schemeClr val="tx1"/>
                  </a:solidFill>
                  <a:latin typeface="Century Gothic" panose="020B0502020202020204" pitchFamily="34" charset="0"/>
                </a:endParaRPr>
              </a:p>
            </p:txBody>
          </p:sp>
          <p:sp>
            <p:nvSpPr>
              <p:cNvPr id="51" name="TextBox 50">
                <a:extLst>
                  <a:ext uri="{FF2B5EF4-FFF2-40B4-BE49-F238E27FC236}">
                    <a16:creationId xmlns:a16="http://schemas.microsoft.com/office/drawing/2014/main" id="{AEDC3C99-9729-C8E0-AB04-A12CE64B3290}"/>
                  </a:ext>
                </a:extLst>
              </p:cNvPr>
              <p:cNvSpPr txBox="1"/>
              <p:nvPr/>
            </p:nvSpPr>
            <p:spPr>
              <a:xfrm>
                <a:off x="8553523" y="4153157"/>
                <a:ext cx="716144" cy="192360"/>
              </a:xfrm>
              <a:prstGeom prst="rect">
                <a:avLst/>
              </a:prstGeom>
              <a:noFill/>
              <a:ln>
                <a:noFill/>
              </a:ln>
            </p:spPr>
            <p:txBody>
              <a:bodyPr wrap="square" lIns="0" tIns="0" rIns="0" bIns="0" rtlCol="0">
                <a:spAutoFit/>
              </a:bodyPr>
              <a:lstStyle/>
              <a:p>
                <a:pPr algn="l"/>
                <a:r>
                  <a:rPr lang="sk-SK" sz="1250" dirty="0">
                    <a:solidFill>
                      <a:schemeClr val="tx1"/>
                    </a:solidFill>
                    <a:latin typeface="Century Gothic" panose="020B0502020202020204" pitchFamily="34" charset="0"/>
                  </a:rPr>
                  <a:t>INDUSTRY</a:t>
                </a:r>
                <a:endParaRPr lang="en-GB" sz="1250" dirty="0">
                  <a:solidFill>
                    <a:schemeClr val="tx1"/>
                  </a:solidFill>
                  <a:latin typeface="Century Gothic" panose="020B0502020202020204" pitchFamily="34" charset="0"/>
                </a:endParaRPr>
              </a:p>
            </p:txBody>
          </p:sp>
          <p:sp>
            <p:nvSpPr>
              <p:cNvPr id="52" name="TextBox 51">
                <a:extLst>
                  <a:ext uri="{FF2B5EF4-FFF2-40B4-BE49-F238E27FC236}">
                    <a16:creationId xmlns:a16="http://schemas.microsoft.com/office/drawing/2014/main" id="{FA607164-1C90-379C-52BF-1B1663FA3E5A}"/>
                  </a:ext>
                </a:extLst>
              </p:cNvPr>
              <p:cNvSpPr txBox="1"/>
              <p:nvPr/>
            </p:nvSpPr>
            <p:spPr>
              <a:xfrm>
                <a:off x="8517814" y="3873192"/>
                <a:ext cx="774204" cy="307777"/>
              </a:xfrm>
              <a:prstGeom prst="rect">
                <a:avLst/>
              </a:prstGeom>
              <a:noFill/>
              <a:ln>
                <a:noFill/>
              </a:ln>
            </p:spPr>
            <p:txBody>
              <a:bodyPr wrap="square" lIns="0" tIns="0" rIns="0" bIns="0" rtlCol="0">
                <a:spAutoFit/>
              </a:bodyPr>
              <a:lstStyle/>
              <a:p>
                <a:pPr algn="l"/>
                <a:r>
                  <a:rPr lang="sk-SK" sz="2000" b="1" dirty="0">
                    <a:solidFill>
                      <a:schemeClr val="tx1"/>
                    </a:solidFill>
                    <a:latin typeface="Century Gothic" panose="020B0502020202020204" pitchFamily="34" charset="0"/>
                  </a:rPr>
                  <a:t>YEARS</a:t>
                </a:r>
                <a:endParaRPr lang="en-GB" sz="2000" b="1" dirty="0">
                  <a:solidFill>
                    <a:schemeClr val="tx1"/>
                  </a:solidFill>
                  <a:latin typeface="Century Gothic" panose="020B0502020202020204" pitchFamily="34" charset="0"/>
                </a:endParaRPr>
              </a:p>
            </p:txBody>
          </p:sp>
        </p:grpSp>
      </p:grpSp>
      <p:grpSp>
        <p:nvGrpSpPr>
          <p:cNvPr id="53" name="Group 52" descr="about 7000 employees">
            <a:extLst>
              <a:ext uri="{FF2B5EF4-FFF2-40B4-BE49-F238E27FC236}">
                <a16:creationId xmlns:a16="http://schemas.microsoft.com/office/drawing/2014/main" id="{83A33630-3D57-014A-1E46-A1D6A27F257A}"/>
              </a:ext>
            </a:extLst>
          </p:cNvPr>
          <p:cNvGrpSpPr/>
          <p:nvPr userDrawn="1"/>
        </p:nvGrpSpPr>
        <p:grpSpPr>
          <a:xfrm>
            <a:off x="10083045" y="4150394"/>
            <a:ext cx="1288292" cy="789342"/>
            <a:chOff x="9818544" y="3812992"/>
            <a:chExt cx="1288292" cy="789342"/>
          </a:xfrm>
        </p:grpSpPr>
        <p:sp>
          <p:nvSpPr>
            <p:cNvPr id="54" name="TextBox 53">
              <a:extLst>
                <a:ext uri="{FF2B5EF4-FFF2-40B4-BE49-F238E27FC236}">
                  <a16:creationId xmlns:a16="http://schemas.microsoft.com/office/drawing/2014/main" id="{21E023C2-D6A1-A297-B222-20151D69270A}"/>
                </a:ext>
              </a:extLst>
            </p:cNvPr>
            <p:cNvSpPr txBox="1"/>
            <p:nvPr/>
          </p:nvSpPr>
          <p:spPr>
            <a:xfrm>
              <a:off x="9818544" y="3812992"/>
              <a:ext cx="1288292" cy="553998"/>
            </a:xfrm>
            <a:prstGeom prst="rect">
              <a:avLst/>
            </a:prstGeom>
            <a:noFill/>
            <a:ln>
              <a:noFill/>
            </a:ln>
          </p:spPr>
          <p:txBody>
            <a:bodyPr wrap="square" lIns="0" tIns="0" rIns="0" bIns="0" rtlCol="0">
              <a:spAutoFit/>
            </a:bodyPr>
            <a:lstStyle/>
            <a:p>
              <a:pPr algn="l"/>
              <a:r>
                <a:rPr lang="sk-SK" sz="5400" b="1" baseline="-25000" dirty="0">
                  <a:solidFill>
                    <a:schemeClr val="tx1"/>
                  </a:solidFill>
                  <a:latin typeface="Century Gothic" panose="020B0502020202020204" pitchFamily="34" charset="0"/>
                </a:rPr>
                <a:t>˜</a:t>
              </a:r>
              <a:r>
                <a:rPr lang="sk-SK" sz="3600" b="1" dirty="0">
                  <a:solidFill>
                    <a:schemeClr val="tx1"/>
                  </a:solidFill>
                  <a:latin typeface="Century Gothic" panose="020B0502020202020204" pitchFamily="34" charset="0"/>
                </a:rPr>
                <a:t>7</a:t>
              </a:r>
              <a:r>
                <a:rPr lang="sk-SK" sz="3600" b="1" i="0" dirty="0">
                  <a:solidFill>
                    <a:schemeClr val="tx1"/>
                  </a:solidFill>
                  <a:latin typeface="Century Gothic" panose="020B0502020202020204" pitchFamily="34" charset="0"/>
                </a:rPr>
                <a:t>000</a:t>
              </a:r>
              <a:endParaRPr lang="en-GB" sz="3600" b="1" i="0" dirty="0">
                <a:solidFill>
                  <a:schemeClr val="tx1"/>
                </a:solidFill>
                <a:latin typeface="Century Gothic" panose="020B0502020202020204" pitchFamily="34" charset="0"/>
              </a:endParaRPr>
            </a:p>
          </p:txBody>
        </p:sp>
        <p:sp>
          <p:nvSpPr>
            <p:cNvPr id="55" name="TextBox 54">
              <a:extLst>
                <a:ext uri="{FF2B5EF4-FFF2-40B4-BE49-F238E27FC236}">
                  <a16:creationId xmlns:a16="http://schemas.microsoft.com/office/drawing/2014/main" id="{6C2C0FD2-AF56-7575-E878-D07776933761}"/>
                </a:ext>
              </a:extLst>
            </p:cNvPr>
            <p:cNvSpPr txBox="1"/>
            <p:nvPr/>
          </p:nvSpPr>
          <p:spPr>
            <a:xfrm>
              <a:off x="9855169" y="4340724"/>
              <a:ext cx="1251667" cy="261610"/>
            </a:xfrm>
            <a:prstGeom prst="rect">
              <a:avLst/>
            </a:prstGeom>
            <a:noFill/>
            <a:ln>
              <a:noFill/>
            </a:ln>
          </p:spPr>
          <p:txBody>
            <a:bodyPr wrap="square" lIns="0" tIns="0" rIns="0" bIns="0" rtlCol="0">
              <a:spAutoFit/>
            </a:bodyPr>
            <a:lstStyle/>
            <a:p>
              <a:pPr algn="l"/>
              <a:r>
                <a:rPr lang="sk-SK" sz="1700" i="0" dirty="0">
                  <a:solidFill>
                    <a:schemeClr val="tx1"/>
                  </a:solidFill>
                  <a:latin typeface="Century Gothic" panose="020B0502020202020204" pitchFamily="34" charset="0"/>
                </a:rPr>
                <a:t>EMPLOYEES</a:t>
              </a:r>
              <a:endParaRPr lang="en-GB" sz="1700" i="0" dirty="0">
                <a:solidFill>
                  <a:schemeClr val="tx1"/>
                </a:solidFill>
                <a:latin typeface="Century Gothic" panose="020B0502020202020204" pitchFamily="34" charset="0"/>
              </a:endParaRPr>
            </a:p>
          </p:txBody>
        </p:sp>
      </p:grpSp>
      <p:sp>
        <p:nvSpPr>
          <p:cNvPr id="5" name="TextBox 4">
            <a:extLst>
              <a:ext uri="{FF2B5EF4-FFF2-40B4-BE49-F238E27FC236}">
                <a16:creationId xmlns:a16="http://schemas.microsoft.com/office/drawing/2014/main" id="{6D3880B1-16D6-533A-3ABA-09997F16278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3" name="TextBox 2">
            <a:extLst>
              <a:ext uri="{FF2B5EF4-FFF2-40B4-BE49-F238E27FC236}">
                <a16:creationId xmlns:a16="http://schemas.microsoft.com/office/drawing/2014/main" id="{4D3D0E87-B54B-76C6-D3F1-8D616514BC59}"/>
              </a:ext>
            </a:extLst>
          </p:cNvPr>
          <p:cNvSpPr txBox="1"/>
          <p:nvPr userDrawn="1"/>
        </p:nvSpPr>
        <p:spPr>
          <a:xfrm>
            <a:off x="2983743" y="5921995"/>
            <a:ext cx="1389221" cy="323165"/>
          </a:xfrm>
          <a:prstGeom prst="rect">
            <a:avLst/>
          </a:prstGeom>
          <a:noFill/>
          <a:ln>
            <a:noFill/>
          </a:ln>
        </p:spPr>
        <p:txBody>
          <a:bodyPr wrap="square" lIns="0" tIns="0" rIns="0" bIns="0" rtlCol="0">
            <a:spAutoFit/>
          </a:bodyPr>
          <a:lstStyle/>
          <a:p>
            <a:pPr algn="l"/>
            <a:r>
              <a:rPr lang="en-GB" sz="1050" b="1" noProof="0">
                <a:solidFill>
                  <a:schemeClr val="bg1"/>
                </a:solidFill>
                <a:latin typeface="+mn-lt"/>
              </a:rPr>
              <a:t>Innovation</a:t>
            </a:r>
            <a:r>
              <a:rPr lang="en-GB" sz="1050" b="1" dirty="0">
                <a:solidFill>
                  <a:schemeClr val="bg1"/>
                </a:solidFill>
                <a:latin typeface="+mn-lt"/>
              </a:rPr>
              <a:t> </a:t>
            </a:r>
            <a:r>
              <a:rPr lang="en-GB" altLang="en-US" sz="1050" b="1" kern="1200" dirty="0">
                <a:solidFill>
                  <a:schemeClr val="bg1"/>
                </a:solidFill>
                <a:latin typeface="+mn-lt"/>
                <a:sym typeface="Wingdings" panose="05000000000000000000" pitchFamily="2" charset="2"/>
              </a:rPr>
              <a:t>and Thought Leadership</a:t>
            </a:r>
          </a:p>
        </p:txBody>
      </p:sp>
      <p:sp>
        <p:nvSpPr>
          <p:cNvPr id="6" name="TextBox 5">
            <a:extLst>
              <a:ext uri="{FF2B5EF4-FFF2-40B4-BE49-F238E27FC236}">
                <a16:creationId xmlns:a16="http://schemas.microsoft.com/office/drawing/2014/main" id="{989F6E97-2E42-B298-80D3-C5303DD73C01}"/>
              </a:ext>
            </a:extLst>
          </p:cNvPr>
          <p:cNvSpPr txBox="1"/>
          <p:nvPr userDrawn="1"/>
        </p:nvSpPr>
        <p:spPr>
          <a:xfrm>
            <a:off x="5408438" y="5921995"/>
            <a:ext cx="1389221" cy="323165"/>
          </a:xfrm>
          <a:prstGeom prst="rect">
            <a:avLst/>
          </a:prstGeom>
          <a:noFill/>
          <a:ln>
            <a:noFill/>
          </a:ln>
        </p:spPr>
        <p:txBody>
          <a:bodyPr wrap="square" lIns="0" tIns="0" rIns="0" bIns="0" rtlCol="0">
            <a:spAutoFit/>
          </a:bodyPr>
          <a:lstStyle/>
          <a:p>
            <a:pPr algn="l"/>
            <a:r>
              <a:rPr lang="en-GB" sz="1050" b="1" noProof="0" dirty="0">
                <a:solidFill>
                  <a:schemeClr val="bg1"/>
                </a:solidFill>
                <a:latin typeface="+mn-lt"/>
              </a:rPr>
              <a:t>Execution</a:t>
            </a:r>
          </a:p>
          <a:p>
            <a:pPr algn="l"/>
            <a:r>
              <a:rPr lang="en-GB" altLang="en-US" sz="1050" b="1" kern="1200" noProof="0" dirty="0">
                <a:solidFill>
                  <a:schemeClr val="bg1"/>
                </a:solidFill>
                <a:latin typeface="+mn-lt"/>
                <a:sym typeface="Wingdings" panose="05000000000000000000" pitchFamily="2" charset="2"/>
              </a:rPr>
              <a:t>Excellence</a:t>
            </a:r>
          </a:p>
        </p:txBody>
      </p:sp>
      <p:sp>
        <p:nvSpPr>
          <p:cNvPr id="7" name="TextBox 6">
            <a:extLst>
              <a:ext uri="{FF2B5EF4-FFF2-40B4-BE49-F238E27FC236}">
                <a16:creationId xmlns:a16="http://schemas.microsoft.com/office/drawing/2014/main" id="{4FA65AC7-8878-5F80-3BA0-DFFD7A4E0690}"/>
              </a:ext>
            </a:extLst>
          </p:cNvPr>
          <p:cNvSpPr txBox="1"/>
          <p:nvPr userDrawn="1"/>
        </p:nvSpPr>
        <p:spPr>
          <a:xfrm>
            <a:off x="7833133" y="5921995"/>
            <a:ext cx="1389221" cy="323165"/>
          </a:xfrm>
          <a:prstGeom prst="rect">
            <a:avLst/>
          </a:prstGeom>
          <a:noFill/>
          <a:ln>
            <a:noFill/>
          </a:ln>
        </p:spPr>
        <p:txBody>
          <a:bodyPr wrap="square" lIns="0" tIns="0" rIns="0" bIns="0" rtlCol="0">
            <a:spAutoFit/>
          </a:bodyPr>
          <a:lstStyle/>
          <a:p>
            <a:r>
              <a:rPr lang="en-GB" sz="1050" b="1" noProof="0" dirty="0">
                <a:solidFill>
                  <a:schemeClr val="bg1"/>
                </a:solidFill>
                <a:latin typeface="+mn-lt"/>
              </a:rPr>
              <a:t>Unique</a:t>
            </a:r>
          </a:p>
          <a:p>
            <a:r>
              <a:rPr lang="en-GB" sz="1050" b="1" noProof="0" dirty="0">
                <a:solidFill>
                  <a:schemeClr val="bg1"/>
                </a:solidFill>
                <a:latin typeface="+mn-lt"/>
              </a:rPr>
              <a:t>Culture</a:t>
            </a:r>
          </a:p>
        </p:txBody>
      </p:sp>
      <p:sp>
        <p:nvSpPr>
          <p:cNvPr id="8" name="TextBox 7">
            <a:extLst>
              <a:ext uri="{FF2B5EF4-FFF2-40B4-BE49-F238E27FC236}">
                <a16:creationId xmlns:a16="http://schemas.microsoft.com/office/drawing/2014/main" id="{A2967CD3-5A66-BE2F-22AF-9BB737852C45}"/>
              </a:ext>
            </a:extLst>
          </p:cNvPr>
          <p:cNvSpPr txBox="1"/>
          <p:nvPr userDrawn="1"/>
        </p:nvSpPr>
        <p:spPr>
          <a:xfrm>
            <a:off x="559048" y="5921995"/>
            <a:ext cx="1389221" cy="323165"/>
          </a:xfrm>
          <a:prstGeom prst="rect">
            <a:avLst/>
          </a:prstGeom>
          <a:noFill/>
          <a:ln>
            <a:noFill/>
          </a:ln>
        </p:spPr>
        <p:txBody>
          <a:bodyPr wrap="square" lIns="0" tIns="0" rIns="0" bIns="0" rtlCol="0">
            <a:spAutoFit/>
          </a:bodyPr>
          <a:lstStyle/>
          <a:p>
            <a:pPr algn="l"/>
            <a:r>
              <a:rPr lang="en-US" sz="1050" b="1" noProof="0" dirty="0">
                <a:solidFill>
                  <a:schemeClr val="bg1"/>
                </a:solidFill>
                <a:latin typeface="+mn-lt"/>
              </a:rPr>
              <a:t>Business</a:t>
            </a:r>
          </a:p>
          <a:p>
            <a:pPr algn="l"/>
            <a:r>
              <a:rPr lang="en-US" altLang="en-US" sz="1050" b="1" kern="1200" noProof="0" dirty="0">
                <a:solidFill>
                  <a:schemeClr val="bg1"/>
                </a:solidFill>
                <a:latin typeface="+mn-lt"/>
                <a:sym typeface="Wingdings" panose="05000000000000000000" pitchFamily="2" charset="2"/>
              </a:rPr>
              <a:t>Transformation</a:t>
            </a:r>
          </a:p>
        </p:txBody>
      </p:sp>
      <p:sp>
        <p:nvSpPr>
          <p:cNvPr id="9" name="TextBox 8">
            <a:extLst>
              <a:ext uri="{FF2B5EF4-FFF2-40B4-BE49-F238E27FC236}">
                <a16:creationId xmlns:a16="http://schemas.microsoft.com/office/drawing/2014/main" id="{A897362C-6E67-84AA-C9AB-8E582CB7EE9B}"/>
              </a:ext>
            </a:extLst>
          </p:cNvPr>
          <p:cNvSpPr txBox="1"/>
          <p:nvPr userDrawn="1"/>
        </p:nvSpPr>
        <p:spPr>
          <a:xfrm>
            <a:off x="10257827" y="5921995"/>
            <a:ext cx="1389221" cy="323165"/>
          </a:xfrm>
          <a:prstGeom prst="rect">
            <a:avLst/>
          </a:prstGeom>
          <a:noFill/>
          <a:ln>
            <a:noFill/>
          </a:ln>
        </p:spPr>
        <p:txBody>
          <a:bodyPr wrap="square" lIns="0" tIns="0" rIns="0" bIns="0" rtlCol="0">
            <a:spAutoFit/>
          </a:bodyPr>
          <a:lstStyle/>
          <a:p>
            <a:r>
              <a:rPr lang="en-US" sz="1050" b="1" noProof="0" dirty="0">
                <a:solidFill>
                  <a:schemeClr val="bg1"/>
                </a:solidFill>
                <a:latin typeface="+mn-lt"/>
              </a:rPr>
              <a:t>Deep Industry</a:t>
            </a:r>
          </a:p>
          <a:p>
            <a:r>
              <a:rPr lang="en-US" sz="1050" b="1" noProof="0" dirty="0">
                <a:solidFill>
                  <a:schemeClr val="bg1"/>
                </a:solidFill>
                <a:latin typeface="+mn-lt"/>
              </a:rPr>
              <a:t>Experience</a:t>
            </a:r>
          </a:p>
        </p:txBody>
      </p:sp>
      <p:sp>
        <p:nvSpPr>
          <p:cNvPr id="21" name="Title 3">
            <a:extLst>
              <a:ext uri="{FF2B5EF4-FFF2-40B4-BE49-F238E27FC236}">
                <a16:creationId xmlns:a16="http://schemas.microsoft.com/office/drawing/2014/main" id="{C3E1D1B4-0688-E535-8974-82C5866B8A32}"/>
              </a:ext>
            </a:extLst>
          </p:cNvPr>
          <p:cNvSpPr txBox="1">
            <a:spLocks/>
          </p:cNvSpPr>
          <p:nvPr userDrawn="1"/>
        </p:nvSpPr>
        <p:spPr>
          <a:xfrm>
            <a:off x="542647" y="1357250"/>
            <a:ext cx="3203389" cy="362300"/>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bg1"/>
                </a:solidFill>
                <a:latin typeface="Century Gothic (Headings)"/>
                <a:ea typeface="Verdana" panose="020B0604030504040204" pitchFamily="34" charset="0"/>
                <a:cs typeface="Calibri" panose="020F0502020204030204" pitchFamily="34" charset="0"/>
              </a:rPr>
              <a:t>Trusted Advisors</a:t>
            </a:r>
          </a:p>
        </p:txBody>
      </p:sp>
      <p:sp>
        <p:nvSpPr>
          <p:cNvPr id="22" name="Content Placeholder 7">
            <a:extLst>
              <a:ext uri="{FF2B5EF4-FFF2-40B4-BE49-F238E27FC236}">
                <a16:creationId xmlns:a16="http://schemas.microsoft.com/office/drawing/2014/main" id="{5891FF33-D7AA-42D0-AEF6-F3F79D1930B9}"/>
              </a:ext>
            </a:extLst>
          </p:cNvPr>
          <p:cNvSpPr txBox="1">
            <a:spLocks/>
          </p:cNvSpPr>
          <p:nvPr userDrawn="1"/>
        </p:nvSpPr>
        <p:spPr>
          <a:xfrm>
            <a:off x="3835400" y="1259928"/>
            <a:ext cx="7711712" cy="536827"/>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Our collaborative and entrepreneurial approach position us as trusted long-term partners to our clients.</a:t>
            </a:r>
          </a:p>
        </p:txBody>
      </p:sp>
      <p:cxnSp>
        <p:nvCxnSpPr>
          <p:cNvPr id="23" name="Straight Connector 22">
            <a:extLst>
              <a:ext uri="{FF2B5EF4-FFF2-40B4-BE49-F238E27FC236}">
                <a16:creationId xmlns:a16="http://schemas.microsoft.com/office/drawing/2014/main" id="{C9B78602-8860-EA13-05BC-33999645263D}"/>
              </a:ext>
              <a:ext uri="{C183D7F6-B498-43B3-948B-1728B52AA6E4}">
                <adec:decorative xmlns:adec="http://schemas.microsoft.com/office/drawing/2017/decorative" val="1"/>
              </a:ext>
            </a:extLst>
          </p:cNvPr>
          <p:cNvCxnSpPr>
            <a:cxnSpLocks/>
          </p:cNvCxnSpPr>
          <p:nvPr userDrawn="1"/>
        </p:nvCxnSpPr>
        <p:spPr>
          <a:xfrm>
            <a:off x="546499" y="1825844"/>
            <a:ext cx="1100061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itle 3">
            <a:extLst>
              <a:ext uri="{FF2B5EF4-FFF2-40B4-BE49-F238E27FC236}">
                <a16:creationId xmlns:a16="http://schemas.microsoft.com/office/drawing/2014/main" id="{1E75E633-F1F7-CD3E-200F-6B897D54DEAC}"/>
              </a:ext>
            </a:extLst>
          </p:cNvPr>
          <p:cNvSpPr txBox="1">
            <a:spLocks/>
          </p:cNvSpPr>
          <p:nvPr userDrawn="1"/>
        </p:nvSpPr>
        <p:spPr>
          <a:xfrm>
            <a:off x="542647" y="2014850"/>
            <a:ext cx="3203389" cy="329259"/>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accent5"/>
                </a:solidFill>
                <a:latin typeface="Century Gothic (Headings)"/>
                <a:ea typeface="Verdana" panose="020B0604030504040204" pitchFamily="34" charset="0"/>
                <a:cs typeface="Calibri" panose="020F0502020204030204" pitchFamily="34" charset="0"/>
              </a:rPr>
              <a:t>Deep Expertise</a:t>
            </a:r>
          </a:p>
        </p:txBody>
      </p:sp>
      <p:sp>
        <p:nvSpPr>
          <p:cNvPr id="25" name="Content Placeholder 7">
            <a:extLst>
              <a:ext uri="{FF2B5EF4-FFF2-40B4-BE49-F238E27FC236}">
                <a16:creationId xmlns:a16="http://schemas.microsoft.com/office/drawing/2014/main" id="{4BF23370-53CE-D592-892B-596D01943E42}"/>
              </a:ext>
            </a:extLst>
          </p:cNvPr>
          <p:cNvSpPr txBox="1">
            <a:spLocks/>
          </p:cNvSpPr>
          <p:nvPr userDrawn="1"/>
        </p:nvSpPr>
        <p:spPr>
          <a:xfrm>
            <a:off x="3835400" y="1912547"/>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Clients look to us for clear guidance, proven expertise, and the support they need to set their companies up for success.</a:t>
            </a:r>
          </a:p>
        </p:txBody>
      </p:sp>
      <p:cxnSp>
        <p:nvCxnSpPr>
          <p:cNvPr id="56" name="Straight Connector 55">
            <a:extLst>
              <a:ext uri="{FF2B5EF4-FFF2-40B4-BE49-F238E27FC236}">
                <a16:creationId xmlns:a16="http://schemas.microsoft.com/office/drawing/2014/main" id="{154795C7-4FFE-7345-C805-94142A8470B4}"/>
              </a:ext>
              <a:ext uri="{C183D7F6-B498-43B3-948B-1728B52AA6E4}">
                <adec:decorative xmlns:adec="http://schemas.microsoft.com/office/drawing/2017/decorative" val="1"/>
              </a:ext>
            </a:extLst>
          </p:cNvPr>
          <p:cNvCxnSpPr>
            <a:cxnSpLocks/>
          </p:cNvCxnSpPr>
          <p:nvPr userDrawn="1"/>
        </p:nvCxnSpPr>
        <p:spPr>
          <a:xfrm>
            <a:off x="546499" y="2500503"/>
            <a:ext cx="1100061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57" name="Title 3">
            <a:extLst>
              <a:ext uri="{FF2B5EF4-FFF2-40B4-BE49-F238E27FC236}">
                <a16:creationId xmlns:a16="http://schemas.microsoft.com/office/drawing/2014/main" id="{627591F1-9994-7BED-D3A0-9B166859F6A9}"/>
              </a:ext>
            </a:extLst>
          </p:cNvPr>
          <p:cNvSpPr txBox="1">
            <a:spLocks/>
          </p:cNvSpPr>
          <p:nvPr userDrawn="1"/>
        </p:nvSpPr>
        <p:spPr>
          <a:xfrm>
            <a:off x="542647" y="2711396"/>
            <a:ext cx="3203389" cy="359450"/>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bg1"/>
                </a:solidFill>
                <a:latin typeface="Century Gothic (Headings)"/>
                <a:ea typeface="Verdana" panose="020B0604030504040204" pitchFamily="34" charset="0"/>
                <a:cs typeface="Calibri" panose="020F0502020204030204" pitchFamily="34" charset="0"/>
              </a:rPr>
              <a:t>Disruptive Solutions</a:t>
            </a:r>
          </a:p>
        </p:txBody>
      </p:sp>
      <p:sp>
        <p:nvSpPr>
          <p:cNvPr id="58" name="Content Placeholder 7">
            <a:extLst>
              <a:ext uri="{FF2B5EF4-FFF2-40B4-BE49-F238E27FC236}">
                <a16:creationId xmlns:a16="http://schemas.microsoft.com/office/drawing/2014/main" id="{ACC826D4-5FF2-240C-61CF-DF5E095F486B}"/>
              </a:ext>
            </a:extLst>
          </p:cNvPr>
          <p:cNvSpPr txBox="1">
            <a:spLocks/>
          </p:cNvSpPr>
          <p:nvPr userDrawn="1"/>
        </p:nvSpPr>
        <p:spPr>
          <a:xfrm>
            <a:off x="3835400" y="2625804"/>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We do not provide off-the-shelf answers to clients’ challenges. Instead, we work in close collaboration to understand the issues, and craft disruptive, bespoke solutions.</a:t>
            </a:r>
          </a:p>
        </p:txBody>
      </p:sp>
      <p:cxnSp>
        <p:nvCxnSpPr>
          <p:cNvPr id="59" name="Straight Connector 58">
            <a:extLst>
              <a:ext uri="{FF2B5EF4-FFF2-40B4-BE49-F238E27FC236}">
                <a16:creationId xmlns:a16="http://schemas.microsoft.com/office/drawing/2014/main" id="{8FA1DE0C-867C-0045-E453-E95146D7A92D}"/>
              </a:ext>
              <a:ext uri="{C183D7F6-B498-43B3-948B-1728B52AA6E4}">
                <adec:decorative xmlns:adec="http://schemas.microsoft.com/office/drawing/2017/decorative" val="1"/>
              </a:ext>
            </a:extLst>
          </p:cNvPr>
          <p:cNvCxnSpPr>
            <a:cxnSpLocks/>
          </p:cNvCxnSpPr>
          <p:nvPr userDrawn="1"/>
        </p:nvCxnSpPr>
        <p:spPr>
          <a:xfrm>
            <a:off x="546689" y="3189947"/>
            <a:ext cx="1100023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61" name="Title 3">
            <a:extLst>
              <a:ext uri="{FF2B5EF4-FFF2-40B4-BE49-F238E27FC236}">
                <a16:creationId xmlns:a16="http://schemas.microsoft.com/office/drawing/2014/main" id="{5C64475A-CB7E-ADAE-37E0-D5822D185C45}"/>
              </a:ext>
            </a:extLst>
          </p:cNvPr>
          <p:cNvSpPr txBox="1">
            <a:spLocks/>
          </p:cNvSpPr>
          <p:nvPr userDrawn="1"/>
        </p:nvSpPr>
        <p:spPr>
          <a:xfrm>
            <a:off x="542647" y="3366529"/>
            <a:ext cx="3203389" cy="361017"/>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accent5"/>
                </a:solidFill>
                <a:latin typeface="Century Gothic (Headings)"/>
                <a:ea typeface="Verdana" panose="020B0604030504040204" pitchFamily="34" charset="0"/>
                <a:cs typeface="Calibri" panose="020F0502020204030204" pitchFamily="34" charset="0"/>
              </a:rPr>
              <a:t>Accountability and Ownership</a:t>
            </a:r>
          </a:p>
        </p:txBody>
      </p:sp>
      <p:sp>
        <p:nvSpPr>
          <p:cNvPr id="62" name="Content Placeholder 7">
            <a:extLst>
              <a:ext uri="{FF2B5EF4-FFF2-40B4-BE49-F238E27FC236}">
                <a16:creationId xmlns:a16="http://schemas.microsoft.com/office/drawing/2014/main" id="{F24F30D7-28E2-44D6-699F-987BF385E0EA}"/>
              </a:ext>
            </a:extLst>
          </p:cNvPr>
          <p:cNvSpPr txBox="1">
            <a:spLocks/>
          </p:cNvSpPr>
          <p:nvPr userDrawn="1"/>
        </p:nvSpPr>
        <p:spPr>
          <a:xfrm>
            <a:off x="3835400" y="3300763"/>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We recognize every client has distinct needs and expectations, and we take ownership and accountability for the solutions we design, build, and deliver.</a:t>
            </a:r>
          </a:p>
        </p:txBody>
      </p:sp>
    </p:spTree>
    <p:extLst>
      <p:ext uri="{BB962C8B-B14F-4D97-AF65-F5344CB8AC3E}">
        <p14:creationId xmlns:p14="http://schemas.microsoft.com/office/powerpoint/2010/main" val="21309179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losing Slide 1">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84BF26E8-6AAE-9C7C-83D1-9F2BEB1165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91446" y="5451047"/>
            <a:ext cx="1515005" cy="768653"/>
          </a:xfrm>
          <a:prstGeom prst="rect">
            <a:avLst/>
          </a:prstGeom>
        </p:spPr>
      </p:pic>
      <p:grpSp>
        <p:nvGrpSpPr>
          <p:cNvPr id="6" name="Group 5">
            <a:extLst>
              <a:ext uri="{FF2B5EF4-FFF2-40B4-BE49-F238E27FC236}">
                <a16:creationId xmlns:a16="http://schemas.microsoft.com/office/drawing/2014/main" id="{C4512A24-2A6F-9C4D-9346-5E2F2558815E}"/>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5" name="Group 4">
              <a:extLst>
                <a:ext uri="{FF2B5EF4-FFF2-40B4-BE49-F238E27FC236}">
                  <a16:creationId xmlns:a16="http://schemas.microsoft.com/office/drawing/2014/main" id="{338790BE-676B-2F6C-337E-950D15A7B68C}"/>
                </a:ext>
              </a:extLst>
            </p:cNvPr>
            <p:cNvGrpSpPr/>
            <p:nvPr userDrawn="1"/>
          </p:nvGrpSpPr>
          <p:grpSpPr>
            <a:xfrm>
              <a:off x="1085548" y="5803324"/>
              <a:ext cx="1263400" cy="251010"/>
              <a:chOff x="1085548" y="5803324"/>
              <a:chExt cx="1263400" cy="251010"/>
            </a:xfrm>
          </p:grpSpPr>
          <p:pic>
            <p:nvPicPr>
              <p:cNvPr id="19" name="Graphic 18">
                <a:hlinkClick r:id="rId4"/>
                <a:extLst>
                  <a:ext uri="{FF2B5EF4-FFF2-40B4-BE49-F238E27FC236}">
                    <a16:creationId xmlns:a16="http://schemas.microsoft.com/office/drawing/2014/main" id="{296EDEED-8EC0-C4ED-7B95-D0263D5007F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804609" y="5803324"/>
                <a:ext cx="133872" cy="251010"/>
              </a:xfrm>
              <a:prstGeom prst="rect">
                <a:avLst/>
              </a:prstGeom>
            </p:spPr>
          </p:pic>
          <p:pic>
            <p:nvPicPr>
              <p:cNvPr id="20" name="Graphic 19">
                <a:hlinkClick r:id="rId7"/>
                <a:extLst>
                  <a:ext uri="{FF2B5EF4-FFF2-40B4-BE49-F238E27FC236}">
                    <a16:creationId xmlns:a16="http://schemas.microsoft.com/office/drawing/2014/main" id="{DEA961BA-0D4A-998D-814A-5ADC8448E0D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080057" y="5827994"/>
                <a:ext cx="268891" cy="201669"/>
              </a:xfrm>
              <a:prstGeom prst="rect">
                <a:avLst/>
              </a:prstGeom>
            </p:spPr>
          </p:pic>
          <p:pic>
            <p:nvPicPr>
              <p:cNvPr id="21" name="Graphic 20">
                <a:hlinkClick r:id="rId10"/>
                <a:extLst>
                  <a:ext uri="{FF2B5EF4-FFF2-40B4-BE49-F238E27FC236}">
                    <a16:creationId xmlns:a16="http://schemas.microsoft.com/office/drawing/2014/main" id="{00C2EC33-87ED-4905-083A-BF26433854B5}"/>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443776" y="5811891"/>
                <a:ext cx="219258" cy="233875"/>
              </a:xfrm>
              <a:prstGeom prst="rect">
                <a:avLst/>
              </a:prstGeom>
            </p:spPr>
          </p:pic>
          <p:pic>
            <p:nvPicPr>
              <p:cNvPr id="22" name="Graphic 21">
                <a:hlinkClick r:id="rId13"/>
                <a:extLst>
                  <a:ext uri="{FF2B5EF4-FFF2-40B4-BE49-F238E27FC236}">
                    <a16:creationId xmlns:a16="http://schemas.microsoft.com/office/drawing/2014/main" id="{96DCB6C2-0A1E-B4E2-D825-2FD51C4E8F6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085548" y="5820502"/>
                <a:ext cx="216653" cy="216653"/>
              </a:xfrm>
              <a:prstGeom prst="rect">
                <a:avLst/>
              </a:prstGeom>
            </p:spPr>
          </p:pic>
        </p:grpSp>
        <p:pic>
          <p:nvPicPr>
            <p:cNvPr id="18" name="Graphic 17">
              <a:hlinkClick r:id="rId16"/>
              <a:extLst>
                <a:ext uri="{FF2B5EF4-FFF2-40B4-BE49-F238E27FC236}">
                  <a16:creationId xmlns:a16="http://schemas.microsoft.com/office/drawing/2014/main" id="{CE161D63-6D0F-D6EF-96C7-172EF3D2D96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085548" y="5530216"/>
              <a:ext cx="1263400" cy="178362"/>
            </a:xfrm>
            <a:prstGeom prst="rect">
              <a:avLst/>
            </a:prstGeom>
          </p:spPr>
        </p:pic>
      </p:grpSp>
      <p:cxnSp>
        <p:nvCxnSpPr>
          <p:cNvPr id="31" name="Straight Connector 30">
            <a:extLst>
              <a:ext uri="{FF2B5EF4-FFF2-40B4-BE49-F238E27FC236}">
                <a16:creationId xmlns:a16="http://schemas.microsoft.com/office/drawing/2014/main" id="{257C8479-139A-6820-6552-7BCCE815F21E}"/>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2A34DEC-F46C-BC6F-9F16-053374B6D09E}"/>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A45D856C-1860-E5D4-0E27-CF6F72EB639E}"/>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About Capco</a:t>
            </a:r>
          </a:p>
        </p:txBody>
      </p:sp>
      <p:sp>
        <p:nvSpPr>
          <p:cNvPr id="11" name="Rectangle 1">
            <a:extLst>
              <a:ext uri="{FF2B5EF4-FFF2-40B4-BE49-F238E27FC236}">
                <a16:creationId xmlns:a16="http://schemas.microsoft.com/office/drawing/2014/main" id="{F939D458-5875-6662-B74C-2A40F352C8BE}"/>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accent3"/>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accent3"/>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accent3"/>
                </a:solidFill>
                <a:latin typeface="+mn-lt"/>
                <a:ea typeface="+mn-ea"/>
                <a:cs typeface="Calibri" panose="020F0502020204030204" pitchFamily="34" charset="0"/>
              </a:rPr>
              <a:t>To learn more, visit </a:t>
            </a:r>
            <a:r>
              <a:rPr lang="en-US" altLang="en-US" sz="1000" b="1" i="0" kern="1200" noProof="0">
                <a:solidFill>
                  <a:schemeClr val="accent3"/>
                </a:solidFill>
                <a:latin typeface="+mn-lt"/>
                <a:ea typeface="+mn-ea"/>
                <a:cs typeface="Calibri" panose="020F0502020204030204" pitchFamily="34" charset="0"/>
                <a:hlinkClick r:id="rId19">
                  <a:extLst>
                    <a:ext uri="{A12FA001-AC4F-418D-AE19-62706E023703}">
                      <ahyp:hlinkClr xmlns:ahyp="http://schemas.microsoft.com/office/drawing/2018/hyperlinkcolor" val="tx"/>
                    </a:ext>
                  </a:extLst>
                </a:hlinkClick>
              </a:rPr>
              <a:t>www.capco.com</a:t>
            </a:r>
            <a:r>
              <a:rPr lang="en-US" altLang="en-US" sz="1000" b="1" i="0" kern="1200" noProof="0">
                <a:solidFill>
                  <a:schemeClr val="accent3"/>
                </a:solidFill>
                <a:latin typeface="+mn-lt"/>
                <a:ea typeface="+mn-ea"/>
                <a:cs typeface="Calibri" panose="020F0502020204030204" pitchFamily="34" charset="0"/>
              </a:rPr>
              <a:t> or follow us on LinkedIn, Instagram, Facebook, and YouTube.</a:t>
            </a:r>
          </a:p>
        </p:txBody>
      </p:sp>
      <p:sp>
        <p:nvSpPr>
          <p:cNvPr id="30" name="Rectangle 29">
            <a:extLst>
              <a:ext uri="{FF2B5EF4-FFF2-40B4-BE49-F238E27FC236}">
                <a16:creationId xmlns:a16="http://schemas.microsoft.com/office/drawing/2014/main" id="{5A2A9FEF-425E-3EE6-2BA6-7985F774014F}"/>
              </a:ext>
            </a:extLst>
          </p:cNvPr>
          <p:cNvSpPr/>
          <p:nvPr userDrawn="1"/>
        </p:nvSpPr>
        <p:spPr>
          <a:xfrm>
            <a:off x="1085548" y="3939409"/>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Worldwide Offices</a:t>
            </a:r>
          </a:p>
        </p:txBody>
      </p:sp>
      <p:sp>
        <p:nvSpPr>
          <p:cNvPr id="2" name="TextBox 1">
            <a:extLst>
              <a:ext uri="{FF2B5EF4-FFF2-40B4-BE49-F238E27FC236}">
                <a16:creationId xmlns:a16="http://schemas.microsoft.com/office/drawing/2014/main" id="{3023E524-921F-61F8-DD25-36A26C7D48C2}"/>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3" name="TextBox 2">
            <a:extLst>
              <a:ext uri="{FF2B5EF4-FFF2-40B4-BE49-F238E27FC236}">
                <a16:creationId xmlns:a16="http://schemas.microsoft.com/office/drawing/2014/main" id="{617B7736-E99C-92ED-B3CF-5BDD795EBCE2}"/>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Bengaluru - Electronic City </a:t>
            </a:r>
            <a:r>
              <a:rPr lang="en-US" altLang="en-US" sz="900" b="0" i="0" kern="1200" noProof="0">
                <a:solidFill>
                  <a:schemeClr val="accent3"/>
                </a:solidFill>
                <a:latin typeface="+mn-lt"/>
                <a:ea typeface="+mn-ea"/>
                <a:cs typeface="Calibri" panose="020F0502020204030204" pitchFamily="34" charset="0"/>
                <a:sym typeface="Wingdings"/>
              </a:rPr>
              <a:t> Bengaluru </a:t>
            </a:r>
            <a:r>
              <a:rPr lang="en-US" altLang="en-US" sz="900" b="0" i="0" kern="1200" noProof="0">
                <a:solidFill>
                  <a:schemeClr val="accent3"/>
                </a:solidFill>
                <a:latin typeface="+mn-lt"/>
                <a:ea typeface="+mn-ea"/>
                <a:cs typeface="Calibri" panose="020F0502020204030204" pitchFamily="34" charset="0"/>
              </a:rPr>
              <a:t>- Sarjapur Road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Bangkok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accent3"/>
                </a:solidFill>
                <a:latin typeface="+mn-lt"/>
                <a:ea typeface="+mn-ea"/>
                <a:cs typeface="Calibri" panose="020F0502020204030204" pitchFamily="34" charset="0"/>
              </a:rPr>
              <a:t>Bratislava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Brussels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sz="900" b="0" i="0" noProof="0">
                <a:solidFill>
                  <a:schemeClr val="accent3"/>
                </a:solidFill>
                <a:latin typeface="+mn-lt"/>
                <a:ea typeface="Arial" charset="0"/>
                <a:cs typeface="Calibri" panose="020F0502020204030204" pitchFamily="34" charset="0"/>
              </a:rPr>
              <a:t>Charlotte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a:t>
            </a:r>
            <a:r>
              <a:rPr lang="en-US" sz="900" b="0" i="0" kern="1200" noProof="0">
                <a:solidFill>
                  <a:schemeClr val="accent3"/>
                </a:solidFill>
                <a:latin typeface="+mn-lt"/>
                <a:ea typeface="Arial" charset="0"/>
                <a:cs typeface="Calibri" panose="020F0502020204030204" pitchFamily="34" charset="0"/>
              </a:rPr>
              <a:t> Chennai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Chicago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Dallas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Dusseldorf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Edinburgh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Frankfurt</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Geneva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Glasgow  </a:t>
            </a:r>
            <a:r>
              <a:rPr lang="en-US" sz="900">
                <a:solidFill>
                  <a:schemeClr val="accent3"/>
                </a:solidFill>
                <a:effectLst/>
                <a:latin typeface="+mn-lt"/>
                <a:ea typeface="Calibri" panose="020F0502020204030204" pitchFamily="34" charset="0"/>
              </a:rPr>
              <a:t>Gurugram</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accent3"/>
                </a:solidFill>
                <a:latin typeface="+mn-lt"/>
              </a:rPr>
              <a:t> </a:t>
            </a:r>
            <a:r>
              <a:rPr lang="en-US" altLang="en-US" sz="900" b="0" i="0" kern="1200" noProof="0">
                <a:solidFill>
                  <a:schemeClr val="accent3"/>
                </a:solidFill>
                <a:latin typeface="+mn-lt"/>
                <a:ea typeface="+mn-ea"/>
                <a:cs typeface="Calibri" panose="020F0502020204030204" pitchFamily="34" charset="0"/>
              </a:rPr>
              <a:t>Hong Kong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Houston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accent3"/>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London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sym typeface="Wingdings"/>
              </a:rPr>
              <a:t>Milan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a:solidFill>
                  <a:schemeClr val="accent3"/>
                </a:solidFill>
                <a:effectLst/>
                <a:latin typeface="+mn-lt"/>
                <a:ea typeface="Calibri" panose="020F0502020204030204" pitchFamily="34" charset="0"/>
              </a:rPr>
              <a:t>Mumbai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New York</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Orlando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Paris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accent3"/>
                </a:solidFill>
                <a:latin typeface="+mn-lt"/>
                <a:cs typeface="Calibri" panose="020F0502020204030204" pitchFamily="34" charset="0"/>
              </a:rPr>
              <a:t>Pune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accent3"/>
                </a:solidFill>
                <a:latin typeface="+mn-lt"/>
                <a:ea typeface="+mn-ea"/>
                <a:cs typeface="Calibri" panose="020F0502020204030204" pitchFamily="34" charset="0"/>
              </a:rPr>
              <a:t>Singapore</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Toronto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Vienna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Zurich</a:t>
            </a:r>
          </a:p>
        </p:txBody>
      </p:sp>
      <p:sp>
        <p:nvSpPr>
          <p:cNvPr id="4" name="TextBox 3">
            <a:extLst>
              <a:ext uri="{FF2B5EF4-FFF2-40B4-BE49-F238E27FC236}">
                <a16:creationId xmlns:a16="http://schemas.microsoft.com/office/drawing/2014/main" id="{61653C68-5575-304C-398B-4F5D83E89711}"/>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8352770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losing Slide 2">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0FF44FB-CDE5-2E7D-24EE-B3E047AA54C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91446" y="5451047"/>
            <a:ext cx="1515005" cy="768653"/>
          </a:xfrm>
          <a:prstGeom prst="rect">
            <a:avLst/>
          </a:prstGeom>
        </p:spPr>
      </p:pic>
      <p:cxnSp>
        <p:nvCxnSpPr>
          <p:cNvPr id="25" name="Straight Connector 24">
            <a:extLst>
              <a:ext uri="{FF2B5EF4-FFF2-40B4-BE49-F238E27FC236}">
                <a16:creationId xmlns:a16="http://schemas.microsoft.com/office/drawing/2014/main" id="{E25D53FF-D1D9-572E-D222-1A86AD174B81}"/>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DF5C9A7-E6F6-DD3D-29AC-1CA99A7A49F4}"/>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B7B8A46-DDCC-5035-9866-8F7B2991DE96}"/>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About Capco</a:t>
            </a:r>
          </a:p>
        </p:txBody>
      </p:sp>
      <p:sp>
        <p:nvSpPr>
          <p:cNvPr id="15" name="Rectangle 1">
            <a:extLst>
              <a:ext uri="{FF2B5EF4-FFF2-40B4-BE49-F238E27FC236}">
                <a16:creationId xmlns:a16="http://schemas.microsoft.com/office/drawing/2014/main" id="{104DB2DD-77F6-47F6-1F21-5BD46E3FF7FE}"/>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bg1"/>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bg1"/>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bg1"/>
                </a:solidFill>
                <a:latin typeface="+mn-lt"/>
                <a:ea typeface="+mn-ea"/>
                <a:cs typeface="Calibri" panose="020F0502020204030204" pitchFamily="34" charset="0"/>
              </a:rPr>
              <a:t>To learn more, visit </a:t>
            </a:r>
            <a:r>
              <a:rPr lang="en-US" altLang="en-US" sz="1000" b="1" i="0" kern="1200" noProof="0">
                <a:solidFill>
                  <a:schemeClr val="bg1"/>
                </a:solidFill>
                <a:latin typeface="+mn-lt"/>
                <a:ea typeface="+mn-ea"/>
                <a:cs typeface="Calibri" panose="020F0502020204030204" pitchFamily="34" charset="0"/>
                <a:hlinkClick r:id="rId4">
                  <a:extLst>
                    <a:ext uri="{A12FA001-AC4F-418D-AE19-62706E023703}">
                      <ahyp:hlinkClr xmlns:ahyp="http://schemas.microsoft.com/office/drawing/2018/hyperlinkcolor" val="tx"/>
                    </a:ext>
                  </a:extLst>
                </a:hlinkClick>
              </a:rPr>
              <a:t>www.capco.com</a:t>
            </a:r>
            <a:r>
              <a:rPr lang="en-US" altLang="en-US" sz="1000" b="1" i="0" kern="1200" noProof="0">
                <a:solidFill>
                  <a:schemeClr val="bg1"/>
                </a:solidFill>
                <a:latin typeface="+mn-lt"/>
                <a:ea typeface="+mn-ea"/>
                <a:cs typeface="Calibri" panose="020F0502020204030204" pitchFamily="34" charset="0"/>
              </a:rPr>
              <a:t> or follow us on LinkedIn, Instagram, Facebook, and YouTube.</a:t>
            </a:r>
          </a:p>
        </p:txBody>
      </p:sp>
      <p:sp>
        <p:nvSpPr>
          <p:cNvPr id="28" name="Rectangle 27">
            <a:extLst>
              <a:ext uri="{FF2B5EF4-FFF2-40B4-BE49-F238E27FC236}">
                <a16:creationId xmlns:a16="http://schemas.microsoft.com/office/drawing/2014/main" id="{88BBB86C-C755-F7F3-4B25-34EF20AB56B8}"/>
              </a:ext>
            </a:extLst>
          </p:cNvPr>
          <p:cNvSpPr/>
          <p:nvPr userDrawn="1"/>
        </p:nvSpPr>
        <p:spPr>
          <a:xfrm>
            <a:off x="1085548" y="3939409"/>
            <a:ext cx="6975424"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Worldwide Offices</a:t>
            </a:r>
          </a:p>
        </p:txBody>
      </p:sp>
      <p:sp>
        <p:nvSpPr>
          <p:cNvPr id="30" name="TextBox 29">
            <a:extLst>
              <a:ext uri="{FF2B5EF4-FFF2-40B4-BE49-F238E27FC236}">
                <a16:creationId xmlns:a16="http://schemas.microsoft.com/office/drawing/2014/main" id="{B5B42D9F-BEA3-0BE4-6E22-D3B157940581}"/>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31" name="TextBox 30">
            <a:extLst>
              <a:ext uri="{FF2B5EF4-FFF2-40B4-BE49-F238E27FC236}">
                <a16:creationId xmlns:a16="http://schemas.microsoft.com/office/drawing/2014/main" id="{DC8E7565-54BB-20BD-A8BA-674F3E693B6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32" name="TextBox 31">
            <a:extLst>
              <a:ext uri="{FF2B5EF4-FFF2-40B4-BE49-F238E27FC236}">
                <a16:creationId xmlns:a16="http://schemas.microsoft.com/office/drawing/2014/main" id="{65470763-2267-6B34-1BF6-7EE8BC3D432D}"/>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Bengaluru - Electronic City </a:t>
            </a:r>
            <a:r>
              <a:rPr lang="en-US" altLang="en-US" sz="900" b="0" i="0" kern="1200" noProof="0">
                <a:solidFill>
                  <a:schemeClr val="bg1"/>
                </a:solidFill>
                <a:latin typeface="+mn-lt"/>
                <a:ea typeface="+mn-ea"/>
                <a:cs typeface="Calibri" panose="020F0502020204030204" pitchFamily="34" charset="0"/>
                <a:sym typeface="Wingdings"/>
              </a:rPr>
              <a:t> Bengaluru </a:t>
            </a:r>
            <a:r>
              <a:rPr lang="en-US" altLang="en-US" sz="900" b="0" i="0" kern="1200" noProof="0">
                <a:solidFill>
                  <a:schemeClr val="bg1"/>
                </a:solidFill>
                <a:latin typeface="+mn-lt"/>
                <a:ea typeface="+mn-ea"/>
                <a:cs typeface="Calibri" panose="020F0502020204030204" pitchFamily="34" charset="0"/>
              </a:rPr>
              <a:t>- Sarjapur Road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Bangkok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bg1"/>
                </a:solidFill>
                <a:latin typeface="+mn-lt"/>
                <a:ea typeface="+mn-ea"/>
                <a:cs typeface="Calibri" panose="020F0502020204030204" pitchFamily="34" charset="0"/>
              </a:rPr>
              <a:t>Bratislava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Brussels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sz="900" b="0" i="0" noProof="0">
                <a:solidFill>
                  <a:schemeClr val="bg1"/>
                </a:solidFill>
                <a:latin typeface="+mn-lt"/>
                <a:ea typeface="Arial" charset="0"/>
                <a:cs typeface="Calibri" panose="020F0502020204030204" pitchFamily="34" charset="0"/>
              </a:rPr>
              <a:t>Charlotte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a:t>
            </a:r>
            <a:r>
              <a:rPr lang="en-US" sz="900" b="0" i="0" kern="1200" noProof="0">
                <a:solidFill>
                  <a:schemeClr val="bg1"/>
                </a:solidFill>
                <a:latin typeface="+mn-lt"/>
                <a:ea typeface="Arial" charset="0"/>
                <a:cs typeface="Calibri" panose="020F0502020204030204" pitchFamily="34" charset="0"/>
              </a:rPr>
              <a:t> Chennai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Chicago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Dallas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Dusseldorf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Edinburgh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Frankfurt</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Geneva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Glasgow  </a:t>
            </a:r>
            <a:r>
              <a:rPr lang="en-US" sz="900">
                <a:solidFill>
                  <a:schemeClr val="bg1"/>
                </a:solidFill>
                <a:effectLst/>
                <a:latin typeface="+mn-lt"/>
                <a:ea typeface="Calibri" panose="020F0502020204030204" pitchFamily="34" charset="0"/>
              </a:rPr>
              <a:t>Gurugram</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bg1"/>
                </a:solidFill>
                <a:latin typeface="+mn-lt"/>
              </a:rPr>
              <a:t> </a:t>
            </a:r>
            <a:r>
              <a:rPr lang="en-US" altLang="en-US" sz="900" b="0" i="0" kern="1200" noProof="0">
                <a:solidFill>
                  <a:schemeClr val="bg1"/>
                </a:solidFill>
                <a:latin typeface="+mn-lt"/>
                <a:ea typeface="+mn-ea"/>
                <a:cs typeface="Calibri" panose="020F0502020204030204" pitchFamily="34" charset="0"/>
              </a:rPr>
              <a:t>Hong Kong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Houston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bg1"/>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London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sym typeface="Wingdings"/>
              </a:rPr>
              <a:t>Milan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a:solidFill>
                  <a:schemeClr val="bg1"/>
                </a:solidFill>
                <a:effectLst/>
                <a:latin typeface="+mn-lt"/>
                <a:ea typeface="Calibri" panose="020F0502020204030204" pitchFamily="34" charset="0"/>
              </a:rPr>
              <a:t>Mumbai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New York</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Orlando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Paris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bg1"/>
                </a:solidFill>
                <a:latin typeface="+mn-lt"/>
                <a:cs typeface="Calibri" panose="020F0502020204030204" pitchFamily="34" charset="0"/>
              </a:rPr>
              <a:t>Pune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bg1"/>
                </a:solidFill>
                <a:latin typeface="+mn-lt"/>
                <a:ea typeface="+mn-ea"/>
                <a:cs typeface="Calibri" panose="020F0502020204030204" pitchFamily="34" charset="0"/>
              </a:rPr>
              <a:t>Singapore</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Toronto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Vienna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Zurich</a:t>
            </a:r>
          </a:p>
        </p:txBody>
      </p:sp>
      <p:grpSp>
        <p:nvGrpSpPr>
          <p:cNvPr id="2" name="Group 1">
            <a:extLst>
              <a:ext uri="{FF2B5EF4-FFF2-40B4-BE49-F238E27FC236}">
                <a16:creationId xmlns:a16="http://schemas.microsoft.com/office/drawing/2014/main" id="{39DE8469-FAFB-C7A4-E2F5-135E9855E304}"/>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3" name="Group 2">
              <a:extLst>
                <a:ext uri="{FF2B5EF4-FFF2-40B4-BE49-F238E27FC236}">
                  <a16:creationId xmlns:a16="http://schemas.microsoft.com/office/drawing/2014/main" id="{255594C6-89F3-B7C0-203B-242A8AF58D61}"/>
                </a:ext>
              </a:extLst>
            </p:cNvPr>
            <p:cNvGrpSpPr/>
            <p:nvPr userDrawn="1"/>
          </p:nvGrpSpPr>
          <p:grpSpPr>
            <a:xfrm>
              <a:off x="1085548" y="5803324"/>
              <a:ext cx="1263400" cy="251010"/>
              <a:chOff x="1085548" y="5803324"/>
              <a:chExt cx="1263400" cy="251010"/>
            </a:xfrm>
          </p:grpSpPr>
          <p:pic>
            <p:nvPicPr>
              <p:cNvPr id="6" name="Graphic 5">
                <a:hlinkClick r:id="rId5"/>
                <a:extLst>
                  <a:ext uri="{FF2B5EF4-FFF2-40B4-BE49-F238E27FC236}">
                    <a16:creationId xmlns:a16="http://schemas.microsoft.com/office/drawing/2014/main" id="{D20A4CF6-EA85-9C90-641C-858FB17F73D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04609" y="5803324"/>
                <a:ext cx="133872" cy="251010"/>
              </a:xfrm>
              <a:prstGeom prst="rect">
                <a:avLst/>
              </a:prstGeom>
            </p:spPr>
          </p:pic>
          <p:pic>
            <p:nvPicPr>
              <p:cNvPr id="8" name="Graphic 7">
                <a:hlinkClick r:id="rId8"/>
                <a:extLst>
                  <a:ext uri="{FF2B5EF4-FFF2-40B4-BE49-F238E27FC236}">
                    <a16:creationId xmlns:a16="http://schemas.microsoft.com/office/drawing/2014/main" id="{A2B1786C-9068-A50F-2D89-D49E2584ABB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2080057" y="5827994"/>
                <a:ext cx="268891" cy="201669"/>
              </a:xfrm>
              <a:prstGeom prst="rect">
                <a:avLst/>
              </a:prstGeom>
            </p:spPr>
          </p:pic>
          <p:pic>
            <p:nvPicPr>
              <p:cNvPr id="9" name="Graphic 8">
                <a:hlinkClick r:id="rId11"/>
                <a:extLst>
                  <a:ext uri="{FF2B5EF4-FFF2-40B4-BE49-F238E27FC236}">
                    <a16:creationId xmlns:a16="http://schemas.microsoft.com/office/drawing/2014/main" id="{0E6ADE53-C73A-57ED-988B-E846F58EEB7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443776" y="5811891"/>
                <a:ext cx="219258" cy="233875"/>
              </a:xfrm>
              <a:prstGeom prst="rect">
                <a:avLst/>
              </a:prstGeom>
            </p:spPr>
          </p:pic>
          <p:pic>
            <p:nvPicPr>
              <p:cNvPr id="11" name="Graphic 10">
                <a:hlinkClick r:id="rId14"/>
                <a:extLst>
                  <a:ext uri="{FF2B5EF4-FFF2-40B4-BE49-F238E27FC236}">
                    <a16:creationId xmlns:a16="http://schemas.microsoft.com/office/drawing/2014/main" id="{6274DDA1-182E-BC67-79B8-EAAAFC2B13EE}"/>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85548" y="5820502"/>
                <a:ext cx="216653" cy="216653"/>
              </a:xfrm>
              <a:prstGeom prst="rect">
                <a:avLst/>
              </a:prstGeom>
            </p:spPr>
          </p:pic>
        </p:grpSp>
        <p:pic>
          <p:nvPicPr>
            <p:cNvPr id="4" name="Graphic 3">
              <a:hlinkClick r:id="rId17"/>
              <a:extLst>
                <a:ext uri="{FF2B5EF4-FFF2-40B4-BE49-F238E27FC236}">
                  <a16:creationId xmlns:a16="http://schemas.microsoft.com/office/drawing/2014/main" id="{BB965C42-A8F1-2FAB-3E36-B8CFAFEAD029}"/>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4113500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losing Slide 3">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8B61383E-235E-48DC-AB2E-4EFF568D4204}"/>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pic>
        <p:nvPicPr>
          <p:cNvPr id="2" name="Graphic 1">
            <a:extLst>
              <a:ext uri="{FF2B5EF4-FFF2-40B4-BE49-F238E27FC236}">
                <a16:creationId xmlns:a16="http://schemas.microsoft.com/office/drawing/2014/main" id="{D3187B6E-D7C2-4130-2D78-6B5E27483E31}"/>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cxnSp>
        <p:nvCxnSpPr>
          <p:cNvPr id="26" name="Straight Connector 25">
            <a:extLst>
              <a:ext uri="{FF2B5EF4-FFF2-40B4-BE49-F238E27FC236}">
                <a16:creationId xmlns:a16="http://schemas.microsoft.com/office/drawing/2014/main" id="{2B205D62-B276-2F3C-783A-711D2275AE75}"/>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F7A6451-F3FE-A4F8-B4F5-9C3E4DFF75FF}"/>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7299CB65-8282-9287-095B-9EC0167AA9AE}"/>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About Capco</a:t>
            </a:r>
          </a:p>
        </p:txBody>
      </p:sp>
      <p:sp>
        <p:nvSpPr>
          <p:cNvPr id="14" name="Rectangle 1">
            <a:extLst>
              <a:ext uri="{FF2B5EF4-FFF2-40B4-BE49-F238E27FC236}">
                <a16:creationId xmlns:a16="http://schemas.microsoft.com/office/drawing/2014/main" id="{5F745CE0-5AB4-F911-C54A-AAD134D553B8}"/>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accent3"/>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accent3"/>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accent3"/>
                </a:solidFill>
                <a:latin typeface="+mn-lt"/>
                <a:ea typeface="+mn-ea"/>
                <a:cs typeface="Calibri" panose="020F0502020204030204" pitchFamily="34" charset="0"/>
              </a:rPr>
              <a:t>To learn more, visit </a:t>
            </a:r>
            <a:r>
              <a:rPr lang="en-US" altLang="en-US" sz="1000" b="1" i="0" kern="1200" noProof="0">
                <a:solidFill>
                  <a:schemeClr val="accent3"/>
                </a:solidFill>
                <a:latin typeface="+mn-lt"/>
                <a:ea typeface="+mn-ea"/>
                <a:cs typeface="Calibri" panose="020F0502020204030204" pitchFamily="34" charset="0"/>
                <a:hlinkClick r:id="rId5">
                  <a:extLst>
                    <a:ext uri="{A12FA001-AC4F-418D-AE19-62706E023703}">
                      <ahyp:hlinkClr xmlns:ahyp="http://schemas.microsoft.com/office/drawing/2018/hyperlinkcolor" val="tx"/>
                    </a:ext>
                  </a:extLst>
                </a:hlinkClick>
              </a:rPr>
              <a:t>www.capco.com</a:t>
            </a:r>
            <a:r>
              <a:rPr lang="en-US" altLang="en-US" sz="1000" b="1" i="0" kern="1200" noProof="0">
                <a:solidFill>
                  <a:schemeClr val="accent3"/>
                </a:solidFill>
                <a:latin typeface="+mn-lt"/>
                <a:ea typeface="+mn-ea"/>
                <a:cs typeface="Calibri" panose="020F0502020204030204" pitchFamily="34" charset="0"/>
              </a:rPr>
              <a:t> or follow us on LinkedIn, Instagram, Facebook, and YouTube.</a:t>
            </a:r>
          </a:p>
        </p:txBody>
      </p:sp>
      <p:sp>
        <p:nvSpPr>
          <p:cNvPr id="31" name="Rectangle 30">
            <a:extLst>
              <a:ext uri="{FF2B5EF4-FFF2-40B4-BE49-F238E27FC236}">
                <a16:creationId xmlns:a16="http://schemas.microsoft.com/office/drawing/2014/main" id="{09BDC9DD-37B8-5FB9-A05C-7718665765C2}"/>
              </a:ext>
            </a:extLst>
          </p:cNvPr>
          <p:cNvSpPr/>
          <p:nvPr userDrawn="1"/>
        </p:nvSpPr>
        <p:spPr>
          <a:xfrm>
            <a:off x="1085548" y="3939409"/>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Worldwide Offices</a:t>
            </a:r>
          </a:p>
        </p:txBody>
      </p:sp>
      <p:sp>
        <p:nvSpPr>
          <p:cNvPr id="32" name="TextBox 31">
            <a:extLst>
              <a:ext uri="{FF2B5EF4-FFF2-40B4-BE49-F238E27FC236}">
                <a16:creationId xmlns:a16="http://schemas.microsoft.com/office/drawing/2014/main" id="{03F6CFF1-26B1-6E02-BC92-CD6E3248A039}"/>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33" name="TextBox 32">
            <a:extLst>
              <a:ext uri="{FF2B5EF4-FFF2-40B4-BE49-F238E27FC236}">
                <a16:creationId xmlns:a16="http://schemas.microsoft.com/office/drawing/2014/main" id="{1F6200D1-22F0-BD2F-81AB-4ECFEAAC1C58}"/>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Bengaluru - Electronic City </a:t>
            </a:r>
            <a:r>
              <a:rPr lang="en-US" altLang="en-US" sz="900" b="0" i="0" kern="1200" noProof="0">
                <a:solidFill>
                  <a:schemeClr val="accent3"/>
                </a:solidFill>
                <a:latin typeface="+mn-lt"/>
                <a:ea typeface="+mn-ea"/>
                <a:cs typeface="Calibri" panose="020F0502020204030204" pitchFamily="34" charset="0"/>
                <a:sym typeface="Wingdings"/>
              </a:rPr>
              <a:t> Bengaluru </a:t>
            </a:r>
            <a:r>
              <a:rPr lang="en-US" altLang="en-US" sz="900" b="0" i="0" kern="1200" noProof="0">
                <a:solidFill>
                  <a:schemeClr val="accent3"/>
                </a:solidFill>
                <a:latin typeface="+mn-lt"/>
                <a:ea typeface="+mn-ea"/>
                <a:cs typeface="Calibri" panose="020F0502020204030204" pitchFamily="34" charset="0"/>
              </a:rPr>
              <a:t>- Sarjapur Road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Bangkok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accent3"/>
                </a:solidFill>
                <a:latin typeface="+mn-lt"/>
                <a:ea typeface="+mn-ea"/>
                <a:cs typeface="Calibri" panose="020F0502020204030204" pitchFamily="34" charset="0"/>
              </a:rPr>
              <a:t>Bratislava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Brussels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sz="900" b="0" i="0" noProof="0">
                <a:solidFill>
                  <a:schemeClr val="accent3"/>
                </a:solidFill>
                <a:latin typeface="+mn-lt"/>
                <a:ea typeface="Arial" charset="0"/>
                <a:cs typeface="Calibri" panose="020F0502020204030204" pitchFamily="34" charset="0"/>
              </a:rPr>
              <a:t>Charlotte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a:t>
            </a:r>
            <a:r>
              <a:rPr lang="en-US" sz="900" b="0" i="0" kern="1200" noProof="0">
                <a:solidFill>
                  <a:schemeClr val="accent3"/>
                </a:solidFill>
                <a:latin typeface="+mn-lt"/>
                <a:ea typeface="Arial" charset="0"/>
                <a:cs typeface="Calibri" panose="020F0502020204030204" pitchFamily="34" charset="0"/>
              </a:rPr>
              <a:t> Chennai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Chicago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Dallas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Dusseldorf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Edinburgh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Frankfurt</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Geneva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Glasgow  </a:t>
            </a:r>
            <a:r>
              <a:rPr lang="en-US" sz="900">
                <a:solidFill>
                  <a:schemeClr val="accent3"/>
                </a:solidFill>
                <a:effectLst/>
                <a:latin typeface="+mn-lt"/>
                <a:ea typeface="Calibri" panose="020F0502020204030204" pitchFamily="34" charset="0"/>
              </a:rPr>
              <a:t>Gurugram</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accent3"/>
                </a:solidFill>
                <a:latin typeface="+mn-lt"/>
              </a:rPr>
              <a:t> </a:t>
            </a:r>
            <a:r>
              <a:rPr lang="en-US" altLang="en-US" sz="900" b="0" i="0" kern="1200" noProof="0">
                <a:solidFill>
                  <a:schemeClr val="accent3"/>
                </a:solidFill>
                <a:latin typeface="+mn-lt"/>
                <a:ea typeface="+mn-ea"/>
                <a:cs typeface="Calibri" panose="020F0502020204030204" pitchFamily="34" charset="0"/>
              </a:rPr>
              <a:t>Hong Kong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Houston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accent3"/>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London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sym typeface="Wingdings"/>
              </a:rPr>
              <a:t>Milan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a:solidFill>
                  <a:schemeClr val="accent3"/>
                </a:solidFill>
                <a:effectLst/>
                <a:latin typeface="+mn-lt"/>
                <a:ea typeface="Calibri" panose="020F0502020204030204" pitchFamily="34" charset="0"/>
              </a:rPr>
              <a:t>Mumbai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New York</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Orlando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Paris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accent3"/>
                </a:solidFill>
                <a:latin typeface="+mn-lt"/>
                <a:cs typeface="Calibri" panose="020F0502020204030204" pitchFamily="34" charset="0"/>
              </a:rPr>
              <a:t>Pune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accent3"/>
                </a:solidFill>
                <a:latin typeface="+mn-lt"/>
                <a:ea typeface="+mn-ea"/>
                <a:cs typeface="Calibri" panose="020F0502020204030204" pitchFamily="34" charset="0"/>
              </a:rPr>
              <a:t>Singapore</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Toronto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Vienna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Zurich</a:t>
            </a:r>
          </a:p>
        </p:txBody>
      </p:sp>
      <p:sp>
        <p:nvSpPr>
          <p:cNvPr id="34" name="TextBox 33">
            <a:extLst>
              <a:ext uri="{FF2B5EF4-FFF2-40B4-BE49-F238E27FC236}">
                <a16:creationId xmlns:a16="http://schemas.microsoft.com/office/drawing/2014/main" id="{36120F2F-91EB-AF26-62C0-3DEF3683F900}"/>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7" name="Group 6">
            <a:extLst>
              <a:ext uri="{FF2B5EF4-FFF2-40B4-BE49-F238E27FC236}">
                <a16:creationId xmlns:a16="http://schemas.microsoft.com/office/drawing/2014/main" id="{81081727-42AB-5286-61A1-F4E721A6AE2E}"/>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8" name="Group 7">
              <a:extLst>
                <a:ext uri="{FF2B5EF4-FFF2-40B4-BE49-F238E27FC236}">
                  <a16:creationId xmlns:a16="http://schemas.microsoft.com/office/drawing/2014/main" id="{FA41352F-69CF-5D6A-DE2C-3597B8A2CE18}"/>
                </a:ext>
              </a:extLst>
            </p:cNvPr>
            <p:cNvGrpSpPr/>
            <p:nvPr userDrawn="1"/>
          </p:nvGrpSpPr>
          <p:grpSpPr>
            <a:xfrm>
              <a:off x="1085548" y="5803324"/>
              <a:ext cx="1263400" cy="251010"/>
              <a:chOff x="1085548" y="5803324"/>
              <a:chExt cx="1263400" cy="251010"/>
            </a:xfrm>
          </p:grpSpPr>
          <p:pic>
            <p:nvPicPr>
              <p:cNvPr id="10" name="Graphic 9">
                <a:hlinkClick r:id="rId6"/>
                <a:extLst>
                  <a:ext uri="{FF2B5EF4-FFF2-40B4-BE49-F238E27FC236}">
                    <a16:creationId xmlns:a16="http://schemas.microsoft.com/office/drawing/2014/main" id="{94BEA123-E3C6-5D8D-7170-F2571CC74DD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804609" y="5803324"/>
                <a:ext cx="133872" cy="251010"/>
              </a:xfrm>
              <a:prstGeom prst="rect">
                <a:avLst/>
              </a:prstGeom>
            </p:spPr>
          </p:pic>
          <p:pic>
            <p:nvPicPr>
              <p:cNvPr id="11" name="Graphic 10">
                <a:hlinkClick r:id="rId9"/>
                <a:extLst>
                  <a:ext uri="{FF2B5EF4-FFF2-40B4-BE49-F238E27FC236}">
                    <a16:creationId xmlns:a16="http://schemas.microsoft.com/office/drawing/2014/main" id="{6A66C44B-26A2-D118-4B1A-DF7C4030296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080057" y="5827994"/>
                <a:ext cx="268891" cy="201669"/>
              </a:xfrm>
              <a:prstGeom prst="rect">
                <a:avLst/>
              </a:prstGeom>
            </p:spPr>
          </p:pic>
          <p:pic>
            <p:nvPicPr>
              <p:cNvPr id="12" name="Graphic 11">
                <a:hlinkClick r:id="rId12"/>
                <a:extLst>
                  <a:ext uri="{FF2B5EF4-FFF2-40B4-BE49-F238E27FC236}">
                    <a16:creationId xmlns:a16="http://schemas.microsoft.com/office/drawing/2014/main" id="{29521391-B774-A4D5-D3A8-00DBA353D9DD}"/>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443776" y="5811891"/>
                <a:ext cx="219258" cy="233875"/>
              </a:xfrm>
              <a:prstGeom prst="rect">
                <a:avLst/>
              </a:prstGeom>
            </p:spPr>
          </p:pic>
          <p:pic>
            <p:nvPicPr>
              <p:cNvPr id="13" name="Graphic 12">
                <a:hlinkClick r:id="rId15"/>
                <a:extLst>
                  <a:ext uri="{FF2B5EF4-FFF2-40B4-BE49-F238E27FC236}">
                    <a16:creationId xmlns:a16="http://schemas.microsoft.com/office/drawing/2014/main" id="{A7563480-E8D1-F965-3FAF-275F4F706F3E}"/>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85548" y="5820502"/>
                <a:ext cx="216653" cy="216653"/>
              </a:xfrm>
              <a:prstGeom prst="rect">
                <a:avLst/>
              </a:prstGeom>
            </p:spPr>
          </p:pic>
        </p:grpSp>
        <p:pic>
          <p:nvPicPr>
            <p:cNvPr id="9" name="Graphic 8">
              <a:hlinkClick r:id="rId18"/>
              <a:extLst>
                <a:ext uri="{FF2B5EF4-FFF2-40B4-BE49-F238E27FC236}">
                  <a16:creationId xmlns:a16="http://schemas.microsoft.com/office/drawing/2014/main" id="{C15B52CA-C83D-5024-6F03-74E4FA713032}"/>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6580676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losing Slide 4">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BDC6A26E-4B0C-4F23-986A-02D364342A7C}"/>
              </a:ext>
              <a:ext uri="{C183D7F6-B498-43B3-948B-1728B52AA6E4}">
                <adec:decorative xmlns:adec="http://schemas.microsoft.com/office/drawing/2017/decorative" val="1"/>
              </a:ext>
            </a:extLst>
          </p:cNvPr>
          <p:cNvPicPr>
            <a:picLocks noChangeAspect="1"/>
          </p:cNvPicPr>
          <p:nvPr userDrawn="1"/>
        </p:nvPicPr>
        <p:blipFill rotWithShape="1">
          <a:blip r:embed="rId2" cstate="email">
            <a:grayscl/>
            <a:alphaModFix amt="80000"/>
            <a:extLst>
              <a:ext uri="{28A0092B-C50C-407E-A947-70E740481C1C}">
                <a14:useLocalDpi xmlns:a14="http://schemas.microsoft.com/office/drawing/2010/main"/>
              </a:ext>
            </a:extLst>
          </a:blip>
          <a:srcRect l="-2"/>
          <a:stretch/>
        </p:blipFill>
        <p:spPr>
          <a:xfrm>
            <a:off x="0" y="0"/>
            <a:ext cx="12192000" cy="6858000"/>
          </a:xfrm>
          <a:prstGeom prst="rect">
            <a:avLst/>
          </a:prstGeom>
        </p:spPr>
      </p:pic>
      <p:pic>
        <p:nvPicPr>
          <p:cNvPr id="35" name="Graphic 34">
            <a:extLst>
              <a:ext uri="{FF2B5EF4-FFF2-40B4-BE49-F238E27FC236}">
                <a16:creationId xmlns:a16="http://schemas.microsoft.com/office/drawing/2014/main" id="{D93D5518-89ED-BBBB-3E69-11C3158A5D1B}"/>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cxnSp>
        <p:nvCxnSpPr>
          <p:cNvPr id="43" name="Straight Connector 42">
            <a:extLst>
              <a:ext uri="{FF2B5EF4-FFF2-40B4-BE49-F238E27FC236}">
                <a16:creationId xmlns:a16="http://schemas.microsoft.com/office/drawing/2014/main" id="{EB38C781-83EB-7F55-2398-CE9B9626F6B7}"/>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CB249EA-7281-3A3F-82A3-BFDE725FFD6F}"/>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92E8B9BC-4F98-DB47-195F-8159173730E0}"/>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About Capco</a:t>
            </a:r>
          </a:p>
        </p:txBody>
      </p:sp>
      <p:sp>
        <p:nvSpPr>
          <p:cNvPr id="9" name="Rectangle 1">
            <a:extLst>
              <a:ext uri="{FF2B5EF4-FFF2-40B4-BE49-F238E27FC236}">
                <a16:creationId xmlns:a16="http://schemas.microsoft.com/office/drawing/2014/main" id="{B35C7263-3DF5-BE35-EDAC-BEF06AE4329C}"/>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accent3"/>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accent3"/>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accent3"/>
                </a:solidFill>
                <a:latin typeface="+mn-lt"/>
                <a:ea typeface="+mn-ea"/>
                <a:cs typeface="Calibri" panose="020F0502020204030204" pitchFamily="34" charset="0"/>
              </a:rPr>
              <a:t>To learn more, visit </a:t>
            </a:r>
            <a:r>
              <a:rPr lang="en-US" altLang="en-US" sz="1000" b="1" i="0" kern="1200" noProof="0">
                <a:solidFill>
                  <a:schemeClr val="accent3"/>
                </a:solidFill>
                <a:latin typeface="+mn-lt"/>
                <a:ea typeface="+mn-ea"/>
                <a:cs typeface="Calibri" panose="020F0502020204030204" pitchFamily="34" charset="0"/>
                <a:hlinkClick r:id="rId5">
                  <a:extLst>
                    <a:ext uri="{A12FA001-AC4F-418D-AE19-62706E023703}">
                      <ahyp:hlinkClr xmlns:ahyp="http://schemas.microsoft.com/office/drawing/2018/hyperlinkcolor" val="tx"/>
                    </a:ext>
                  </a:extLst>
                </a:hlinkClick>
              </a:rPr>
              <a:t>www.capco.com</a:t>
            </a:r>
            <a:r>
              <a:rPr lang="en-US" altLang="en-US" sz="1000" b="1" i="0" kern="1200" noProof="0">
                <a:solidFill>
                  <a:schemeClr val="accent3"/>
                </a:solidFill>
                <a:latin typeface="+mn-lt"/>
                <a:ea typeface="+mn-ea"/>
                <a:cs typeface="Calibri" panose="020F0502020204030204" pitchFamily="34" charset="0"/>
              </a:rPr>
              <a:t> or follow us on LinkedIn, Instagram, Facebook, and YouTube.</a:t>
            </a:r>
          </a:p>
        </p:txBody>
      </p:sp>
      <p:sp>
        <p:nvSpPr>
          <p:cNvPr id="47" name="Rectangle 46">
            <a:extLst>
              <a:ext uri="{FF2B5EF4-FFF2-40B4-BE49-F238E27FC236}">
                <a16:creationId xmlns:a16="http://schemas.microsoft.com/office/drawing/2014/main" id="{30E9FC27-108C-8074-DB02-4267987D3076}"/>
              </a:ext>
            </a:extLst>
          </p:cNvPr>
          <p:cNvSpPr/>
          <p:nvPr userDrawn="1"/>
        </p:nvSpPr>
        <p:spPr>
          <a:xfrm>
            <a:off x="1085548" y="3939409"/>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Worldwide Offices</a:t>
            </a:r>
          </a:p>
        </p:txBody>
      </p:sp>
      <p:sp>
        <p:nvSpPr>
          <p:cNvPr id="48" name="TextBox 47">
            <a:extLst>
              <a:ext uri="{FF2B5EF4-FFF2-40B4-BE49-F238E27FC236}">
                <a16:creationId xmlns:a16="http://schemas.microsoft.com/office/drawing/2014/main" id="{315F38BB-2262-EBF2-9814-F97833F12F1A}"/>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9" name="TextBox 48">
            <a:extLst>
              <a:ext uri="{FF2B5EF4-FFF2-40B4-BE49-F238E27FC236}">
                <a16:creationId xmlns:a16="http://schemas.microsoft.com/office/drawing/2014/main" id="{6DD38269-0DC6-70CC-8158-E3F77B9A3DEE}"/>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Bengaluru - Electronic City </a:t>
            </a:r>
            <a:r>
              <a:rPr lang="en-US" altLang="en-US" sz="900" b="0" i="0" kern="1200" noProof="0">
                <a:solidFill>
                  <a:schemeClr val="accent3"/>
                </a:solidFill>
                <a:latin typeface="+mn-lt"/>
                <a:ea typeface="+mn-ea"/>
                <a:cs typeface="Calibri" panose="020F0502020204030204" pitchFamily="34" charset="0"/>
                <a:sym typeface="Wingdings"/>
              </a:rPr>
              <a:t> Bengaluru </a:t>
            </a:r>
            <a:r>
              <a:rPr lang="en-US" altLang="en-US" sz="900" b="0" i="0" kern="1200" noProof="0">
                <a:solidFill>
                  <a:schemeClr val="accent3"/>
                </a:solidFill>
                <a:latin typeface="+mn-lt"/>
                <a:ea typeface="+mn-ea"/>
                <a:cs typeface="Calibri" panose="020F0502020204030204" pitchFamily="34" charset="0"/>
              </a:rPr>
              <a:t>- Sarjapur Road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Bangkok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accent3"/>
                </a:solidFill>
                <a:latin typeface="+mn-lt"/>
                <a:ea typeface="+mn-ea"/>
                <a:cs typeface="Calibri" panose="020F0502020204030204" pitchFamily="34" charset="0"/>
              </a:rPr>
              <a:t>Bratislava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Brussels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sz="900" b="0" i="0" noProof="0">
                <a:solidFill>
                  <a:schemeClr val="accent3"/>
                </a:solidFill>
                <a:latin typeface="+mn-lt"/>
                <a:ea typeface="Arial" charset="0"/>
                <a:cs typeface="Calibri" panose="020F0502020204030204" pitchFamily="34" charset="0"/>
              </a:rPr>
              <a:t>Charlotte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a:t>
            </a:r>
            <a:r>
              <a:rPr lang="en-US" sz="900" b="0" i="0" kern="1200" noProof="0">
                <a:solidFill>
                  <a:schemeClr val="accent3"/>
                </a:solidFill>
                <a:latin typeface="+mn-lt"/>
                <a:ea typeface="Arial" charset="0"/>
                <a:cs typeface="Calibri" panose="020F0502020204030204" pitchFamily="34" charset="0"/>
              </a:rPr>
              <a:t> Chennai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Chicago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Dallas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Dusseldorf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Edinburgh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Frankfurt</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Geneva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Glasgow  </a:t>
            </a:r>
            <a:r>
              <a:rPr lang="en-US" sz="900">
                <a:solidFill>
                  <a:schemeClr val="accent3"/>
                </a:solidFill>
                <a:effectLst/>
                <a:latin typeface="+mn-lt"/>
                <a:ea typeface="Calibri" panose="020F0502020204030204" pitchFamily="34" charset="0"/>
              </a:rPr>
              <a:t>Gurugram</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accent3"/>
                </a:solidFill>
                <a:latin typeface="+mn-lt"/>
              </a:rPr>
              <a:t> </a:t>
            </a:r>
            <a:r>
              <a:rPr lang="en-US" altLang="en-US" sz="900" b="0" i="0" kern="1200" noProof="0">
                <a:solidFill>
                  <a:schemeClr val="accent3"/>
                </a:solidFill>
                <a:latin typeface="+mn-lt"/>
                <a:ea typeface="+mn-ea"/>
                <a:cs typeface="Calibri" panose="020F0502020204030204" pitchFamily="34" charset="0"/>
              </a:rPr>
              <a:t>Hong Kong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Houston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accent3"/>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London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sym typeface="Wingdings"/>
              </a:rPr>
              <a:t>Milan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a:solidFill>
                  <a:schemeClr val="accent3"/>
                </a:solidFill>
                <a:effectLst/>
                <a:latin typeface="+mn-lt"/>
                <a:ea typeface="Calibri" panose="020F0502020204030204" pitchFamily="34" charset="0"/>
              </a:rPr>
              <a:t>Mumbai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New York</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Orlando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Paris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accent3"/>
                </a:solidFill>
                <a:latin typeface="+mn-lt"/>
                <a:cs typeface="Calibri" panose="020F0502020204030204" pitchFamily="34" charset="0"/>
              </a:rPr>
              <a:t>Pune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accent3"/>
                </a:solidFill>
                <a:latin typeface="+mn-lt"/>
                <a:ea typeface="+mn-ea"/>
                <a:cs typeface="Calibri" panose="020F0502020204030204" pitchFamily="34" charset="0"/>
              </a:rPr>
              <a:t>Singapore</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Toronto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Vienna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Zurich</a:t>
            </a:r>
          </a:p>
        </p:txBody>
      </p:sp>
      <p:sp>
        <p:nvSpPr>
          <p:cNvPr id="50" name="TextBox 49">
            <a:extLst>
              <a:ext uri="{FF2B5EF4-FFF2-40B4-BE49-F238E27FC236}">
                <a16:creationId xmlns:a16="http://schemas.microsoft.com/office/drawing/2014/main" id="{DF48DB4D-411C-0467-1D6D-48B5EBB24B34}"/>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2" name="Group 1">
            <a:extLst>
              <a:ext uri="{FF2B5EF4-FFF2-40B4-BE49-F238E27FC236}">
                <a16:creationId xmlns:a16="http://schemas.microsoft.com/office/drawing/2014/main" id="{ED56D826-CA16-9D84-DE11-F6BA2829DF0A}"/>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3" name="Group 2">
              <a:extLst>
                <a:ext uri="{FF2B5EF4-FFF2-40B4-BE49-F238E27FC236}">
                  <a16:creationId xmlns:a16="http://schemas.microsoft.com/office/drawing/2014/main" id="{E671700E-2613-B7A5-E3D2-1D7C5A0048B5}"/>
                </a:ext>
              </a:extLst>
            </p:cNvPr>
            <p:cNvGrpSpPr/>
            <p:nvPr userDrawn="1"/>
          </p:nvGrpSpPr>
          <p:grpSpPr>
            <a:xfrm>
              <a:off x="1085548" y="5803324"/>
              <a:ext cx="1263400" cy="251010"/>
              <a:chOff x="1085548" y="5803324"/>
              <a:chExt cx="1263400" cy="251010"/>
            </a:xfrm>
          </p:grpSpPr>
          <p:pic>
            <p:nvPicPr>
              <p:cNvPr id="5" name="Graphic 4">
                <a:hlinkClick r:id="rId6"/>
                <a:extLst>
                  <a:ext uri="{FF2B5EF4-FFF2-40B4-BE49-F238E27FC236}">
                    <a16:creationId xmlns:a16="http://schemas.microsoft.com/office/drawing/2014/main" id="{6AEE3F2A-DA3A-B5EE-45CB-8FEF59A1E12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804609" y="5803324"/>
                <a:ext cx="133872" cy="251010"/>
              </a:xfrm>
              <a:prstGeom prst="rect">
                <a:avLst/>
              </a:prstGeom>
            </p:spPr>
          </p:pic>
          <p:pic>
            <p:nvPicPr>
              <p:cNvPr id="6" name="Graphic 5">
                <a:hlinkClick r:id="rId9"/>
                <a:extLst>
                  <a:ext uri="{FF2B5EF4-FFF2-40B4-BE49-F238E27FC236}">
                    <a16:creationId xmlns:a16="http://schemas.microsoft.com/office/drawing/2014/main" id="{340CA995-896B-4A13-2B9E-1F8F426A7AA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080057" y="5827994"/>
                <a:ext cx="268891" cy="201669"/>
              </a:xfrm>
              <a:prstGeom prst="rect">
                <a:avLst/>
              </a:prstGeom>
            </p:spPr>
          </p:pic>
          <p:pic>
            <p:nvPicPr>
              <p:cNvPr id="7" name="Graphic 6">
                <a:hlinkClick r:id="rId12"/>
                <a:extLst>
                  <a:ext uri="{FF2B5EF4-FFF2-40B4-BE49-F238E27FC236}">
                    <a16:creationId xmlns:a16="http://schemas.microsoft.com/office/drawing/2014/main" id="{94CAA987-0D29-1D20-93CD-1A14CA8C7C08}"/>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443776" y="5811891"/>
                <a:ext cx="219258" cy="233875"/>
              </a:xfrm>
              <a:prstGeom prst="rect">
                <a:avLst/>
              </a:prstGeom>
            </p:spPr>
          </p:pic>
          <p:pic>
            <p:nvPicPr>
              <p:cNvPr id="8" name="Graphic 7">
                <a:hlinkClick r:id="rId15"/>
                <a:extLst>
                  <a:ext uri="{FF2B5EF4-FFF2-40B4-BE49-F238E27FC236}">
                    <a16:creationId xmlns:a16="http://schemas.microsoft.com/office/drawing/2014/main" id="{A1AC37CA-16F3-C735-FD92-F1672A980166}"/>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85548" y="5820502"/>
                <a:ext cx="216653" cy="216653"/>
              </a:xfrm>
              <a:prstGeom prst="rect">
                <a:avLst/>
              </a:prstGeom>
            </p:spPr>
          </p:pic>
        </p:grpSp>
        <p:pic>
          <p:nvPicPr>
            <p:cNvPr id="4" name="Graphic 3">
              <a:hlinkClick r:id="rId18"/>
              <a:extLst>
                <a:ext uri="{FF2B5EF4-FFF2-40B4-BE49-F238E27FC236}">
                  <a16:creationId xmlns:a16="http://schemas.microsoft.com/office/drawing/2014/main" id="{70BAE64B-DB94-3DC8-A8A8-EEB3ACFD1676}"/>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9450499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Closing Slide 5">
    <p:bg>
      <p:bgPr>
        <a:solidFill>
          <a:schemeClr val="tx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FDA427D0-0152-483C-954E-0CCAB2DBEED4}"/>
              </a:ext>
              <a:ext uri="{C183D7F6-B498-43B3-948B-1728B52AA6E4}">
                <adec:decorative xmlns:adec="http://schemas.microsoft.com/office/drawing/2017/decorative" val="1"/>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rcRect/>
          <a:stretch/>
        </p:blipFill>
        <p:spPr>
          <a:xfrm>
            <a:off x="10027" y="-5"/>
            <a:ext cx="12181973" cy="6858000"/>
          </a:xfrm>
          <a:prstGeom prst="rect">
            <a:avLst/>
          </a:prstGeom>
        </p:spPr>
      </p:pic>
      <p:pic>
        <p:nvPicPr>
          <p:cNvPr id="14" name="Graphic 13">
            <a:extLst>
              <a:ext uri="{FF2B5EF4-FFF2-40B4-BE49-F238E27FC236}">
                <a16:creationId xmlns:a16="http://schemas.microsoft.com/office/drawing/2014/main" id="{8F97D564-8315-D809-5C4F-F608CE37F0F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cxnSp>
        <p:nvCxnSpPr>
          <p:cNvPr id="28" name="Straight Connector 27">
            <a:extLst>
              <a:ext uri="{FF2B5EF4-FFF2-40B4-BE49-F238E27FC236}">
                <a16:creationId xmlns:a16="http://schemas.microsoft.com/office/drawing/2014/main" id="{6124AE59-9BB1-33C3-114C-A9877DAEE173}"/>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E710C92-77B8-141B-E13F-2730E0D39E43}"/>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B902C28F-2B31-8137-15DC-BEDDEB07768D}"/>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About Capco</a:t>
            </a:r>
          </a:p>
        </p:txBody>
      </p:sp>
      <p:sp>
        <p:nvSpPr>
          <p:cNvPr id="9" name="Rectangle 1">
            <a:extLst>
              <a:ext uri="{FF2B5EF4-FFF2-40B4-BE49-F238E27FC236}">
                <a16:creationId xmlns:a16="http://schemas.microsoft.com/office/drawing/2014/main" id="{37453821-EF54-035D-1333-A41466F104F7}"/>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bg1"/>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bg1"/>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bg1"/>
                </a:solidFill>
                <a:latin typeface="+mn-lt"/>
                <a:ea typeface="+mn-ea"/>
                <a:cs typeface="Calibri" panose="020F0502020204030204" pitchFamily="34" charset="0"/>
              </a:rPr>
              <a:t>To learn more, visit </a:t>
            </a:r>
            <a:r>
              <a:rPr lang="en-US" altLang="en-US" sz="1000" b="1" i="0" kern="1200" noProof="0">
                <a:solidFill>
                  <a:schemeClr val="bg1"/>
                </a:solidFill>
                <a:latin typeface="+mn-lt"/>
                <a:ea typeface="+mn-ea"/>
                <a:cs typeface="Calibri" panose="020F0502020204030204" pitchFamily="34" charset="0"/>
                <a:hlinkClick r:id="rId5">
                  <a:extLst>
                    <a:ext uri="{A12FA001-AC4F-418D-AE19-62706E023703}">
                      <ahyp:hlinkClr xmlns:ahyp="http://schemas.microsoft.com/office/drawing/2018/hyperlinkcolor" val="tx"/>
                    </a:ext>
                  </a:extLst>
                </a:hlinkClick>
              </a:rPr>
              <a:t>www.capco.com</a:t>
            </a:r>
            <a:r>
              <a:rPr lang="en-US" altLang="en-US" sz="1000" b="1" i="0" kern="1200" noProof="0">
                <a:solidFill>
                  <a:schemeClr val="bg1"/>
                </a:solidFill>
                <a:latin typeface="+mn-lt"/>
                <a:ea typeface="+mn-ea"/>
                <a:cs typeface="Calibri" panose="020F0502020204030204" pitchFamily="34" charset="0"/>
              </a:rPr>
              <a:t> or follow us on LinkedIn, Instagram, Facebook, and YouTube.</a:t>
            </a:r>
          </a:p>
        </p:txBody>
      </p:sp>
      <p:sp>
        <p:nvSpPr>
          <p:cNvPr id="31" name="Rectangle 30">
            <a:extLst>
              <a:ext uri="{FF2B5EF4-FFF2-40B4-BE49-F238E27FC236}">
                <a16:creationId xmlns:a16="http://schemas.microsoft.com/office/drawing/2014/main" id="{54BCD961-5D86-71F4-C20F-1EBA86A882C1}"/>
              </a:ext>
            </a:extLst>
          </p:cNvPr>
          <p:cNvSpPr/>
          <p:nvPr userDrawn="1"/>
        </p:nvSpPr>
        <p:spPr>
          <a:xfrm>
            <a:off x="1085548" y="3939409"/>
            <a:ext cx="6975424"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Worldwide Offices</a:t>
            </a:r>
          </a:p>
        </p:txBody>
      </p:sp>
      <p:sp>
        <p:nvSpPr>
          <p:cNvPr id="33" name="TextBox 32">
            <a:extLst>
              <a:ext uri="{FF2B5EF4-FFF2-40B4-BE49-F238E27FC236}">
                <a16:creationId xmlns:a16="http://schemas.microsoft.com/office/drawing/2014/main" id="{B41FB7A2-889F-8600-45D8-F430A3A1D1FB}"/>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34" name="TextBox 33">
            <a:extLst>
              <a:ext uri="{FF2B5EF4-FFF2-40B4-BE49-F238E27FC236}">
                <a16:creationId xmlns:a16="http://schemas.microsoft.com/office/drawing/2014/main" id="{BAF374E0-E88E-43AE-190A-07D9445165F2}"/>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35" name="TextBox 34">
            <a:extLst>
              <a:ext uri="{FF2B5EF4-FFF2-40B4-BE49-F238E27FC236}">
                <a16:creationId xmlns:a16="http://schemas.microsoft.com/office/drawing/2014/main" id="{E6F96816-4478-50F1-343A-A172BEF2474D}"/>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Bengaluru - Electronic City </a:t>
            </a:r>
            <a:r>
              <a:rPr lang="en-US" altLang="en-US" sz="900" b="0" i="0" kern="1200" noProof="0">
                <a:solidFill>
                  <a:schemeClr val="bg1"/>
                </a:solidFill>
                <a:latin typeface="+mn-lt"/>
                <a:ea typeface="+mn-ea"/>
                <a:cs typeface="Calibri" panose="020F0502020204030204" pitchFamily="34" charset="0"/>
                <a:sym typeface="Wingdings"/>
              </a:rPr>
              <a:t> Bengaluru </a:t>
            </a:r>
            <a:r>
              <a:rPr lang="en-US" altLang="en-US" sz="900" b="0" i="0" kern="1200" noProof="0">
                <a:solidFill>
                  <a:schemeClr val="bg1"/>
                </a:solidFill>
                <a:latin typeface="+mn-lt"/>
                <a:ea typeface="+mn-ea"/>
                <a:cs typeface="Calibri" panose="020F0502020204030204" pitchFamily="34" charset="0"/>
              </a:rPr>
              <a:t>- Sarjapur Road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Bangkok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bg1"/>
                </a:solidFill>
                <a:latin typeface="+mn-lt"/>
                <a:ea typeface="+mn-ea"/>
                <a:cs typeface="Calibri" panose="020F0502020204030204" pitchFamily="34" charset="0"/>
              </a:rPr>
              <a:t>Bratislava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Brussels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sz="900" b="0" i="0" noProof="0">
                <a:solidFill>
                  <a:schemeClr val="bg1"/>
                </a:solidFill>
                <a:latin typeface="+mn-lt"/>
                <a:ea typeface="Arial" charset="0"/>
                <a:cs typeface="Calibri" panose="020F0502020204030204" pitchFamily="34" charset="0"/>
              </a:rPr>
              <a:t>Charlotte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a:t>
            </a:r>
            <a:r>
              <a:rPr lang="en-US" sz="900" b="0" i="0" kern="1200" noProof="0">
                <a:solidFill>
                  <a:schemeClr val="bg1"/>
                </a:solidFill>
                <a:latin typeface="+mn-lt"/>
                <a:ea typeface="Arial" charset="0"/>
                <a:cs typeface="Calibri" panose="020F0502020204030204" pitchFamily="34" charset="0"/>
              </a:rPr>
              <a:t> Chennai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Chicago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Dallas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Dusseldorf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Edinburgh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Frankfurt</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Geneva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Glasgow  </a:t>
            </a:r>
            <a:r>
              <a:rPr lang="en-US" sz="900">
                <a:solidFill>
                  <a:schemeClr val="bg1"/>
                </a:solidFill>
                <a:effectLst/>
                <a:latin typeface="+mn-lt"/>
                <a:ea typeface="Calibri" panose="020F0502020204030204" pitchFamily="34" charset="0"/>
              </a:rPr>
              <a:t>Gurugram</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bg1"/>
                </a:solidFill>
                <a:latin typeface="+mn-lt"/>
              </a:rPr>
              <a:t> </a:t>
            </a:r>
            <a:r>
              <a:rPr lang="en-US" altLang="en-US" sz="900" b="0" i="0" kern="1200" noProof="0">
                <a:solidFill>
                  <a:schemeClr val="bg1"/>
                </a:solidFill>
                <a:latin typeface="+mn-lt"/>
                <a:ea typeface="+mn-ea"/>
                <a:cs typeface="Calibri" panose="020F0502020204030204" pitchFamily="34" charset="0"/>
              </a:rPr>
              <a:t>Hong Kong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Houston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bg1"/>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London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sym typeface="Wingdings"/>
              </a:rPr>
              <a:t>Milan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a:solidFill>
                  <a:schemeClr val="bg1"/>
                </a:solidFill>
                <a:effectLst/>
                <a:latin typeface="+mn-lt"/>
                <a:ea typeface="Calibri" panose="020F0502020204030204" pitchFamily="34" charset="0"/>
              </a:rPr>
              <a:t>Mumbai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New York</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Orlando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Paris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bg1"/>
                </a:solidFill>
                <a:latin typeface="+mn-lt"/>
                <a:cs typeface="Calibri" panose="020F0502020204030204" pitchFamily="34" charset="0"/>
              </a:rPr>
              <a:t>Pune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bg1"/>
                </a:solidFill>
                <a:latin typeface="+mn-lt"/>
                <a:ea typeface="+mn-ea"/>
                <a:cs typeface="Calibri" panose="020F0502020204030204" pitchFamily="34" charset="0"/>
              </a:rPr>
              <a:t>Singapore</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Toronto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Vienna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Zurich</a:t>
            </a:r>
          </a:p>
        </p:txBody>
      </p:sp>
      <p:grpSp>
        <p:nvGrpSpPr>
          <p:cNvPr id="2" name="Group 1">
            <a:extLst>
              <a:ext uri="{FF2B5EF4-FFF2-40B4-BE49-F238E27FC236}">
                <a16:creationId xmlns:a16="http://schemas.microsoft.com/office/drawing/2014/main" id="{3C82B74E-563C-2C81-62C8-501308ADC8B8}"/>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3" name="Group 2">
              <a:extLst>
                <a:ext uri="{FF2B5EF4-FFF2-40B4-BE49-F238E27FC236}">
                  <a16:creationId xmlns:a16="http://schemas.microsoft.com/office/drawing/2014/main" id="{5CF5EB7F-7CBB-177E-B34D-7EA822A717C3}"/>
                </a:ext>
              </a:extLst>
            </p:cNvPr>
            <p:cNvGrpSpPr/>
            <p:nvPr userDrawn="1"/>
          </p:nvGrpSpPr>
          <p:grpSpPr>
            <a:xfrm>
              <a:off x="1085548" y="5803324"/>
              <a:ext cx="1263400" cy="251010"/>
              <a:chOff x="1085548" y="5803324"/>
              <a:chExt cx="1263400" cy="251010"/>
            </a:xfrm>
          </p:grpSpPr>
          <p:pic>
            <p:nvPicPr>
              <p:cNvPr id="5" name="Graphic 4">
                <a:hlinkClick r:id="rId6"/>
                <a:extLst>
                  <a:ext uri="{FF2B5EF4-FFF2-40B4-BE49-F238E27FC236}">
                    <a16:creationId xmlns:a16="http://schemas.microsoft.com/office/drawing/2014/main" id="{788D7BE6-E1FD-5C83-A2E4-6CBE131EE15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804609" y="5803324"/>
                <a:ext cx="133872" cy="251010"/>
              </a:xfrm>
              <a:prstGeom prst="rect">
                <a:avLst/>
              </a:prstGeom>
            </p:spPr>
          </p:pic>
          <p:pic>
            <p:nvPicPr>
              <p:cNvPr id="6" name="Graphic 5">
                <a:hlinkClick r:id="rId9"/>
                <a:extLst>
                  <a:ext uri="{FF2B5EF4-FFF2-40B4-BE49-F238E27FC236}">
                    <a16:creationId xmlns:a16="http://schemas.microsoft.com/office/drawing/2014/main" id="{B8C2982E-E0DB-F1B2-3A2A-2B9DD9B99E70}"/>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080057" y="5827994"/>
                <a:ext cx="268891" cy="201669"/>
              </a:xfrm>
              <a:prstGeom prst="rect">
                <a:avLst/>
              </a:prstGeom>
            </p:spPr>
          </p:pic>
          <p:pic>
            <p:nvPicPr>
              <p:cNvPr id="7" name="Graphic 6">
                <a:hlinkClick r:id="rId12"/>
                <a:extLst>
                  <a:ext uri="{FF2B5EF4-FFF2-40B4-BE49-F238E27FC236}">
                    <a16:creationId xmlns:a16="http://schemas.microsoft.com/office/drawing/2014/main" id="{09605186-954E-21B8-EBB2-861C9CF90DB8}"/>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443776" y="5811891"/>
                <a:ext cx="219258" cy="233875"/>
              </a:xfrm>
              <a:prstGeom prst="rect">
                <a:avLst/>
              </a:prstGeom>
            </p:spPr>
          </p:pic>
          <p:pic>
            <p:nvPicPr>
              <p:cNvPr id="8" name="Graphic 7">
                <a:hlinkClick r:id="rId15"/>
                <a:extLst>
                  <a:ext uri="{FF2B5EF4-FFF2-40B4-BE49-F238E27FC236}">
                    <a16:creationId xmlns:a16="http://schemas.microsoft.com/office/drawing/2014/main" id="{82A813D5-A2EB-82D5-050C-01F17A908BFE}"/>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85548" y="5820502"/>
                <a:ext cx="216653" cy="216653"/>
              </a:xfrm>
              <a:prstGeom prst="rect">
                <a:avLst/>
              </a:prstGeom>
            </p:spPr>
          </p:pic>
        </p:grpSp>
        <p:pic>
          <p:nvPicPr>
            <p:cNvPr id="4" name="Graphic 3">
              <a:hlinkClick r:id="rId18"/>
              <a:extLst>
                <a:ext uri="{FF2B5EF4-FFF2-40B4-BE49-F238E27FC236}">
                  <a16:creationId xmlns:a16="http://schemas.microsoft.com/office/drawing/2014/main" id="{26850D62-CAC0-5D1F-9F82-735DC688F03F}"/>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7287029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Closing Slide 6">
    <p:bg>
      <p:bgPr>
        <a:solidFill>
          <a:schemeClr val="tx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A64013C-1C6F-431E-A5AB-F015C37E300E}"/>
              </a:ext>
              <a:ext uri="{C183D7F6-B498-43B3-948B-1728B52AA6E4}">
                <adec:decorative xmlns:adec="http://schemas.microsoft.com/office/drawing/2017/decorative" val="1"/>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3" b="7813"/>
          <a:stretch/>
        </p:blipFill>
        <p:spPr>
          <a:xfrm>
            <a:off x="-1" y="-5"/>
            <a:ext cx="12191999" cy="6858000"/>
          </a:xfrm>
          <a:prstGeom prst="rect">
            <a:avLst/>
          </a:prstGeom>
        </p:spPr>
      </p:pic>
      <p:pic>
        <p:nvPicPr>
          <p:cNvPr id="2" name="Graphic 1">
            <a:extLst>
              <a:ext uri="{FF2B5EF4-FFF2-40B4-BE49-F238E27FC236}">
                <a16:creationId xmlns:a16="http://schemas.microsoft.com/office/drawing/2014/main" id="{4312AE03-FA72-4BA7-49AE-E50CA3F6436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cxnSp>
        <p:nvCxnSpPr>
          <p:cNvPr id="10" name="Straight Connector 9">
            <a:extLst>
              <a:ext uri="{FF2B5EF4-FFF2-40B4-BE49-F238E27FC236}">
                <a16:creationId xmlns:a16="http://schemas.microsoft.com/office/drawing/2014/main" id="{CDFA8872-BF16-1CAB-0503-DB9F3869C4D9}"/>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0CF06AA-79AD-D5D2-7E73-9243DC8E762A}"/>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27CC377-8395-130F-AB2E-A8A91EB8D711}"/>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About Capco</a:t>
            </a:r>
          </a:p>
        </p:txBody>
      </p:sp>
      <p:sp>
        <p:nvSpPr>
          <p:cNvPr id="26" name="Rectangle 1">
            <a:extLst>
              <a:ext uri="{FF2B5EF4-FFF2-40B4-BE49-F238E27FC236}">
                <a16:creationId xmlns:a16="http://schemas.microsoft.com/office/drawing/2014/main" id="{1BCB4FEA-EBD0-A5AE-CB4E-3C73D979711F}"/>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bg1"/>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bg1"/>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bg1"/>
                </a:solidFill>
                <a:latin typeface="+mn-lt"/>
                <a:ea typeface="+mn-ea"/>
                <a:cs typeface="Calibri" panose="020F0502020204030204" pitchFamily="34" charset="0"/>
              </a:rPr>
              <a:t>To learn more, visit </a:t>
            </a:r>
            <a:r>
              <a:rPr lang="en-US" altLang="en-US" sz="1000" b="1" i="0" kern="1200" noProof="0">
                <a:solidFill>
                  <a:schemeClr val="bg1"/>
                </a:solidFill>
                <a:latin typeface="+mn-lt"/>
                <a:ea typeface="+mn-ea"/>
                <a:cs typeface="Calibri" panose="020F0502020204030204" pitchFamily="34" charset="0"/>
                <a:hlinkClick r:id="rId5">
                  <a:extLst>
                    <a:ext uri="{A12FA001-AC4F-418D-AE19-62706E023703}">
                      <ahyp:hlinkClr xmlns:ahyp="http://schemas.microsoft.com/office/drawing/2018/hyperlinkcolor" val="tx"/>
                    </a:ext>
                  </a:extLst>
                </a:hlinkClick>
              </a:rPr>
              <a:t>www.capco.com</a:t>
            </a:r>
            <a:r>
              <a:rPr lang="en-US" altLang="en-US" sz="1000" b="1" i="0" kern="1200" noProof="0">
                <a:solidFill>
                  <a:schemeClr val="bg1"/>
                </a:solidFill>
                <a:latin typeface="+mn-lt"/>
                <a:ea typeface="+mn-ea"/>
                <a:cs typeface="Calibri" panose="020F0502020204030204" pitchFamily="34" charset="0"/>
              </a:rPr>
              <a:t> or follow us on LinkedIn, Instagram, Facebook, and YouTube.</a:t>
            </a:r>
          </a:p>
        </p:txBody>
      </p:sp>
      <p:sp>
        <p:nvSpPr>
          <p:cNvPr id="15" name="Rectangle 14">
            <a:extLst>
              <a:ext uri="{FF2B5EF4-FFF2-40B4-BE49-F238E27FC236}">
                <a16:creationId xmlns:a16="http://schemas.microsoft.com/office/drawing/2014/main" id="{172C45E9-ABEE-B348-234A-9711B515F638}"/>
              </a:ext>
            </a:extLst>
          </p:cNvPr>
          <p:cNvSpPr/>
          <p:nvPr userDrawn="1"/>
        </p:nvSpPr>
        <p:spPr>
          <a:xfrm>
            <a:off x="1085548" y="3939409"/>
            <a:ext cx="6975424"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Worldwide Offices</a:t>
            </a:r>
          </a:p>
        </p:txBody>
      </p:sp>
      <p:sp>
        <p:nvSpPr>
          <p:cNvPr id="17" name="TextBox 16">
            <a:extLst>
              <a:ext uri="{FF2B5EF4-FFF2-40B4-BE49-F238E27FC236}">
                <a16:creationId xmlns:a16="http://schemas.microsoft.com/office/drawing/2014/main" id="{BBDD4A61-1020-49F0-ABDA-3A837B750D7F}"/>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18" name="TextBox 17">
            <a:extLst>
              <a:ext uri="{FF2B5EF4-FFF2-40B4-BE49-F238E27FC236}">
                <a16:creationId xmlns:a16="http://schemas.microsoft.com/office/drawing/2014/main" id="{060B8907-EE6B-AC6F-B9D9-297CDADF970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23" name="TextBox 22">
            <a:extLst>
              <a:ext uri="{FF2B5EF4-FFF2-40B4-BE49-F238E27FC236}">
                <a16:creationId xmlns:a16="http://schemas.microsoft.com/office/drawing/2014/main" id="{17D0A780-595C-C236-7B7D-DE216E4343B0}"/>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Bengaluru - Electronic City </a:t>
            </a:r>
            <a:r>
              <a:rPr lang="en-US" altLang="en-US" sz="900" b="0" i="0" kern="1200" noProof="0">
                <a:solidFill>
                  <a:schemeClr val="bg1"/>
                </a:solidFill>
                <a:latin typeface="+mn-lt"/>
                <a:ea typeface="+mn-ea"/>
                <a:cs typeface="Calibri" panose="020F0502020204030204" pitchFamily="34" charset="0"/>
                <a:sym typeface="Wingdings"/>
              </a:rPr>
              <a:t> Bengaluru </a:t>
            </a:r>
            <a:r>
              <a:rPr lang="en-US" altLang="en-US" sz="900" b="0" i="0" kern="1200" noProof="0">
                <a:solidFill>
                  <a:schemeClr val="bg1"/>
                </a:solidFill>
                <a:latin typeface="+mn-lt"/>
                <a:ea typeface="+mn-ea"/>
                <a:cs typeface="Calibri" panose="020F0502020204030204" pitchFamily="34" charset="0"/>
              </a:rPr>
              <a:t>- Sarjapur Road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Bangkok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bg1"/>
                </a:solidFill>
                <a:latin typeface="+mn-lt"/>
                <a:ea typeface="+mn-ea"/>
                <a:cs typeface="Calibri" panose="020F0502020204030204" pitchFamily="34" charset="0"/>
              </a:rPr>
              <a:t>Bratislava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Brussels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sz="900" b="0" i="0" noProof="0">
                <a:solidFill>
                  <a:schemeClr val="bg1"/>
                </a:solidFill>
                <a:latin typeface="+mn-lt"/>
                <a:ea typeface="Arial" charset="0"/>
                <a:cs typeface="Calibri" panose="020F0502020204030204" pitchFamily="34" charset="0"/>
              </a:rPr>
              <a:t>Charlotte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a:t>
            </a:r>
            <a:r>
              <a:rPr lang="en-US" sz="900" b="0" i="0" kern="1200" noProof="0">
                <a:solidFill>
                  <a:schemeClr val="bg1"/>
                </a:solidFill>
                <a:latin typeface="+mn-lt"/>
                <a:ea typeface="Arial" charset="0"/>
                <a:cs typeface="Calibri" panose="020F0502020204030204" pitchFamily="34" charset="0"/>
              </a:rPr>
              <a:t> Chennai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Chicago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Dallas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Dusseldorf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Edinburgh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Frankfurt</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Geneva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Glasgow  </a:t>
            </a:r>
            <a:r>
              <a:rPr lang="en-US" sz="900">
                <a:solidFill>
                  <a:schemeClr val="bg1"/>
                </a:solidFill>
                <a:effectLst/>
                <a:latin typeface="+mn-lt"/>
                <a:ea typeface="Calibri" panose="020F0502020204030204" pitchFamily="34" charset="0"/>
              </a:rPr>
              <a:t>Gurugram</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bg1"/>
                </a:solidFill>
                <a:latin typeface="+mn-lt"/>
              </a:rPr>
              <a:t> </a:t>
            </a:r>
            <a:r>
              <a:rPr lang="en-US" altLang="en-US" sz="900" b="0" i="0" kern="1200" noProof="0">
                <a:solidFill>
                  <a:schemeClr val="bg1"/>
                </a:solidFill>
                <a:latin typeface="+mn-lt"/>
                <a:ea typeface="+mn-ea"/>
                <a:cs typeface="Calibri" panose="020F0502020204030204" pitchFamily="34" charset="0"/>
              </a:rPr>
              <a:t>Hong Kong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Houston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bg1"/>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London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sym typeface="Wingdings"/>
              </a:rPr>
              <a:t>Milan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a:solidFill>
                  <a:schemeClr val="bg1"/>
                </a:solidFill>
                <a:effectLst/>
                <a:latin typeface="+mn-lt"/>
                <a:ea typeface="Calibri" panose="020F0502020204030204" pitchFamily="34" charset="0"/>
              </a:rPr>
              <a:t>Mumbai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New York</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Orlando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Paris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bg1"/>
                </a:solidFill>
                <a:latin typeface="+mn-lt"/>
                <a:cs typeface="Calibri" panose="020F0502020204030204" pitchFamily="34" charset="0"/>
              </a:rPr>
              <a:t>Pune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bg1"/>
                </a:solidFill>
                <a:latin typeface="+mn-lt"/>
                <a:ea typeface="+mn-ea"/>
                <a:cs typeface="Calibri" panose="020F0502020204030204" pitchFamily="34" charset="0"/>
              </a:rPr>
              <a:t>Singapore</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Toronto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Vienna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Zurich</a:t>
            </a:r>
          </a:p>
        </p:txBody>
      </p:sp>
      <p:grpSp>
        <p:nvGrpSpPr>
          <p:cNvPr id="11" name="Group 10">
            <a:extLst>
              <a:ext uri="{FF2B5EF4-FFF2-40B4-BE49-F238E27FC236}">
                <a16:creationId xmlns:a16="http://schemas.microsoft.com/office/drawing/2014/main" id="{A57B2440-6FE6-BF6D-784A-E3EDD978F276}"/>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4" name="Group 13">
              <a:extLst>
                <a:ext uri="{FF2B5EF4-FFF2-40B4-BE49-F238E27FC236}">
                  <a16:creationId xmlns:a16="http://schemas.microsoft.com/office/drawing/2014/main" id="{47E337ED-0FA1-5959-4403-FA900F5F612F}"/>
                </a:ext>
              </a:extLst>
            </p:cNvPr>
            <p:cNvGrpSpPr/>
            <p:nvPr userDrawn="1"/>
          </p:nvGrpSpPr>
          <p:grpSpPr>
            <a:xfrm>
              <a:off x="1085548" y="5803324"/>
              <a:ext cx="1263400" cy="251010"/>
              <a:chOff x="1085548" y="5803324"/>
              <a:chExt cx="1263400" cy="251010"/>
            </a:xfrm>
          </p:grpSpPr>
          <p:pic>
            <p:nvPicPr>
              <p:cNvPr id="21" name="Graphic 20">
                <a:hlinkClick r:id="rId6"/>
                <a:extLst>
                  <a:ext uri="{FF2B5EF4-FFF2-40B4-BE49-F238E27FC236}">
                    <a16:creationId xmlns:a16="http://schemas.microsoft.com/office/drawing/2014/main" id="{5893F517-F678-0636-E010-AD05F8DB28B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804609" y="5803324"/>
                <a:ext cx="133872" cy="251010"/>
              </a:xfrm>
              <a:prstGeom prst="rect">
                <a:avLst/>
              </a:prstGeom>
            </p:spPr>
          </p:pic>
          <p:pic>
            <p:nvPicPr>
              <p:cNvPr id="22" name="Graphic 21">
                <a:hlinkClick r:id="rId9"/>
                <a:extLst>
                  <a:ext uri="{FF2B5EF4-FFF2-40B4-BE49-F238E27FC236}">
                    <a16:creationId xmlns:a16="http://schemas.microsoft.com/office/drawing/2014/main" id="{79D1C952-B403-BFD8-A8EB-A9AE66DB686F}"/>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080057" y="5827994"/>
                <a:ext cx="268891" cy="201669"/>
              </a:xfrm>
              <a:prstGeom prst="rect">
                <a:avLst/>
              </a:prstGeom>
            </p:spPr>
          </p:pic>
          <p:pic>
            <p:nvPicPr>
              <p:cNvPr id="24" name="Graphic 23">
                <a:hlinkClick r:id="rId12"/>
                <a:extLst>
                  <a:ext uri="{FF2B5EF4-FFF2-40B4-BE49-F238E27FC236}">
                    <a16:creationId xmlns:a16="http://schemas.microsoft.com/office/drawing/2014/main" id="{95C2C203-83F1-973A-A43A-694622AD04C6}"/>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443776" y="5811891"/>
                <a:ext cx="219258" cy="233875"/>
              </a:xfrm>
              <a:prstGeom prst="rect">
                <a:avLst/>
              </a:prstGeom>
            </p:spPr>
          </p:pic>
          <p:pic>
            <p:nvPicPr>
              <p:cNvPr id="25" name="Graphic 24">
                <a:hlinkClick r:id="rId15"/>
                <a:extLst>
                  <a:ext uri="{FF2B5EF4-FFF2-40B4-BE49-F238E27FC236}">
                    <a16:creationId xmlns:a16="http://schemas.microsoft.com/office/drawing/2014/main" id="{974EA5F6-2C71-C9BF-A4A6-C4DF98A07EC5}"/>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85548" y="5820502"/>
                <a:ext cx="216653" cy="216653"/>
              </a:xfrm>
              <a:prstGeom prst="rect">
                <a:avLst/>
              </a:prstGeom>
            </p:spPr>
          </p:pic>
        </p:grpSp>
        <p:pic>
          <p:nvPicPr>
            <p:cNvPr id="19" name="Graphic 18">
              <a:hlinkClick r:id="rId18"/>
              <a:extLst>
                <a:ext uri="{FF2B5EF4-FFF2-40B4-BE49-F238E27FC236}">
                  <a16:creationId xmlns:a16="http://schemas.microsoft.com/office/drawing/2014/main" id="{E0189887-8803-B2CE-5BB5-B224DE02A8C6}"/>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71172641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Back Page 1">
    <p:spTree>
      <p:nvGrpSpPr>
        <p:cNvPr id="1" name=""/>
        <p:cNvGrpSpPr/>
        <p:nvPr/>
      </p:nvGrpSpPr>
      <p:grpSpPr>
        <a:xfrm>
          <a:off x="0" y="0"/>
          <a:ext cx="0" cy="0"/>
          <a:chOff x="0" y="0"/>
          <a:chExt cx="0" cy="0"/>
        </a:xfrm>
      </p:grpSpPr>
      <p:pic>
        <p:nvPicPr>
          <p:cNvPr id="22" name="Graphic 21">
            <a:extLst>
              <a:ext uri="{FF2B5EF4-FFF2-40B4-BE49-F238E27FC236}">
                <a16:creationId xmlns:a16="http://schemas.microsoft.com/office/drawing/2014/main" id="{8682A5C8-57CC-418F-9B9A-0BB3F0266E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91446" y="5451047"/>
            <a:ext cx="1515005" cy="768653"/>
          </a:xfrm>
          <a:prstGeom prst="rect">
            <a:avLst/>
          </a:prstGeom>
        </p:spPr>
      </p:pic>
      <p:grpSp>
        <p:nvGrpSpPr>
          <p:cNvPr id="46" name="Group 45">
            <a:extLst>
              <a:ext uri="{FF2B5EF4-FFF2-40B4-BE49-F238E27FC236}">
                <a16:creationId xmlns:a16="http://schemas.microsoft.com/office/drawing/2014/main" id="{34603CFC-C4D7-4B38-B08C-44658F25F78A}"/>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47" name="Freeform: Shape 46">
              <a:extLst>
                <a:ext uri="{FF2B5EF4-FFF2-40B4-BE49-F238E27FC236}">
                  <a16:creationId xmlns:a16="http://schemas.microsoft.com/office/drawing/2014/main" id="{9A914D15-05FF-42BC-B7B9-D711EB9E5192}"/>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48" name="Freeform: Shape 47">
              <a:extLst>
                <a:ext uri="{FF2B5EF4-FFF2-40B4-BE49-F238E27FC236}">
                  <a16:creationId xmlns:a16="http://schemas.microsoft.com/office/drawing/2014/main" id="{2E68111D-6C10-4A86-BF64-B50A24A19F46}"/>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49" name="Freeform: Shape 48">
              <a:extLst>
                <a:ext uri="{FF2B5EF4-FFF2-40B4-BE49-F238E27FC236}">
                  <a16:creationId xmlns:a16="http://schemas.microsoft.com/office/drawing/2014/main" id="{343D9BA0-FCBB-453A-BC90-5FE989244173}"/>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50" name="Freeform: Shape 49">
              <a:extLst>
                <a:ext uri="{FF2B5EF4-FFF2-40B4-BE49-F238E27FC236}">
                  <a16:creationId xmlns:a16="http://schemas.microsoft.com/office/drawing/2014/main" id="{BE5AAD7D-1AE8-42EA-BFC5-1188A7D14251}"/>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29420FDA-F896-4F32-B8BE-5806F9134199}"/>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720C8A65-771E-C482-B25F-E0A7891EDB92}"/>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C2BA4CEF-FE64-93EC-4104-4853B46681AA}"/>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6A5FAC89-50CB-AB52-B549-F29144292C03}"/>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D65B77AA-4460-FC77-E731-23AA536C831F}"/>
                </a:ext>
              </a:extLst>
            </p:cNvPr>
            <p:cNvGrpSpPr/>
            <p:nvPr userDrawn="1"/>
          </p:nvGrpSpPr>
          <p:grpSpPr>
            <a:xfrm>
              <a:off x="1085548" y="5803324"/>
              <a:ext cx="1263400" cy="251010"/>
              <a:chOff x="1085548" y="5803324"/>
              <a:chExt cx="1263400" cy="251010"/>
            </a:xfrm>
          </p:grpSpPr>
          <p:pic>
            <p:nvPicPr>
              <p:cNvPr id="13" name="Graphic 12">
                <a:hlinkClick r:id="rId4"/>
                <a:extLst>
                  <a:ext uri="{FF2B5EF4-FFF2-40B4-BE49-F238E27FC236}">
                    <a16:creationId xmlns:a16="http://schemas.microsoft.com/office/drawing/2014/main" id="{8DD34832-B6AA-779F-EC0B-2F92E63FE80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804609" y="5803324"/>
                <a:ext cx="133872" cy="251010"/>
              </a:xfrm>
              <a:prstGeom prst="rect">
                <a:avLst/>
              </a:prstGeom>
            </p:spPr>
          </p:pic>
          <p:pic>
            <p:nvPicPr>
              <p:cNvPr id="14" name="Graphic 13">
                <a:hlinkClick r:id="rId7"/>
                <a:extLst>
                  <a:ext uri="{FF2B5EF4-FFF2-40B4-BE49-F238E27FC236}">
                    <a16:creationId xmlns:a16="http://schemas.microsoft.com/office/drawing/2014/main" id="{38123D1F-03F4-8F87-E9B8-61C5B67FCB92}"/>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080057" y="5827994"/>
                <a:ext cx="268891" cy="201669"/>
              </a:xfrm>
              <a:prstGeom prst="rect">
                <a:avLst/>
              </a:prstGeom>
            </p:spPr>
          </p:pic>
          <p:pic>
            <p:nvPicPr>
              <p:cNvPr id="15" name="Graphic 14">
                <a:hlinkClick r:id="rId10"/>
                <a:extLst>
                  <a:ext uri="{FF2B5EF4-FFF2-40B4-BE49-F238E27FC236}">
                    <a16:creationId xmlns:a16="http://schemas.microsoft.com/office/drawing/2014/main" id="{CCAA5A3A-662E-73FF-8FF4-82FC99311B4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443776" y="5811891"/>
                <a:ext cx="219258" cy="233875"/>
              </a:xfrm>
              <a:prstGeom prst="rect">
                <a:avLst/>
              </a:prstGeom>
            </p:spPr>
          </p:pic>
          <p:pic>
            <p:nvPicPr>
              <p:cNvPr id="16" name="Graphic 15">
                <a:hlinkClick r:id="rId13"/>
                <a:extLst>
                  <a:ext uri="{FF2B5EF4-FFF2-40B4-BE49-F238E27FC236}">
                    <a16:creationId xmlns:a16="http://schemas.microsoft.com/office/drawing/2014/main" id="{822871B7-9811-772D-48B9-065E74582B7D}"/>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085548" y="5820502"/>
                <a:ext cx="216653" cy="216653"/>
              </a:xfrm>
              <a:prstGeom prst="rect">
                <a:avLst/>
              </a:prstGeom>
            </p:spPr>
          </p:pic>
        </p:grpSp>
        <p:pic>
          <p:nvPicPr>
            <p:cNvPr id="12" name="Graphic 11">
              <a:hlinkClick r:id="rId16"/>
              <a:extLst>
                <a:ext uri="{FF2B5EF4-FFF2-40B4-BE49-F238E27FC236}">
                  <a16:creationId xmlns:a16="http://schemas.microsoft.com/office/drawing/2014/main" id="{9ACBBFBC-5A72-2599-E1FA-33668FBC3DE8}"/>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42063297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Back Page 2">
    <p:bg>
      <p:bgPr>
        <a:solidFill>
          <a:schemeClr val="tx1"/>
        </a:solidFill>
        <a:effectLst/>
      </p:bgPr>
    </p:bg>
    <p:spTree>
      <p:nvGrpSpPr>
        <p:cNvPr id="1" name=""/>
        <p:cNvGrpSpPr/>
        <p:nvPr/>
      </p:nvGrpSpPr>
      <p:grpSpPr>
        <a:xfrm>
          <a:off x="0" y="0"/>
          <a:ext cx="0" cy="0"/>
          <a:chOff x="0" y="0"/>
          <a:chExt cx="0" cy="0"/>
        </a:xfrm>
      </p:grpSpPr>
      <p:pic>
        <p:nvPicPr>
          <p:cNvPr id="40" name="Graphic 39">
            <a:extLst>
              <a:ext uri="{FF2B5EF4-FFF2-40B4-BE49-F238E27FC236}">
                <a16:creationId xmlns:a16="http://schemas.microsoft.com/office/drawing/2014/main" id="{EE713FA0-A367-4BF8-B443-CC41A96FC5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91446" y="5451047"/>
            <a:ext cx="1515005" cy="768653"/>
          </a:xfrm>
          <a:prstGeom prst="rect">
            <a:avLst/>
          </a:prstGeom>
        </p:spPr>
      </p:pic>
      <p:grpSp>
        <p:nvGrpSpPr>
          <p:cNvPr id="49" name="Group 48">
            <a:extLst>
              <a:ext uri="{FF2B5EF4-FFF2-40B4-BE49-F238E27FC236}">
                <a16:creationId xmlns:a16="http://schemas.microsoft.com/office/drawing/2014/main" id="{0DED2ADE-28CB-43B4-99E0-8631E4244732}"/>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50" name="Freeform: Shape 49">
              <a:extLst>
                <a:ext uri="{FF2B5EF4-FFF2-40B4-BE49-F238E27FC236}">
                  <a16:creationId xmlns:a16="http://schemas.microsoft.com/office/drawing/2014/main" id="{631A41C8-FFAB-427D-9C07-0C2416E60B0F}"/>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A152A0BC-391D-40DD-8E70-2E1D61509C30}"/>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14B3A31C-7483-4030-A5FD-CC564348944C}"/>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26B43FEB-0118-4696-99FE-7300AC872487}"/>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A41E610B-48CC-4526-9044-AC5B12B6539B}"/>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1D66B35F-F4EC-1EEF-52E0-E26F4E89BFFA}"/>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CE62C0C1-89AD-6F68-409B-8A733F0E36B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4D12F4EF-64DD-595C-ADAF-50FB65E5C959}"/>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AB2D441E-7707-895E-7F0F-FB452F9A300A}"/>
                </a:ext>
              </a:extLst>
            </p:cNvPr>
            <p:cNvGrpSpPr/>
            <p:nvPr userDrawn="1"/>
          </p:nvGrpSpPr>
          <p:grpSpPr>
            <a:xfrm>
              <a:off x="1085548" y="5803324"/>
              <a:ext cx="1263400" cy="251010"/>
              <a:chOff x="1085548" y="5803324"/>
              <a:chExt cx="1263400" cy="251010"/>
            </a:xfrm>
          </p:grpSpPr>
          <p:pic>
            <p:nvPicPr>
              <p:cNvPr id="13" name="Graphic 12">
                <a:hlinkClick r:id="rId4"/>
                <a:extLst>
                  <a:ext uri="{FF2B5EF4-FFF2-40B4-BE49-F238E27FC236}">
                    <a16:creationId xmlns:a16="http://schemas.microsoft.com/office/drawing/2014/main" id="{EBAE67B1-F1B1-DF23-E38E-57984906F30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804609" y="5803324"/>
                <a:ext cx="133872" cy="251010"/>
              </a:xfrm>
              <a:prstGeom prst="rect">
                <a:avLst/>
              </a:prstGeom>
            </p:spPr>
          </p:pic>
          <p:pic>
            <p:nvPicPr>
              <p:cNvPr id="14" name="Graphic 13">
                <a:hlinkClick r:id="rId7"/>
                <a:extLst>
                  <a:ext uri="{FF2B5EF4-FFF2-40B4-BE49-F238E27FC236}">
                    <a16:creationId xmlns:a16="http://schemas.microsoft.com/office/drawing/2014/main" id="{FA735632-A2F5-C262-8C28-ADB95F1E7CF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080057" y="5827994"/>
                <a:ext cx="268891" cy="201669"/>
              </a:xfrm>
              <a:prstGeom prst="rect">
                <a:avLst/>
              </a:prstGeom>
            </p:spPr>
          </p:pic>
          <p:pic>
            <p:nvPicPr>
              <p:cNvPr id="15" name="Graphic 14">
                <a:hlinkClick r:id="rId10"/>
                <a:extLst>
                  <a:ext uri="{FF2B5EF4-FFF2-40B4-BE49-F238E27FC236}">
                    <a16:creationId xmlns:a16="http://schemas.microsoft.com/office/drawing/2014/main" id="{182930B5-84C5-96A1-D43F-88E179EA874E}"/>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443776" y="5811891"/>
                <a:ext cx="219258" cy="233875"/>
              </a:xfrm>
              <a:prstGeom prst="rect">
                <a:avLst/>
              </a:prstGeom>
            </p:spPr>
          </p:pic>
          <p:pic>
            <p:nvPicPr>
              <p:cNvPr id="16" name="Graphic 15">
                <a:hlinkClick r:id="rId13"/>
                <a:extLst>
                  <a:ext uri="{FF2B5EF4-FFF2-40B4-BE49-F238E27FC236}">
                    <a16:creationId xmlns:a16="http://schemas.microsoft.com/office/drawing/2014/main" id="{C0681E64-02BE-E335-DCB3-A45E7906304F}"/>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085548" y="5820502"/>
                <a:ext cx="216653" cy="216653"/>
              </a:xfrm>
              <a:prstGeom prst="rect">
                <a:avLst/>
              </a:prstGeom>
            </p:spPr>
          </p:pic>
        </p:grpSp>
        <p:pic>
          <p:nvPicPr>
            <p:cNvPr id="12" name="Graphic 11">
              <a:hlinkClick r:id="rId16"/>
              <a:extLst>
                <a:ext uri="{FF2B5EF4-FFF2-40B4-BE49-F238E27FC236}">
                  <a16:creationId xmlns:a16="http://schemas.microsoft.com/office/drawing/2014/main" id="{DC19EA2A-6CDD-EB87-7AF6-D7A955648612}"/>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2845996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Back Page 3">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F1ADD7B-DF48-4D30-B00D-70AC1C3802B0}"/>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pic>
        <p:nvPicPr>
          <p:cNvPr id="43" name="Graphic 42">
            <a:extLst>
              <a:ext uri="{FF2B5EF4-FFF2-40B4-BE49-F238E27FC236}">
                <a16:creationId xmlns:a16="http://schemas.microsoft.com/office/drawing/2014/main" id="{2A144763-C616-41A4-AA80-FA2D963F7C8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grpSp>
        <p:nvGrpSpPr>
          <p:cNvPr id="52" name="Group 51">
            <a:extLst>
              <a:ext uri="{FF2B5EF4-FFF2-40B4-BE49-F238E27FC236}">
                <a16:creationId xmlns:a16="http://schemas.microsoft.com/office/drawing/2014/main" id="{F7FA3CB8-460B-48C8-BDC3-18746CE4B90C}"/>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53" name="Freeform: Shape 52">
              <a:extLst>
                <a:ext uri="{FF2B5EF4-FFF2-40B4-BE49-F238E27FC236}">
                  <a16:creationId xmlns:a16="http://schemas.microsoft.com/office/drawing/2014/main" id="{8EEADBC9-33D6-4D8A-9982-4EE9AD234FD5}"/>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C32956BD-0E4F-4E9D-89B4-9D7430113250}"/>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55" name="Freeform: Shape 54">
              <a:extLst>
                <a:ext uri="{FF2B5EF4-FFF2-40B4-BE49-F238E27FC236}">
                  <a16:creationId xmlns:a16="http://schemas.microsoft.com/office/drawing/2014/main" id="{1AE6BFBC-DAF9-4FE5-983C-C8D54750E659}"/>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56" name="Freeform: Shape 55">
              <a:extLst>
                <a:ext uri="{FF2B5EF4-FFF2-40B4-BE49-F238E27FC236}">
                  <a16:creationId xmlns:a16="http://schemas.microsoft.com/office/drawing/2014/main" id="{CAB596BC-7365-48ED-947B-67E4C342F9D4}"/>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57" name="Freeform: Shape 56">
              <a:extLst>
                <a:ext uri="{FF2B5EF4-FFF2-40B4-BE49-F238E27FC236}">
                  <a16:creationId xmlns:a16="http://schemas.microsoft.com/office/drawing/2014/main" id="{0E46D2F0-4799-47BF-9871-B5211E1D32DA}"/>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D47C9F22-42AF-A739-F0A3-301E971723D7}"/>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7CA117B4-A575-25A6-B179-7F41F1CFC777}"/>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E151C9E8-9009-7382-A37E-3655BEAB24EC}"/>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1C1C0744-2751-6C0D-1B97-F88CCEFB697F}"/>
                </a:ext>
              </a:extLst>
            </p:cNvPr>
            <p:cNvGrpSpPr/>
            <p:nvPr userDrawn="1"/>
          </p:nvGrpSpPr>
          <p:grpSpPr>
            <a:xfrm>
              <a:off x="1085548" y="5803324"/>
              <a:ext cx="1263400" cy="251010"/>
              <a:chOff x="1085548" y="5803324"/>
              <a:chExt cx="1263400" cy="251010"/>
            </a:xfrm>
          </p:grpSpPr>
          <p:pic>
            <p:nvPicPr>
              <p:cNvPr id="14" name="Graphic 13">
                <a:hlinkClick r:id="rId5"/>
                <a:extLst>
                  <a:ext uri="{FF2B5EF4-FFF2-40B4-BE49-F238E27FC236}">
                    <a16:creationId xmlns:a16="http://schemas.microsoft.com/office/drawing/2014/main" id="{15659199-5B8D-1D33-9B7C-D4490F1CB92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04609" y="5803324"/>
                <a:ext cx="133872" cy="251010"/>
              </a:xfrm>
              <a:prstGeom prst="rect">
                <a:avLst/>
              </a:prstGeom>
            </p:spPr>
          </p:pic>
          <p:pic>
            <p:nvPicPr>
              <p:cNvPr id="15" name="Graphic 14">
                <a:hlinkClick r:id="rId8"/>
                <a:extLst>
                  <a:ext uri="{FF2B5EF4-FFF2-40B4-BE49-F238E27FC236}">
                    <a16:creationId xmlns:a16="http://schemas.microsoft.com/office/drawing/2014/main" id="{F518CBF6-1EEC-9941-379F-2AB96D4737E0}"/>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2080057" y="5827994"/>
                <a:ext cx="268891" cy="201669"/>
              </a:xfrm>
              <a:prstGeom prst="rect">
                <a:avLst/>
              </a:prstGeom>
            </p:spPr>
          </p:pic>
          <p:pic>
            <p:nvPicPr>
              <p:cNvPr id="16" name="Graphic 15">
                <a:hlinkClick r:id="rId11"/>
                <a:extLst>
                  <a:ext uri="{FF2B5EF4-FFF2-40B4-BE49-F238E27FC236}">
                    <a16:creationId xmlns:a16="http://schemas.microsoft.com/office/drawing/2014/main" id="{93AA57CB-780E-D2F0-DF3F-110FDAA30EF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443776" y="5811891"/>
                <a:ext cx="219258" cy="233875"/>
              </a:xfrm>
              <a:prstGeom prst="rect">
                <a:avLst/>
              </a:prstGeom>
            </p:spPr>
          </p:pic>
          <p:pic>
            <p:nvPicPr>
              <p:cNvPr id="17" name="Graphic 16">
                <a:hlinkClick r:id="rId14"/>
                <a:extLst>
                  <a:ext uri="{FF2B5EF4-FFF2-40B4-BE49-F238E27FC236}">
                    <a16:creationId xmlns:a16="http://schemas.microsoft.com/office/drawing/2014/main" id="{4D7D8DA7-FE35-5A7A-97F6-53F44C38D64F}"/>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85548" y="5820502"/>
                <a:ext cx="216653" cy="216653"/>
              </a:xfrm>
              <a:prstGeom prst="rect">
                <a:avLst/>
              </a:prstGeom>
            </p:spPr>
          </p:pic>
        </p:grpSp>
        <p:pic>
          <p:nvPicPr>
            <p:cNvPr id="12" name="Graphic 11">
              <a:hlinkClick r:id="rId17"/>
              <a:extLst>
                <a:ext uri="{FF2B5EF4-FFF2-40B4-BE49-F238E27FC236}">
                  <a16:creationId xmlns:a16="http://schemas.microsoft.com/office/drawing/2014/main" id="{D867344E-FDAF-C077-A42D-59DFD9CFAC25}"/>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3020466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Back Page 4">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BE79B2E-0C13-4884-B21E-2DFFFAB54EA8}"/>
              </a:ext>
              <a:ext uri="{C183D7F6-B498-43B3-948B-1728B52AA6E4}">
                <adec:decorative xmlns:adec="http://schemas.microsoft.com/office/drawing/2017/decorative" val="1"/>
              </a:ext>
            </a:extLst>
          </p:cNvPr>
          <p:cNvPicPr>
            <a:picLocks noChangeAspect="1"/>
          </p:cNvPicPr>
          <p:nvPr userDrawn="1"/>
        </p:nvPicPr>
        <p:blipFill rotWithShape="1">
          <a:blip r:embed="rId2" cstate="email">
            <a:grayscl/>
            <a:alphaModFix amt="80000"/>
            <a:extLst>
              <a:ext uri="{28A0092B-C50C-407E-A947-70E740481C1C}">
                <a14:useLocalDpi xmlns:a14="http://schemas.microsoft.com/office/drawing/2010/main"/>
              </a:ext>
            </a:extLst>
          </a:blip>
          <a:srcRect l="-2"/>
          <a:stretch/>
        </p:blipFill>
        <p:spPr>
          <a:xfrm>
            <a:off x="0" y="0"/>
            <a:ext cx="12192000" cy="6858000"/>
          </a:xfrm>
          <a:prstGeom prst="rect">
            <a:avLst/>
          </a:prstGeom>
        </p:spPr>
      </p:pic>
      <p:pic>
        <p:nvPicPr>
          <p:cNvPr id="43" name="Graphic 42">
            <a:extLst>
              <a:ext uri="{FF2B5EF4-FFF2-40B4-BE49-F238E27FC236}">
                <a16:creationId xmlns:a16="http://schemas.microsoft.com/office/drawing/2014/main" id="{6DF5A58C-BEBA-45A6-9CC5-F9BE3EF60AE2}"/>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grpSp>
        <p:nvGrpSpPr>
          <p:cNvPr id="52" name="Group 51">
            <a:extLst>
              <a:ext uri="{FF2B5EF4-FFF2-40B4-BE49-F238E27FC236}">
                <a16:creationId xmlns:a16="http://schemas.microsoft.com/office/drawing/2014/main" id="{5EF471FA-2B8E-43F2-B15D-F986601D64C8}"/>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53" name="Freeform: Shape 52">
              <a:extLst>
                <a:ext uri="{FF2B5EF4-FFF2-40B4-BE49-F238E27FC236}">
                  <a16:creationId xmlns:a16="http://schemas.microsoft.com/office/drawing/2014/main" id="{E939174D-2A82-4025-B186-37CE5FD99F4B}"/>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E0F544C6-04AC-4F3B-BB8E-D450BD289CAA}"/>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55" name="Freeform: Shape 54">
              <a:extLst>
                <a:ext uri="{FF2B5EF4-FFF2-40B4-BE49-F238E27FC236}">
                  <a16:creationId xmlns:a16="http://schemas.microsoft.com/office/drawing/2014/main" id="{6C8DD87F-3C75-4D2D-A9C5-B90521C32E67}"/>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56" name="Freeform: Shape 55">
              <a:extLst>
                <a:ext uri="{FF2B5EF4-FFF2-40B4-BE49-F238E27FC236}">
                  <a16:creationId xmlns:a16="http://schemas.microsoft.com/office/drawing/2014/main" id="{636CEB02-6770-4FF8-B024-EC07DE633C34}"/>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57" name="Freeform: Shape 56">
              <a:extLst>
                <a:ext uri="{FF2B5EF4-FFF2-40B4-BE49-F238E27FC236}">
                  <a16:creationId xmlns:a16="http://schemas.microsoft.com/office/drawing/2014/main" id="{E22632E1-0FD6-4633-AF60-E94632BA7C53}"/>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B3FD7813-CF20-68D8-0A89-363F4FC6209C}"/>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C44C18DF-AB7A-3E53-EC35-913D9E7633DF}"/>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FECD829B-610B-F161-170A-9E64997B4C56}"/>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698D7F89-55AA-4CAB-263B-10E82DE26A06}"/>
                </a:ext>
              </a:extLst>
            </p:cNvPr>
            <p:cNvGrpSpPr/>
            <p:nvPr userDrawn="1"/>
          </p:nvGrpSpPr>
          <p:grpSpPr>
            <a:xfrm>
              <a:off x="1085548" y="5803324"/>
              <a:ext cx="1263400" cy="251010"/>
              <a:chOff x="1085548" y="5803324"/>
              <a:chExt cx="1263400" cy="251010"/>
            </a:xfrm>
          </p:grpSpPr>
          <p:pic>
            <p:nvPicPr>
              <p:cNvPr id="13" name="Graphic 12">
                <a:hlinkClick r:id="rId5"/>
                <a:extLst>
                  <a:ext uri="{FF2B5EF4-FFF2-40B4-BE49-F238E27FC236}">
                    <a16:creationId xmlns:a16="http://schemas.microsoft.com/office/drawing/2014/main" id="{A2602632-DC81-D86B-78BB-8F62DBF12B4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04609" y="5803324"/>
                <a:ext cx="133872" cy="251010"/>
              </a:xfrm>
              <a:prstGeom prst="rect">
                <a:avLst/>
              </a:prstGeom>
            </p:spPr>
          </p:pic>
          <p:pic>
            <p:nvPicPr>
              <p:cNvPr id="15" name="Graphic 14">
                <a:hlinkClick r:id="rId8"/>
                <a:extLst>
                  <a:ext uri="{FF2B5EF4-FFF2-40B4-BE49-F238E27FC236}">
                    <a16:creationId xmlns:a16="http://schemas.microsoft.com/office/drawing/2014/main" id="{1657D302-0BBA-F6A6-CCED-40F33329E7E4}"/>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2080057" y="5827994"/>
                <a:ext cx="268891" cy="201669"/>
              </a:xfrm>
              <a:prstGeom prst="rect">
                <a:avLst/>
              </a:prstGeom>
            </p:spPr>
          </p:pic>
          <p:pic>
            <p:nvPicPr>
              <p:cNvPr id="16" name="Graphic 15">
                <a:hlinkClick r:id="rId11"/>
                <a:extLst>
                  <a:ext uri="{FF2B5EF4-FFF2-40B4-BE49-F238E27FC236}">
                    <a16:creationId xmlns:a16="http://schemas.microsoft.com/office/drawing/2014/main" id="{B7C2B2B5-9505-54A6-A5D5-E83688C0BE2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443776" y="5811891"/>
                <a:ext cx="219258" cy="233875"/>
              </a:xfrm>
              <a:prstGeom prst="rect">
                <a:avLst/>
              </a:prstGeom>
            </p:spPr>
          </p:pic>
          <p:pic>
            <p:nvPicPr>
              <p:cNvPr id="17" name="Graphic 16">
                <a:hlinkClick r:id="rId14"/>
                <a:extLst>
                  <a:ext uri="{FF2B5EF4-FFF2-40B4-BE49-F238E27FC236}">
                    <a16:creationId xmlns:a16="http://schemas.microsoft.com/office/drawing/2014/main" id="{E6F5DF0D-0A92-78BB-40E2-69A9C918AA47}"/>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85548" y="5820502"/>
                <a:ext cx="216653" cy="216653"/>
              </a:xfrm>
              <a:prstGeom prst="rect">
                <a:avLst/>
              </a:prstGeom>
            </p:spPr>
          </p:pic>
        </p:grpSp>
        <p:pic>
          <p:nvPicPr>
            <p:cNvPr id="12" name="Graphic 11">
              <a:hlinkClick r:id="rId17"/>
              <a:extLst>
                <a:ext uri="{FF2B5EF4-FFF2-40B4-BE49-F238E27FC236}">
                  <a16:creationId xmlns:a16="http://schemas.microsoft.com/office/drawing/2014/main" id="{D18595E8-10C1-3B6D-904E-37C9397CA009}"/>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86564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Back Page 5">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1BAFFA5-58E6-4186-9D53-1BD1940D8CB1}"/>
              </a:ext>
              <a:ext uri="{C183D7F6-B498-43B3-948B-1728B52AA6E4}">
                <adec:decorative xmlns:adec="http://schemas.microsoft.com/office/drawing/2017/decorative" val="1"/>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rcRect/>
          <a:stretch/>
        </p:blipFill>
        <p:spPr>
          <a:xfrm>
            <a:off x="5013" y="-5"/>
            <a:ext cx="12181973" cy="6858000"/>
          </a:xfrm>
          <a:prstGeom prst="rect">
            <a:avLst/>
          </a:prstGeom>
        </p:spPr>
      </p:pic>
      <p:pic>
        <p:nvPicPr>
          <p:cNvPr id="28" name="Graphic 27">
            <a:extLst>
              <a:ext uri="{FF2B5EF4-FFF2-40B4-BE49-F238E27FC236}">
                <a16:creationId xmlns:a16="http://schemas.microsoft.com/office/drawing/2014/main" id="{AEF4F2C1-8ECD-4602-9C54-7AB71505DF6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grpSp>
        <p:nvGrpSpPr>
          <p:cNvPr id="40" name="Group 39">
            <a:extLst>
              <a:ext uri="{FF2B5EF4-FFF2-40B4-BE49-F238E27FC236}">
                <a16:creationId xmlns:a16="http://schemas.microsoft.com/office/drawing/2014/main" id="{BAC5D530-3EDD-4D5C-AE49-2CF3476A8063}"/>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41" name="Freeform: Shape 40">
              <a:extLst>
                <a:ext uri="{FF2B5EF4-FFF2-40B4-BE49-F238E27FC236}">
                  <a16:creationId xmlns:a16="http://schemas.microsoft.com/office/drawing/2014/main" id="{1A6AEBF4-0C48-415C-B6F3-F7B1AF182C07}"/>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2B8DA244-7392-468E-A6A6-4A9A03E5F4A8}"/>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EE36CD6C-1286-4467-A26F-E2A979B48522}"/>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44" name="Freeform: Shape 43">
              <a:extLst>
                <a:ext uri="{FF2B5EF4-FFF2-40B4-BE49-F238E27FC236}">
                  <a16:creationId xmlns:a16="http://schemas.microsoft.com/office/drawing/2014/main" id="{0D2381C0-B874-4045-B4AF-1F30F47B25AC}"/>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C0EACB49-2656-4F50-8EC6-2F934035A23E}"/>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138222D2-659B-71EF-F370-C7389D064D5F}"/>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D079F347-9332-AAD4-6754-5CDB70CE80B7}"/>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C04187EB-0864-FA03-D00F-5BB494F2D546}"/>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2B7BCE96-3855-CA3D-CCA5-B4D55F94AEF8}"/>
                </a:ext>
              </a:extLst>
            </p:cNvPr>
            <p:cNvGrpSpPr/>
            <p:nvPr userDrawn="1"/>
          </p:nvGrpSpPr>
          <p:grpSpPr>
            <a:xfrm>
              <a:off x="1085548" y="5803324"/>
              <a:ext cx="1263400" cy="251010"/>
              <a:chOff x="1085548" y="5803324"/>
              <a:chExt cx="1263400" cy="251010"/>
            </a:xfrm>
          </p:grpSpPr>
          <p:pic>
            <p:nvPicPr>
              <p:cNvPr id="14" name="Graphic 13">
                <a:hlinkClick r:id="rId5"/>
                <a:extLst>
                  <a:ext uri="{FF2B5EF4-FFF2-40B4-BE49-F238E27FC236}">
                    <a16:creationId xmlns:a16="http://schemas.microsoft.com/office/drawing/2014/main" id="{1C61F833-E8C3-A653-64BC-7090F0A473E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04609" y="5803324"/>
                <a:ext cx="133872" cy="251010"/>
              </a:xfrm>
              <a:prstGeom prst="rect">
                <a:avLst/>
              </a:prstGeom>
            </p:spPr>
          </p:pic>
          <p:pic>
            <p:nvPicPr>
              <p:cNvPr id="15" name="Graphic 14">
                <a:hlinkClick r:id="rId8"/>
                <a:extLst>
                  <a:ext uri="{FF2B5EF4-FFF2-40B4-BE49-F238E27FC236}">
                    <a16:creationId xmlns:a16="http://schemas.microsoft.com/office/drawing/2014/main" id="{CF8BB226-E985-488B-041F-9BBCB0D68D8B}"/>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2080057" y="5827994"/>
                <a:ext cx="268891" cy="201669"/>
              </a:xfrm>
              <a:prstGeom prst="rect">
                <a:avLst/>
              </a:prstGeom>
            </p:spPr>
          </p:pic>
          <p:pic>
            <p:nvPicPr>
              <p:cNvPr id="16" name="Graphic 15">
                <a:hlinkClick r:id="rId11"/>
                <a:extLst>
                  <a:ext uri="{FF2B5EF4-FFF2-40B4-BE49-F238E27FC236}">
                    <a16:creationId xmlns:a16="http://schemas.microsoft.com/office/drawing/2014/main" id="{3AB40E25-198C-419C-B07B-3B1F98803E62}"/>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443776" y="5811891"/>
                <a:ext cx="219258" cy="233875"/>
              </a:xfrm>
              <a:prstGeom prst="rect">
                <a:avLst/>
              </a:prstGeom>
            </p:spPr>
          </p:pic>
          <p:pic>
            <p:nvPicPr>
              <p:cNvPr id="17" name="Graphic 16">
                <a:hlinkClick r:id="rId14"/>
                <a:extLst>
                  <a:ext uri="{FF2B5EF4-FFF2-40B4-BE49-F238E27FC236}">
                    <a16:creationId xmlns:a16="http://schemas.microsoft.com/office/drawing/2014/main" id="{E4F05849-06CD-D474-9087-53020308BD35}"/>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85548" y="5820502"/>
                <a:ext cx="216653" cy="216653"/>
              </a:xfrm>
              <a:prstGeom prst="rect">
                <a:avLst/>
              </a:prstGeom>
            </p:spPr>
          </p:pic>
        </p:grpSp>
        <p:pic>
          <p:nvPicPr>
            <p:cNvPr id="12" name="Graphic 11">
              <a:hlinkClick r:id="rId17"/>
              <a:extLst>
                <a:ext uri="{FF2B5EF4-FFF2-40B4-BE49-F238E27FC236}">
                  <a16:creationId xmlns:a16="http://schemas.microsoft.com/office/drawing/2014/main" id="{877E8AF9-E594-3A5B-5C7D-CB88DBBA69AC}"/>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23190089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Back Page 6">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63160D4-9D24-4229-8EB7-8D4F906D0AD3}"/>
              </a:ext>
              <a:ext uri="{C183D7F6-B498-43B3-948B-1728B52AA6E4}">
                <adec:decorative xmlns:adec="http://schemas.microsoft.com/office/drawing/2017/decorative" val="1"/>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3" b="7813"/>
          <a:stretch/>
        </p:blipFill>
        <p:spPr>
          <a:xfrm>
            <a:off x="-1" y="-5"/>
            <a:ext cx="12191999" cy="6858000"/>
          </a:xfrm>
          <a:prstGeom prst="rect">
            <a:avLst/>
          </a:prstGeom>
        </p:spPr>
      </p:pic>
      <p:pic>
        <p:nvPicPr>
          <p:cNvPr id="41" name="Graphic 40">
            <a:extLst>
              <a:ext uri="{FF2B5EF4-FFF2-40B4-BE49-F238E27FC236}">
                <a16:creationId xmlns:a16="http://schemas.microsoft.com/office/drawing/2014/main" id="{4F1981E7-DA04-488B-850B-49F38A395241}"/>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grpSp>
        <p:nvGrpSpPr>
          <p:cNvPr id="50" name="Group 49">
            <a:extLst>
              <a:ext uri="{FF2B5EF4-FFF2-40B4-BE49-F238E27FC236}">
                <a16:creationId xmlns:a16="http://schemas.microsoft.com/office/drawing/2014/main" id="{0C9EF089-A884-48AD-B0B3-155D2E17741C}"/>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51" name="Freeform: Shape 50">
              <a:extLst>
                <a:ext uri="{FF2B5EF4-FFF2-40B4-BE49-F238E27FC236}">
                  <a16:creationId xmlns:a16="http://schemas.microsoft.com/office/drawing/2014/main" id="{B068429E-F404-4F1F-8CC2-E396689CA44F}"/>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93763696-2C3B-468A-A448-BBFDCCC9B34B}"/>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83DB8D1C-4AA0-4677-AABF-4B6EC16BC1CF}"/>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26B7069F-15B9-4C9B-A311-8307142ECBCE}"/>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55" name="Freeform: Shape 54">
              <a:extLst>
                <a:ext uri="{FF2B5EF4-FFF2-40B4-BE49-F238E27FC236}">
                  <a16:creationId xmlns:a16="http://schemas.microsoft.com/office/drawing/2014/main" id="{423679CF-832A-4B29-9E32-E41C376A992A}"/>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064E8022-B367-FFFD-FC02-7BCB815AFBC4}"/>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5584D88D-C2CB-BD62-1399-D575244564CC}"/>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939CF6D0-CFDE-EA81-697E-9883062E2757}"/>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21574719-A573-BF43-2D54-11BA82CAF161}"/>
                </a:ext>
              </a:extLst>
            </p:cNvPr>
            <p:cNvGrpSpPr/>
            <p:nvPr userDrawn="1"/>
          </p:nvGrpSpPr>
          <p:grpSpPr>
            <a:xfrm>
              <a:off x="1085548" y="5803324"/>
              <a:ext cx="1263400" cy="251010"/>
              <a:chOff x="1085548" y="5803324"/>
              <a:chExt cx="1263400" cy="251010"/>
            </a:xfrm>
          </p:grpSpPr>
          <p:pic>
            <p:nvPicPr>
              <p:cNvPr id="14" name="Graphic 13">
                <a:hlinkClick r:id="rId5"/>
                <a:extLst>
                  <a:ext uri="{FF2B5EF4-FFF2-40B4-BE49-F238E27FC236}">
                    <a16:creationId xmlns:a16="http://schemas.microsoft.com/office/drawing/2014/main" id="{D3E379D4-0B77-2D09-D0E8-6193CDBCFE0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04609" y="5803324"/>
                <a:ext cx="133872" cy="251010"/>
              </a:xfrm>
              <a:prstGeom prst="rect">
                <a:avLst/>
              </a:prstGeom>
            </p:spPr>
          </p:pic>
          <p:pic>
            <p:nvPicPr>
              <p:cNvPr id="15" name="Graphic 14">
                <a:hlinkClick r:id="rId8"/>
                <a:extLst>
                  <a:ext uri="{FF2B5EF4-FFF2-40B4-BE49-F238E27FC236}">
                    <a16:creationId xmlns:a16="http://schemas.microsoft.com/office/drawing/2014/main" id="{932C5562-2B06-1037-08EC-5055754BE66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2080057" y="5827994"/>
                <a:ext cx="268891" cy="201669"/>
              </a:xfrm>
              <a:prstGeom prst="rect">
                <a:avLst/>
              </a:prstGeom>
            </p:spPr>
          </p:pic>
          <p:pic>
            <p:nvPicPr>
              <p:cNvPr id="16" name="Graphic 15">
                <a:hlinkClick r:id="rId11"/>
                <a:extLst>
                  <a:ext uri="{FF2B5EF4-FFF2-40B4-BE49-F238E27FC236}">
                    <a16:creationId xmlns:a16="http://schemas.microsoft.com/office/drawing/2014/main" id="{8342D60B-94D3-E2D1-6024-7840394594F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443776" y="5811891"/>
                <a:ext cx="219258" cy="233875"/>
              </a:xfrm>
              <a:prstGeom prst="rect">
                <a:avLst/>
              </a:prstGeom>
            </p:spPr>
          </p:pic>
          <p:pic>
            <p:nvPicPr>
              <p:cNvPr id="17" name="Graphic 16">
                <a:hlinkClick r:id="rId14"/>
                <a:extLst>
                  <a:ext uri="{FF2B5EF4-FFF2-40B4-BE49-F238E27FC236}">
                    <a16:creationId xmlns:a16="http://schemas.microsoft.com/office/drawing/2014/main" id="{F521CD0B-761A-7013-C36C-8AF6DFDB54F6}"/>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85548" y="5820502"/>
                <a:ext cx="216653" cy="216653"/>
              </a:xfrm>
              <a:prstGeom prst="rect">
                <a:avLst/>
              </a:prstGeom>
            </p:spPr>
          </p:pic>
        </p:grpSp>
        <p:pic>
          <p:nvPicPr>
            <p:cNvPr id="12" name="Graphic 11">
              <a:hlinkClick r:id="rId17"/>
              <a:extLst>
                <a:ext uri="{FF2B5EF4-FFF2-40B4-BE49-F238E27FC236}">
                  <a16:creationId xmlns:a16="http://schemas.microsoft.com/office/drawing/2014/main" id="{BE990A16-7994-BA86-EEE9-23722B1FB141}"/>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4763589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7C5DFAE-2FB8-5F41-A895-811D04AA62D1}"/>
              </a:ext>
            </a:extLst>
          </p:cNvPr>
          <p:cNvSpPr>
            <a:spLocks noGrp="1"/>
          </p:cNvSpPr>
          <p:nvPr>
            <p:ph type="title" hasCustomPrompt="1"/>
          </p:nvPr>
        </p:nvSpPr>
        <p:spPr>
          <a:xfrm>
            <a:off x="542649" y="365127"/>
            <a:ext cx="11098999" cy="369332"/>
          </a:xfrm>
          <a:prstGeom prst="rect">
            <a:avLst/>
          </a:prstGeom>
        </p:spPr>
        <p:txBody>
          <a:bodyPr vert="horz" lIns="0" tIns="0" rIns="0" bIns="0" rtlCol="0" anchor="t" anchorCtr="0">
            <a:spAutoFit/>
          </a:bodyPr>
          <a:lstStyle>
            <a:lvl1pPr>
              <a:lnSpc>
                <a:spcPct val="90000"/>
              </a:lnSpc>
              <a:defRPr sz="2667" b="1" cap="all" baseline="0">
                <a:solidFill>
                  <a:schemeClr val="tx1"/>
                </a:solidFill>
              </a:defRPr>
            </a:lvl1pPr>
          </a:lstStyle>
          <a:p>
            <a:r>
              <a:rPr lang="en-US"/>
              <a:t>CLICK TO EDIT MASTER TITLE STYLE</a:t>
            </a:r>
            <a:endParaRPr lang="en-GB"/>
          </a:p>
        </p:txBody>
      </p:sp>
      <p:sp>
        <p:nvSpPr>
          <p:cNvPr id="7" name="Text Placeholder 7">
            <a:extLst>
              <a:ext uri="{FF2B5EF4-FFF2-40B4-BE49-F238E27FC236}">
                <a16:creationId xmlns:a16="http://schemas.microsoft.com/office/drawing/2014/main" id="{9F5736BE-045F-B340-AACF-3674D3375AEB}"/>
              </a:ext>
            </a:extLst>
          </p:cNvPr>
          <p:cNvSpPr>
            <a:spLocks noGrp="1"/>
          </p:cNvSpPr>
          <p:nvPr>
            <p:ph type="body" sz="quarter" idx="11" hasCustomPrompt="1"/>
          </p:nvPr>
        </p:nvSpPr>
        <p:spPr>
          <a:xfrm>
            <a:off x="542649" y="814368"/>
            <a:ext cx="11098999" cy="276999"/>
          </a:xfrm>
        </p:spPr>
        <p:txBody>
          <a:bodyPr wrap="square">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8" name="Footer Placeholder 3">
            <a:extLst>
              <a:ext uri="{FF2B5EF4-FFF2-40B4-BE49-F238E27FC236}">
                <a16:creationId xmlns:a16="http://schemas.microsoft.com/office/drawing/2014/main" id="{C2E5FC19-38D0-8C42-B575-563F5E00CAD0}"/>
              </a:ext>
            </a:extLst>
          </p:cNvPr>
          <p:cNvSpPr>
            <a:spLocks noGrp="1"/>
          </p:cNvSpPr>
          <p:nvPr>
            <p:ph type="ftr" sz="quarter" idx="3"/>
          </p:nvPr>
        </p:nvSpPr>
        <p:spPr>
          <a:xfrm>
            <a:off x="3895724" y="6396337"/>
            <a:ext cx="7477125" cy="461665"/>
          </a:xfrm>
          <a:prstGeom prst="rect">
            <a:avLst/>
          </a:prstGeom>
          <a:blipFill dpi="0" rotWithShape="1">
            <a:blip r:embed="rId2" cstate="screen">
              <a:extLst>
                <a:ext uri="{28A0092B-C50C-407E-A947-70E740481C1C}">
                  <a14:useLocalDpi xmlns:a14="http://schemas.microsoft.com/office/drawing/2010/main"/>
                </a:ext>
              </a:extLst>
            </a:blip>
            <a:srcRect/>
            <a:stretch>
              <a:fillRect t="15000" b="83000"/>
            </a:stretch>
          </a:blipFill>
        </p:spPr>
        <p:txBody>
          <a:bodyPr vert="horz" lIns="45720" tIns="91440" rIns="91440" bIns="45720" rtlCol="0" anchor="t" anchorCtr="0">
            <a:noAutofit/>
          </a:bodyPr>
          <a:lstStyle>
            <a:lvl1pPr algn="l">
              <a:defRPr sz="700">
                <a:solidFill>
                  <a:schemeClr val="bg2">
                    <a:lumMod val="75000"/>
                  </a:schemeClr>
                </a:solidFill>
              </a:defRPr>
            </a:lvl1pPr>
          </a:lstStyle>
          <a:p>
            <a:r>
              <a:rPr lang="en-US"/>
              <a:t>To edit the footer text go to Insert &gt; Header &amp; Footer</a:t>
            </a:r>
          </a:p>
          <a:p>
            <a:r>
              <a:rPr lang="en-GB"/>
              <a:t>Footer can span to two lines </a:t>
            </a:r>
          </a:p>
          <a:p>
            <a:r>
              <a:rPr lang="en-GB"/>
              <a:t>Or even three</a:t>
            </a:r>
          </a:p>
        </p:txBody>
      </p:sp>
    </p:spTree>
    <p:extLst>
      <p:ext uri="{BB962C8B-B14F-4D97-AF65-F5344CB8AC3E}">
        <p14:creationId xmlns:p14="http://schemas.microsoft.com/office/powerpoint/2010/main" val="357589237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7EF1C10-87A8-A049-9B03-76E6A0392929}"/>
              </a:ext>
              <a:ext uri="{C183D7F6-B498-43B3-948B-1728B52AA6E4}">
                <adec:decorative xmlns:adec="http://schemas.microsoft.com/office/drawing/2017/decorative" val="1"/>
              </a:ext>
            </a:extLst>
          </p:cNvPr>
          <p:cNvSpPr txBox="1"/>
          <p:nvPr/>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7" name="TextBox 6">
            <a:extLst>
              <a:ext uri="{FF2B5EF4-FFF2-40B4-BE49-F238E27FC236}">
                <a16:creationId xmlns:a16="http://schemas.microsoft.com/office/drawing/2014/main" id="{EC729921-C016-0E4B-8F7D-F8645122E811}"/>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2" name="Title Placeholder 1">
            <a:extLst>
              <a:ext uri="{FF2B5EF4-FFF2-40B4-BE49-F238E27FC236}">
                <a16:creationId xmlns:a16="http://schemas.microsoft.com/office/drawing/2014/main" id="{6C6754CF-352F-437B-8C6A-248122E5637B}"/>
              </a:ext>
            </a:extLst>
          </p:cNvPr>
          <p:cNvSpPr>
            <a:spLocks noGrp="1"/>
          </p:cNvSpPr>
          <p:nvPr>
            <p:ph type="title"/>
          </p:nvPr>
        </p:nvSpPr>
        <p:spPr>
          <a:xfrm>
            <a:off x="542647" y="525546"/>
            <a:ext cx="11098490" cy="332399"/>
          </a:xfrm>
          <a:prstGeom prst="rect">
            <a:avLst/>
          </a:prstGeom>
        </p:spPr>
        <p:txBody>
          <a:bodyPr vert="horz" lIns="0" tIns="0" rIns="0" bIns="0" rtlCol="0" anchor="t">
            <a:sp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F4FBE46-2630-463B-AED4-3E505F871AA4}"/>
              </a:ext>
            </a:extLst>
          </p:cNvPr>
          <p:cNvSpPr>
            <a:spLocks noGrp="1"/>
          </p:cNvSpPr>
          <p:nvPr>
            <p:ph type="body" idx="1"/>
          </p:nvPr>
        </p:nvSpPr>
        <p:spPr>
          <a:xfrm>
            <a:off x="550863" y="1634949"/>
            <a:ext cx="11090275" cy="460851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Footer Placeholder 3">
            <a:extLst>
              <a:ext uri="{FF2B5EF4-FFF2-40B4-BE49-F238E27FC236}">
                <a16:creationId xmlns:a16="http://schemas.microsoft.com/office/drawing/2014/main" id="{2DCC4281-E878-004D-8A3D-6E53DB411584}"/>
              </a:ext>
            </a:extLst>
          </p:cNvPr>
          <p:cNvSpPr>
            <a:spLocks noGrp="1"/>
          </p:cNvSpPr>
          <p:nvPr>
            <p:ph type="ftr" sz="quarter" idx="3"/>
          </p:nvPr>
        </p:nvSpPr>
        <p:spPr>
          <a:xfrm>
            <a:off x="4870580" y="6463172"/>
            <a:ext cx="6502269" cy="297962"/>
          </a:xfrm>
          <a:prstGeom prst="rect">
            <a:avLst/>
          </a:prstGeom>
          <a:noFill/>
        </p:spPr>
        <p:txBody>
          <a:bodyPr vert="horz" wrap="square" lIns="45720" tIns="36000" rIns="91440" bIns="45720" rtlCol="0" anchor="t" anchorCtr="0">
            <a:spAutoFit/>
          </a:bodyPr>
          <a:lstStyle>
            <a:lvl1pPr>
              <a:defRPr lang="en-US" sz="700" smtClean="0">
                <a:solidFill>
                  <a:schemeClr val="bg2">
                    <a:lumMod val="75000"/>
                  </a:schemeClr>
                </a:solidFill>
                <a:latin typeface="+mn-lt"/>
              </a:defRPr>
            </a:lvl1pPr>
          </a:lstStyle>
          <a:p>
            <a:r>
              <a:rPr lang="en-US" dirty="0"/>
              <a:t>To edit the footer text go to Insert &gt; Header &amp; Footer</a:t>
            </a:r>
          </a:p>
          <a:p>
            <a:r>
              <a:rPr lang="en-US" dirty="0"/>
              <a:t>Footer can span to two lines </a:t>
            </a:r>
          </a:p>
        </p:txBody>
      </p:sp>
    </p:spTree>
    <p:extLst>
      <p:ext uri="{BB962C8B-B14F-4D97-AF65-F5344CB8AC3E}">
        <p14:creationId xmlns:p14="http://schemas.microsoft.com/office/powerpoint/2010/main" val="845379781"/>
      </p:ext>
    </p:extLst>
  </p:cSld>
  <p:clrMap bg1="lt1" tx1="dk1" bg2="lt2" tx2="dk2" accent1="accent1" accent2="accent2" accent3="accent3" accent4="accent4" accent5="accent5" accent6="accent6" hlink="hlink" folHlink="folHlink"/>
  <p:sldLayoutIdLst>
    <p:sldLayoutId id="2147483924" r:id="rId1"/>
    <p:sldLayoutId id="2147483926" r:id="rId2"/>
    <p:sldLayoutId id="2147483928" r:id="rId3"/>
    <p:sldLayoutId id="2147484001" r:id="rId4"/>
    <p:sldLayoutId id="2147483930" r:id="rId5"/>
    <p:sldLayoutId id="2147484002" r:id="rId6"/>
    <p:sldLayoutId id="2147483932" r:id="rId7"/>
    <p:sldLayoutId id="2147484005" r:id="rId8"/>
    <p:sldLayoutId id="2147483933" r:id="rId9"/>
    <p:sldLayoutId id="2147483934" r:id="rId10"/>
    <p:sldLayoutId id="2147483935" r:id="rId11"/>
    <p:sldLayoutId id="2147483936" r:id="rId12"/>
    <p:sldLayoutId id="2147483937" r:id="rId13"/>
    <p:sldLayoutId id="2147483938" r:id="rId14"/>
    <p:sldLayoutId id="2147483940" r:id="rId15"/>
    <p:sldLayoutId id="2147483941" r:id="rId16"/>
    <p:sldLayoutId id="2147483942" r:id="rId17"/>
    <p:sldLayoutId id="2147483943" r:id="rId18"/>
    <p:sldLayoutId id="2147483944" r:id="rId19"/>
    <p:sldLayoutId id="2147483945" r:id="rId20"/>
    <p:sldLayoutId id="2147483946" r:id="rId21"/>
    <p:sldLayoutId id="2147483947" r:id="rId22"/>
    <p:sldLayoutId id="2147483948" r:id="rId23"/>
    <p:sldLayoutId id="2147483949" r:id="rId24"/>
    <p:sldLayoutId id="2147483950" r:id="rId25"/>
    <p:sldLayoutId id="2147483951" r:id="rId26"/>
    <p:sldLayoutId id="2147483952" r:id="rId27"/>
    <p:sldLayoutId id="2147483959" r:id="rId28"/>
    <p:sldLayoutId id="2147483960" r:id="rId29"/>
    <p:sldLayoutId id="2147483977" r:id="rId30"/>
    <p:sldLayoutId id="2147483978" r:id="rId31"/>
    <p:sldLayoutId id="2147483979" r:id="rId32"/>
    <p:sldLayoutId id="2147483980" r:id="rId33"/>
    <p:sldLayoutId id="2147483981" r:id="rId34"/>
    <p:sldLayoutId id="2147483982" r:id="rId35"/>
    <p:sldLayoutId id="2147483983" r:id="rId36"/>
    <p:sldLayoutId id="2147483984" r:id="rId37"/>
    <p:sldLayoutId id="2147483985" r:id="rId38"/>
    <p:sldLayoutId id="2147483986" r:id="rId39"/>
    <p:sldLayoutId id="2147483987" r:id="rId40"/>
    <p:sldLayoutId id="2147483988" r:id="rId41"/>
    <p:sldLayoutId id="2147484003" r:id="rId42"/>
    <p:sldLayoutId id="2147483995" r:id="rId43"/>
    <p:sldLayoutId id="2147483993" r:id="rId44"/>
    <p:sldLayoutId id="2147483994" r:id="rId45"/>
    <p:sldLayoutId id="2147484004" r:id="rId46"/>
    <p:sldLayoutId id="2147483996" r:id="rId47"/>
    <p:sldLayoutId id="2147484006" r:id="rId48"/>
  </p:sldLayoutIdLst>
  <p:hf hdr="0" dt="0"/>
  <p:txStyles>
    <p:titleStyle>
      <a:lvl1pPr algn="l" defTabSz="914400" rtl="0" eaLnBrk="1" latinLnBrk="0" hangingPunct="1">
        <a:lnSpc>
          <a:spcPct val="90000"/>
        </a:lnSpc>
        <a:spcBef>
          <a:spcPct val="0"/>
        </a:spcBef>
        <a:buNone/>
        <a:defRPr sz="2400" b="0" i="0" kern="1200" cap="none" baseline="0">
          <a:solidFill>
            <a:schemeClr val="tx1"/>
          </a:solidFill>
          <a:latin typeface="Century Gothic" panose="020B0502020202020204" pitchFamily="34" charset="0"/>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1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5"/>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5"/>
        </a:buClr>
        <a:buFont typeface="Arial" panose="020B0604020202020204" pitchFamily="34" charset="0"/>
        <a:buChar char="•"/>
        <a:defRPr sz="10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5"/>
        </a:buClr>
        <a:buFont typeface="Arial" panose="020B0604020202020204" pitchFamily="34" charset="0"/>
        <a:buChar char="•"/>
        <a:defRPr sz="10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29">
          <p15:clr>
            <a:srgbClr val="F26B43"/>
          </p15:clr>
        </p15:guide>
        <p15:guide id="2" pos="347">
          <p15:clr>
            <a:srgbClr val="F26B43"/>
          </p15:clr>
        </p15:guide>
        <p15:guide id="3" pos="7333">
          <p15:clr>
            <a:srgbClr val="F26B43"/>
          </p15:clr>
        </p15:guide>
        <p15:guide id="4" orient="horz" pos="102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1.sv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40.png"/><Relationship Id="rId5" Type="http://schemas.microsoft.com/office/2007/relationships/hdphoto" Target="../media/hdphoto1.wdp"/><Relationship Id="rId4" Type="http://schemas.openxmlformats.org/officeDocument/2006/relationships/image" Target="../media/image3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45.svg"/><Relationship Id="rId7" Type="http://schemas.openxmlformats.org/officeDocument/2006/relationships/image" Target="../media/image49.svg"/><Relationship Id="rId2" Type="http://schemas.openxmlformats.org/officeDocument/2006/relationships/image" Target="../media/image44.png"/><Relationship Id="rId1" Type="http://schemas.openxmlformats.org/officeDocument/2006/relationships/slideLayout" Target="../slideLayouts/slideLayout21.xml"/><Relationship Id="rId6" Type="http://schemas.openxmlformats.org/officeDocument/2006/relationships/image" Target="../media/image48.png"/><Relationship Id="rId5" Type="http://schemas.openxmlformats.org/officeDocument/2006/relationships/image" Target="../media/image47.svg"/><Relationship Id="rId4" Type="http://schemas.openxmlformats.org/officeDocument/2006/relationships/image" Target="../media/image4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svg"/><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image" Target="../media/image53.sv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slides/_rels/slide16.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pn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1.svg"/><Relationship Id="rId2" Type="http://schemas.openxmlformats.org/officeDocument/2006/relationships/notesSlide" Target="../notesSlides/notesSlide8.xml"/><Relationship Id="rId1" Type="http://schemas.openxmlformats.org/officeDocument/2006/relationships/slideLayout" Target="../slideLayouts/slideLayout21.xml"/><Relationship Id="rId6" Type="http://schemas.openxmlformats.org/officeDocument/2006/relationships/image" Target="../media/image40.png"/><Relationship Id="rId5" Type="http://schemas.microsoft.com/office/2007/relationships/hdphoto" Target="../media/hdphoto1.wdp"/><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3F82A-BA03-5750-C946-624A5957EF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573B4-A514-7798-1BAC-41C7E2083E73}"/>
              </a:ext>
            </a:extLst>
          </p:cNvPr>
          <p:cNvSpPr>
            <a:spLocks noGrp="1"/>
          </p:cNvSpPr>
          <p:nvPr>
            <p:ph type="title"/>
          </p:nvPr>
        </p:nvSpPr>
        <p:spPr/>
        <p:txBody>
          <a:bodyPr/>
          <a:lstStyle/>
          <a:p>
            <a:r>
              <a:rPr lang="en-US" b="1"/>
              <a:t>HOW WE NEED TO ORGANIZE</a:t>
            </a:r>
          </a:p>
        </p:txBody>
      </p:sp>
      <p:sp>
        <p:nvSpPr>
          <p:cNvPr id="3" name="Text Placeholder 2">
            <a:extLst>
              <a:ext uri="{FF2B5EF4-FFF2-40B4-BE49-F238E27FC236}">
                <a16:creationId xmlns:a16="http://schemas.microsoft.com/office/drawing/2014/main" id="{FA6614BC-7945-3EC4-721C-4E3DD6AA287C}"/>
              </a:ext>
            </a:extLst>
          </p:cNvPr>
          <p:cNvSpPr>
            <a:spLocks noGrp="1"/>
          </p:cNvSpPr>
          <p:nvPr>
            <p:ph type="body" sz="quarter" idx="10"/>
          </p:nvPr>
        </p:nvSpPr>
        <p:spPr/>
        <p:txBody>
          <a:bodyPr/>
          <a:lstStyle/>
          <a:p>
            <a:r>
              <a:rPr lang="en-US" dirty="0"/>
              <a:t>To succeed with AI ambitions we need to collaborate effectively and measure objectively</a:t>
            </a:r>
          </a:p>
        </p:txBody>
      </p:sp>
      <p:sp>
        <p:nvSpPr>
          <p:cNvPr id="4" name="TextBox 3">
            <a:extLst>
              <a:ext uri="{FF2B5EF4-FFF2-40B4-BE49-F238E27FC236}">
                <a16:creationId xmlns:a16="http://schemas.microsoft.com/office/drawing/2014/main" id="{6A6BE35E-F031-7964-093E-0891219EF99D}"/>
              </a:ext>
            </a:extLst>
          </p:cNvPr>
          <p:cNvSpPr txBox="1"/>
          <p:nvPr/>
        </p:nvSpPr>
        <p:spPr>
          <a:xfrm>
            <a:off x="542647" y="1667222"/>
            <a:ext cx="5357205" cy="2896308"/>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defPPr>
              <a:defRPr lang="en-US"/>
            </a:defPPr>
            <a:lvl1pPr marL="57150" marR="0" lvl="0" indent="0" algn="ctr" fontAlgn="auto">
              <a:lnSpc>
                <a:spcPct val="100000"/>
              </a:lnSpc>
              <a:spcBef>
                <a:spcPts val="0"/>
              </a:spcBef>
              <a:spcAft>
                <a:spcPts val="1200"/>
              </a:spcAft>
              <a:buClrTx/>
              <a:buSzTx/>
              <a:buFontTx/>
              <a:buNone/>
              <a:tabLst/>
              <a:defRPr kumimoji="0" b="1" i="0" u="none" strike="noStrike" cap="none" spc="0" normalizeH="0" baseline="0">
                <a:ln>
                  <a:noFill/>
                </a:ln>
                <a:solidFill>
                  <a:srgbClr val="000000"/>
                </a:solidFill>
                <a:effectLst/>
                <a:uLnTx/>
                <a:uFillTx/>
                <a:latin typeface="Calibr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R="0" lvl="0" algn="l" defTabSz="914400" rtl="0" eaLnBrk="1" fontAlgn="auto" latinLnBrk="0" hangingPunct="1">
              <a:lnSpc>
                <a:spcPct val="100000"/>
              </a:lnSpc>
              <a:spcBef>
                <a:spcPts val="0"/>
              </a:spcBef>
              <a:spcAft>
                <a:spcPts val="600"/>
              </a:spcAft>
              <a:buClrTx/>
              <a:buSzTx/>
              <a:tabLst/>
              <a:defRPr/>
            </a:pPr>
            <a:r>
              <a:rPr kumimoji="0" lang="en-US" sz="1400" i="0" u="none" strike="noStrike" kern="1200" cap="none" spc="0" normalizeH="0" baseline="0" noProof="0" dirty="0">
                <a:ln>
                  <a:noFill/>
                </a:ln>
                <a:solidFill>
                  <a:srgbClr val="000000"/>
                </a:solidFill>
                <a:effectLst/>
                <a:uLnTx/>
                <a:uFillTx/>
                <a:latin typeface="Calibri"/>
                <a:ea typeface="+mn-ea"/>
                <a:cs typeface="+mn-cs"/>
              </a:rPr>
              <a:t>Per Domain / Service Group:</a:t>
            </a:r>
          </a:p>
          <a:p>
            <a:pPr marL="293688" marR="0" lvl="0" indent="-236538" algn="l" defTabSz="914400" rtl="0" eaLnBrk="1" fontAlgn="auto" latinLnBrk="0" hangingPunct="1">
              <a:lnSpc>
                <a:spcPct val="100000"/>
              </a:lnSpc>
              <a:spcBef>
                <a:spcPts val="0"/>
              </a:spcBef>
              <a:spcAft>
                <a:spcPts val="600"/>
              </a:spcAft>
              <a:buClrTx/>
              <a:buSzTx/>
              <a:buFont typeface="Wingdings" pitchFamily="2" charset="2"/>
              <a:buChar char="Ø"/>
              <a:tabLst/>
              <a:defRPr/>
            </a:pPr>
            <a:r>
              <a:rPr lang="en-US" sz="1400" b="0" dirty="0"/>
              <a:t>Dedicate AI Use Case Champion(s)</a:t>
            </a:r>
          </a:p>
          <a:p>
            <a:pPr marL="620712" lvl="1" indent="-285750">
              <a:spcAft>
                <a:spcPts val="600"/>
              </a:spcAft>
              <a:buFont typeface="Wingdings" pitchFamily="2" charset="2"/>
              <a:buChar char="§"/>
              <a:defRPr/>
            </a:pPr>
            <a:r>
              <a:rPr lang="en-US" sz="1400" dirty="0">
                <a:solidFill>
                  <a:schemeClr val="tx1"/>
                </a:solidFill>
                <a:latin typeface="Calibri" panose="020F0502020204030204" pitchFamily="34" charset="0"/>
                <a:cs typeface="Calibri" panose="020F0502020204030204" pitchFamily="34" charset="0"/>
              </a:rPr>
              <a:t>Operate like a product owner with domain expertise</a:t>
            </a:r>
          </a:p>
          <a:p>
            <a:pPr marL="620712" lvl="1" indent="-285750">
              <a:spcAft>
                <a:spcPts val="600"/>
              </a:spcAft>
              <a:buFont typeface="Wingdings" pitchFamily="2" charset="2"/>
              <a:buChar char="§"/>
              <a:defRPr/>
            </a:pPr>
            <a:r>
              <a:rPr lang="en-US" sz="1400" dirty="0">
                <a:solidFill>
                  <a:schemeClr val="tx1"/>
                </a:solidFill>
                <a:latin typeface="Calibri" panose="020F0502020204030204" pitchFamily="34" charset="0"/>
                <a:cs typeface="Calibri" panose="020F0502020204030204" pitchFamily="34" charset="0"/>
              </a:rPr>
              <a:t>Build backlog of </a:t>
            </a:r>
            <a:r>
              <a:rPr lang="en-US" sz="1400" b="1" dirty="0">
                <a:solidFill>
                  <a:schemeClr val="tx1"/>
                </a:solidFill>
                <a:latin typeface="Calibri" panose="020F0502020204030204" pitchFamily="34" charset="0"/>
                <a:cs typeface="Calibri" panose="020F0502020204030204" pitchFamily="34" charset="0"/>
              </a:rPr>
              <a:t>domain-specific problems </a:t>
            </a:r>
            <a:r>
              <a:rPr lang="en-US" sz="1400" dirty="0">
                <a:solidFill>
                  <a:schemeClr val="tx1"/>
                </a:solidFill>
                <a:latin typeface="Calibri" panose="020F0502020204030204" pitchFamily="34" charset="0"/>
                <a:cs typeface="Calibri" panose="020F0502020204030204" pitchFamily="34" charset="0"/>
              </a:rPr>
              <a:t>to solve with AI</a:t>
            </a:r>
          </a:p>
          <a:p>
            <a:pPr marL="620712" lvl="1" indent="-285750">
              <a:spcAft>
                <a:spcPts val="600"/>
              </a:spcAft>
              <a:buFont typeface="Wingdings" pitchFamily="2" charset="2"/>
              <a:buChar char="§"/>
              <a:defRPr/>
            </a:pPr>
            <a:r>
              <a:rPr lang="en-US" sz="1400" b="0" dirty="0">
                <a:solidFill>
                  <a:schemeClr val="tx1"/>
                </a:solidFill>
                <a:latin typeface="Calibri" panose="020F0502020204030204" pitchFamily="34" charset="0"/>
                <a:cs typeface="Calibri" panose="020F0502020204030204" pitchFamily="34" charset="0"/>
              </a:rPr>
              <a:t>Prioritize with domain leadership</a:t>
            </a:r>
          </a:p>
          <a:p>
            <a:pPr marL="620712" lvl="1" indent="-285750">
              <a:spcAft>
                <a:spcPts val="600"/>
              </a:spcAft>
              <a:buFont typeface="Wingdings" pitchFamily="2" charset="2"/>
              <a:buChar char="§"/>
              <a:defRPr/>
            </a:pPr>
            <a:r>
              <a:rPr lang="en-US" sz="1400" dirty="0">
                <a:solidFill>
                  <a:schemeClr val="tx1"/>
                </a:solidFill>
                <a:latin typeface="Calibri" panose="020F0502020204030204" pitchFamily="34" charset="0"/>
                <a:cs typeface="Calibri" panose="020F0502020204030204" pitchFamily="34" charset="0"/>
              </a:rPr>
              <a:t>Engage AI Lab to build demos / solutions</a:t>
            </a:r>
          </a:p>
          <a:p>
            <a:pPr marL="620712" lvl="1" indent="-285750">
              <a:spcAft>
                <a:spcPts val="600"/>
              </a:spcAft>
              <a:buFont typeface="Wingdings" pitchFamily="2" charset="2"/>
              <a:buChar char="§"/>
              <a:defRPr/>
            </a:pPr>
            <a:r>
              <a:rPr lang="en-US" sz="1400" b="0" dirty="0">
                <a:solidFill>
                  <a:schemeClr val="tx1"/>
                </a:solidFill>
                <a:latin typeface="Calibri" panose="020F0502020204030204" pitchFamily="34" charset="0"/>
                <a:cs typeface="Calibri" panose="020F0502020204030204" pitchFamily="34" charset="0"/>
              </a:rPr>
              <a:t>Lead GTM readiness for use cases</a:t>
            </a:r>
          </a:p>
          <a:p>
            <a:pPr marL="620712" lvl="1" indent="-285750">
              <a:spcAft>
                <a:spcPts val="600"/>
              </a:spcAft>
              <a:buFont typeface="Wingdings" pitchFamily="2" charset="2"/>
              <a:buChar char="§"/>
              <a:defRPr/>
            </a:pPr>
            <a:r>
              <a:rPr lang="en-US" sz="1400" dirty="0">
                <a:solidFill>
                  <a:schemeClr val="tx1"/>
                </a:solidFill>
                <a:latin typeface="Calibri" panose="020F0502020204030204" pitchFamily="34" charset="0"/>
                <a:cs typeface="Calibri" panose="020F0502020204030204" pitchFamily="34" charset="0"/>
              </a:rPr>
              <a:t>Templatize commercial solution</a:t>
            </a:r>
          </a:p>
        </p:txBody>
      </p:sp>
      <p:cxnSp>
        <p:nvCxnSpPr>
          <p:cNvPr id="5" name="Straight Connector 4">
            <a:extLst>
              <a:ext uri="{FF2B5EF4-FFF2-40B4-BE49-F238E27FC236}">
                <a16:creationId xmlns:a16="http://schemas.microsoft.com/office/drawing/2014/main" id="{8EE37CB7-D6B6-FC4B-7487-25827EF86F33}"/>
              </a:ext>
            </a:extLst>
          </p:cNvPr>
          <p:cNvCxnSpPr>
            <a:cxnSpLocks/>
          </p:cNvCxnSpPr>
          <p:nvPr/>
        </p:nvCxnSpPr>
        <p:spPr>
          <a:xfrm>
            <a:off x="542648" y="1659900"/>
            <a:ext cx="5357204"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F0B7D16-063E-C341-D948-3B1DC7E9071B}"/>
              </a:ext>
            </a:extLst>
          </p:cNvPr>
          <p:cNvSpPr txBox="1"/>
          <p:nvPr/>
        </p:nvSpPr>
        <p:spPr>
          <a:xfrm>
            <a:off x="903641" y="1534788"/>
            <a:ext cx="4193292" cy="276999"/>
          </a:xfrm>
          <a:prstGeom prst="rect">
            <a:avLst/>
          </a:prstGeom>
          <a:solidFill>
            <a:schemeClr val="bg1"/>
          </a:solidFill>
        </p:spPr>
        <p:txBody>
          <a:bodyPr wrap="square" lIns="182880" tIns="0" rIns="182880" bIns="0"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30" normalizeH="0" baseline="0" noProof="0">
                <a:ln>
                  <a:noFill/>
                </a:ln>
                <a:solidFill>
                  <a:schemeClr val="accent4"/>
                </a:solidFill>
                <a:effectLst/>
                <a:uLnTx/>
                <a:uFillTx/>
                <a:latin typeface="Century Gothic"/>
                <a:ea typeface="+mn-ea"/>
                <a:cs typeface="+mn-cs"/>
              </a:rPr>
              <a:t>ASKS FOR AI SERVICE OFFERINGS</a:t>
            </a:r>
          </a:p>
        </p:txBody>
      </p:sp>
      <p:sp>
        <p:nvSpPr>
          <p:cNvPr id="14" name="TextBox 13">
            <a:extLst>
              <a:ext uri="{FF2B5EF4-FFF2-40B4-BE49-F238E27FC236}">
                <a16:creationId xmlns:a16="http://schemas.microsoft.com/office/drawing/2014/main" id="{06B57206-C6E1-6A38-9B49-703EBC0B8245}"/>
              </a:ext>
            </a:extLst>
          </p:cNvPr>
          <p:cNvSpPr txBox="1"/>
          <p:nvPr/>
        </p:nvSpPr>
        <p:spPr>
          <a:xfrm>
            <a:off x="6284441" y="1667222"/>
            <a:ext cx="5357205" cy="2896308"/>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274320" rIns="91440" rtlCol="0" anchor="t"/>
          <a:lstStyle>
            <a:defPPr>
              <a:defRPr lang="en-US"/>
            </a:defPPr>
            <a:lvl1pPr marL="57150" marR="0" lvl="0" indent="0" algn="ctr" fontAlgn="auto">
              <a:lnSpc>
                <a:spcPct val="100000"/>
              </a:lnSpc>
              <a:spcBef>
                <a:spcPts val="0"/>
              </a:spcBef>
              <a:spcAft>
                <a:spcPts val="1200"/>
              </a:spcAft>
              <a:buClrTx/>
              <a:buSzTx/>
              <a:buFontTx/>
              <a:buNone/>
              <a:tabLst/>
              <a:defRPr kumimoji="0" b="1" i="0" u="none" strike="noStrike" cap="none" spc="0" normalizeH="0" baseline="0">
                <a:ln>
                  <a:noFill/>
                </a:ln>
                <a:solidFill>
                  <a:srgbClr val="000000"/>
                </a:solidFill>
                <a:effectLst/>
                <a:uLnTx/>
                <a:uFillTx/>
                <a:latin typeface="Calibr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R="0" lvl="0" algn="l" defTabSz="914400" rtl="0" eaLnBrk="1" fontAlgn="auto" latinLnBrk="0" hangingPunct="1">
              <a:lnSpc>
                <a:spcPct val="100000"/>
              </a:lnSpc>
              <a:spcBef>
                <a:spcPts val="0"/>
              </a:spcBef>
              <a:spcAft>
                <a:spcPts val="600"/>
              </a:spcAft>
              <a:buClrTx/>
              <a:buSzTx/>
              <a:tabLst/>
              <a:defRPr/>
            </a:pPr>
            <a:r>
              <a:rPr lang="en-US" sz="1400" dirty="0"/>
              <a:t>Per Domain / Service Group:</a:t>
            </a:r>
          </a:p>
          <a:p>
            <a:pPr marL="342900" indent="-285750" algn="l">
              <a:spcAft>
                <a:spcPts val="600"/>
              </a:spcAft>
              <a:buFont typeface="Wingdings" pitchFamily="2" charset="2"/>
              <a:buChar char="Ø"/>
              <a:defRPr/>
            </a:pPr>
            <a:r>
              <a:rPr lang="en-US" sz="1400" b="0" dirty="0"/>
              <a:t>Dedicate AI Infusion Champion</a:t>
            </a:r>
          </a:p>
          <a:p>
            <a:pPr marL="620712" lvl="1" indent="-285750">
              <a:spcAft>
                <a:spcPts val="600"/>
              </a:spcAft>
              <a:buFont typeface="Wingdings" pitchFamily="2" charset="2"/>
              <a:buChar char="§"/>
              <a:defRPr/>
            </a:pPr>
            <a:r>
              <a:rPr lang="en-US" sz="1400" dirty="0">
                <a:solidFill>
                  <a:schemeClr val="tx1"/>
                </a:solidFill>
                <a:latin typeface="Calibri" panose="020F0502020204030204" pitchFamily="34" charset="0"/>
                <a:cs typeface="Calibri" panose="020F0502020204030204" pitchFamily="34" charset="0"/>
              </a:rPr>
              <a:t>Observe how the domain teams work, how they build assets, how they deliver value</a:t>
            </a:r>
          </a:p>
          <a:p>
            <a:pPr marL="620712" lvl="1" indent="-285750">
              <a:spcAft>
                <a:spcPts val="600"/>
              </a:spcAft>
              <a:buFont typeface="Wingdings" pitchFamily="2" charset="2"/>
              <a:buChar char="§"/>
              <a:defRPr/>
            </a:pPr>
            <a:r>
              <a:rPr lang="en-US" sz="1400" dirty="0">
                <a:solidFill>
                  <a:schemeClr val="tx1"/>
                </a:solidFill>
                <a:latin typeface="Calibri" panose="020F0502020204030204" pitchFamily="34" charset="0"/>
                <a:cs typeface="Calibri" panose="020F0502020204030204" pitchFamily="34" charset="0"/>
              </a:rPr>
              <a:t>Build backlog of </a:t>
            </a:r>
            <a:r>
              <a:rPr lang="en-US" sz="1400" b="1" dirty="0">
                <a:solidFill>
                  <a:schemeClr val="tx1"/>
                </a:solidFill>
                <a:latin typeface="Calibri" panose="020F0502020204030204" pitchFamily="34" charset="0"/>
                <a:cs typeface="Calibri" panose="020F0502020204030204" pitchFamily="34" charset="0"/>
              </a:rPr>
              <a:t>delivery work to automate </a:t>
            </a:r>
            <a:r>
              <a:rPr lang="en-US" sz="1400" dirty="0">
                <a:solidFill>
                  <a:schemeClr val="tx1"/>
                </a:solidFill>
                <a:latin typeface="Calibri" panose="020F0502020204030204" pitchFamily="34" charset="0"/>
                <a:cs typeface="Calibri" panose="020F0502020204030204" pitchFamily="34" charset="0"/>
              </a:rPr>
              <a:t>with AI</a:t>
            </a:r>
          </a:p>
          <a:p>
            <a:pPr marL="620712" lvl="1" indent="-285750">
              <a:spcAft>
                <a:spcPts val="600"/>
              </a:spcAft>
              <a:buFont typeface="Wingdings" pitchFamily="2" charset="2"/>
              <a:buChar char="§"/>
              <a:defRPr/>
            </a:pPr>
            <a:r>
              <a:rPr lang="en-US" sz="1400" dirty="0">
                <a:solidFill>
                  <a:schemeClr val="tx1"/>
                </a:solidFill>
                <a:latin typeface="Calibri" panose="020F0502020204030204" pitchFamily="34" charset="0"/>
                <a:cs typeface="Calibri" panose="020F0502020204030204" pitchFamily="34" charset="0"/>
              </a:rPr>
              <a:t>Engage AI Lab to build accelerators</a:t>
            </a:r>
          </a:p>
          <a:p>
            <a:pPr marL="620712" lvl="1" indent="-285750">
              <a:spcAft>
                <a:spcPts val="600"/>
              </a:spcAft>
              <a:buFont typeface="Wingdings" pitchFamily="2" charset="2"/>
              <a:buChar char="§"/>
              <a:defRPr/>
            </a:pPr>
            <a:r>
              <a:rPr lang="en-US" sz="1400" dirty="0">
                <a:solidFill>
                  <a:schemeClr val="tx1"/>
                </a:solidFill>
                <a:latin typeface="Calibri" panose="020F0502020204030204" pitchFamily="34" charset="0"/>
                <a:cs typeface="Calibri" panose="020F0502020204030204" pitchFamily="34" charset="0"/>
              </a:rPr>
              <a:t>Identify domain resources who want to build themselves</a:t>
            </a:r>
          </a:p>
          <a:p>
            <a:pPr marL="620712" lvl="1" indent="-285750">
              <a:spcAft>
                <a:spcPts val="600"/>
              </a:spcAft>
              <a:buFont typeface="Wingdings" pitchFamily="2" charset="2"/>
              <a:buChar char="§"/>
              <a:defRPr/>
            </a:pPr>
            <a:r>
              <a:rPr lang="en-US" sz="1400" dirty="0">
                <a:solidFill>
                  <a:schemeClr val="tx1"/>
                </a:solidFill>
                <a:latin typeface="Calibri" panose="020F0502020204030204" pitchFamily="34" charset="0"/>
                <a:cs typeface="Calibri" panose="020F0502020204030204" pitchFamily="34" charset="0"/>
              </a:rPr>
              <a:t>Drive training and adoption of accelerators</a:t>
            </a:r>
          </a:p>
          <a:p>
            <a:pPr marL="620712" lvl="1" indent="-285750">
              <a:spcAft>
                <a:spcPts val="600"/>
              </a:spcAft>
              <a:buFont typeface="Wingdings" pitchFamily="2" charset="2"/>
              <a:buChar char="§"/>
              <a:defRPr/>
            </a:pPr>
            <a:r>
              <a:rPr lang="en-US" sz="1400" dirty="0">
                <a:solidFill>
                  <a:schemeClr val="tx1"/>
                </a:solidFill>
                <a:latin typeface="Calibri" panose="020F0502020204030204" pitchFamily="34" charset="0"/>
                <a:cs typeface="Calibri" panose="020F0502020204030204" pitchFamily="34" charset="0"/>
              </a:rPr>
              <a:t>Ensure AI-infused delivery is reflected in proposals / contracts</a:t>
            </a:r>
          </a:p>
          <a:p>
            <a:pPr marL="342900" indent="-285750" algn="l">
              <a:spcAft>
                <a:spcPts val="600"/>
              </a:spcAft>
              <a:buFont typeface="Wingdings" pitchFamily="2" charset="2"/>
              <a:buChar char="Ø"/>
              <a:defRPr/>
            </a:pPr>
            <a:endParaRPr lang="en-US" sz="1400" b="0" dirty="0"/>
          </a:p>
          <a:p>
            <a:pPr marR="0" lvl="0" algn="l" defTabSz="914400" rtl="0" eaLnBrk="1" fontAlgn="auto" latinLnBrk="0" hangingPunct="1">
              <a:lnSpc>
                <a:spcPct val="100000"/>
              </a:lnSpc>
              <a:spcBef>
                <a:spcPts val="0"/>
              </a:spcBef>
              <a:spcAft>
                <a:spcPts val="600"/>
              </a:spcAft>
              <a:buClrTx/>
              <a:buSzTx/>
              <a:tabLst/>
              <a:defRPr/>
            </a:pPr>
            <a:endParaRPr lang="en-US" sz="1400" dirty="0"/>
          </a:p>
        </p:txBody>
      </p:sp>
      <p:cxnSp>
        <p:nvCxnSpPr>
          <p:cNvPr id="15" name="Straight Connector 14">
            <a:extLst>
              <a:ext uri="{FF2B5EF4-FFF2-40B4-BE49-F238E27FC236}">
                <a16:creationId xmlns:a16="http://schemas.microsoft.com/office/drawing/2014/main" id="{82D27B3C-C36D-D850-0D46-61BB607062F9}"/>
              </a:ext>
            </a:extLst>
          </p:cNvPr>
          <p:cNvCxnSpPr>
            <a:cxnSpLocks/>
          </p:cNvCxnSpPr>
          <p:nvPr/>
        </p:nvCxnSpPr>
        <p:spPr>
          <a:xfrm>
            <a:off x="6284442" y="1659900"/>
            <a:ext cx="5357204"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BB05D53-E56F-D64D-7910-C5DD91E462D9}"/>
              </a:ext>
            </a:extLst>
          </p:cNvPr>
          <p:cNvSpPr txBox="1"/>
          <p:nvPr/>
        </p:nvSpPr>
        <p:spPr>
          <a:xfrm>
            <a:off x="6645435" y="1534788"/>
            <a:ext cx="2904965" cy="276999"/>
          </a:xfrm>
          <a:prstGeom prst="rect">
            <a:avLst/>
          </a:prstGeom>
          <a:solidFill>
            <a:schemeClr val="bg1"/>
          </a:solidFill>
        </p:spPr>
        <p:txBody>
          <a:bodyPr wrap="square" lIns="182880" tIns="0" rIns="182880" bIns="0"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30" normalizeH="0" baseline="0" noProof="0">
                <a:ln>
                  <a:noFill/>
                </a:ln>
                <a:solidFill>
                  <a:schemeClr val="accent4"/>
                </a:solidFill>
                <a:effectLst/>
                <a:uLnTx/>
                <a:uFillTx/>
                <a:latin typeface="Century Gothic"/>
                <a:ea typeface="+mn-ea"/>
                <a:cs typeface="+mn-cs"/>
              </a:rPr>
              <a:t>ASKS FOR AI INFUSION</a:t>
            </a:r>
          </a:p>
        </p:txBody>
      </p:sp>
      <p:sp>
        <p:nvSpPr>
          <p:cNvPr id="51" name="Rectangle: Rounded Corners 21">
            <a:extLst>
              <a:ext uri="{FF2B5EF4-FFF2-40B4-BE49-F238E27FC236}">
                <a16:creationId xmlns:a16="http://schemas.microsoft.com/office/drawing/2014/main" id="{B17240EE-17E3-7A1F-FC0C-7C4188FB5A96}"/>
              </a:ext>
            </a:extLst>
          </p:cNvPr>
          <p:cNvSpPr/>
          <p:nvPr/>
        </p:nvSpPr>
        <p:spPr>
          <a:xfrm>
            <a:off x="542647" y="5018051"/>
            <a:ext cx="2559796" cy="1202288"/>
          </a:xfrm>
          <a:prstGeom prst="roundRect">
            <a:avLst>
              <a:gd name="adj" fmla="val 1592"/>
            </a:avLst>
          </a:prstGeom>
          <a:solidFill>
            <a:sysClr val="window" lastClr="FFFFFF"/>
          </a:solid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62C397DC-DADD-FDFC-6BBC-C3A9E3B1AA27}"/>
              </a:ext>
            </a:extLst>
          </p:cNvPr>
          <p:cNvSpPr txBox="1"/>
          <p:nvPr/>
        </p:nvSpPr>
        <p:spPr>
          <a:xfrm>
            <a:off x="638471" y="5122897"/>
            <a:ext cx="23681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lang="en-US" b="1" kern="0">
                <a:solidFill>
                  <a:srgbClr val="242852"/>
                </a:solidFill>
                <a:latin typeface="Calibri"/>
                <a:cs typeface="Calibri"/>
              </a:rPr>
              <a:t>USE CASES</a:t>
            </a:r>
          </a:p>
        </p:txBody>
      </p:sp>
      <p:grpSp>
        <p:nvGrpSpPr>
          <p:cNvPr id="59" name="Group 58">
            <a:extLst>
              <a:ext uri="{FF2B5EF4-FFF2-40B4-BE49-F238E27FC236}">
                <a16:creationId xmlns:a16="http://schemas.microsoft.com/office/drawing/2014/main" id="{07432610-6C6C-4B7C-5FF9-D0046B8DDE49}"/>
              </a:ext>
            </a:extLst>
          </p:cNvPr>
          <p:cNvGrpSpPr/>
          <p:nvPr/>
        </p:nvGrpSpPr>
        <p:grpSpPr>
          <a:xfrm>
            <a:off x="573409" y="5492229"/>
            <a:ext cx="2433210" cy="646331"/>
            <a:chOff x="604170" y="5492229"/>
            <a:chExt cx="2433210" cy="646331"/>
          </a:xfrm>
        </p:grpSpPr>
        <p:sp>
          <p:nvSpPr>
            <p:cNvPr id="53" name="TextBox 52">
              <a:extLst>
                <a:ext uri="{FF2B5EF4-FFF2-40B4-BE49-F238E27FC236}">
                  <a16:creationId xmlns:a16="http://schemas.microsoft.com/office/drawing/2014/main" id="{29D7AD27-7283-B1C6-387F-45AEA4D9F27B}"/>
                </a:ext>
              </a:extLst>
            </p:cNvPr>
            <p:cNvSpPr txBox="1"/>
            <p:nvPr/>
          </p:nvSpPr>
          <p:spPr>
            <a:xfrm>
              <a:off x="604170" y="5508194"/>
              <a:ext cx="125369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lang="en-US" sz="2400" b="1" kern="0">
                  <a:solidFill>
                    <a:schemeClr val="accent4"/>
                  </a:solidFill>
                  <a:latin typeface="Calibri"/>
                  <a:cs typeface="Calibri"/>
                </a:rPr>
                <a:t>#</a:t>
              </a:r>
              <a:endParaRPr lang="en-US" sz="3600" b="1" kern="0">
                <a:solidFill>
                  <a:schemeClr val="accent4"/>
                </a:solidFill>
                <a:latin typeface="Calibri"/>
              </a:endParaRPr>
            </a:p>
          </p:txBody>
        </p:sp>
        <p:sp>
          <p:nvSpPr>
            <p:cNvPr id="54" name="TextBox 53">
              <a:extLst>
                <a:ext uri="{FF2B5EF4-FFF2-40B4-BE49-F238E27FC236}">
                  <a16:creationId xmlns:a16="http://schemas.microsoft.com/office/drawing/2014/main" id="{690FA7A4-4968-1FFE-153C-15BF52E649B8}"/>
                </a:ext>
              </a:extLst>
            </p:cNvPr>
            <p:cNvSpPr txBox="1"/>
            <p:nvPr/>
          </p:nvSpPr>
          <p:spPr>
            <a:xfrm>
              <a:off x="1509595" y="5492229"/>
              <a:ext cx="15277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sz="1200" b="1">
                  <a:solidFill>
                    <a:prstClr val="black"/>
                  </a:solidFill>
                  <a:latin typeface="Calibri"/>
                  <a:cs typeface="Calibri"/>
                </a:rPr>
                <a:t>Domain-specific use cases in backlog / in market</a:t>
              </a:r>
            </a:p>
          </p:txBody>
        </p:sp>
      </p:grpSp>
      <p:sp>
        <p:nvSpPr>
          <p:cNvPr id="60" name="Rectangle: Rounded Corners 21">
            <a:extLst>
              <a:ext uri="{FF2B5EF4-FFF2-40B4-BE49-F238E27FC236}">
                <a16:creationId xmlns:a16="http://schemas.microsoft.com/office/drawing/2014/main" id="{5243BCB1-7270-57FB-8F8F-815C5B45373B}"/>
              </a:ext>
            </a:extLst>
          </p:cNvPr>
          <p:cNvSpPr/>
          <p:nvPr/>
        </p:nvSpPr>
        <p:spPr>
          <a:xfrm>
            <a:off x="3340056" y="5018051"/>
            <a:ext cx="2559796" cy="1202288"/>
          </a:xfrm>
          <a:prstGeom prst="roundRect">
            <a:avLst>
              <a:gd name="adj" fmla="val 1592"/>
            </a:avLst>
          </a:prstGeom>
          <a:solidFill>
            <a:sysClr val="window" lastClr="FFFFFF"/>
          </a:solid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1" name="TextBox 60">
            <a:extLst>
              <a:ext uri="{FF2B5EF4-FFF2-40B4-BE49-F238E27FC236}">
                <a16:creationId xmlns:a16="http://schemas.microsoft.com/office/drawing/2014/main" id="{4BA32462-82CC-10AC-7B84-D5BD8C50918D}"/>
              </a:ext>
            </a:extLst>
          </p:cNvPr>
          <p:cNvSpPr txBox="1"/>
          <p:nvPr/>
        </p:nvSpPr>
        <p:spPr>
          <a:xfrm>
            <a:off x="3435880" y="5122897"/>
            <a:ext cx="23681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lang="en-US" b="1" kern="0">
                <a:solidFill>
                  <a:srgbClr val="242852"/>
                </a:solidFill>
                <a:latin typeface="Calibri"/>
                <a:cs typeface="Calibri"/>
              </a:rPr>
              <a:t>REVENUE</a:t>
            </a:r>
          </a:p>
        </p:txBody>
      </p:sp>
      <p:grpSp>
        <p:nvGrpSpPr>
          <p:cNvPr id="62" name="Group 61">
            <a:extLst>
              <a:ext uri="{FF2B5EF4-FFF2-40B4-BE49-F238E27FC236}">
                <a16:creationId xmlns:a16="http://schemas.microsoft.com/office/drawing/2014/main" id="{0F92653F-06E1-7E10-E7C7-9112277C151F}"/>
              </a:ext>
            </a:extLst>
          </p:cNvPr>
          <p:cNvGrpSpPr/>
          <p:nvPr/>
        </p:nvGrpSpPr>
        <p:grpSpPr>
          <a:xfrm>
            <a:off x="3370818" y="5492229"/>
            <a:ext cx="2433210" cy="477630"/>
            <a:chOff x="604170" y="5492229"/>
            <a:chExt cx="2433210" cy="477630"/>
          </a:xfrm>
        </p:grpSpPr>
        <p:sp>
          <p:nvSpPr>
            <p:cNvPr id="63" name="TextBox 62">
              <a:extLst>
                <a:ext uri="{FF2B5EF4-FFF2-40B4-BE49-F238E27FC236}">
                  <a16:creationId xmlns:a16="http://schemas.microsoft.com/office/drawing/2014/main" id="{BF1B457A-6103-DFBC-DA5E-93BBC3E3A394}"/>
                </a:ext>
              </a:extLst>
            </p:cNvPr>
            <p:cNvSpPr txBox="1"/>
            <p:nvPr/>
          </p:nvSpPr>
          <p:spPr>
            <a:xfrm>
              <a:off x="604170" y="5508194"/>
              <a:ext cx="125369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lang="en-US" sz="2400" b="1" kern="0">
                  <a:solidFill>
                    <a:schemeClr val="accent4"/>
                  </a:solidFill>
                  <a:latin typeface="Calibri"/>
                  <a:cs typeface="Calibri"/>
                </a:rPr>
                <a:t>$</a:t>
              </a:r>
              <a:endParaRPr lang="en-US" sz="3600" b="1" kern="0">
                <a:solidFill>
                  <a:schemeClr val="accent4"/>
                </a:solidFill>
                <a:latin typeface="Calibri"/>
              </a:endParaRPr>
            </a:p>
          </p:txBody>
        </p:sp>
        <p:sp>
          <p:nvSpPr>
            <p:cNvPr id="64" name="TextBox 63">
              <a:extLst>
                <a:ext uri="{FF2B5EF4-FFF2-40B4-BE49-F238E27FC236}">
                  <a16:creationId xmlns:a16="http://schemas.microsoft.com/office/drawing/2014/main" id="{A9896BA0-AC4A-C725-8EDF-ADD5163EA84D}"/>
                </a:ext>
              </a:extLst>
            </p:cNvPr>
            <p:cNvSpPr txBox="1"/>
            <p:nvPr/>
          </p:nvSpPr>
          <p:spPr>
            <a:xfrm>
              <a:off x="1509595" y="5492229"/>
              <a:ext cx="15277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sz="1200" b="1">
                  <a:solidFill>
                    <a:prstClr val="black"/>
                  </a:solidFill>
                  <a:latin typeface="Calibri"/>
                  <a:cs typeface="Calibri"/>
                </a:rPr>
                <a:t>AI-driven Revenue within Domain</a:t>
              </a:r>
            </a:p>
          </p:txBody>
        </p:sp>
      </p:grpSp>
      <p:sp>
        <p:nvSpPr>
          <p:cNvPr id="65" name="Rectangle: Rounded Corners 21">
            <a:extLst>
              <a:ext uri="{FF2B5EF4-FFF2-40B4-BE49-F238E27FC236}">
                <a16:creationId xmlns:a16="http://schemas.microsoft.com/office/drawing/2014/main" id="{77A9D6AE-10EF-10F8-B203-424A7C891CE6}"/>
              </a:ext>
            </a:extLst>
          </p:cNvPr>
          <p:cNvSpPr/>
          <p:nvPr/>
        </p:nvSpPr>
        <p:spPr>
          <a:xfrm>
            <a:off x="6284441" y="5018051"/>
            <a:ext cx="2559796" cy="1202288"/>
          </a:xfrm>
          <a:prstGeom prst="roundRect">
            <a:avLst>
              <a:gd name="adj" fmla="val 1592"/>
            </a:avLst>
          </a:prstGeom>
          <a:solidFill>
            <a:sysClr val="window" lastClr="FFFFFF"/>
          </a:solid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6" name="TextBox 65">
            <a:extLst>
              <a:ext uri="{FF2B5EF4-FFF2-40B4-BE49-F238E27FC236}">
                <a16:creationId xmlns:a16="http://schemas.microsoft.com/office/drawing/2014/main" id="{408EFBAC-967B-6CFA-B933-B6F265BB9D9B}"/>
              </a:ext>
            </a:extLst>
          </p:cNvPr>
          <p:cNvSpPr txBox="1"/>
          <p:nvPr/>
        </p:nvSpPr>
        <p:spPr>
          <a:xfrm>
            <a:off x="6380265" y="5122897"/>
            <a:ext cx="23681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lang="en-US" b="1" kern="0">
                <a:solidFill>
                  <a:srgbClr val="242852"/>
                </a:solidFill>
                <a:latin typeface="Calibri"/>
                <a:cs typeface="Calibri"/>
              </a:rPr>
              <a:t>INFUSION</a:t>
            </a:r>
          </a:p>
        </p:txBody>
      </p:sp>
      <p:grpSp>
        <p:nvGrpSpPr>
          <p:cNvPr id="67" name="Group 66">
            <a:extLst>
              <a:ext uri="{FF2B5EF4-FFF2-40B4-BE49-F238E27FC236}">
                <a16:creationId xmlns:a16="http://schemas.microsoft.com/office/drawing/2014/main" id="{613E3219-76D5-C26E-DA65-7AE7B4201315}"/>
              </a:ext>
            </a:extLst>
          </p:cNvPr>
          <p:cNvGrpSpPr/>
          <p:nvPr/>
        </p:nvGrpSpPr>
        <p:grpSpPr>
          <a:xfrm>
            <a:off x="6315203" y="5492229"/>
            <a:ext cx="2433210" cy="646331"/>
            <a:chOff x="604170" y="5492229"/>
            <a:chExt cx="2433210" cy="646331"/>
          </a:xfrm>
        </p:grpSpPr>
        <p:sp>
          <p:nvSpPr>
            <p:cNvPr id="68" name="TextBox 67">
              <a:extLst>
                <a:ext uri="{FF2B5EF4-FFF2-40B4-BE49-F238E27FC236}">
                  <a16:creationId xmlns:a16="http://schemas.microsoft.com/office/drawing/2014/main" id="{89FA1180-1EE3-6D8F-B92F-1D1630B1C88E}"/>
                </a:ext>
              </a:extLst>
            </p:cNvPr>
            <p:cNvSpPr txBox="1"/>
            <p:nvPr/>
          </p:nvSpPr>
          <p:spPr>
            <a:xfrm>
              <a:off x="604170" y="5508194"/>
              <a:ext cx="125369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lang="en-US" sz="2400" b="1" kern="0">
                  <a:solidFill>
                    <a:schemeClr val="accent4"/>
                  </a:solidFill>
                  <a:latin typeface="Calibri"/>
                  <a:cs typeface="Calibri"/>
                </a:rPr>
                <a:t>%</a:t>
              </a:r>
              <a:endParaRPr lang="en-US" sz="3600" b="1" kern="0">
                <a:solidFill>
                  <a:schemeClr val="accent4"/>
                </a:solidFill>
                <a:latin typeface="Calibri"/>
              </a:endParaRPr>
            </a:p>
          </p:txBody>
        </p:sp>
        <p:sp>
          <p:nvSpPr>
            <p:cNvPr id="69" name="TextBox 68">
              <a:extLst>
                <a:ext uri="{FF2B5EF4-FFF2-40B4-BE49-F238E27FC236}">
                  <a16:creationId xmlns:a16="http://schemas.microsoft.com/office/drawing/2014/main" id="{15BAC38D-0C4D-2A3D-2031-7163A405B70E}"/>
                </a:ext>
              </a:extLst>
            </p:cNvPr>
            <p:cNvSpPr txBox="1"/>
            <p:nvPr/>
          </p:nvSpPr>
          <p:spPr>
            <a:xfrm>
              <a:off x="1509595" y="5492229"/>
              <a:ext cx="15277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sz="1200" b="1">
                  <a:solidFill>
                    <a:prstClr val="black"/>
                  </a:solidFill>
                  <a:latin typeface="Calibri"/>
                  <a:cs typeface="Calibri"/>
                </a:rPr>
                <a:t>Fixed-fee contracts delivering with AI accelerators</a:t>
              </a:r>
            </a:p>
          </p:txBody>
        </p:sp>
      </p:grpSp>
      <p:sp>
        <p:nvSpPr>
          <p:cNvPr id="70" name="Rectangle: Rounded Corners 21">
            <a:extLst>
              <a:ext uri="{FF2B5EF4-FFF2-40B4-BE49-F238E27FC236}">
                <a16:creationId xmlns:a16="http://schemas.microsoft.com/office/drawing/2014/main" id="{42403863-4457-7D78-2B05-9092C63D2E98}"/>
              </a:ext>
            </a:extLst>
          </p:cNvPr>
          <p:cNvSpPr/>
          <p:nvPr/>
        </p:nvSpPr>
        <p:spPr>
          <a:xfrm>
            <a:off x="9081850" y="5018051"/>
            <a:ext cx="2559796" cy="1202288"/>
          </a:xfrm>
          <a:prstGeom prst="roundRect">
            <a:avLst>
              <a:gd name="adj" fmla="val 1592"/>
            </a:avLst>
          </a:prstGeom>
          <a:solidFill>
            <a:sysClr val="window" lastClr="FFFFFF"/>
          </a:solid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1" name="TextBox 70">
            <a:extLst>
              <a:ext uri="{FF2B5EF4-FFF2-40B4-BE49-F238E27FC236}">
                <a16:creationId xmlns:a16="http://schemas.microsoft.com/office/drawing/2014/main" id="{3034A336-2540-E8B2-4076-80BCE741EAF1}"/>
              </a:ext>
            </a:extLst>
          </p:cNvPr>
          <p:cNvSpPr txBox="1"/>
          <p:nvPr/>
        </p:nvSpPr>
        <p:spPr>
          <a:xfrm>
            <a:off x="9177674" y="5122897"/>
            <a:ext cx="23681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lang="en-US" b="1" kern="0">
                <a:solidFill>
                  <a:srgbClr val="242852"/>
                </a:solidFill>
                <a:latin typeface="Calibri"/>
                <a:cs typeface="Calibri"/>
              </a:rPr>
              <a:t>MARGIN</a:t>
            </a:r>
          </a:p>
        </p:txBody>
      </p:sp>
      <p:grpSp>
        <p:nvGrpSpPr>
          <p:cNvPr id="72" name="Group 71">
            <a:extLst>
              <a:ext uri="{FF2B5EF4-FFF2-40B4-BE49-F238E27FC236}">
                <a16:creationId xmlns:a16="http://schemas.microsoft.com/office/drawing/2014/main" id="{8807FCC9-4821-3BFF-C42D-93DDBAD03BD0}"/>
              </a:ext>
            </a:extLst>
          </p:cNvPr>
          <p:cNvGrpSpPr/>
          <p:nvPr/>
        </p:nvGrpSpPr>
        <p:grpSpPr>
          <a:xfrm>
            <a:off x="9112612" y="5492229"/>
            <a:ext cx="2433210" cy="646331"/>
            <a:chOff x="604170" y="5492229"/>
            <a:chExt cx="2433210" cy="646331"/>
          </a:xfrm>
        </p:grpSpPr>
        <p:sp>
          <p:nvSpPr>
            <p:cNvPr id="73" name="TextBox 72">
              <a:extLst>
                <a:ext uri="{FF2B5EF4-FFF2-40B4-BE49-F238E27FC236}">
                  <a16:creationId xmlns:a16="http://schemas.microsoft.com/office/drawing/2014/main" id="{E9973E9A-D463-B0DD-60D8-3387358B3623}"/>
                </a:ext>
              </a:extLst>
            </p:cNvPr>
            <p:cNvSpPr txBox="1"/>
            <p:nvPr/>
          </p:nvSpPr>
          <p:spPr>
            <a:xfrm>
              <a:off x="604170" y="5508194"/>
              <a:ext cx="125369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defRPr/>
              </a:pPr>
              <a:r>
                <a:rPr lang="en-US" sz="2400" b="1" kern="0">
                  <a:solidFill>
                    <a:schemeClr val="accent4"/>
                  </a:solidFill>
                  <a:latin typeface="Calibri"/>
                  <a:cs typeface="Calibri"/>
                </a:rPr>
                <a:t>%</a:t>
              </a:r>
              <a:endParaRPr lang="en-US" sz="3600" b="1" kern="0">
                <a:solidFill>
                  <a:schemeClr val="accent4"/>
                </a:solidFill>
                <a:latin typeface="Calibri"/>
              </a:endParaRPr>
            </a:p>
          </p:txBody>
        </p:sp>
        <p:sp>
          <p:nvSpPr>
            <p:cNvPr id="74" name="TextBox 73">
              <a:extLst>
                <a:ext uri="{FF2B5EF4-FFF2-40B4-BE49-F238E27FC236}">
                  <a16:creationId xmlns:a16="http://schemas.microsoft.com/office/drawing/2014/main" id="{22BFD6B1-8085-E59C-FD80-29281E5FED5C}"/>
                </a:ext>
              </a:extLst>
            </p:cNvPr>
            <p:cNvSpPr txBox="1"/>
            <p:nvPr/>
          </p:nvSpPr>
          <p:spPr>
            <a:xfrm>
              <a:off x="1509595" y="5492229"/>
              <a:ext cx="15277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defRPr/>
              </a:pPr>
              <a:r>
                <a:rPr lang="en-US" sz="1200" b="1">
                  <a:solidFill>
                    <a:prstClr val="black"/>
                  </a:solidFill>
                  <a:latin typeface="Calibri"/>
                  <a:cs typeface="Calibri"/>
                </a:rPr>
                <a:t>Project Margin on fixed-fee contracts delivering with AI</a:t>
              </a:r>
            </a:p>
          </p:txBody>
        </p:sp>
      </p:grpSp>
      <p:sp>
        <p:nvSpPr>
          <p:cNvPr id="76" name="TextBox 75">
            <a:extLst>
              <a:ext uri="{FF2B5EF4-FFF2-40B4-BE49-F238E27FC236}">
                <a16:creationId xmlns:a16="http://schemas.microsoft.com/office/drawing/2014/main" id="{C30A3D3E-E077-1D7C-571C-916A0651E62E}"/>
              </a:ext>
            </a:extLst>
          </p:cNvPr>
          <p:cNvSpPr txBox="1"/>
          <p:nvPr/>
        </p:nvSpPr>
        <p:spPr>
          <a:xfrm>
            <a:off x="2815528" y="4634210"/>
            <a:ext cx="811441" cy="307777"/>
          </a:xfrm>
          <a:prstGeom prst="rect">
            <a:avLst/>
          </a:prstGeom>
          <a:noFill/>
        </p:spPr>
        <p:txBody>
          <a:bodyPr wrap="none" rtlCol="0">
            <a:spAutoFit/>
          </a:bodyPr>
          <a:lstStyle/>
          <a:p>
            <a:pPr algn="ctr"/>
            <a:r>
              <a:rPr lang="en-US" sz="1400" b="1"/>
              <a:t>Metrics</a:t>
            </a:r>
          </a:p>
        </p:txBody>
      </p:sp>
      <p:sp>
        <p:nvSpPr>
          <p:cNvPr id="77" name="TextBox 76">
            <a:extLst>
              <a:ext uri="{FF2B5EF4-FFF2-40B4-BE49-F238E27FC236}">
                <a16:creationId xmlns:a16="http://schemas.microsoft.com/office/drawing/2014/main" id="{89CDC96E-AD40-5AAE-E03E-2959BFD11033}"/>
              </a:ext>
            </a:extLst>
          </p:cNvPr>
          <p:cNvSpPr txBox="1"/>
          <p:nvPr/>
        </p:nvSpPr>
        <p:spPr>
          <a:xfrm>
            <a:off x="8557322" y="4634210"/>
            <a:ext cx="811441" cy="307777"/>
          </a:xfrm>
          <a:prstGeom prst="rect">
            <a:avLst/>
          </a:prstGeom>
          <a:noFill/>
        </p:spPr>
        <p:txBody>
          <a:bodyPr wrap="none" rtlCol="0">
            <a:spAutoFit/>
          </a:bodyPr>
          <a:lstStyle/>
          <a:p>
            <a:pPr algn="ctr"/>
            <a:r>
              <a:rPr lang="en-US" sz="1400" b="1"/>
              <a:t>Metrics</a:t>
            </a:r>
          </a:p>
        </p:txBody>
      </p:sp>
    </p:spTree>
    <p:extLst>
      <p:ext uri="{BB962C8B-B14F-4D97-AF65-F5344CB8AC3E}">
        <p14:creationId xmlns:p14="http://schemas.microsoft.com/office/powerpoint/2010/main" val="293837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xEl>
                                              <p:pRg st="6" end="6"/>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p:bldP spid="60" grpId="0" animBg="1"/>
      <p:bldP spid="61" grpId="0"/>
      <p:bldP spid="65" grpId="0" animBg="1"/>
      <p:bldP spid="66" grpId="0"/>
      <p:bldP spid="70" grpId="0" animBg="1"/>
      <p:bldP spid="71" grpId="0"/>
      <p:bldP spid="76" grpId="0"/>
      <p:bldP spid="7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925FB4B-42EB-50F5-0A5B-33C1680BB3AF}"/>
              </a:ext>
            </a:extLst>
          </p:cNvPr>
          <p:cNvSpPr>
            <a:spLocks noGrp="1"/>
          </p:cNvSpPr>
          <p:nvPr>
            <p:ph type="title"/>
          </p:nvPr>
        </p:nvSpPr>
        <p:spPr>
          <a:xfrm>
            <a:off x="542647" y="435281"/>
            <a:ext cx="11098999" cy="332399"/>
          </a:xfrm>
        </p:spPr>
        <p:txBody>
          <a:bodyPr/>
          <a:lstStyle/>
          <a:p>
            <a:r>
              <a:rPr lang="en-US" dirty="0"/>
              <a:t>AI Power Teams Kick Off</a:t>
            </a:r>
          </a:p>
        </p:txBody>
      </p:sp>
      <p:sp>
        <p:nvSpPr>
          <p:cNvPr id="9" name="Text Placeholder 8">
            <a:extLst>
              <a:ext uri="{FF2B5EF4-FFF2-40B4-BE49-F238E27FC236}">
                <a16:creationId xmlns:a16="http://schemas.microsoft.com/office/drawing/2014/main" id="{30E5EB53-FE4F-5A87-1672-5107BFFDDB24}"/>
              </a:ext>
            </a:extLst>
          </p:cNvPr>
          <p:cNvSpPr>
            <a:spLocks noGrp="1"/>
          </p:cNvSpPr>
          <p:nvPr>
            <p:ph type="body" sz="quarter" idx="10"/>
          </p:nvPr>
        </p:nvSpPr>
        <p:spPr>
          <a:xfrm>
            <a:off x="542647" y="851333"/>
            <a:ext cx="11098999" cy="276999"/>
          </a:xfrm>
        </p:spPr>
        <p:txBody>
          <a:bodyPr/>
          <a:lstStyle/>
          <a:p>
            <a:r>
              <a:rPr lang="en-US" dirty="0"/>
              <a:t>Leading the next wave of AI solutions across our practices</a:t>
            </a:r>
          </a:p>
        </p:txBody>
      </p:sp>
      <p:grpSp>
        <p:nvGrpSpPr>
          <p:cNvPr id="10" name="Group 9">
            <a:extLst>
              <a:ext uri="{FF2B5EF4-FFF2-40B4-BE49-F238E27FC236}">
                <a16:creationId xmlns:a16="http://schemas.microsoft.com/office/drawing/2014/main" id="{7330A2A9-DD2F-AEDB-9576-BAA6E2F34B63}"/>
              </a:ext>
            </a:extLst>
          </p:cNvPr>
          <p:cNvGrpSpPr/>
          <p:nvPr/>
        </p:nvGrpSpPr>
        <p:grpSpPr>
          <a:xfrm>
            <a:off x="542646" y="1389284"/>
            <a:ext cx="7534553" cy="430283"/>
            <a:chOff x="542646" y="1886195"/>
            <a:chExt cx="7262748" cy="430283"/>
          </a:xfrm>
        </p:grpSpPr>
        <p:cxnSp>
          <p:nvCxnSpPr>
            <p:cNvPr id="11" name="Straight Connector 10">
              <a:extLst>
                <a:ext uri="{FF2B5EF4-FFF2-40B4-BE49-F238E27FC236}">
                  <a16:creationId xmlns:a16="http://schemas.microsoft.com/office/drawing/2014/main" id="{85732AD1-B9DA-7A2E-639C-19B9B63FCD80}"/>
                </a:ext>
              </a:extLst>
            </p:cNvPr>
            <p:cNvCxnSpPr>
              <a:cxnSpLocks/>
            </p:cNvCxnSpPr>
            <p:nvPr/>
          </p:nvCxnSpPr>
          <p:spPr>
            <a:xfrm flipV="1">
              <a:off x="4264089" y="2101337"/>
              <a:ext cx="3541305" cy="8796"/>
            </a:xfrm>
            <a:prstGeom prst="line">
              <a:avLst/>
            </a:prstGeom>
            <a:ln w="28575">
              <a:solidFill>
                <a:srgbClr val="005F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B8D330B-DCC3-647C-3E53-2A0D059D3CD0}"/>
                </a:ext>
              </a:extLst>
            </p:cNvPr>
            <p:cNvSpPr/>
            <p:nvPr/>
          </p:nvSpPr>
          <p:spPr>
            <a:xfrm>
              <a:off x="542646" y="1886195"/>
              <a:ext cx="3805467" cy="4302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effectLst/>
                  <a:uLnTx/>
                  <a:uFillTx/>
                  <a:latin typeface="Century Gothic" panose="020B0502020202020204" pitchFamily="34" charset="0"/>
                  <a:ea typeface="Helvetica Neue Medium"/>
                  <a:cs typeface="Helvetica Neue Medium"/>
                  <a:sym typeface="Helvetica Neue Medium"/>
                </a:rPr>
                <a:t>WHY THIS MATTERS (PRACTICE VALUE)</a:t>
              </a:r>
              <a:endParaRPr kumimoji="0" lang="en-US" sz="1600" b="1" i="0" u="none" strike="noStrike" kern="1200" cap="none" spc="0" normalizeH="0" baseline="0" noProof="0" dirty="0">
                <a:ln>
                  <a:noFill/>
                </a:ln>
                <a:effectLst/>
                <a:uLnTx/>
                <a:uFillTx/>
                <a:latin typeface="Tungsten Semibold"/>
                <a:ea typeface="Helvetica Neue Medium"/>
                <a:cs typeface="Helvetica Neue Medium"/>
                <a:sym typeface="Helvetica Neue Medium"/>
              </a:endParaRPr>
            </a:p>
          </p:txBody>
        </p:sp>
      </p:grpSp>
      <p:graphicFrame>
        <p:nvGraphicFramePr>
          <p:cNvPr id="13" name="Table 12">
            <a:extLst>
              <a:ext uri="{FF2B5EF4-FFF2-40B4-BE49-F238E27FC236}">
                <a16:creationId xmlns:a16="http://schemas.microsoft.com/office/drawing/2014/main" id="{B87DE21F-9084-6802-F28D-9A47BC45CBAC}"/>
              </a:ext>
            </a:extLst>
          </p:cNvPr>
          <p:cNvGraphicFramePr>
            <a:graphicFrameLocks noGrp="1"/>
          </p:cNvGraphicFramePr>
          <p:nvPr>
            <p:extLst>
              <p:ext uri="{D42A27DB-BD31-4B8C-83A1-F6EECF244321}">
                <p14:modId xmlns:p14="http://schemas.microsoft.com/office/powerpoint/2010/main" val="475485010"/>
              </p:ext>
            </p:extLst>
          </p:nvPr>
        </p:nvGraphicFramePr>
        <p:xfrm>
          <a:off x="542648" y="1828363"/>
          <a:ext cx="7534552" cy="4248459"/>
        </p:xfrm>
        <a:graphic>
          <a:graphicData uri="http://schemas.openxmlformats.org/drawingml/2006/table">
            <a:tbl>
              <a:tblPr/>
              <a:tblGrid>
                <a:gridCol w="751702">
                  <a:extLst>
                    <a:ext uri="{9D8B030D-6E8A-4147-A177-3AD203B41FA5}">
                      <a16:colId xmlns:a16="http://schemas.microsoft.com/office/drawing/2014/main" val="2307090623"/>
                    </a:ext>
                  </a:extLst>
                </a:gridCol>
                <a:gridCol w="1553759">
                  <a:extLst>
                    <a:ext uri="{9D8B030D-6E8A-4147-A177-3AD203B41FA5}">
                      <a16:colId xmlns:a16="http://schemas.microsoft.com/office/drawing/2014/main" val="20000"/>
                    </a:ext>
                  </a:extLst>
                </a:gridCol>
                <a:gridCol w="5229091">
                  <a:extLst>
                    <a:ext uri="{9D8B030D-6E8A-4147-A177-3AD203B41FA5}">
                      <a16:colId xmlns:a16="http://schemas.microsoft.com/office/drawing/2014/main" val="1588909181"/>
                    </a:ext>
                  </a:extLst>
                </a:gridCol>
              </a:tblGrid>
              <a:tr h="1416153">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algn="ctr">
                        <a:spcAft>
                          <a:spcPts val="0"/>
                        </a:spcAft>
                      </a:pPr>
                      <a:r>
                        <a:rPr lang="en-US" sz="1200" b="0" i="0" dirty="0">
                          <a:solidFill>
                            <a:schemeClr val="tx1"/>
                          </a:solidFill>
                          <a:latin typeface="+mj-lt"/>
                        </a:rPr>
                        <a:t> </a:t>
                      </a:r>
                    </a:p>
                  </a:txBody>
                  <a:tcPr marL="137160" marR="137160" marT="137160" marB="137160" anchor="ctr">
                    <a:lnL w="12700" cap="flat" cmpd="sng" algn="ctr">
                      <a:noFill/>
                      <a:prstDash val="sysDash"/>
                      <a:round/>
                      <a:headEnd type="none" w="med" len="med"/>
                      <a:tailEnd type="none" w="med" len="med"/>
                    </a:lnL>
                    <a:lnR w="6350" cap="flat" cmpd="sng" algn="ctr">
                      <a:noFill/>
                      <a:prstDash val="solid"/>
                      <a:round/>
                      <a:headEnd type="none" w="med" len="med"/>
                      <a:tailEnd type="none" w="med" len="med"/>
                    </a:lnR>
                    <a:lnT w="12700" cap="flat" cmpd="sng" algn="ctr">
                      <a:noFill/>
                      <a:prstDash val="sysDash"/>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lvl="0" algn="l" defTabSz="740368"/>
                      <a:r>
                        <a:rPr lang="en-US" sz="1200" b="1" i="0" dirty="0">
                          <a:solidFill>
                            <a:schemeClr val="tx1"/>
                          </a:solidFill>
                          <a:latin typeface="+mj-lt"/>
                          <a:ea typeface="Arial Narrow" charset="0"/>
                          <a:cs typeface="Arial Narrow" charset="0"/>
                        </a:rPr>
                        <a:t>Why you were nominated</a:t>
                      </a:r>
                    </a:p>
                  </a:txBody>
                  <a:tcPr marL="45720" marR="45720" anchor="ctr">
                    <a:lnL w="12700" cmpd="sng">
                      <a:noFill/>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alpha val="34118"/>
                      </a:srgbClr>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171450" indent="-171450">
                        <a:buFont typeface="Arial" panose="020B0604020202020204" pitchFamily="34" charset="0"/>
                        <a:buChar char="•"/>
                      </a:pPr>
                      <a:r>
                        <a:rPr lang="en-US" sz="1100" dirty="0">
                          <a:latin typeface="+mj-lt"/>
                        </a:rPr>
                        <a:t>You bring </a:t>
                      </a:r>
                      <a:r>
                        <a:rPr lang="en-US" sz="1100" b="1" dirty="0">
                          <a:latin typeface="+mj-lt"/>
                        </a:rPr>
                        <a:t>industry credibility</a:t>
                      </a:r>
                      <a:r>
                        <a:rPr lang="en-US" sz="1100" dirty="0">
                          <a:latin typeface="+mj-lt"/>
                        </a:rPr>
                        <a:t> and </a:t>
                      </a:r>
                      <a:r>
                        <a:rPr lang="en-US" sz="1100" b="1" dirty="0">
                          <a:latin typeface="+mj-lt"/>
                        </a:rPr>
                        <a:t>client insights</a:t>
                      </a:r>
                    </a:p>
                    <a:p>
                      <a:pPr marL="171450" indent="-171450">
                        <a:buFont typeface="Arial" panose="020B0604020202020204" pitchFamily="34" charset="0"/>
                        <a:buChar char="•"/>
                      </a:pPr>
                      <a:r>
                        <a:rPr lang="en-US" sz="1100" dirty="0">
                          <a:latin typeface="+mj-lt"/>
                        </a:rPr>
                        <a:t>You can translate “what clients need” into practical </a:t>
                      </a:r>
                      <a:r>
                        <a:rPr lang="en-US" sz="1100" b="1" dirty="0">
                          <a:latin typeface="+mj-lt"/>
                        </a:rPr>
                        <a:t>industry relevant solutions</a:t>
                      </a:r>
                      <a:r>
                        <a:rPr lang="en-US" sz="1100" dirty="0">
                          <a:latin typeface="+mj-lt"/>
                        </a:rPr>
                        <a:t> (not generic AI demos)</a:t>
                      </a:r>
                    </a:p>
                    <a:p>
                      <a:pPr marL="171450" indent="-171450">
                        <a:buFont typeface="Arial" panose="020B0604020202020204" pitchFamily="34" charset="0"/>
                        <a:buChar char="•"/>
                      </a:pPr>
                      <a:r>
                        <a:rPr lang="en-US" sz="1100" dirty="0">
                          <a:latin typeface="+mj-lt"/>
                        </a:rPr>
                        <a:t>Your role helps Capco </a:t>
                      </a:r>
                      <a:r>
                        <a:rPr lang="en-US" sz="1100" b="1" dirty="0">
                          <a:latin typeface="+mj-lt"/>
                        </a:rPr>
                        <a:t>differentiate in pursuits</a:t>
                      </a:r>
                      <a:r>
                        <a:rPr lang="en-US" sz="1100" dirty="0">
                          <a:latin typeface="+mj-lt"/>
                        </a:rPr>
                        <a:t> and accelerate </a:t>
                      </a:r>
                      <a:r>
                        <a:rPr lang="en-US" sz="1100" b="1" dirty="0">
                          <a:latin typeface="+mj-lt"/>
                        </a:rPr>
                        <a:t>top-of-funnel </a:t>
                      </a:r>
                      <a:r>
                        <a:rPr lang="en-US" sz="1100" b="0" dirty="0">
                          <a:latin typeface="+mj-lt"/>
                        </a:rPr>
                        <a:t>generation</a:t>
                      </a:r>
                      <a:endParaRPr lang="en-US" sz="1100" dirty="0">
                        <a:latin typeface="+mj-lt"/>
                      </a:endParaRPr>
                    </a:p>
                  </a:txBody>
                  <a:tcPr marL="45720" marR="45720" anchor="ctr">
                    <a:lnL w="12700" cmpd="sng">
                      <a:noFill/>
                    </a:lnL>
                    <a:lnR w="12700" cap="flat" cmpd="sng" algn="ctr">
                      <a:noFill/>
                      <a:prstDash val="sysDash"/>
                      <a:round/>
                      <a:headEnd type="none" w="med" len="med"/>
                      <a:tailEnd type="none" w="med" len="med"/>
                    </a:lnR>
                    <a:lnT w="12700"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F2121">
                        <a:alpha val="5000"/>
                      </a:srgbClr>
                    </a:solidFill>
                  </a:tcPr>
                </a:tc>
                <a:extLst>
                  <a:ext uri="{0D108BD9-81ED-4DB2-BD59-A6C34878D82A}">
                    <a16:rowId xmlns:a16="http://schemas.microsoft.com/office/drawing/2014/main" val="10000"/>
                  </a:ext>
                </a:extLst>
              </a:tr>
              <a:tr h="1416153">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0" marR="0" lvl="0" indent="0" algn="ctr" defTabSz="410751"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j-lt"/>
                          <a:ea typeface="+mn-ea"/>
                          <a:cs typeface="+mn-cs"/>
                          <a:sym typeface="Helvetica Neue Light"/>
                        </a:rPr>
                        <a:t> </a:t>
                      </a:r>
                    </a:p>
                  </a:txBody>
                  <a:tcPr marL="137160" marR="137160" marT="137160" marB="137160" anchor="ctr">
                    <a:lnL w="12700" cap="flat" cmpd="sng" algn="ctr">
                      <a:noFill/>
                      <a:prstDash val="sysDash"/>
                      <a:round/>
                      <a:headEnd type="none" w="med" len="med"/>
                      <a:tailEnd type="none" w="med" len="med"/>
                    </a:lnL>
                    <a:lnR w="635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lvl="0" algn="l" defTabSz="740368"/>
                      <a:r>
                        <a:rPr lang="en-US" sz="1200" b="1" i="0" dirty="0">
                          <a:solidFill>
                            <a:schemeClr val="tx1"/>
                          </a:solidFill>
                          <a:latin typeface="+mj-lt"/>
                          <a:ea typeface="Arial Narrow" charset="0"/>
                          <a:cs typeface="Arial Narrow" charset="0"/>
                        </a:rPr>
                        <a:t>What this enables</a:t>
                      </a:r>
                    </a:p>
                  </a:txBody>
                  <a:tcPr marL="45720" marR="45720" anchor="ctr">
                    <a:lnL w="12700" cmpd="sng">
                      <a:noFill/>
                    </a:lnL>
                    <a:lnR w="1270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alpha val="34118"/>
                      </a:srgbClr>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171450" indent="-171450">
                        <a:buFont typeface="Arial" panose="020B0604020202020204" pitchFamily="34" charset="0"/>
                        <a:buChar char="•"/>
                      </a:pPr>
                      <a:r>
                        <a:rPr lang="en-US" sz="1100" b="1" dirty="0">
                          <a:latin typeface="+mj-lt"/>
                        </a:rPr>
                        <a:t>Win more deals </a:t>
                      </a:r>
                      <a:r>
                        <a:rPr lang="en-US" sz="1100" b="0" dirty="0">
                          <a:latin typeface="+mj-lt"/>
                        </a:rPr>
                        <a:t>through </a:t>
                      </a:r>
                      <a:r>
                        <a:rPr lang="en-US" sz="1100" dirty="0">
                          <a:latin typeface="+mj-lt"/>
                        </a:rPr>
                        <a:t>stronger differentiation with client-ready offerings</a:t>
                      </a:r>
                    </a:p>
                    <a:p>
                      <a:pPr marL="171450" indent="-171450">
                        <a:buFont typeface="Arial" panose="020B0604020202020204" pitchFamily="34" charset="0"/>
                        <a:buChar char="•"/>
                      </a:pPr>
                      <a:r>
                        <a:rPr lang="en-US" sz="1100" b="1" dirty="0">
                          <a:latin typeface="+mj-lt"/>
                        </a:rPr>
                        <a:t>Move faster </a:t>
                      </a:r>
                      <a:r>
                        <a:rPr lang="en-US" sz="1100" b="0" dirty="0">
                          <a:latin typeface="+mj-lt"/>
                        </a:rPr>
                        <a:t>with AI </a:t>
                      </a:r>
                      <a:r>
                        <a:rPr lang="en-US" sz="1100" dirty="0">
                          <a:latin typeface="+mj-lt"/>
                        </a:rPr>
                        <a:t>build support to </a:t>
                      </a:r>
                      <a:r>
                        <a:rPr lang="en-US" sz="1100" b="0" dirty="0">
                          <a:latin typeface="+mj-lt"/>
                        </a:rPr>
                        <a:t>get demos &amp; assets ready </a:t>
                      </a:r>
                      <a:r>
                        <a:rPr lang="en-US" sz="1100" dirty="0">
                          <a:latin typeface="+mj-lt"/>
                        </a:rPr>
                        <a:t>quickly</a:t>
                      </a:r>
                    </a:p>
                    <a:p>
                      <a:pPr marL="171450" indent="-171450">
                        <a:buFont typeface="Arial" panose="020B0604020202020204" pitchFamily="34" charset="0"/>
                        <a:buChar char="•"/>
                      </a:pPr>
                      <a:r>
                        <a:rPr lang="en-US" sz="1100" b="1" dirty="0">
                          <a:latin typeface="+mj-lt"/>
                        </a:rPr>
                        <a:t>Scale what works </a:t>
                      </a:r>
                      <a:r>
                        <a:rPr lang="en-US" sz="1100" dirty="0">
                          <a:latin typeface="+mj-lt"/>
                        </a:rPr>
                        <a:t>across practices and client pursuits</a:t>
                      </a:r>
                    </a:p>
                  </a:txBody>
                  <a:tcPr marL="45720" marR="45720" anchor="ctr">
                    <a:lnL w="12700" cmpd="sng">
                      <a:noFill/>
                    </a:lnL>
                    <a:lnR w="1270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F2121">
                        <a:alpha val="5000"/>
                      </a:srgbClr>
                    </a:solidFill>
                  </a:tcPr>
                </a:tc>
                <a:extLst>
                  <a:ext uri="{0D108BD9-81ED-4DB2-BD59-A6C34878D82A}">
                    <a16:rowId xmlns:a16="http://schemas.microsoft.com/office/drawing/2014/main" val="10001"/>
                  </a:ext>
                </a:extLst>
              </a:tr>
              <a:tr h="1416153">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0" marR="0" lvl="0" indent="0" algn="ctr" defTabSz="410751"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j-lt"/>
                          <a:ea typeface="+mn-ea"/>
                          <a:cs typeface="+mn-cs"/>
                          <a:sym typeface="Helvetica Neue Light"/>
                        </a:rPr>
                        <a:t> </a:t>
                      </a:r>
                    </a:p>
                  </a:txBody>
                  <a:tcPr marL="137160" marR="137160" marT="137160" marB="137160" anchor="ctr">
                    <a:lnL w="12700" cap="flat" cmpd="sng" algn="ctr">
                      <a:noFill/>
                      <a:prstDash val="sysDash"/>
                      <a:round/>
                      <a:headEnd type="none" w="med" len="med"/>
                      <a:tailEnd type="none" w="med" len="med"/>
                    </a:lnL>
                    <a:lnR w="635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rgbClr val="005F65"/>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lvl="0" algn="l" defTabSz="740368"/>
                      <a:r>
                        <a:rPr lang="en-US" sz="1200" b="1" i="0" dirty="0">
                          <a:solidFill>
                            <a:schemeClr val="tx1"/>
                          </a:solidFill>
                          <a:latin typeface="+mj-lt"/>
                          <a:ea typeface="Arial Narrow" charset="0"/>
                          <a:cs typeface="Arial Narrow" charset="0"/>
                        </a:rPr>
                        <a:t>Cross-sell visibility + pipeline activation</a:t>
                      </a:r>
                    </a:p>
                  </a:txBody>
                  <a:tcPr marL="45720" marR="45720" anchor="ctr">
                    <a:lnL w="12700" cmpd="sng">
                      <a:noFill/>
                    </a:lnL>
                    <a:lnR w="1270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rgbClr val="005F65">
                        <a:alpha val="34118"/>
                      </a:srgbClr>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171450" indent="-171450">
                        <a:buFont typeface="Arial" panose="020B0604020202020204" pitchFamily="34" charset="0"/>
                        <a:buChar char="•"/>
                      </a:pPr>
                      <a:r>
                        <a:rPr lang="en-US" sz="1100" dirty="0">
                          <a:latin typeface="+mj-lt"/>
                        </a:rPr>
                        <a:t>One view of </a:t>
                      </a:r>
                      <a:r>
                        <a:rPr lang="en-US" sz="1100" b="1" dirty="0">
                          <a:latin typeface="+mj-lt"/>
                        </a:rPr>
                        <a:t>what’s ready</a:t>
                      </a:r>
                      <a:r>
                        <a:rPr lang="en-US" sz="1100" dirty="0">
                          <a:latin typeface="+mj-lt"/>
                        </a:rPr>
                        <a:t>, </a:t>
                      </a:r>
                      <a:r>
                        <a:rPr lang="en-US" sz="1100" b="1" dirty="0">
                          <a:latin typeface="+mj-lt"/>
                        </a:rPr>
                        <a:t>where it fits</a:t>
                      </a:r>
                      <a:r>
                        <a:rPr lang="en-US" sz="1100" dirty="0">
                          <a:latin typeface="+mj-lt"/>
                        </a:rPr>
                        <a:t>, and </a:t>
                      </a:r>
                      <a:r>
                        <a:rPr lang="en-US" sz="1100" b="1" dirty="0">
                          <a:latin typeface="+mj-lt"/>
                        </a:rPr>
                        <a:t>who owns it</a:t>
                      </a:r>
                      <a:endParaRPr lang="en-US" sz="1100" dirty="0">
                        <a:latin typeface="+mj-lt"/>
                      </a:endParaRPr>
                    </a:p>
                    <a:p>
                      <a:pPr marL="171450" indent="-171450">
                        <a:buFont typeface="Arial" panose="020B0604020202020204" pitchFamily="34" charset="0"/>
                        <a:buChar char="•"/>
                      </a:pPr>
                      <a:r>
                        <a:rPr lang="en-US" sz="1100" dirty="0">
                          <a:latin typeface="+mj-lt"/>
                        </a:rPr>
                        <a:t>Each showcase ends with </a:t>
                      </a:r>
                      <a:r>
                        <a:rPr lang="en-US" sz="1100" b="1" dirty="0">
                          <a:latin typeface="+mj-lt"/>
                        </a:rPr>
                        <a:t>target accounts + follow-ups</a:t>
                      </a:r>
                      <a:r>
                        <a:rPr lang="en-US" sz="1100" dirty="0">
                          <a:latin typeface="+mj-lt"/>
                        </a:rPr>
                        <a:t> (owners + next steps)</a:t>
                      </a:r>
                    </a:p>
                    <a:p>
                      <a:pPr marL="171450" indent="-171450">
                        <a:buFont typeface="Arial" panose="020B0604020202020204" pitchFamily="34" charset="0"/>
                        <a:buChar char="•"/>
                      </a:pPr>
                      <a:r>
                        <a:rPr lang="en-US" sz="1100" dirty="0">
                          <a:latin typeface="+mj-lt"/>
                        </a:rPr>
                        <a:t>Reusable assets (</a:t>
                      </a:r>
                      <a:r>
                        <a:rPr lang="en-US" sz="1100" b="1" dirty="0">
                          <a:latin typeface="+mj-lt"/>
                        </a:rPr>
                        <a:t>demo + talk track</a:t>
                      </a:r>
                      <a:r>
                        <a:rPr lang="en-US" sz="1100" dirty="0">
                          <a:latin typeface="+mj-lt"/>
                        </a:rPr>
                        <a:t>) make cross-sell fast across pursuits</a:t>
                      </a:r>
                    </a:p>
                  </a:txBody>
                  <a:tcPr marL="45720" marR="45720" anchor="ctr">
                    <a:lnL w="12700" cmpd="sng">
                      <a:noFill/>
                    </a:lnL>
                    <a:lnR w="1270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rgbClr val="1F2121">
                        <a:alpha val="5000"/>
                      </a:srgbClr>
                    </a:solidFill>
                  </a:tcPr>
                </a:tc>
                <a:extLst>
                  <a:ext uri="{0D108BD9-81ED-4DB2-BD59-A6C34878D82A}">
                    <a16:rowId xmlns:a16="http://schemas.microsoft.com/office/drawing/2014/main" val="10002"/>
                  </a:ext>
                </a:extLst>
              </a:tr>
            </a:tbl>
          </a:graphicData>
        </a:graphic>
      </p:graphicFrame>
      <p:pic>
        <p:nvPicPr>
          <p:cNvPr id="14" name="Picture 13">
            <a:extLst>
              <a:ext uri="{FF2B5EF4-FFF2-40B4-BE49-F238E27FC236}">
                <a16:creationId xmlns:a16="http://schemas.microsoft.com/office/drawing/2014/main" id="{2656CCF8-D54E-46D7-BA32-F63EB04D69CC}"/>
              </a:ext>
            </a:extLst>
          </p:cNvPr>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626825" y="5155202"/>
            <a:ext cx="562284" cy="363491"/>
          </a:xfrm>
          <a:prstGeom prst="rect">
            <a:avLst/>
          </a:prstGeom>
        </p:spPr>
      </p:pic>
      <p:pic>
        <p:nvPicPr>
          <p:cNvPr id="15" name="Picture 14">
            <a:extLst>
              <a:ext uri="{FF2B5EF4-FFF2-40B4-BE49-F238E27FC236}">
                <a16:creationId xmlns:a16="http://schemas.microsoft.com/office/drawing/2014/main" id="{A895555A-3CDF-0B08-5211-75AA31B17F6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88224" y="2340517"/>
            <a:ext cx="434000" cy="434000"/>
          </a:xfrm>
          <a:prstGeom prst="rect">
            <a:avLst/>
          </a:prstGeom>
        </p:spPr>
      </p:pic>
      <p:pic>
        <p:nvPicPr>
          <p:cNvPr id="16" name="Graphic 15" descr="Cloud">
            <a:extLst>
              <a:ext uri="{FF2B5EF4-FFF2-40B4-BE49-F238E27FC236}">
                <a16:creationId xmlns:a16="http://schemas.microsoft.com/office/drawing/2014/main" id="{0A64D0C9-946F-102C-768A-0EB701CD322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1338" y="3666681"/>
            <a:ext cx="567771" cy="567771"/>
          </a:xfrm>
          <a:prstGeom prst="rect">
            <a:avLst/>
          </a:prstGeom>
        </p:spPr>
      </p:pic>
      <p:sp>
        <p:nvSpPr>
          <p:cNvPr id="17" name="Rectangle 16">
            <a:extLst>
              <a:ext uri="{FF2B5EF4-FFF2-40B4-BE49-F238E27FC236}">
                <a16:creationId xmlns:a16="http://schemas.microsoft.com/office/drawing/2014/main" id="{24B5B909-4817-4F2D-2119-39ECB49C64DD}"/>
              </a:ext>
            </a:extLst>
          </p:cNvPr>
          <p:cNvSpPr/>
          <p:nvPr/>
        </p:nvSpPr>
        <p:spPr>
          <a:xfrm>
            <a:off x="8268930" y="1828363"/>
            <a:ext cx="3687097" cy="2153878"/>
          </a:xfrm>
          <a:prstGeom prst="rect">
            <a:avLst/>
          </a:prstGeom>
          <a:noFill/>
          <a:ln>
            <a:solidFill>
              <a:srgbClr val="005F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8270" marR="0" lvl="0" indent="-128270" algn="l" defTabSz="555276" rtl="0" eaLnBrk="1" fontAlgn="auto" latinLnBrk="0" hangingPunct="1">
              <a:lnSpc>
                <a:spcPct val="100000"/>
              </a:lnSpc>
              <a:spcBef>
                <a:spcPts val="300"/>
              </a:spcBef>
              <a:spcAft>
                <a:spcPts val="0"/>
              </a:spcAft>
              <a:buClr>
                <a:srgbClr val="FFFFFF"/>
              </a:buClr>
              <a:buSzTx/>
              <a:buFont typeface="Wingdings" charset="2"/>
              <a:buChar char="§"/>
              <a:tabLst/>
              <a:defRPr/>
            </a:pPr>
            <a:endParaRPr kumimoji="0" lang="en-US" sz="1050" b="0" i="0" u="none" strike="noStrike" kern="1200" cap="none" spc="0" normalizeH="0" baseline="0" noProof="0" dirty="0">
              <a:ln>
                <a:noFill/>
              </a:ln>
              <a:solidFill>
                <a:schemeClr val="tx1"/>
              </a:solidFill>
              <a:effectLst/>
              <a:uLnTx/>
              <a:uFillTx/>
              <a:latin typeface="Calibri" panose="020F0502020204030204"/>
              <a:ea typeface="Roboto Condensed" charset="0"/>
              <a:cs typeface="Helvetica"/>
            </a:endParaRPr>
          </a:p>
        </p:txBody>
      </p:sp>
      <p:sp>
        <p:nvSpPr>
          <p:cNvPr id="18" name="Rectangle 17">
            <a:extLst>
              <a:ext uri="{FF2B5EF4-FFF2-40B4-BE49-F238E27FC236}">
                <a16:creationId xmlns:a16="http://schemas.microsoft.com/office/drawing/2014/main" id="{314D12A5-5A43-ADEE-1B0E-C90F5156978E}"/>
              </a:ext>
            </a:extLst>
          </p:cNvPr>
          <p:cNvSpPr/>
          <p:nvPr/>
        </p:nvSpPr>
        <p:spPr>
          <a:xfrm>
            <a:off x="8276079" y="4392833"/>
            <a:ext cx="3687097" cy="1683989"/>
          </a:xfrm>
          <a:prstGeom prst="rect">
            <a:avLst/>
          </a:prstGeom>
          <a:noFill/>
          <a:ln>
            <a:solidFill>
              <a:srgbClr val="005F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8270" marR="0" lvl="0" indent="-128270" algn="l" defTabSz="555276" rtl="0" eaLnBrk="1" fontAlgn="auto" latinLnBrk="0" hangingPunct="1">
              <a:lnSpc>
                <a:spcPct val="100000"/>
              </a:lnSpc>
              <a:spcBef>
                <a:spcPts val="300"/>
              </a:spcBef>
              <a:spcAft>
                <a:spcPts val="0"/>
              </a:spcAft>
              <a:buClr>
                <a:srgbClr val="FFFFFF"/>
              </a:buClr>
              <a:buSzTx/>
              <a:buFont typeface="Wingdings" charset="2"/>
              <a:buChar char="§"/>
              <a:tabLst/>
              <a:defRPr/>
            </a:pPr>
            <a:endParaRPr kumimoji="0" lang="en-US" sz="1050" b="0" i="0" u="none" strike="noStrike" kern="1200" cap="none" spc="0" normalizeH="0" baseline="0" noProof="0" dirty="0">
              <a:ln>
                <a:noFill/>
              </a:ln>
              <a:solidFill>
                <a:schemeClr val="tx1"/>
              </a:solidFill>
              <a:effectLst/>
              <a:uLnTx/>
              <a:uFillTx/>
              <a:latin typeface="Calibri" panose="020F0502020204030204"/>
              <a:ea typeface="Roboto Condensed" charset="0"/>
              <a:cs typeface="Helvetica"/>
            </a:endParaRPr>
          </a:p>
        </p:txBody>
      </p:sp>
      <p:sp>
        <p:nvSpPr>
          <p:cNvPr id="19" name="Rectangle 18">
            <a:extLst>
              <a:ext uri="{FF2B5EF4-FFF2-40B4-BE49-F238E27FC236}">
                <a16:creationId xmlns:a16="http://schemas.microsoft.com/office/drawing/2014/main" id="{9ABD7AA4-9C39-8E0A-DC52-884A5E61DF86}"/>
              </a:ext>
            </a:extLst>
          </p:cNvPr>
          <p:cNvSpPr/>
          <p:nvPr/>
        </p:nvSpPr>
        <p:spPr>
          <a:xfrm>
            <a:off x="8599946" y="1613222"/>
            <a:ext cx="3025063" cy="430283"/>
          </a:xfrm>
          <a:prstGeom prst="rect">
            <a:avLst/>
          </a:prstGeom>
          <a:solidFill>
            <a:srgbClr val="47727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Century Gothic" panose="020B0502020202020204" pitchFamily="34" charset="0"/>
                <a:ea typeface="Helvetica Neue Medium"/>
                <a:cs typeface="Helvetica Neue Medium"/>
                <a:sym typeface="Helvetica Neue Medium"/>
              </a:rPr>
              <a:t>THE AMBITION</a:t>
            </a:r>
            <a:endParaRPr kumimoji="0" lang="en-US" sz="1400" b="1" i="0" u="none" strike="noStrike" kern="1200" cap="none" spc="0" normalizeH="0" baseline="0" noProof="0" dirty="0">
              <a:ln>
                <a:noFill/>
              </a:ln>
              <a:solidFill>
                <a:schemeClr val="bg1"/>
              </a:solidFill>
              <a:effectLst/>
              <a:uLnTx/>
              <a:uFillTx/>
              <a:latin typeface="Tungsten Semibold"/>
              <a:ea typeface="Helvetica Neue Medium"/>
              <a:cs typeface="Helvetica Neue Medium"/>
              <a:sym typeface="Helvetica Neue Medium"/>
            </a:endParaRPr>
          </a:p>
        </p:txBody>
      </p:sp>
      <p:sp>
        <p:nvSpPr>
          <p:cNvPr id="23" name="Rectangle 22">
            <a:extLst>
              <a:ext uri="{FF2B5EF4-FFF2-40B4-BE49-F238E27FC236}">
                <a16:creationId xmlns:a16="http://schemas.microsoft.com/office/drawing/2014/main" id="{1FC8AB20-CC62-16DD-C43D-CFEC18F3CA55}"/>
              </a:ext>
            </a:extLst>
          </p:cNvPr>
          <p:cNvSpPr/>
          <p:nvPr/>
        </p:nvSpPr>
        <p:spPr>
          <a:xfrm>
            <a:off x="8599946" y="4116104"/>
            <a:ext cx="3025063" cy="430283"/>
          </a:xfrm>
          <a:prstGeom prst="rect">
            <a:avLst/>
          </a:prstGeom>
          <a:solidFill>
            <a:srgbClr val="47727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Century Gothic" panose="020B0502020202020204" pitchFamily="34" charset="0"/>
                <a:ea typeface="Helvetica Neue Medium"/>
                <a:cs typeface="Helvetica Neue Medium"/>
                <a:sym typeface="Helvetica Neue Medium"/>
              </a:rPr>
              <a:t>WHAT’S IN IT FOR YOU</a:t>
            </a:r>
            <a:endParaRPr kumimoji="0" lang="en-US" sz="1400" b="1" i="0" u="none" strike="noStrike" kern="1200" cap="none" spc="0" normalizeH="0" baseline="0" noProof="0" dirty="0">
              <a:ln>
                <a:noFill/>
              </a:ln>
              <a:solidFill>
                <a:schemeClr val="bg1"/>
              </a:solidFill>
              <a:effectLst/>
              <a:uLnTx/>
              <a:uFillTx/>
              <a:latin typeface="Tungsten Semibold"/>
              <a:ea typeface="Helvetica Neue Medium"/>
              <a:cs typeface="Helvetica Neue Medium"/>
              <a:sym typeface="Helvetica Neue Medium"/>
            </a:endParaRPr>
          </a:p>
        </p:txBody>
      </p:sp>
      <p:sp>
        <p:nvSpPr>
          <p:cNvPr id="3" name="Rectangle 1">
            <a:extLst>
              <a:ext uri="{FF2B5EF4-FFF2-40B4-BE49-F238E27FC236}">
                <a16:creationId xmlns:a16="http://schemas.microsoft.com/office/drawing/2014/main" id="{B41D20AF-32EF-E6DB-A6C9-7DD7F6510351}"/>
              </a:ext>
            </a:extLst>
          </p:cNvPr>
          <p:cNvSpPr>
            <a:spLocks noChangeArrowheads="1"/>
          </p:cNvSpPr>
          <p:nvPr/>
        </p:nvSpPr>
        <p:spPr bwMode="auto">
          <a:xfrm>
            <a:off x="8257889" y="2100424"/>
            <a:ext cx="368709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mj-lt"/>
              </a:rPr>
              <a:t>FY27 US ambition:</a:t>
            </a:r>
            <a:r>
              <a:rPr kumimoji="0" lang="en-US" altLang="en-US" sz="1200" b="0" i="0" u="none" strike="noStrike" cap="none" normalizeH="0" baseline="0" dirty="0">
                <a:ln>
                  <a:noFill/>
                </a:ln>
                <a:solidFill>
                  <a:schemeClr val="tx1"/>
                </a:solidFill>
                <a:effectLst/>
                <a:latin typeface="+mj-lt"/>
              </a:rPr>
              <a:t> scale AI revenue from </a:t>
            </a:r>
            <a:r>
              <a:rPr kumimoji="0" lang="en-US" altLang="en-US" sz="1200" b="1" i="0" u="none" strike="noStrike" cap="none" normalizeH="0" baseline="0" dirty="0">
                <a:ln>
                  <a:noFill/>
                </a:ln>
                <a:solidFill>
                  <a:schemeClr val="tx1"/>
                </a:solidFill>
                <a:effectLst/>
                <a:latin typeface="+mj-lt"/>
              </a:rPr>
              <a:t>~$15M to ~$30M</a:t>
            </a:r>
            <a:endParaRPr kumimoji="0" lang="en-US" altLang="en-US" sz="1200" b="0" i="0" u="none" strike="noStrike" cap="none" normalizeH="0" baseline="0" dirty="0">
              <a:ln>
                <a:noFill/>
              </a:ln>
              <a:solidFill>
                <a:schemeClr val="tx1"/>
              </a:solidFill>
              <a:effectLst/>
              <a:latin typeface="+mj-lt"/>
            </a:endParaRP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mj-lt"/>
              </a:rPr>
              <a:t>Build repeatable, industry-relevant AI service offerings that practices can take to multiple clients</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mj-lt"/>
              </a:rPr>
              <a:t>This is a </a:t>
            </a:r>
            <a:r>
              <a:rPr kumimoji="0" lang="en-US" altLang="en-US" sz="1200" b="1" i="0" u="none" strike="noStrike" cap="none" normalizeH="0" baseline="0" dirty="0">
                <a:ln>
                  <a:noFill/>
                </a:ln>
                <a:solidFill>
                  <a:schemeClr val="tx1"/>
                </a:solidFill>
                <a:effectLst/>
                <a:latin typeface="+mj-lt"/>
              </a:rPr>
              <a:t>practice-led motion</a:t>
            </a:r>
            <a:r>
              <a:rPr kumimoji="0" lang="en-US" altLang="en-US" sz="1200" b="0" i="0" u="none" strike="noStrike" cap="none" normalizeH="0" baseline="0" dirty="0">
                <a:ln>
                  <a:noFill/>
                </a:ln>
                <a:solidFill>
                  <a:schemeClr val="tx1"/>
                </a:solidFill>
                <a:effectLst/>
                <a:latin typeface="+mj-lt"/>
              </a:rPr>
              <a:t> with tight interlock between </a:t>
            </a:r>
            <a:r>
              <a:rPr kumimoji="0" lang="en-US" altLang="en-US" sz="1200" b="1" i="0" u="none" strike="noStrike" cap="none" normalizeH="0" baseline="0" dirty="0">
                <a:ln>
                  <a:noFill/>
                </a:ln>
                <a:solidFill>
                  <a:schemeClr val="tx1"/>
                </a:solidFill>
                <a:effectLst/>
                <a:latin typeface="+mj-lt"/>
              </a:rPr>
              <a:t>practice champions, AI build support, and AI sales</a:t>
            </a:r>
            <a:endParaRPr kumimoji="0" lang="en-US" altLang="en-US" sz="1200" b="0" i="0" u="none" strike="noStrike" cap="none" normalizeH="0" baseline="0" dirty="0">
              <a:ln>
                <a:noFill/>
              </a:ln>
              <a:solidFill>
                <a:schemeClr val="tx1"/>
              </a:solidFill>
              <a:effectLst/>
              <a:latin typeface="+mj-lt"/>
            </a:endParaRPr>
          </a:p>
        </p:txBody>
      </p:sp>
      <p:sp>
        <p:nvSpPr>
          <p:cNvPr id="2" name="Rectangle 1">
            <a:extLst>
              <a:ext uri="{FF2B5EF4-FFF2-40B4-BE49-F238E27FC236}">
                <a16:creationId xmlns:a16="http://schemas.microsoft.com/office/drawing/2014/main" id="{AE685424-4E64-634E-6603-34BC4BBC6184}"/>
              </a:ext>
            </a:extLst>
          </p:cNvPr>
          <p:cNvSpPr>
            <a:spLocks noChangeArrowheads="1"/>
          </p:cNvSpPr>
          <p:nvPr/>
        </p:nvSpPr>
        <p:spPr bwMode="auto">
          <a:xfrm>
            <a:off x="8276079" y="4650051"/>
            <a:ext cx="3687097"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mj-lt"/>
              </a:rPr>
              <a:t>Be in the forefront in defining and shaping offerings your practice can take to market</a:t>
            </a:r>
          </a:p>
          <a:p>
            <a:pPr marL="285750" indent="-285750" eaLnBrk="0" fontAlgn="base" hangingPunct="0">
              <a:spcBef>
                <a:spcPct val="0"/>
              </a:spcBef>
              <a:spcAft>
                <a:spcPts val="600"/>
              </a:spcAft>
              <a:buFont typeface="Arial" panose="020B0604020202020204" pitchFamily="34" charset="0"/>
              <a:buChar char="•"/>
            </a:pPr>
            <a:r>
              <a:rPr lang="en-US" altLang="en-US" sz="1200" dirty="0"/>
              <a:t>A direct connection to </a:t>
            </a:r>
            <a:r>
              <a:rPr lang="en-US" altLang="en-US" sz="1200" b="1" dirty="0"/>
              <a:t>pipeline creation and downstream sales credit</a:t>
            </a:r>
            <a:endParaRPr kumimoji="0" lang="en-US" altLang="en-US" sz="12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mj-lt"/>
              </a:rPr>
              <a:t>Gain </a:t>
            </a:r>
            <a:r>
              <a:rPr lang="en-US" altLang="en-US" sz="1200" dirty="0">
                <a:latin typeface="+mj-lt"/>
              </a:rPr>
              <a:t>C</a:t>
            </a:r>
            <a:r>
              <a:rPr kumimoji="0" lang="en-US" altLang="en-US" sz="1200" b="0" i="0" u="none" strike="noStrike" cap="none" normalizeH="0" baseline="0" dirty="0">
                <a:ln>
                  <a:noFill/>
                </a:ln>
                <a:solidFill>
                  <a:schemeClr val="tx1"/>
                </a:solidFill>
                <a:effectLst/>
                <a:latin typeface="+mj-lt"/>
              </a:rPr>
              <a:t>ommunity rating credit</a:t>
            </a:r>
          </a:p>
        </p:txBody>
      </p:sp>
    </p:spTree>
    <p:extLst>
      <p:ext uri="{BB962C8B-B14F-4D97-AF65-F5344CB8AC3E}">
        <p14:creationId xmlns:p14="http://schemas.microsoft.com/office/powerpoint/2010/main" val="3717187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6AEF6-EE7F-DC8B-7A0F-D846ABE70FBC}"/>
              </a:ext>
            </a:extLst>
          </p:cNvPr>
          <p:cNvSpPr>
            <a:spLocks noGrp="1"/>
          </p:cNvSpPr>
          <p:nvPr>
            <p:ph type="title"/>
          </p:nvPr>
        </p:nvSpPr>
        <p:spPr>
          <a:xfrm>
            <a:off x="542646" y="411632"/>
            <a:ext cx="11098999" cy="332399"/>
          </a:xfrm>
        </p:spPr>
        <p:txBody>
          <a:bodyPr/>
          <a:lstStyle/>
          <a:p>
            <a:r>
              <a:rPr lang="en-US" dirty="0"/>
              <a:t>Meet Your “AI Power Team”: Assembled to Win in Every Practice</a:t>
            </a:r>
          </a:p>
        </p:txBody>
      </p:sp>
      <p:graphicFrame>
        <p:nvGraphicFramePr>
          <p:cNvPr id="4" name="Table 3">
            <a:extLst>
              <a:ext uri="{FF2B5EF4-FFF2-40B4-BE49-F238E27FC236}">
                <a16:creationId xmlns:a16="http://schemas.microsoft.com/office/drawing/2014/main" id="{BB28957D-EEFA-3B8D-EF81-FD66C4A31F6E}"/>
              </a:ext>
            </a:extLst>
          </p:cNvPr>
          <p:cNvGraphicFramePr>
            <a:graphicFrameLocks noGrp="1"/>
          </p:cNvGraphicFramePr>
          <p:nvPr>
            <p:extLst>
              <p:ext uri="{D42A27DB-BD31-4B8C-83A1-F6EECF244321}">
                <p14:modId xmlns:p14="http://schemas.microsoft.com/office/powerpoint/2010/main" val="1276430519"/>
              </p:ext>
            </p:extLst>
          </p:nvPr>
        </p:nvGraphicFramePr>
        <p:xfrm>
          <a:off x="542646" y="3205450"/>
          <a:ext cx="8570180" cy="3122614"/>
        </p:xfrm>
        <a:graphic>
          <a:graphicData uri="http://schemas.openxmlformats.org/drawingml/2006/table">
            <a:tbl>
              <a:tblPr firstRow="1" bandRow="1">
                <a:tableStyleId>{1E171933-4619-4E11-9A3F-F7608DF75F80}</a:tableStyleId>
              </a:tblPr>
              <a:tblGrid>
                <a:gridCol w="2158989">
                  <a:extLst>
                    <a:ext uri="{9D8B030D-6E8A-4147-A177-3AD203B41FA5}">
                      <a16:colId xmlns:a16="http://schemas.microsoft.com/office/drawing/2014/main" val="2580582124"/>
                    </a:ext>
                  </a:extLst>
                </a:gridCol>
                <a:gridCol w="2545773">
                  <a:extLst>
                    <a:ext uri="{9D8B030D-6E8A-4147-A177-3AD203B41FA5}">
                      <a16:colId xmlns:a16="http://schemas.microsoft.com/office/drawing/2014/main" val="1343438406"/>
                    </a:ext>
                  </a:extLst>
                </a:gridCol>
                <a:gridCol w="3865418">
                  <a:extLst>
                    <a:ext uri="{9D8B030D-6E8A-4147-A177-3AD203B41FA5}">
                      <a16:colId xmlns:a16="http://schemas.microsoft.com/office/drawing/2014/main" val="3851056177"/>
                    </a:ext>
                  </a:extLst>
                </a:gridCol>
              </a:tblGrid>
              <a:tr h="289864">
                <a:tc>
                  <a:txBody>
                    <a:bodyPr/>
                    <a:lstStyle/>
                    <a:p>
                      <a:pPr>
                        <a:buNone/>
                      </a:pPr>
                      <a:r>
                        <a:rPr lang="en-US" sz="1200"/>
                        <a:t>Pod Role</a:t>
                      </a:r>
                    </a:p>
                  </a:txBody>
                  <a:tcPr marL="43070" marR="43070" marT="21535" marB="21535" anchor="ctr"/>
                </a:tc>
                <a:tc>
                  <a:txBody>
                    <a:bodyPr/>
                    <a:lstStyle/>
                    <a:p>
                      <a:pPr>
                        <a:buNone/>
                      </a:pPr>
                      <a:r>
                        <a:rPr lang="en-US" sz="1200" dirty="0"/>
                        <a:t>Headline</a:t>
                      </a:r>
                    </a:p>
                  </a:txBody>
                  <a:tcPr marL="43070" marR="43070" marT="21535" marB="21535" anchor="ctr"/>
                </a:tc>
                <a:tc>
                  <a:txBody>
                    <a:bodyPr/>
                    <a:lstStyle/>
                    <a:p>
                      <a:pPr>
                        <a:buNone/>
                      </a:pPr>
                      <a:r>
                        <a:rPr lang="en-US" sz="1200" dirty="0"/>
                        <a:t>What you’re responsible for</a:t>
                      </a:r>
                    </a:p>
                  </a:txBody>
                  <a:tcPr marL="43070" marR="43070" marT="21535" marB="21535" anchor="ctr"/>
                </a:tc>
                <a:extLst>
                  <a:ext uri="{0D108BD9-81ED-4DB2-BD59-A6C34878D82A}">
                    <a16:rowId xmlns:a16="http://schemas.microsoft.com/office/drawing/2014/main" val="1076420604"/>
                  </a:ext>
                </a:extLst>
              </a:tr>
              <a:tr h="554559">
                <a:tc>
                  <a:txBody>
                    <a:bodyPr/>
                    <a:lstStyle/>
                    <a:p>
                      <a:pPr>
                        <a:buNone/>
                      </a:pPr>
                      <a:r>
                        <a:rPr lang="en-US" sz="1050" b="1" dirty="0"/>
                        <a:t>AI Service Offering Champion </a:t>
                      </a:r>
                      <a:endParaRPr lang="en-US" sz="1050" dirty="0"/>
                    </a:p>
                  </a:txBody>
                  <a:tcPr marL="43070" marR="43070" marT="21535" marB="21535" anchor="ctr"/>
                </a:tc>
                <a:tc>
                  <a:txBody>
                    <a:bodyPr/>
                    <a:lstStyle/>
                    <a:p>
                      <a:pPr>
                        <a:buNone/>
                      </a:pPr>
                      <a:r>
                        <a:rPr lang="en-CA" sz="1050" dirty="0"/>
                        <a:t>Define the problem statement</a:t>
                      </a:r>
                      <a:endParaRPr lang="en-US" sz="1050" dirty="0"/>
                    </a:p>
                  </a:txBody>
                  <a:tcPr marL="43070" marR="43070" marT="21535" marB="21535" anchor="ctr"/>
                </a:tc>
                <a:tc>
                  <a:txBody>
                    <a:bodyPr/>
                    <a:lstStyle/>
                    <a:p>
                      <a:pPr marL="171450" indent="-171450">
                        <a:buFont typeface="Arial" panose="020B0604020202020204" pitchFamily="34" charset="0"/>
                        <a:buChar char="•"/>
                      </a:pPr>
                      <a:r>
                        <a:rPr lang="en-CA" sz="1050" dirty="0"/>
                        <a:t>Identify and prioritize </a:t>
                      </a:r>
                      <a:r>
                        <a:rPr lang="en-CA" sz="1050" b="1" dirty="0"/>
                        <a:t>high-value AI use cases</a:t>
                      </a:r>
                      <a:endParaRPr lang="en-CA" sz="1050" dirty="0"/>
                    </a:p>
                    <a:p>
                      <a:pPr marL="171450" indent="-171450">
                        <a:buFont typeface="Arial" panose="020B0604020202020204" pitchFamily="34" charset="0"/>
                        <a:buChar char="•"/>
                      </a:pPr>
                      <a:r>
                        <a:rPr lang="en-CA" sz="1050" dirty="0"/>
                        <a:t>Shape the </a:t>
                      </a:r>
                      <a:r>
                        <a:rPr lang="en-CA" sz="1050" b="1" dirty="0"/>
                        <a:t>offering narrative and value proposition</a:t>
                      </a:r>
                      <a:endParaRPr lang="en-CA" sz="1050" dirty="0"/>
                    </a:p>
                    <a:p>
                      <a:pPr marL="171450" indent="-171450">
                        <a:buFont typeface="Arial" panose="020B0604020202020204" pitchFamily="34" charset="0"/>
                        <a:buChar char="•"/>
                      </a:pPr>
                      <a:r>
                        <a:rPr lang="en-CA" sz="1050" dirty="0"/>
                        <a:t>Activate </a:t>
                      </a:r>
                      <a:r>
                        <a:rPr lang="en-CA" sz="1050" b="1" dirty="0"/>
                        <a:t>2–3 priority client pursuits</a:t>
                      </a:r>
                      <a:endParaRPr lang="en-CA" sz="1050" dirty="0"/>
                    </a:p>
                  </a:txBody>
                  <a:tcPr marL="43070" marR="43070" marT="21535" marB="21535" anchor="ctr"/>
                </a:tc>
                <a:extLst>
                  <a:ext uri="{0D108BD9-81ED-4DB2-BD59-A6C34878D82A}">
                    <a16:rowId xmlns:a16="http://schemas.microsoft.com/office/drawing/2014/main" val="895466759"/>
                  </a:ext>
                </a:extLst>
              </a:tr>
              <a:tr h="574544">
                <a:tc>
                  <a:txBody>
                    <a:bodyPr/>
                    <a:lstStyle/>
                    <a:p>
                      <a:pPr>
                        <a:buNone/>
                      </a:pPr>
                      <a:r>
                        <a:rPr lang="en-US" sz="1050" b="1" dirty="0"/>
                        <a:t>AI Forward Deployed Engineer </a:t>
                      </a:r>
                    </a:p>
                    <a:p>
                      <a:pPr>
                        <a:buNone/>
                      </a:pPr>
                      <a:r>
                        <a:rPr lang="en-US" sz="1050" b="1" dirty="0"/>
                        <a:t>(AI Lab)</a:t>
                      </a:r>
                      <a:endParaRPr lang="en-US" sz="1050" dirty="0"/>
                    </a:p>
                  </a:txBody>
                  <a:tcPr marL="43070" marR="43070" marT="21535" marB="21535" anchor="ctr"/>
                </a:tc>
                <a:tc>
                  <a:txBody>
                    <a:bodyPr/>
                    <a:lstStyle/>
                    <a:p>
                      <a:pPr>
                        <a:buNone/>
                      </a:pPr>
                      <a:r>
                        <a:rPr lang="en-CA" sz="1050" dirty="0"/>
                        <a:t>Turn ideas into client-ready solutions</a:t>
                      </a:r>
                      <a:endParaRPr lang="en-US" sz="1050" dirty="0"/>
                    </a:p>
                  </a:txBody>
                  <a:tcPr marL="43070" marR="43070" marT="21535" marB="21535" anchor="ctr"/>
                </a:tc>
                <a:tc>
                  <a:txBody>
                    <a:bodyPr/>
                    <a:lstStyle/>
                    <a:p>
                      <a:pPr marL="171450" indent="-171450">
                        <a:buFont typeface="Arial" panose="020B0604020202020204" pitchFamily="34" charset="0"/>
                        <a:buChar char="•"/>
                      </a:pPr>
                      <a:r>
                        <a:rPr lang="en-CA" sz="1050" dirty="0"/>
                        <a:t>Build </a:t>
                      </a:r>
                      <a:r>
                        <a:rPr lang="en-CA" sz="1050" b="1" dirty="0"/>
                        <a:t>MVPs, demos, and accelerators</a:t>
                      </a:r>
                      <a:endParaRPr lang="en-CA" sz="1050" dirty="0"/>
                    </a:p>
                    <a:p>
                      <a:pPr marL="171450" indent="-171450">
                        <a:buFont typeface="Arial" panose="020B0604020202020204" pitchFamily="34" charset="0"/>
                        <a:buChar char="•"/>
                      </a:pPr>
                      <a:r>
                        <a:rPr lang="en-CA" sz="1050" dirty="0"/>
                        <a:t>Validate feasibility across </a:t>
                      </a:r>
                      <a:r>
                        <a:rPr lang="en-CA" sz="1050" b="1" dirty="0"/>
                        <a:t>data, SMEs, and systems</a:t>
                      </a:r>
                      <a:endParaRPr lang="en-CA" sz="1050" dirty="0"/>
                    </a:p>
                    <a:p>
                      <a:pPr marL="171450" indent="-171450">
                        <a:buFont typeface="Arial" panose="020B0604020202020204" pitchFamily="34" charset="0"/>
                        <a:buChar char="•"/>
                      </a:pPr>
                      <a:r>
                        <a:rPr lang="en-CA" sz="1050" dirty="0"/>
                        <a:t>Package assets to be </a:t>
                      </a:r>
                      <a:r>
                        <a:rPr lang="en-CA" sz="1050" b="1" dirty="0"/>
                        <a:t>demo-ready and reusable</a:t>
                      </a:r>
                      <a:endParaRPr lang="en-CA" sz="1050" dirty="0"/>
                    </a:p>
                  </a:txBody>
                  <a:tcPr marL="43070" marR="43070" marT="21535" marB="21535" anchor="ctr"/>
                </a:tc>
                <a:extLst>
                  <a:ext uri="{0D108BD9-81ED-4DB2-BD59-A6C34878D82A}">
                    <a16:rowId xmlns:a16="http://schemas.microsoft.com/office/drawing/2014/main" val="1884817978"/>
                  </a:ext>
                </a:extLst>
              </a:tr>
              <a:tr h="574544">
                <a:tc>
                  <a:txBody>
                    <a:bodyPr/>
                    <a:lstStyle/>
                    <a:p>
                      <a:pPr>
                        <a:buNone/>
                      </a:pPr>
                      <a:r>
                        <a:rPr lang="en-US" sz="1050" b="1"/>
                        <a:t>AI Sales Force</a:t>
                      </a:r>
                      <a:endParaRPr lang="en-US" sz="1050"/>
                    </a:p>
                  </a:txBody>
                  <a:tcPr marL="43070" marR="43070" marT="21535" marB="21535" anchor="ctr"/>
                </a:tc>
                <a:tc>
                  <a:txBody>
                    <a:bodyPr/>
                    <a:lstStyle/>
                    <a:p>
                      <a:pPr>
                        <a:buNone/>
                      </a:pPr>
                      <a:r>
                        <a:rPr lang="en-US" sz="1050" b="0" dirty="0"/>
                        <a:t>Turn capability into pipeline</a:t>
                      </a:r>
                    </a:p>
                  </a:txBody>
                  <a:tcPr marL="43070" marR="43070" marT="21535" marB="21535" anchor="ctr"/>
                </a:tc>
                <a:tc>
                  <a:txBody>
                    <a:bodyPr/>
                    <a:lstStyle/>
                    <a:p>
                      <a:pPr marL="171450" indent="-171450">
                        <a:buFont typeface="Arial" panose="020B0604020202020204" pitchFamily="34" charset="0"/>
                        <a:buChar char="•"/>
                      </a:pPr>
                      <a:r>
                        <a:rPr lang="en-CA" sz="1050" dirty="0"/>
                        <a:t>Align AI offerings with </a:t>
                      </a:r>
                      <a:r>
                        <a:rPr lang="en-CA" sz="1050" b="1" dirty="0"/>
                        <a:t>priority accounts and pursuits</a:t>
                      </a:r>
                      <a:endParaRPr lang="en-CA" sz="1050" dirty="0"/>
                    </a:p>
                    <a:p>
                      <a:pPr marL="171450" indent="-171450">
                        <a:buFont typeface="Arial" panose="020B0604020202020204" pitchFamily="34" charset="0"/>
                        <a:buChar char="•"/>
                      </a:pPr>
                      <a:r>
                        <a:rPr lang="en-CA" sz="1050" dirty="0"/>
                        <a:t>Strengthen </a:t>
                      </a:r>
                      <a:r>
                        <a:rPr lang="en-CA" sz="1050" b="1" dirty="0"/>
                        <a:t>client positioning and messaging</a:t>
                      </a:r>
                      <a:endParaRPr lang="en-CA" sz="1050" dirty="0"/>
                    </a:p>
                    <a:p>
                      <a:pPr marL="171450" indent="-171450">
                        <a:buFont typeface="Arial" panose="020B0604020202020204" pitchFamily="34" charset="0"/>
                        <a:buChar char="•"/>
                      </a:pPr>
                      <a:r>
                        <a:rPr lang="en-CA" sz="1050" dirty="0"/>
                        <a:t>Convert demos into </a:t>
                      </a:r>
                      <a:r>
                        <a:rPr lang="en-CA" sz="1050" b="1" dirty="0"/>
                        <a:t>meetings, proposals, and pipeline</a:t>
                      </a:r>
                      <a:endParaRPr lang="en-CA" sz="1050" dirty="0"/>
                    </a:p>
                  </a:txBody>
                  <a:tcPr marL="43070" marR="43070" marT="21535" marB="21535" anchor="ctr"/>
                </a:tc>
                <a:extLst>
                  <a:ext uri="{0D108BD9-81ED-4DB2-BD59-A6C34878D82A}">
                    <a16:rowId xmlns:a16="http://schemas.microsoft.com/office/drawing/2014/main" val="3628216208"/>
                  </a:ext>
                </a:extLst>
              </a:tr>
              <a:tr h="554559">
                <a:tc>
                  <a:txBody>
                    <a:bodyPr/>
                    <a:lstStyle/>
                    <a:p>
                      <a:pPr>
                        <a:buNone/>
                      </a:pPr>
                      <a:r>
                        <a:rPr lang="en-US" sz="1050" b="1" dirty="0"/>
                        <a:t>AI Infusion Champion</a:t>
                      </a:r>
                    </a:p>
                  </a:txBody>
                  <a:tcPr marL="43070" marR="43070" marT="21535" marB="21535" anchor="ctr"/>
                </a:tc>
                <a:tc>
                  <a:txBody>
                    <a:bodyPr/>
                    <a:lstStyle/>
                    <a:p>
                      <a:pPr>
                        <a:buNone/>
                      </a:pPr>
                      <a:r>
                        <a:rPr lang="en-US" sz="1050" b="0" dirty="0"/>
                        <a:t>Embed AI into delivery</a:t>
                      </a:r>
                    </a:p>
                  </a:txBody>
                  <a:tcPr marL="43070" marR="43070" marT="21535" marB="21535" anchor="ctr"/>
                </a:tc>
                <a:tc>
                  <a:txBody>
                    <a:bodyPr/>
                    <a:lstStyle/>
                    <a:p>
                      <a:pPr marL="171450" indent="-171450">
                        <a:buFont typeface="Arial" panose="020B0604020202020204" pitchFamily="34" charset="0"/>
                        <a:buChar char="•"/>
                      </a:pPr>
                      <a:r>
                        <a:rPr lang="en-CA" sz="1050" dirty="0"/>
                        <a:t>Identify delivery work that can be </a:t>
                      </a:r>
                      <a:r>
                        <a:rPr lang="en-CA" sz="1050" b="1" dirty="0"/>
                        <a:t>automated with AI</a:t>
                      </a:r>
                      <a:endParaRPr lang="en-CA" sz="1050" dirty="0"/>
                    </a:p>
                    <a:p>
                      <a:pPr marL="171450" indent="-171450">
                        <a:buFont typeface="Arial" panose="020B0604020202020204" pitchFamily="34" charset="0"/>
                        <a:buChar char="•"/>
                      </a:pPr>
                      <a:r>
                        <a:rPr lang="en-CA" sz="1050" dirty="0"/>
                        <a:t>Build a backlog of </a:t>
                      </a:r>
                      <a:r>
                        <a:rPr lang="en-CA" sz="1050" b="1" dirty="0"/>
                        <a:t>internal AI use cases</a:t>
                      </a:r>
                      <a:endParaRPr lang="en-CA" sz="1050" dirty="0"/>
                    </a:p>
                    <a:p>
                      <a:pPr marL="171450" indent="-171450">
                        <a:buFont typeface="Arial" panose="020B0604020202020204" pitchFamily="34" charset="0"/>
                        <a:buChar char="•"/>
                      </a:pPr>
                      <a:r>
                        <a:rPr lang="en-CA" sz="1050" dirty="0"/>
                        <a:t>Ensure </a:t>
                      </a:r>
                      <a:r>
                        <a:rPr lang="en-CA" sz="1050" b="1" dirty="0"/>
                        <a:t>AI-enabled delivery is reflected in proposals</a:t>
                      </a:r>
                      <a:endParaRPr lang="en-CA" sz="1050" dirty="0"/>
                    </a:p>
                  </a:txBody>
                  <a:tcPr marL="43070" marR="43070" marT="21535" marB="21535" anchor="ctr"/>
                </a:tc>
                <a:extLst>
                  <a:ext uri="{0D108BD9-81ED-4DB2-BD59-A6C34878D82A}">
                    <a16:rowId xmlns:a16="http://schemas.microsoft.com/office/drawing/2014/main" val="1149947816"/>
                  </a:ext>
                </a:extLst>
              </a:tr>
              <a:tr h="574544">
                <a:tc>
                  <a:txBody>
                    <a:bodyPr/>
                    <a:lstStyle/>
                    <a:p>
                      <a:pPr>
                        <a:buNone/>
                      </a:pPr>
                      <a:r>
                        <a:rPr lang="en-US" sz="1050" b="1"/>
                        <a:t>Practice Leadership</a:t>
                      </a:r>
                      <a:endParaRPr lang="en-US" sz="1050"/>
                    </a:p>
                  </a:txBody>
                  <a:tcPr marL="43070" marR="43070" marT="21535" marB="21535" anchor="ctr"/>
                </a:tc>
                <a:tc>
                  <a:txBody>
                    <a:bodyPr/>
                    <a:lstStyle/>
                    <a:p>
                      <a:pPr>
                        <a:buNone/>
                      </a:pPr>
                      <a:r>
                        <a:rPr lang="en-US" sz="1050" b="0" dirty="0"/>
                        <a:t>Sponsor and accelerate adoption</a:t>
                      </a:r>
                    </a:p>
                  </a:txBody>
                  <a:tcPr marL="43070" marR="43070" marT="21535" marB="21535" anchor="ctr"/>
                </a:tc>
                <a:tc>
                  <a:txBody>
                    <a:bodyPr/>
                    <a:lstStyle/>
                    <a:p>
                      <a:pPr marL="171450" indent="-171450">
                        <a:buFont typeface="Arial" panose="020B0604020202020204" pitchFamily="34" charset="0"/>
                        <a:buChar char="•"/>
                      </a:pPr>
                      <a:r>
                        <a:rPr lang="en-CA" sz="1050" dirty="0"/>
                        <a:t>Confirm priorities and </a:t>
                      </a:r>
                      <a:r>
                        <a:rPr lang="en-CA" sz="1050" b="1" dirty="0"/>
                        <a:t>remove blockers</a:t>
                      </a:r>
                      <a:endParaRPr lang="en-CA" sz="1050" dirty="0"/>
                    </a:p>
                    <a:p>
                      <a:pPr marL="171450" indent="-171450">
                        <a:buFont typeface="Arial" panose="020B0604020202020204" pitchFamily="34" charset="0"/>
                        <a:buChar char="•"/>
                      </a:pPr>
                      <a:r>
                        <a:rPr lang="en-CA" sz="1050" dirty="0"/>
                        <a:t>Enable </a:t>
                      </a:r>
                      <a:r>
                        <a:rPr lang="en-CA" sz="1050" b="1" dirty="0"/>
                        <a:t>client access and GTM support</a:t>
                      </a:r>
                      <a:endParaRPr lang="en-CA" sz="1050" dirty="0"/>
                    </a:p>
                    <a:p>
                      <a:pPr marL="171450" indent="-171450">
                        <a:buFont typeface="Arial" panose="020B0604020202020204" pitchFamily="34" charset="0"/>
                        <a:buChar char="•"/>
                      </a:pPr>
                      <a:r>
                        <a:rPr lang="en-CA" sz="1050" dirty="0"/>
                        <a:t>Drive momentum around </a:t>
                      </a:r>
                      <a:r>
                        <a:rPr lang="en-CA" sz="1050" b="1" dirty="0"/>
                        <a:t>repeatable AI offerings</a:t>
                      </a:r>
                      <a:endParaRPr lang="en-CA" sz="1050" dirty="0"/>
                    </a:p>
                  </a:txBody>
                  <a:tcPr marL="43070" marR="43070" marT="21535" marB="21535" anchor="ctr"/>
                </a:tc>
                <a:extLst>
                  <a:ext uri="{0D108BD9-81ED-4DB2-BD59-A6C34878D82A}">
                    <a16:rowId xmlns:a16="http://schemas.microsoft.com/office/drawing/2014/main" val="1738140509"/>
                  </a:ext>
                </a:extLst>
              </a:tr>
            </a:tbl>
          </a:graphicData>
        </a:graphic>
      </p:graphicFrame>
      <p:graphicFrame>
        <p:nvGraphicFramePr>
          <p:cNvPr id="6" name="Table 5">
            <a:extLst>
              <a:ext uri="{FF2B5EF4-FFF2-40B4-BE49-F238E27FC236}">
                <a16:creationId xmlns:a16="http://schemas.microsoft.com/office/drawing/2014/main" id="{366039D2-E9C3-D999-1689-D09D26D73145}"/>
              </a:ext>
            </a:extLst>
          </p:cNvPr>
          <p:cNvGraphicFramePr>
            <a:graphicFrameLocks noGrp="1"/>
          </p:cNvGraphicFramePr>
          <p:nvPr>
            <p:extLst>
              <p:ext uri="{D42A27DB-BD31-4B8C-83A1-F6EECF244321}">
                <p14:modId xmlns:p14="http://schemas.microsoft.com/office/powerpoint/2010/main" val="188111932"/>
              </p:ext>
            </p:extLst>
          </p:nvPr>
        </p:nvGraphicFramePr>
        <p:xfrm>
          <a:off x="542646" y="988494"/>
          <a:ext cx="11045245" cy="1925987"/>
        </p:xfrm>
        <a:graphic>
          <a:graphicData uri="http://schemas.openxmlformats.org/drawingml/2006/table">
            <a:tbl>
              <a:tblPr>
                <a:tableStyleId>{E929F9F4-4A8F-4326-A1B4-22849713DDAB}</a:tableStyleId>
              </a:tblPr>
              <a:tblGrid>
                <a:gridCol w="1115065">
                  <a:extLst>
                    <a:ext uri="{9D8B030D-6E8A-4147-A177-3AD203B41FA5}">
                      <a16:colId xmlns:a16="http://schemas.microsoft.com/office/drawing/2014/main" val="3194708318"/>
                    </a:ext>
                  </a:extLst>
                </a:gridCol>
                <a:gridCol w="2482545">
                  <a:extLst>
                    <a:ext uri="{9D8B030D-6E8A-4147-A177-3AD203B41FA5}">
                      <a16:colId xmlns:a16="http://schemas.microsoft.com/office/drawing/2014/main" val="375707866"/>
                    </a:ext>
                  </a:extLst>
                </a:gridCol>
                <a:gridCol w="2482545">
                  <a:extLst>
                    <a:ext uri="{9D8B030D-6E8A-4147-A177-3AD203B41FA5}">
                      <a16:colId xmlns:a16="http://schemas.microsoft.com/office/drawing/2014/main" val="2918699078"/>
                    </a:ext>
                  </a:extLst>
                </a:gridCol>
                <a:gridCol w="2482545">
                  <a:extLst>
                    <a:ext uri="{9D8B030D-6E8A-4147-A177-3AD203B41FA5}">
                      <a16:colId xmlns:a16="http://schemas.microsoft.com/office/drawing/2014/main" val="1735028144"/>
                    </a:ext>
                  </a:extLst>
                </a:gridCol>
                <a:gridCol w="2482545">
                  <a:extLst>
                    <a:ext uri="{9D8B030D-6E8A-4147-A177-3AD203B41FA5}">
                      <a16:colId xmlns:a16="http://schemas.microsoft.com/office/drawing/2014/main" val="3773694707"/>
                    </a:ext>
                  </a:extLst>
                </a:gridCol>
              </a:tblGrid>
              <a:tr h="262922">
                <a:tc>
                  <a:txBody>
                    <a:bodyPr/>
                    <a:lstStyle/>
                    <a:p>
                      <a:pPr algn="ctr" fontAlgn="ctr">
                        <a:buNone/>
                      </a:pPr>
                      <a:r>
                        <a:rPr lang="en-CA" sz="1200" b="1" u="none" strike="noStrike">
                          <a:effectLst/>
                        </a:rPr>
                        <a:t>Practice</a:t>
                      </a:r>
                      <a:endParaRPr lang="en-CA" sz="1200" b="1" i="0" u="none" strike="noStrike">
                        <a:solidFill>
                          <a:srgbClr val="000000"/>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ctr" fontAlgn="ctr">
                        <a:buNone/>
                      </a:pPr>
                      <a:r>
                        <a:rPr lang="en-CA" sz="1200" b="1" u="none" strike="noStrike" dirty="0">
                          <a:effectLst/>
                        </a:rPr>
                        <a:t>AI Service Offering Champion</a:t>
                      </a:r>
                      <a:endParaRPr lang="en-CA" sz="1200" b="1" i="0" u="none" strike="noStrike" dirty="0">
                        <a:solidFill>
                          <a:srgbClr val="FFFFFF"/>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200" b="1" u="none" strike="noStrike" dirty="0">
                          <a:effectLst/>
                        </a:rPr>
                        <a:t>AI Infusion Champion</a:t>
                      </a:r>
                      <a:endParaRPr lang="en-CA" sz="1200" b="1" i="0" u="none" strike="noStrike" dirty="0">
                        <a:solidFill>
                          <a:srgbClr val="FFFFFF"/>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ctr" fontAlgn="ctr">
                        <a:buNone/>
                      </a:pPr>
                      <a:r>
                        <a:rPr lang="en-CA" sz="1200" b="1" u="none" strike="noStrike" dirty="0">
                          <a:effectLst/>
                        </a:rPr>
                        <a:t>AI Forward Deployed Engineer</a:t>
                      </a:r>
                      <a:endParaRPr lang="en-CA" sz="12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ctr" fontAlgn="ctr">
                        <a:buNone/>
                      </a:pPr>
                      <a:r>
                        <a:rPr lang="en-CA" sz="1200" b="1" u="none" strike="noStrike" dirty="0">
                          <a:effectLst/>
                        </a:rPr>
                        <a:t>AI Sales Force</a:t>
                      </a:r>
                      <a:endParaRPr lang="en-CA" sz="1200" b="1" i="0" u="none" strike="noStrike" dirty="0">
                        <a:solidFill>
                          <a:srgbClr val="000000"/>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267834382"/>
                  </a:ext>
                </a:extLst>
              </a:tr>
              <a:tr h="190500">
                <a:tc>
                  <a:txBody>
                    <a:bodyPr/>
                    <a:lstStyle/>
                    <a:p>
                      <a:pPr algn="l" fontAlgn="b">
                        <a:buNone/>
                      </a:pPr>
                      <a:r>
                        <a:rPr lang="en-CA" sz="1050" b="1" u="none" strike="noStrike" dirty="0">
                          <a:solidFill>
                            <a:schemeClr val="tx1"/>
                          </a:solidFill>
                          <a:effectLst/>
                        </a:rPr>
                        <a:t>B&amp;P</a:t>
                      </a:r>
                      <a:endParaRPr lang="en-CA" sz="1050" b="1"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Mike Rappaport; Spencer Feuer</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dirty="0">
                          <a:solidFill>
                            <a:srgbClr val="000000"/>
                          </a:solidFill>
                          <a:effectLst/>
                          <a:latin typeface="+mn-lt"/>
                        </a:rPr>
                        <a:t>Mike Rappaport; Spencer Feuer</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TBD</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Matt Markham</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960326125"/>
                  </a:ext>
                </a:extLst>
              </a:tr>
              <a:tr h="190500">
                <a:tc>
                  <a:txBody>
                    <a:bodyPr/>
                    <a:lstStyle/>
                    <a:p>
                      <a:pPr algn="l" fontAlgn="b">
                        <a:buNone/>
                      </a:pPr>
                      <a:r>
                        <a:rPr lang="en-CA" sz="1050" b="1" u="none" strike="noStrike" dirty="0">
                          <a:solidFill>
                            <a:schemeClr val="tx1"/>
                          </a:solidFill>
                          <a:effectLst/>
                        </a:rPr>
                        <a:t>CM + WAM</a:t>
                      </a:r>
                      <a:endParaRPr lang="en-CA" sz="1050" b="1"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Amrit Rai; Sean O’Connor</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dirty="0">
                          <a:solidFill>
                            <a:srgbClr val="000000"/>
                          </a:solidFill>
                          <a:effectLst/>
                          <a:latin typeface="+mn-lt"/>
                        </a:rPr>
                        <a:t>Thanh Le Xuan</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TBD</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John McCaffrey; Luke Penca</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40825126"/>
                  </a:ext>
                </a:extLst>
              </a:tr>
              <a:tr h="190500">
                <a:tc>
                  <a:txBody>
                    <a:bodyPr/>
                    <a:lstStyle/>
                    <a:p>
                      <a:pPr algn="l" fontAlgn="b">
                        <a:buNone/>
                      </a:pPr>
                      <a:r>
                        <a:rPr lang="en-CA" sz="1050" b="1" u="none" strike="noStrike">
                          <a:solidFill>
                            <a:schemeClr val="tx1"/>
                          </a:solidFill>
                          <a:effectLst/>
                        </a:rPr>
                        <a:t>Insurance</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kern="1200" dirty="0">
                          <a:solidFill>
                            <a:schemeClr val="tx1"/>
                          </a:solidFill>
                          <a:effectLst/>
                          <a:latin typeface="+mn-lt"/>
                          <a:ea typeface="+mn-ea"/>
                          <a:cs typeface="+mn-cs"/>
                        </a:rPr>
                        <a:t>Danielle Lutkus</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dirty="0">
                          <a:solidFill>
                            <a:srgbClr val="000000"/>
                          </a:solidFill>
                          <a:effectLst/>
                          <a:latin typeface="+mn-lt"/>
                        </a:rPr>
                        <a:t>Harrup Singh</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Radu Marian</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Paul Laurent; Andy </a:t>
                      </a:r>
                      <a:r>
                        <a:rPr lang="en-CA" sz="1050" u="none" strike="noStrike" err="1">
                          <a:solidFill>
                            <a:schemeClr val="tx1"/>
                          </a:solidFill>
                          <a:effectLst/>
                        </a:rPr>
                        <a:t>Soodek</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194391352"/>
                  </a:ext>
                </a:extLst>
              </a:tr>
              <a:tr h="190500">
                <a:tc>
                  <a:txBody>
                    <a:bodyPr/>
                    <a:lstStyle/>
                    <a:p>
                      <a:pPr algn="l" fontAlgn="b">
                        <a:buNone/>
                      </a:pPr>
                      <a:r>
                        <a:rPr lang="en-CA" sz="1050" b="1" u="none" strike="noStrike">
                          <a:solidFill>
                            <a:schemeClr val="tx1"/>
                          </a:solidFill>
                          <a:effectLst/>
                        </a:rPr>
                        <a:t>Cyber</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Keshav Khanna</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dirty="0">
                          <a:solidFill>
                            <a:srgbClr val="000000"/>
                          </a:solidFill>
                          <a:effectLst/>
                          <a:latin typeface="+mn-lt"/>
                        </a:rPr>
                        <a:t>Devashish Agarwal</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Michael </a:t>
                      </a:r>
                      <a:r>
                        <a:rPr lang="en-CA" sz="1050" u="none" strike="noStrike" err="1">
                          <a:solidFill>
                            <a:schemeClr val="tx1"/>
                          </a:solidFill>
                          <a:effectLst/>
                        </a:rPr>
                        <a:t>Groberman</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Ridha</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444360606"/>
                  </a:ext>
                </a:extLst>
              </a:tr>
              <a:tr h="190500">
                <a:tc>
                  <a:txBody>
                    <a:bodyPr/>
                    <a:lstStyle/>
                    <a:p>
                      <a:pPr algn="l" fontAlgn="b">
                        <a:buNone/>
                      </a:pPr>
                      <a:r>
                        <a:rPr lang="en-CA" sz="1050" b="1" u="none" strike="noStrike">
                          <a:solidFill>
                            <a:schemeClr val="tx1"/>
                          </a:solidFill>
                          <a:effectLst/>
                        </a:rPr>
                        <a:t>FRRF</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Daniel Outcalt</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dirty="0">
                          <a:solidFill>
                            <a:srgbClr val="000000"/>
                          </a:solidFill>
                          <a:effectLst/>
                          <a:latin typeface="+mn-lt"/>
                        </a:rPr>
                        <a:t>Rishi Sanghvi</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Julien Arpin</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dirty="0">
                          <a:solidFill>
                            <a:schemeClr val="tx1"/>
                          </a:solidFill>
                          <a:effectLst/>
                          <a:latin typeface="Aptos Narrow" panose="020B0004020202020204" pitchFamily="34" charset="0"/>
                        </a:rPr>
                        <a:t>Sandeep </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574520197"/>
                  </a:ext>
                </a:extLst>
              </a:tr>
              <a:tr h="190500">
                <a:tc>
                  <a:txBody>
                    <a:bodyPr/>
                    <a:lstStyle/>
                    <a:p>
                      <a:pPr algn="l" fontAlgn="b">
                        <a:buNone/>
                      </a:pPr>
                      <a:r>
                        <a:rPr lang="en-CA" sz="1050" b="1" u="none" strike="noStrike">
                          <a:solidFill>
                            <a:schemeClr val="tx1"/>
                          </a:solidFill>
                          <a:effectLst/>
                        </a:rPr>
                        <a:t>Tech</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Cody Watson, Julio Lima</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dirty="0">
                          <a:solidFill>
                            <a:srgbClr val="000000"/>
                          </a:solidFill>
                          <a:effectLst/>
                          <a:latin typeface="+mn-lt"/>
                        </a:rPr>
                        <a:t>AI Lab</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Matt Woodard</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Chinmoy Bhatiya; Poorna </a:t>
                      </a:r>
                      <a:r>
                        <a:rPr lang="en-CA" sz="1050" u="none" strike="noStrike" dirty="0" err="1">
                          <a:solidFill>
                            <a:schemeClr val="tx1"/>
                          </a:solidFill>
                          <a:effectLst/>
                        </a:rPr>
                        <a:t>Bhimavarapu</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83280231"/>
                  </a:ext>
                </a:extLst>
              </a:tr>
              <a:tr h="190500">
                <a:tc>
                  <a:txBody>
                    <a:bodyPr/>
                    <a:lstStyle/>
                    <a:p>
                      <a:pPr algn="l" fontAlgn="b">
                        <a:buNone/>
                      </a:pPr>
                      <a:r>
                        <a:rPr lang="en-CA" sz="1050" b="1" u="none" strike="noStrike">
                          <a:solidFill>
                            <a:schemeClr val="tx1"/>
                          </a:solidFill>
                          <a:effectLst/>
                        </a:rPr>
                        <a:t>Data</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Jak Hart</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a:solidFill>
                            <a:srgbClr val="000000"/>
                          </a:solidFill>
                          <a:effectLst/>
                          <a:latin typeface="+mn-lt"/>
                        </a:rPr>
                        <a:t>Ram Mangudi</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Caleb Severn</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err="1">
                          <a:solidFill>
                            <a:schemeClr val="tx1"/>
                          </a:solidFill>
                          <a:effectLst/>
                        </a:rPr>
                        <a:t>Ramnish</a:t>
                      </a:r>
                      <a:r>
                        <a:rPr lang="en-CA" sz="1050" u="none" strike="noStrike" dirty="0">
                          <a:solidFill>
                            <a:schemeClr val="tx1"/>
                          </a:solidFill>
                          <a:effectLst/>
                        </a:rPr>
                        <a:t> Gupta; James Fischer</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851740046"/>
                  </a:ext>
                </a:extLst>
              </a:tr>
              <a:tr h="190500">
                <a:tc>
                  <a:txBody>
                    <a:bodyPr/>
                    <a:lstStyle/>
                    <a:p>
                      <a:pPr algn="l" fontAlgn="b">
                        <a:buNone/>
                      </a:pPr>
                      <a:r>
                        <a:rPr lang="en-CA" sz="1050" b="1" u="none" strike="noStrike">
                          <a:solidFill>
                            <a:schemeClr val="tx1"/>
                          </a:solidFill>
                          <a:effectLst/>
                        </a:rPr>
                        <a:t>Strategy</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Erv Janavicius</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a:solidFill>
                            <a:srgbClr val="000000"/>
                          </a:solidFill>
                          <a:effectLst/>
                          <a:latin typeface="+mn-lt"/>
                        </a:rPr>
                        <a:t>John McHugh</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TBD</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Carl Repoli</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314778616"/>
                  </a:ext>
                </a:extLst>
              </a:tr>
            </a:tbl>
          </a:graphicData>
        </a:graphic>
      </p:graphicFrame>
      <p:sp>
        <p:nvSpPr>
          <p:cNvPr id="5" name="Rectangle 4">
            <a:extLst>
              <a:ext uri="{FF2B5EF4-FFF2-40B4-BE49-F238E27FC236}">
                <a16:creationId xmlns:a16="http://schemas.microsoft.com/office/drawing/2014/main" id="{F7FB5001-1BE1-740A-2182-3B9012DD2749}"/>
              </a:ext>
            </a:extLst>
          </p:cNvPr>
          <p:cNvSpPr/>
          <p:nvPr/>
        </p:nvSpPr>
        <p:spPr>
          <a:xfrm>
            <a:off x="9224159" y="3205450"/>
            <a:ext cx="2363729" cy="378905"/>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1200" b="1" dirty="0"/>
              <a:t>How you will stay connected</a:t>
            </a:r>
          </a:p>
        </p:txBody>
      </p:sp>
      <p:sp>
        <p:nvSpPr>
          <p:cNvPr id="7" name="Rectangle 1">
            <a:extLst>
              <a:ext uri="{FF2B5EF4-FFF2-40B4-BE49-F238E27FC236}">
                <a16:creationId xmlns:a16="http://schemas.microsoft.com/office/drawing/2014/main" id="{0799A046-8997-C28E-552F-7CE1647B1142}"/>
              </a:ext>
            </a:extLst>
          </p:cNvPr>
          <p:cNvSpPr>
            <a:spLocks noChangeArrowheads="1"/>
          </p:cNvSpPr>
          <p:nvPr/>
        </p:nvSpPr>
        <p:spPr bwMode="auto">
          <a:xfrm>
            <a:off x="9224160" y="3696574"/>
            <a:ext cx="2363729"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1" i="0" u="none" strike="noStrike" cap="none" normalizeH="0" baseline="0" dirty="0">
                <a:ln>
                  <a:noFill/>
                </a:ln>
                <a:solidFill>
                  <a:schemeClr val="tx1"/>
                </a:solidFill>
                <a:effectLst/>
                <a:latin typeface="+mj-lt"/>
              </a:rPr>
              <a:t>Practice Leadership:</a:t>
            </a:r>
            <a:r>
              <a:rPr kumimoji="0" lang="en-US" altLang="en-US" sz="1100" b="0" i="0" u="none" strike="noStrike" cap="none" normalizeH="0" baseline="0" dirty="0">
                <a:ln>
                  <a:noFill/>
                </a:ln>
                <a:solidFill>
                  <a:schemeClr val="tx1"/>
                </a:solidFill>
                <a:effectLst/>
                <a:latin typeface="+mj-lt"/>
              </a:rPr>
              <a:t> monthly AI-focused check-in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1" i="0" u="none" strike="noStrike" cap="none" normalizeH="0" baseline="0" dirty="0">
                <a:ln>
                  <a:noFill/>
                </a:ln>
                <a:solidFill>
                  <a:schemeClr val="tx1"/>
                </a:solidFill>
                <a:effectLst/>
                <a:latin typeface="+mj-lt"/>
              </a:rPr>
              <a:t>Champions:</a:t>
            </a:r>
            <a:r>
              <a:rPr kumimoji="0" lang="en-US" altLang="en-US" sz="1100" b="0" i="0" u="none" strike="noStrike" cap="none" normalizeH="0" baseline="0" dirty="0">
                <a:ln>
                  <a:noFill/>
                </a:ln>
                <a:solidFill>
                  <a:schemeClr val="tx1"/>
                </a:solidFill>
                <a:effectLst/>
                <a:latin typeface="+mj-lt"/>
              </a:rPr>
              <a:t> Bi-weekly working session to exchange notes, priorities, and progress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1" i="0" u="none" strike="noStrike" cap="none" normalizeH="0" baseline="0" dirty="0">
                <a:ln>
                  <a:noFill/>
                </a:ln>
                <a:solidFill>
                  <a:schemeClr val="tx1"/>
                </a:solidFill>
                <a:effectLst/>
                <a:latin typeface="+mj-lt"/>
              </a:rPr>
              <a:t>AI Build Support / AI Lab:</a:t>
            </a:r>
            <a:r>
              <a:rPr kumimoji="0" lang="en-US" altLang="en-US" sz="1100" b="0" i="0" u="none" strike="noStrike" cap="none" normalizeH="0" baseline="0" dirty="0">
                <a:ln>
                  <a:noFill/>
                </a:ln>
                <a:solidFill>
                  <a:schemeClr val="tx1"/>
                </a:solidFill>
                <a:effectLst/>
                <a:latin typeface="+mj-lt"/>
              </a:rPr>
              <a:t> continuous collaboration, plus weekly alignment with Chinmoy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1" i="0" u="none" strike="noStrike" cap="none" normalizeH="0" baseline="0" dirty="0">
                <a:ln>
                  <a:noFill/>
                </a:ln>
                <a:solidFill>
                  <a:schemeClr val="tx1"/>
                </a:solidFill>
                <a:effectLst/>
                <a:latin typeface="+mj-lt"/>
              </a:rPr>
              <a:t>AI Sales Force:</a:t>
            </a:r>
            <a:r>
              <a:rPr kumimoji="0" lang="en-US" altLang="en-US" sz="1100" b="0" i="0" u="none" strike="noStrike" cap="none" normalizeH="0" baseline="0" dirty="0">
                <a:ln>
                  <a:noFill/>
                </a:ln>
                <a:solidFill>
                  <a:schemeClr val="tx1"/>
                </a:solidFill>
                <a:effectLst/>
                <a:latin typeface="+mj-lt"/>
              </a:rPr>
              <a:t> bi-weekly coordination to connect offerings to pipeline and pursuits</a:t>
            </a:r>
          </a:p>
        </p:txBody>
      </p:sp>
      <p:sp>
        <p:nvSpPr>
          <p:cNvPr id="10" name="TextBox 9">
            <a:extLst>
              <a:ext uri="{FF2B5EF4-FFF2-40B4-BE49-F238E27FC236}">
                <a16:creationId xmlns:a16="http://schemas.microsoft.com/office/drawing/2014/main" id="{59DD54B1-2BD0-AB6A-C08E-D0CDBD4958B0}"/>
              </a:ext>
            </a:extLst>
          </p:cNvPr>
          <p:cNvSpPr txBox="1"/>
          <p:nvPr/>
        </p:nvSpPr>
        <p:spPr>
          <a:xfrm>
            <a:off x="11587888" y="3696574"/>
            <a:ext cx="1927412" cy="461665"/>
          </a:xfrm>
          <a:prstGeom prst="rect">
            <a:avLst/>
          </a:prstGeom>
          <a:solidFill>
            <a:schemeClr val="accent1">
              <a:lumMod val="20000"/>
              <a:lumOff val="80000"/>
            </a:schemeClr>
          </a:solidFill>
        </p:spPr>
        <p:txBody>
          <a:bodyPr wrap="square" rtlCol="0">
            <a:spAutoFit/>
          </a:bodyPr>
          <a:lstStyle/>
          <a:p>
            <a:pPr algn="l"/>
            <a:r>
              <a:rPr lang="en-US" sz="1200" dirty="0"/>
              <a:t>Do you agree with this cadence?</a:t>
            </a:r>
          </a:p>
        </p:txBody>
      </p:sp>
    </p:spTree>
    <p:extLst>
      <p:ext uri="{BB962C8B-B14F-4D97-AF65-F5344CB8AC3E}">
        <p14:creationId xmlns:p14="http://schemas.microsoft.com/office/powerpoint/2010/main" val="4144281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8AD07-2F10-FE17-3E74-0C90D0DF4551}"/>
              </a:ext>
            </a:extLst>
          </p:cNvPr>
          <p:cNvSpPr>
            <a:spLocks noGrp="1"/>
          </p:cNvSpPr>
          <p:nvPr>
            <p:ph type="title"/>
          </p:nvPr>
        </p:nvSpPr>
        <p:spPr>
          <a:xfrm>
            <a:off x="542648" y="437810"/>
            <a:ext cx="11098999" cy="332399"/>
          </a:xfrm>
        </p:spPr>
        <p:txBody>
          <a:bodyPr/>
          <a:lstStyle/>
          <a:p>
            <a:r>
              <a:rPr lang="en-US" dirty="0"/>
              <a:t>AI Sales Offerings Process Roadmap</a:t>
            </a:r>
          </a:p>
        </p:txBody>
      </p:sp>
      <p:sp>
        <p:nvSpPr>
          <p:cNvPr id="3" name="Text Placeholder 2">
            <a:extLst>
              <a:ext uri="{FF2B5EF4-FFF2-40B4-BE49-F238E27FC236}">
                <a16:creationId xmlns:a16="http://schemas.microsoft.com/office/drawing/2014/main" id="{F6439083-2DDC-F012-1B9D-95F11472379F}"/>
              </a:ext>
            </a:extLst>
          </p:cNvPr>
          <p:cNvSpPr>
            <a:spLocks noGrp="1"/>
          </p:cNvSpPr>
          <p:nvPr>
            <p:ph type="body" sz="quarter" idx="10"/>
          </p:nvPr>
        </p:nvSpPr>
        <p:spPr>
          <a:xfrm>
            <a:off x="542648" y="887051"/>
            <a:ext cx="11521198" cy="256224"/>
          </a:xfrm>
        </p:spPr>
        <p:txBody>
          <a:bodyPr/>
          <a:lstStyle/>
          <a:p>
            <a:r>
              <a:rPr lang="en-US" sz="1850" dirty="0"/>
              <a:t>How the AI Power Team will collaborate from developing use cases to market ready offerings</a:t>
            </a:r>
          </a:p>
        </p:txBody>
      </p:sp>
      <p:sp>
        <p:nvSpPr>
          <p:cNvPr id="4" name="Forme libre 8">
            <a:extLst>
              <a:ext uri="{FF2B5EF4-FFF2-40B4-BE49-F238E27FC236}">
                <a16:creationId xmlns:a16="http://schemas.microsoft.com/office/drawing/2014/main" id="{B9103D20-2315-3E20-6B65-2DE83DB4ECBF}"/>
              </a:ext>
            </a:extLst>
          </p:cNvPr>
          <p:cNvSpPr/>
          <p:nvPr/>
        </p:nvSpPr>
        <p:spPr>
          <a:xfrm>
            <a:off x="542807" y="1550507"/>
            <a:ext cx="6003110" cy="2536942"/>
          </a:xfrm>
          <a:custGeom>
            <a:avLst/>
            <a:gdLst>
              <a:gd name="connsiteX0" fmla="*/ 1606899 w 2556967"/>
              <a:gd name="connsiteY0" fmla="*/ 68 h 1080586"/>
              <a:gd name="connsiteX1" fmla="*/ 14336 w 2556967"/>
              <a:gd name="connsiteY1" fmla="*/ 68 h 1080586"/>
              <a:gd name="connsiteX2" fmla="*/ 3653 w 2556967"/>
              <a:gd name="connsiteY2" fmla="*/ 31976 h 1080586"/>
              <a:gd name="connsiteX3" fmla="*/ 66187 w 2556967"/>
              <a:gd name="connsiteY3" fmla="*/ 126476 h 1080586"/>
              <a:gd name="connsiteX4" fmla="*/ 66187 w 2556967"/>
              <a:gd name="connsiteY4" fmla="*/ 151920 h 1080586"/>
              <a:gd name="connsiteX5" fmla="*/ 3653 w 2556967"/>
              <a:gd name="connsiteY5" fmla="*/ 246420 h 1080586"/>
              <a:gd name="connsiteX6" fmla="*/ 14336 w 2556967"/>
              <a:gd name="connsiteY6" fmla="*/ 278328 h 1080586"/>
              <a:gd name="connsiteX7" fmla="*/ 1606899 w 2556967"/>
              <a:gd name="connsiteY7" fmla="*/ 278328 h 1080586"/>
              <a:gd name="connsiteX8" fmla="*/ 2556967 w 2556967"/>
              <a:gd name="connsiteY8" fmla="*/ 1080586 h 1080586"/>
              <a:gd name="connsiteX9" fmla="*/ 2556967 w 2556967"/>
              <a:gd name="connsiteY9" fmla="*/ 802259 h 1080586"/>
              <a:gd name="connsiteX10" fmla="*/ 1606899 w 2556967"/>
              <a:gd name="connsiteY10" fmla="*/ 0 h 108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967" h="1080586">
                <a:moveTo>
                  <a:pt x="1606899" y="68"/>
                </a:moveTo>
                <a:lnTo>
                  <a:pt x="14336" y="68"/>
                </a:lnTo>
                <a:cubicBezTo>
                  <a:pt x="2020" y="68"/>
                  <a:pt x="-4581" y="19594"/>
                  <a:pt x="3653" y="31976"/>
                </a:cubicBezTo>
                <a:lnTo>
                  <a:pt x="66187" y="126476"/>
                </a:lnTo>
                <a:cubicBezTo>
                  <a:pt x="71018" y="133755"/>
                  <a:pt x="71018" y="144709"/>
                  <a:pt x="66187" y="151920"/>
                </a:cubicBezTo>
                <a:lnTo>
                  <a:pt x="3653" y="246420"/>
                </a:lnTo>
                <a:cubicBezTo>
                  <a:pt x="-4513" y="258802"/>
                  <a:pt x="2020" y="278328"/>
                  <a:pt x="14336" y="278328"/>
                </a:cubicBezTo>
                <a:lnTo>
                  <a:pt x="1606899" y="278328"/>
                </a:lnTo>
                <a:lnTo>
                  <a:pt x="2556967" y="1080586"/>
                </a:lnTo>
                <a:lnTo>
                  <a:pt x="2556967" y="802259"/>
                </a:lnTo>
                <a:lnTo>
                  <a:pt x="1606899" y="0"/>
                </a:lnTo>
                <a:close/>
              </a:path>
            </a:pathLst>
          </a:custGeom>
          <a:solidFill>
            <a:srgbClr val="005F65"/>
          </a:solidFill>
          <a:ln w="6804" cap="flat">
            <a:noFill/>
            <a:prstDash val="solid"/>
            <a:miter/>
          </a:ln>
        </p:spPr>
        <p:txBody>
          <a:bodyPr rtlCol="0" anchor="ctr"/>
          <a:lstStyle/>
          <a:p>
            <a:endParaRPr lang="fr-FR"/>
          </a:p>
        </p:txBody>
      </p:sp>
      <p:sp>
        <p:nvSpPr>
          <p:cNvPr id="5" name="Forme libre 9">
            <a:extLst>
              <a:ext uri="{FF2B5EF4-FFF2-40B4-BE49-F238E27FC236}">
                <a16:creationId xmlns:a16="http://schemas.microsoft.com/office/drawing/2014/main" id="{23021B2E-4E7F-D3CD-9015-FDFC2058011B}"/>
              </a:ext>
            </a:extLst>
          </p:cNvPr>
          <p:cNvSpPr/>
          <p:nvPr/>
        </p:nvSpPr>
        <p:spPr>
          <a:xfrm>
            <a:off x="542807" y="2303781"/>
            <a:ext cx="6003110" cy="1783508"/>
          </a:xfrm>
          <a:custGeom>
            <a:avLst/>
            <a:gdLst>
              <a:gd name="connsiteX0" fmla="*/ 1606899 w 2556967"/>
              <a:gd name="connsiteY0" fmla="*/ 68 h 759668"/>
              <a:gd name="connsiteX1" fmla="*/ 14336 w 2556967"/>
              <a:gd name="connsiteY1" fmla="*/ 68 h 759668"/>
              <a:gd name="connsiteX2" fmla="*/ 3653 w 2556967"/>
              <a:gd name="connsiteY2" fmla="*/ 31976 h 759668"/>
              <a:gd name="connsiteX3" fmla="*/ 66187 w 2556967"/>
              <a:gd name="connsiteY3" fmla="*/ 126475 h 759668"/>
              <a:gd name="connsiteX4" fmla="*/ 66187 w 2556967"/>
              <a:gd name="connsiteY4" fmla="*/ 151920 h 759668"/>
              <a:gd name="connsiteX5" fmla="*/ 3653 w 2556967"/>
              <a:gd name="connsiteY5" fmla="*/ 246419 h 759668"/>
              <a:gd name="connsiteX6" fmla="*/ 14336 w 2556967"/>
              <a:gd name="connsiteY6" fmla="*/ 278327 h 759668"/>
              <a:gd name="connsiteX7" fmla="*/ 1606899 w 2556967"/>
              <a:gd name="connsiteY7" fmla="*/ 278327 h 759668"/>
              <a:gd name="connsiteX8" fmla="*/ 2556967 w 2556967"/>
              <a:gd name="connsiteY8" fmla="*/ 759669 h 759668"/>
              <a:gd name="connsiteX9" fmla="*/ 2556967 w 2556967"/>
              <a:gd name="connsiteY9" fmla="*/ 481341 h 759668"/>
              <a:gd name="connsiteX10" fmla="*/ 1606899 w 2556967"/>
              <a:gd name="connsiteY10" fmla="*/ 0 h 75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967" h="759668">
                <a:moveTo>
                  <a:pt x="1606899" y="68"/>
                </a:moveTo>
                <a:lnTo>
                  <a:pt x="14336" y="68"/>
                </a:lnTo>
                <a:cubicBezTo>
                  <a:pt x="2020" y="68"/>
                  <a:pt x="-4581" y="19594"/>
                  <a:pt x="3653" y="31976"/>
                </a:cubicBezTo>
                <a:lnTo>
                  <a:pt x="66187" y="126475"/>
                </a:lnTo>
                <a:cubicBezTo>
                  <a:pt x="71018" y="133755"/>
                  <a:pt x="71018" y="144708"/>
                  <a:pt x="66187" y="151920"/>
                </a:cubicBezTo>
                <a:lnTo>
                  <a:pt x="3653" y="246419"/>
                </a:lnTo>
                <a:cubicBezTo>
                  <a:pt x="-4513" y="258802"/>
                  <a:pt x="2020" y="278327"/>
                  <a:pt x="14336" y="278327"/>
                </a:cubicBezTo>
                <a:lnTo>
                  <a:pt x="1606899" y="278327"/>
                </a:lnTo>
                <a:lnTo>
                  <a:pt x="2556967" y="759669"/>
                </a:lnTo>
                <a:lnTo>
                  <a:pt x="2556967" y="481341"/>
                </a:lnTo>
                <a:lnTo>
                  <a:pt x="1606899" y="0"/>
                </a:lnTo>
                <a:close/>
              </a:path>
            </a:pathLst>
          </a:custGeom>
          <a:solidFill>
            <a:srgbClr val="477274"/>
          </a:solidFill>
          <a:ln w="6804" cap="flat">
            <a:noFill/>
            <a:prstDash val="solid"/>
            <a:miter/>
          </a:ln>
        </p:spPr>
        <p:txBody>
          <a:bodyPr rtlCol="0" anchor="ctr"/>
          <a:lstStyle/>
          <a:p>
            <a:endParaRPr lang="fr-FR"/>
          </a:p>
        </p:txBody>
      </p:sp>
      <p:sp>
        <p:nvSpPr>
          <p:cNvPr id="6" name="Forme libre 10">
            <a:extLst>
              <a:ext uri="{FF2B5EF4-FFF2-40B4-BE49-F238E27FC236}">
                <a16:creationId xmlns:a16="http://schemas.microsoft.com/office/drawing/2014/main" id="{3878111C-5549-EA01-65C6-05C9B83EC24A}"/>
              </a:ext>
            </a:extLst>
          </p:cNvPr>
          <p:cNvSpPr/>
          <p:nvPr/>
        </p:nvSpPr>
        <p:spPr>
          <a:xfrm>
            <a:off x="542807" y="3057211"/>
            <a:ext cx="6003110" cy="1030078"/>
          </a:xfrm>
          <a:custGeom>
            <a:avLst/>
            <a:gdLst>
              <a:gd name="connsiteX0" fmla="*/ 1606899 w 2556967"/>
              <a:gd name="connsiteY0" fmla="*/ 68 h 438752"/>
              <a:gd name="connsiteX1" fmla="*/ 14336 w 2556967"/>
              <a:gd name="connsiteY1" fmla="*/ 68 h 438752"/>
              <a:gd name="connsiteX2" fmla="*/ 3653 w 2556967"/>
              <a:gd name="connsiteY2" fmla="*/ 31976 h 438752"/>
              <a:gd name="connsiteX3" fmla="*/ 66187 w 2556967"/>
              <a:gd name="connsiteY3" fmla="*/ 126476 h 438752"/>
              <a:gd name="connsiteX4" fmla="*/ 66187 w 2556967"/>
              <a:gd name="connsiteY4" fmla="*/ 151920 h 438752"/>
              <a:gd name="connsiteX5" fmla="*/ 3653 w 2556967"/>
              <a:gd name="connsiteY5" fmla="*/ 246419 h 438752"/>
              <a:gd name="connsiteX6" fmla="*/ 14336 w 2556967"/>
              <a:gd name="connsiteY6" fmla="*/ 278327 h 438752"/>
              <a:gd name="connsiteX7" fmla="*/ 1606899 w 2556967"/>
              <a:gd name="connsiteY7" fmla="*/ 278327 h 438752"/>
              <a:gd name="connsiteX8" fmla="*/ 2556967 w 2556967"/>
              <a:gd name="connsiteY8" fmla="*/ 438752 h 438752"/>
              <a:gd name="connsiteX9" fmla="*/ 2556967 w 2556967"/>
              <a:gd name="connsiteY9" fmla="*/ 160425 h 438752"/>
              <a:gd name="connsiteX10" fmla="*/ 1606899 w 2556967"/>
              <a:gd name="connsiteY10" fmla="*/ 0 h 43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967" h="438752">
                <a:moveTo>
                  <a:pt x="1606899" y="68"/>
                </a:moveTo>
                <a:lnTo>
                  <a:pt x="14336" y="68"/>
                </a:lnTo>
                <a:cubicBezTo>
                  <a:pt x="2020" y="68"/>
                  <a:pt x="-4581" y="19594"/>
                  <a:pt x="3653" y="31976"/>
                </a:cubicBezTo>
                <a:lnTo>
                  <a:pt x="66187" y="126476"/>
                </a:lnTo>
                <a:cubicBezTo>
                  <a:pt x="71018" y="133755"/>
                  <a:pt x="71018" y="144709"/>
                  <a:pt x="66187" y="151920"/>
                </a:cubicBezTo>
                <a:lnTo>
                  <a:pt x="3653" y="246419"/>
                </a:lnTo>
                <a:cubicBezTo>
                  <a:pt x="-4513" y="258802"/>
                  <a:pt x="2020" y="278327"/>
                  <a:pt x="14336" y="278327"/>
                </a:cubicBezTo>
                <a:lnTo>
                  <a:pt x="1606899" y="278327"/>
                </a:lnTo>
                <a:lnTo>
                  <a:pt x="2556967" y="438752"/>
                </a:lnTo>
                <a:lnTo>
                  <a:pt x="2556967" y="160425"/>
                </a:lnTo>
                <a:lnTo>
                  <a:pt x="1606899" y="0"/>
                </a:lnTo>
                <a:close/>
              </a:path>
            </a:pathLst>
          </a:custGeom>
          <a:solidFill>
            <a:srgbClr val="47B6BC"/>
          </a:solidFill>
          <a:ln w="6804" cap="flat">
            <a:noFill/>
            <a:prstDash val="solid"/>
            <a:miter/>
          </a:ln>
        </p:spPr>
        <p:txBody>
          <a:bodyPr rtlCol="0" anchor="ctr"/>
          <a:lstStyle/>
          <a:p>
            <a:endParaRPr lang="fr-FR"/>
          </a:p>
        </p:txBody>
      </p:sp>
      <p:sp>
        <p:nvSpPr>
          <p:cNvPr id="7" name="Forme libre 11">
            <a:extLst>
              <a:ext uri="{FF2B5EF4-FFF2-40B4-BE49-F238E27FC236}">
                <a16:creationId xmlns:a16="http://schemas.microsoft.com/office/drawing/2014/main" id="{F7DBB9F0-A5D7-85A2-423B-55B77F3B00FB}"/>
              </a:ext>
            </a:extLst>
          </p:cNvPr>
          <p:cNvSpPr/>
          <p:nvPr/>
        </p:nvSpPr>
        <p:spPr>
          <a:xfrm>
            <a:off x="542807" y="3432571"/>
            <a:ext cx="6003110" cy="1031355"/>
          </a:xfrm>
          <a:custGeom>
            <a:avLst/>
            <a:gdLst>
              <a:gd name="connsiteX0" fmla="*/ 1606899 w 2556967"/>
              <a:gd name="connsiteY0" fmla="*/ 161037 h 439296"/>
              <a:gd name="connsiteX1" fmla="*/ 14336 w 2556967"/>
              <a:gd name="connsiteY1" fmla="*/ 161037 h 439296"/>
              <a:gd name="connsiteX2" fmla="*/ 3653 w 2556967"/>
              <a:gd name="connsiteY2" fmla="*/ 192945 h 439296"/>
              <a:gd name="connsiteX3" fmla="*/ 66187 w 2556967"/>
              <a:gd name="connsiteY3" fmla="*/ 287444 h 439296"/>
              <a:gd name="connsiteX4" fmla="*/ 66187 w 2556967"/>
              <a:gd name="connsiteY4" fmla="*/ 312889 h 439296"/>
              <a:gd name="connsiteX5" fmla="*/ 3653 w 2556967"/>
              <a:gd name="connsiteY5" fmla="*/ 407388 h 439296"/>
              <a:gd name="connsiteX6" fmla="*/ 14336 w 2556967"/>
              <a:gd name="connsiteY6" fmla="*/ 439296 h 439296"/>
              <a:gd name="connsiteX7" fmla="*/ 1606899 w 2556967"/>
              <a:gd name="connsiteY7" fmla="*/ 439296 h 439296"/>
              <a:gd name="connsiteX8" fmla="*/ 2556967 w 2556967"/>
              <a:gd name="connsiteY8" fmla="*/ 278328 h 439296"/>
              <a:gd name="connsiteX9" fmla="*/ 2556967 w 2556967"/>
              <a:gd name="connsiteY9" fmla="*/ 0 h 439296"/>
              <a:gd name="connsiteX10" fmla="*/ 1606899 w 2556967"/>
              <a:gd name="connsiteY10" fmla="*/ 160969 h 43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967" h="439296">
                <a:moveTo>
                  <a:pt x="1606899" y="161037"/>
                </a:moveTo>
                <a:lnTo>
                  <a:pt x="14336" y="161037"/>
                </a:lnTo>
                <a:cubicBezTo>
                  <a:pt x="2020" y="161037"/>
                  <a:pt x="-4581" y="180562"/>
                  <a:pt x="3653" y="192945"/>
                </a:cubicBezTo>
                <a:lnTo>
                  <a:pt x="66187" y="287444"/>
                </a:lnTo>
                <a:cubicBezTo>
                  <a:pt x="71018" y="294724"/>
                  <a:pt x="71018" y="305678"/>
                  <a:pt x="66187" y="312889"/>
                </a:cubicBezTo>
                <a:lnTo>
                  <a:pt x="3653" y="407388"/>
                </a:lnTo>
                <a:cubicBezTo>
                  <a:pt x="-4513" y="419770"/>
                  <a:pt x="2020" y="439296"/>
                  <a:pt x="14336" y="439296"/>
                </a:cubicBezTo>
                <a:lnTo>
                  <a:pt x="1606899" y="439296"/>
                </a:lnTo>
                <a:lnTo>
                  <a:pt x="2556967" y="278328"/>
                </a:lnTo>
                <a:lnTo>
                  <a:pt x="2556967" y="0"/>
                </a:lnTo>
                <a:lnTo>
                  <a:pt x="1606899" y="160969"/>
                </a:lnTo>
                <a:close/>
              </a:path>
            </a:pathLst>
          </a:custGeom>
          <a:solidFill>
            <a:schemeClr val="accent2"/>
          </a:solidFill>
          <a:ln w="6804" cap="flat">
            <a:noFill/>
            <a:prstDash val="solid"/>
            <a:miter/>
          </a:ln>
        </p:spPr>
        <p:txBody>
          <a:bodyPr rtlCol="0" anchor="ctr"/>
          <a:lstStyle/>
          <a:p>
            <a:endParaRPr lang="fr-FR"/>
          </a:p>
        </p:txBody>
      </p:sp>
      <p:sp>
        <p:nvSpPr>
          <p:cNvPr id="8" name="Forme libre 12">
            <a:extLst>
              <a:ext uri="{FF2B5EF4-FFF2-40B4-BE49-F238E27FC236}">
                <a16:creationId xmlns:a16="http://schemas.microsoft.com/office/drawing/2014/main" id="{B429B08B-3E8A-7F71-E182-6A9097D8DAB2}"/>
              </a:ext>
            </a:extLst>
          </p:cNvPr>
          <p:cNvSpPr/>
          <p:nvPr/>
        </p:nvSpPr>
        <p:spPr>
          <a:xfrm>
            <a:off x="542807" y="3433848"/>
            <a:ext cx="6003110" cy="1783508"/>
          </a:xfrm>
          <a:custGeom>
            <a:avLst/>
            <a:gdLst>
              <a:gd name="connsiteX0" fmla="*/ 1606899 w 2556967"/>
              <a:gd name="connsiteY0" fmla="*/ 481409 h 759668"/>
              <a:gd name="connsiteX1" fmla="*/ 14336 w 2556967"/>
              <a:gd name="connsiteY1" fmla="*/ 481409 h 759668"/>
              <a:gd name="connsiteX2" fmla="*/ 3653 w 2556967"/>
              <a:gd name="connsiteY2" fmla="*/ 513318 h 759668"/>
              <a:gd name="connsiteX3" fmla="*/ 66187 w 2556967"/>
              <a:gd name="connsiteY3" fmla="*/ 607817 h 759668"/>
              <a:gd name="connsiteX4" fmla="*/ 66187 w 2556967"/>
              <a:gd name="connsiteY4" fmla="*/ 633262 h 759668"/>
              <a:gd name="connsiteX5" fmla="*/ 3653 w 2556967"/>
              <a:gd name="connsiteY5" fmla="*/ 727761 h 759668"/>
              <a:gd name="connsiteX6" fmla="*/ 14336 w 2556967"/>
              <a:gd name="connsiteY6" fmla="*/ 759669 h 759668"/>
              <a:gd name="connsiteX7" fmla="*/ 1606899 w 2556967"/>
              <a:gd name="connsiteY7" fmla="*/ 759669 h 759668"/>
              <a:gd name="connsiteX8" fmla="*/ 2556967 w 2556967"/>
              <a:gd name="connsiteY8" fmla="*/ 278327 h 759668"/>
              <a:gd name="connsiteX9" fmla="*/ 2556967 w 2556967"/>
              <a:gd name="connsiteY9" fmla="*/ 0 h 759668"/>
              <a:gd name="connsiteX10" fmla="*/ 1606899 w 2556967"/>
              <a:gd name="connsiteY10" fmla="*/ 481341 h 75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967" h="759668">
                <a:moveTo>
                  <a:pt x="1606899" y="481409"/>
                </a:moveTo>
                <a:lnTo>
                  <a:pt x="14336" y="481409"/>
                </a:lnTo>
                <a:cubicBezTo>
                  <a:pt x="2020" y="481409"/>
                  <a:pt x="-4581" y="500935"/>
                  <a:pt x="3653" y="513318"/>
                </a:cubicBezTo>
                <a:lnTo>
                  <a:pt x="66187" y="607817"/>
                </a:lnTo>
                <a:cubicBezTo>
                  <a:pt x="71018" y="615096"/>
                  <a:pt x="71018" y="626050"/>
                  <a:pt x="66187" y="633262"/>
                </a:cubicBezTo>
                <a:lnTo>
                  <a:pt x="3653" y="727761"/>
                </a:lnTo>
                <a:cubicBezTo>
                  <a:pt x="-4513" y="740143"/>
                  <a:pt x="2020" y="759669"/>
                  <a:pt x="14336" y="759669"/>
                </a:cubicBezTo>
                <a:lnTo>
                  <a:pt x="1606899" y="759669"/>
                </a:lnTo>
                <a:lnTo>
                  <a:pt x="2556967" y="278327"/>
                </a:lnTo>
                <a:lnTo>
                  <a:pt x="2556967" y="0"/>
                </a:lnTo>
                <a:lnTo>
                  <a:pt x="1606899" y="481341"/>
                </a:lnTo>
                <a:close/>
              </a:path>
            </a:pathLst>
          </a:custGeom>
          <a:solidFill>
            <a:srgbClr val="7F7F7F"/>
          </a:solidFill>
          <a:ln w="6804" cap="flat">
            <a:noFill/>
            <a:prstDash val="solid"/>
            <a:miter/>
          </a:ln>
        </p:spPr>
        <p:txBody>
          <a:bodyPr rtlCol="0" anchor="ctr"/>
          <a:lstStyle/>
          <a:p>
            <a:endParaRPr lang="fr-FR"/>
          </a:p>
        </p:txBody>
      </p:sp>
      <p:sp>
        <p:nvSpPr>
          <p:cNvPr id="9" name="Forme libre 13">
            <a:extLst>
              <a:ext uri="{FF2B5EF4-FFF2-40B4-BE49-F238E27FC236}">
                <a16:creationId xmlns:a16="http://schemas.microsoft.com/office/drawing/2014/main" id="{5A95F120-8C9B-5528-4661-6AC4936640D0}"/>
              </a:ext>
            </a:extLst>
          </p:cNvPr>
          <p:cNvSpPr/>
          <p:nvPr/>
        </p:nvSpPr>
        <p:spPr>
          <a:xfrm>
            <a:off x="542648" y="2695430"/>
            <a:ext cx="7705114" cy="3275519"/>
          </a:xfrm>
          <a:custGeom>
            <a:avLst/>
            <a:gdLst>
              <a:gd name="connsiteX0" fmla="*/ 3290034 w 3290033"/>
              <a:gd name="connsiteY0" fmla="*/ 453788 h 1395176"/>
              <a:gd name="connsiteX1" fmla="*/ 2951502 w 3290033"/>
              <a:gd name="connsiteY1" fmla="*/ 0 h 1395176"/>
              <a:gd name="connsiteX2" fmla="*/ 2951502 w 3290033"/>
              <a:gd name="connsiteY2" fmla="*/ 314658 h 1395176"/>
              <a:gd name="connsiteX3" fmla="*/ 2556967 w 3290033"/>
              <a:gd name="connsiteY3" fmla="*/ 314658 h 1395176"/>
              <a:gd name="connsiteX4" fmla="*/ 1606899 w 3290033"/>
              <a:gd name="connsiteY4" fmla="*/ 1116917 h 1395176"/>
              <a:gd name="connsiteX5" fmla="*/ 14336 w 3290033"/>
              <a:gd name="connsiteY5" fmla="*/ 1116917 h 1395176"/>
              <a:gd name="connsiteX6" fmla="*/ 3653 w 3290033"/>
              <a:gd name="connsiteY6" fmla="*/ 1148824 h 1395176"/>
              <a:gd name="connsiteX7" fmla="*/ 66187 w 3290033"/>
              <a:gd name="connsiteY7" fmla="*/ 1243324 h 1395176"/>
              <a:gd name="connsiteX8" fmla="*/ 66187 w 3290033"/>
              <a:gd name="connsiteY8" fmla="*/ 1268769 h 1395176"/>
              <a:gd name="connsiteX9" fmla="*/ 3653 w 3290033"/>
              <a:gd name="connsiteY9" fmla="*/ 1363268 h 1395176"/>
              <a:gd name="connsiteX10" fmla="*/ 14336 w 3290033"/>
              <a:gd name="connsiteY10" fmla="*/ 1395176 h 1395176"/>
              <a:gd name="connsiteX11" fmla="*/ 1606899 w 3290033"/>
              <a:gd name="connsiteY11" fmla="*/ 1395176 h 1395176"/>
              <a:gd name="connsiteX12" fmla="*/ 2556967 w 3290033"/>
              <a:gd name="connsiteY12" fmla="*/ 592918 h 1395176"/>
              <a:gd name="connsiteX13" fmla="*/ 2556967 w 3290033"/>
              <a:gd name="connsiteY13" fmla="*/ 592918 h 1395176"/>
              <a:gd name="connsiteX14" fmla="*/ 2951502 w 3290033"/>
              <a:gd name="connsiteY14" fmla="*/ 592918 h 1395176"/>
              <a:gd name="connsiteX15" fmla="*/ 2951502 w 3290033"/>
              <a:gd name="connsiteY15" fmla="*/ 907576 h 1395176"/>
              <a:gd name="connsiteX16" fmla="*/ 3290034 w 3290033"/>
              <a:gd name="connsiteY16" fmla="*/ 453788 h 139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90033" h="1395176">
                <a:moveTo>
                  <a:pt x="3290034" y="453788"/>
                </a:moveTo>
                <a:lnTo>
                  <a:pt x="2951502" y="0"/>
                </a:lnTo>
                <a:lnTo>
                  <a:pt x="2951502" y="314658"/>
                </a:lnTo>
                <a:lnTo>
                  <a:pt x="2556967" y="314658"/>
                </a:lnTo>
                <a:cubicBezTo>
                  <a:pt x="2556967" y="314658"/>
                  <a:pt x="1606899" y="1116917"/>
                  <a:pt x="1606899" y="1116917"/>
                </a:cubicBezTo>
                <a:lnTo>
                  <a:pt x="14336" y="1116917"/>
                </a:lnTo>
                <a:cubicBezTo>
                  <a:pt x="2020" y="1116917"/>
                  <a:pt x="-4581" y="1136442"/>
                  <a:pt x="3653" y="1148824"/>
                </a:cubicBezTo>
                <a:lnTo>
                  <a:pt x="66187" y="1243324"/>
                </a:lnTo>
                <a:cubicBezTo>
                  <a:pt x="71018" y="1250604"/>
                  <a:pt x="71018" y="1261557"/>
                  <a:pt x="66187" y="1268769"/>
                </a:cubicBezTo>
                <a:lnTo>
                  <a:pt x="3653" y="1363268"/>
                </a:lnTo>
                <a:cubicBezTo>
                  <a:pt x="-4513" y="1375651"/>
                  <a:pt x="2020" y="1395176"/>
                  <a:pt x="14336" y="1395176"/>
                </a:cubicBezTo>
                <a:lnTo>
                  <a:pt x="1606899" y="1395176"/>
                </a:lnTo>
                <a:lnTo>
                  <a:pt x="2556967" y="592918"/>
                </a:lnTo>
                <a:lnTo>
                  <a:pt x="2556967" y="592918"/>
                </a:lnTo>
                <a:cubicBezTo>
                  <a:pt x="2556967" y="592918"/>
                  <a:pt x="2951502" y="592918"/>
                  <a:pt x="2951502" y="592918"/>
                </a:cubicBezTo>
                <a:lnTo>
                  <a:pt x="2951502" y="907576"/>
                </a:lnTo>
                <a:lnTo>
                  <a:pt x="3290034" y="453788"/>
                </a:lnTo>
                <a:close/>
              </a:path>
            </a:pathLst>
          </a:custGeom>
          <a:solidFill>
            <a:srgbClr val="004346"/>
          </a:solidFill>
          <a:ln w="6804" cap="flat">
            <a:noFill/>
            <a:prstDash val="solid"/>
            <a:miter/>
          </a:ln>
        </p:spPr>
        <p:txBody>
          <a:bodyPr rtlCol="0" anchor="ctr"/>
          <a:lstStyle/>
          <a:p>
            <a:endParaRPr lang="fr-FR"/>
          </a:p>
        </p:txBody>
      </p:sp>
      <p:sp>
        <p:nvSpPr>
          <p:cNvPr id="10" name="ZoneTexte 3">
            <a:extLst>
              <a:ext uri="{FF2B5EF4-FFF2-40B4-BE49-F238E27FC236}">
                <a16:creationId xmlns:a16="http://schemas.microsoft.com/office/drawing/2014/main" id="{E0689D19-8811-144A-909A-FB5D10366215}"/>
              </a:ext>
            </a:extLst>
          </p:cNvPr>
          <p:cNvSpPr txBox="1"/>
          <p:nvPr/>
        </p:nvSpPr>
        <p:spPr>
          <a:xfrm>
            <a:off x="731543" y="5459643"/>
            <a:ext cx="418705" cy="369332"/>
          </a:xfrm>
          <a:prstGeom prst="rect">
            <a:avLst/>
          </a:prstGeom>
          <a:noFill/>
        </p:spPr>
        <p:txBody>
          <a:bodyPr wrap="none" rtlCol="0" anchor="ctr">
            <a:spAutoFit/>
          </a:bodyPr>
          <a:lstStyle/>
          <a:p>
            <a:pPr algn="ctr"/>
            <a:r>
              <a:rPr lang="fr-FR" b="1">
                <a:solidFill>
                  <a:schemeClr val="bg1"/>
                </a:solidFill>
              </a:rPr>
              <a:t>06</a:t>
            </a:r>
          </a:p>
        </p:txBody>
      </p:sp>
      <p:sp>
        <p:nvSpPr>
          <p:cNvPr id="11" name="ZoneTexte 4">
            <a:extLst>
              <a:ext uri="{FF2B5EF4-FFF2-40B4-BE49-F238E27FC236}">
                <a16:creationId xmlns:a16="http://schemas.microsoft.com/office/drawing/2014/main" id="{F3C7941D-5A8E-8F0D-2BE6-228026ACC17A}"/>
              </a:ext>
            </a:extLst>
          </p:cNvPr>
          <p:cNvSpPr txBox="1"/>
          <p:nvPr/>
        </p:nvSpPr>
        <p:spPr>
          <a:xfrm>
            <a:off x="731543" y="4706051"/>
            <a:ext cx="418705" cy="369332"/>
          </a:xfrm>
          <a:prstGeom prst="rect">
            <a:avLst/>
          </a:prstGeom>
          <a:noFill/>
        </p:spPr>
        <p:txBody>
          <a:bodyPr wrap="none" rtlCol="0" anchor="ctr">
            <a:spAutoFit/>
          </a:bodyPr>
          <a:lstStyle/>
          <a:p>
            <a:pPr algn="ctr"/>
            <a:r>
              <a:rPr lang="fr-FR" b="1">
                <a:solidFill>
                  <a:schemeClr val="bg1"/>
                </a:solidFill>
              </a:rPr>
              <a:t>05</a:t>
            </a:r>
          </a:p>
        </p:txBody>
      </p:sp>
      <p:sp>
        <p:nvSpPr>
          <p:cNvPr id="12" name="ZoneTexte 5">
            <a:extLst>
              <a:ext uri="{FF2B5EF4-FFF2-40B4-BE49-F238E27FC236}">
                <a16:creationId xmlns:a16="http://schemas.microsoft.com/office/drawing/2014/main" id="{87E3B0D4-BA5B-66D4-57E7-4260E516C55C}"/>
              </a:ext>
            </a:extLst>
          </p:cNvPr>
          <p:cNvSpPr txBox="1"/>
          <p:nvPr/>
        </p:nvSpPr>
        <p:spPr>
          <a:xfrm>
            <a:off x="731543" y="3952620"/>
            <a:ext cx="418705" cy="369332"/>
          </a:xfrm>
          <a:prstGeom prst="rect">
            <a:avLst/>
          </a:prstGeom>
          <a:noFill/>
        </p:spPr>
        <p:txBody>
          <a:bodyPr wrap="none" rtlCol="0" anchor="ctr">
            <a:spAutoFit/>
          </a:bodyPr>
          <a:lstStyle/>
          <a:p>
            <a:pPr algn="ctr"/>
            <a:r>
              <a:rPr lang="fr-FR" b="1">
                <a:solidFill>
                  <a:schemeClr val="bg1"/>
                </a:solidFill>
              </a:rPr>
              <a:t>04</a:t>
            </a:r>
          </a:p>
        </p:txBody>
      </p:sp>
      <p:sp>
        <p:nvSpPr>
          <p:cNvPr id="13" name="ZoneTexte 6">
            <a:extLst>
              <a:ext uri="{FF2B5EF4-FFF2-40B4-BE49-F238E27FC236}">
                <a16:creationId xmlns:a16="http://schemas.microsoft.com/office/drawing/2014/main" id="{C275EB5C-39EA-BCEF-8A85-073F10B46673}"/>
              </a:ext>
            </a:extLst>
          </p:cNvPr>
          <p:cNvSpPr txBox="1"/>
          <p:nvPr/>
        </p:nvSpPr>
        <p:spPr>
          <a:xfrm>
            <a:off x="731543" y="3199346"/>
            <a:ext cx="418705" cy="369332"/>
          </a:xfrm>
          <a:prstGeom prst="rect">
            <a:avLst/>
          </a:prstGeom>
          <a:noFill/>
        </p:spPr>
        <p:txBody>
          <a:bodyPr wrap="none" rtlCol="0" anchor="ctr">
            <a:spAutoFit/>
          </a:bodyPr>
          <a:lstStyle/>
          <a:p>
            <a:pPr algn="ctr"/>
            <a:r>
              <a:rPr lang="fr-FR" b="1">
                <a:solidFill>
                  <a:schemeClr val="bg1"/>
                </a:solidFill>
              </a:rPr>
              <a:t>03</a:t>
            </a:r>
          </a:p>
        </p:txBody>
      </p:sp>
      <p:sp>
        <p:nvSpPr>
          <p:cNvPr id="14" name="ZoneTexte 7">
            <a:extLst>
              <a:ext uri="{FF2B5EF4-FFF2-40B4-BE49-F238E27FC236}">
                <a16:creationId xmlns:a16="http://schemas.microsoft.com/office/drawing/2014/main" id="{B1ABB821-BF6F-FD14-AA31-6248593C2ACE}"/>
              </a:ext>
            </a:extLst>
          </p:cNvPr>
          <p:cNvSpPr txBox="1"/>
          <p:nvPr/>
        </p:nvSpPr>
        <p:spPr>
          <a:xfrm>
            <a:off x="731543" y="2445916"/>
            <a:ext cx="418705" cy="369332"/>
          </a:xfrm>
          <a:prstGeom prst="rect">
            <a:avLst/>
          </a:prstGeom>
          <a:noFill/>
        </p:spPr>
        <p:txBody>
          <a:bodyPr wrap="none" rtlCol="0" anchor="ctr">
            <a:spAutoFit/>
          </a:bodyPr>
          <a:lstStyle/>
          <a:p>
            <a:pPr algn="ctr"/>
            <a:r>
              <a:rPr lang="fr-FR" b="1">
                <a:solidFill>
                  <a:schemeClr val="bg1"/>
                </a:solidFill>
              </a:rPr>
              <a:t>02</a:t>
            </a:r>
          </a:p>
        </p:txBody>
      </p:sp>
      <p:sp>
        <p:nvSpPr>
          <p:cNvPr id="15" name="ZoneTexte 14">
            <a:extLst>
              <a:ext uri="{FF2B5EF4-FFF2-40B4-BE49-F238E27FC236}">
                <a16:creationId xmlns:a16="http://schemas.microsoft.com/office/drawing/2014/main" id="{40D4AF8E-225E-B1E5-63FF-D17336EB6851}"/>
              </a:ext>
            </a:extLst>
          </p:cNvPr>
          <p:cNvSpPr txBox="1"/>
          <p:nvPr/>
        </p:nvSpPr>
        <p:spPr>
          <a:xfrm>
            <a:off x="731543" y="1692643"/>
            <a:ext cx="418705" cy="369332"/>
          </a:xfrm>
          <a:prstGeom prst="rect">
            <a:avLst/>
          </a:prstGeom>
          <a:noFill/>
        </p:spPr>
        <p:txBody>
          <a:bodyPr wrap="none" rtlCol="0" anchor="ctr">
            <a:spAutoFit/>
          </a:bodyPr>
          <a:lstStyle/>
          <a:p>
            <a:pPr algn="ctr"/>
            <a:r>
              <a:rPr lang="fr-FR" b="1">
                <a:solidFill>
                  <a:schemeClr val="bg1"/>
                </a:solidFill>
              </a:rPr>
              <a:t>01</a:t>
            </a:r>
          </a:p>
        </p:txBody>
      </p:sp>
      <p:pic>
        <p:nvPicPr>
          <p:cNvPr id="34" name="Graphic 31" descr="Trophy">
            <a:extLst>
              <a:ext uri="{FF2B5EF4-FFF2-40B4-BE49-F238E27FC236}">
                <a16:creationId xmlns:a16="http://schemas.microsoft.com/office/drawing/2014/main" id="{B500E4AD-D09D-1F46-F89F-035EE69415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71962" y="3326672"/>
            <a:ext cx="868112" cy="868112"/>
          </a:xfrm>
          <a:prstGeom prst="rect">
            <a:avLst/>
          </a:prstGeom>
        </p:spPr>
      </p:pic>
      <p:sp>
        <p:nvSpPr>
          <p:cNvPr id="38" name="TextBox 37">
            <a:extLst>
              <a:ext uri="{FF2B5EF4-FFF2-40B4-BE49-F238E27FC236}">
                <a16:creationId xmlns:a16="http://schemas.microsoft.com/office/drawing/2014/main" id="{FAE225FE-9658-2D57-370A-85465030FA15}"/>
              </a:ext>
            </a:extLst>
          </p:cNvPr>
          <p:cNvSpPr txBox="1"/>
          <p:nvPr/>
        </p:nvSpPr>
        <p:spPr>
          <a:xfrm>
            <a:off x="1150248" y="1521932"/>
            <a:ext cx="2545452" cy="677108"/>
          </a:xfrm>
          <a:prstGeom prst="rect">
            <a:avLst/>
          </a:prstGeom>
          <a:noFill/>
        </p:spPr>
        <p:txBody>
          <a:bodyPr wrap="square" rtlCol="0">
            <a:spAutoFit/>
          </a:bodyPr>
          <a:lstStyle/>
          <a:p>
            <a:r>
              <a:rPr lang="en-US" sz="1600" b="1" dirty="0">
                <a:solidFill>
                  <a:schemeClr val="bg1"/>
                </a:solidFill>
              </a:rPr>
              <a:t>Champions identified</a:t>
            </a:r>
          </a:p>
          <a:p>
            <a:r>
              <a:rPr lang="en-US" sz="1100" dirty="0">
                <a:solidFill>
                  <a:schemeClr val="bg1"/>
                </a:solidFill>
              </a:rPr>
              <a:t>Service Offering Champion(s) named per domain/service group</a:t>
            </a:r>
            <a:endParaRPr lang="en-US" sz="1100" b="1" dirty="0">
              <a:solidFill>
                <a:schemeClr val="bg1"/>
              </a:solidFill>
            </a:endParaRPr>
          </a:p>
        </p:txBody>
      </p:sp>
      <p:sp>
        <p:nvSpPr>
          <p:cNvPr id="39" name="TextBox 38">
            <a:extLst>
              <a:ext uri="{FF2B5EF4-FFF2-40B4-BE49-F238E27FC236}">
                <a16:creationId xmlns:a16="http://schemas.microsoft.com/office/drawing/2014/main" id="{69D662DF-D210-470B-0248-36E7D5E84DE3}"/>
              </a:ext>
            </a:extLst>
          </p:cNvPr>
          <p:cNvSpPr txBox="1"/>
          <p:nvPr/>
        </p:nvSpPr>
        <p:spPr>
          <a:xfrm>
            <a:off x="1150248" y="2275206"/>
            <a:ext cx="2545452" cy="677108"/>
          </a:xfrm>
          <a:prstGeom prst="rect">
            <a:avLst/>
          </a:prstGeom>
          <a:noFill/>
        </p:spPr>
        <p:txBody>
          <a:bodyPr wrap="square" rtlCol="0">
            <a:spAutoFit/>
          </a:bodyPr>
          <a:lstStyle/>
          <a:p>
            <a:r>
              <a:rPr lang="en-US" sz="1600" b="1">
                <a:solidFill>
                  <a:schemeClr val="bg1"/>
                </a:solidFill>
              </a:rPr>
              <a:t>Capture use cases</a:t>
            </a:r>
          </a:p>
          <a:p>
            <a:r>
              <a:rPr lang="en-US" sz="1100">
                <a:solidFill>
                  <a:schemeClr val="bg1"/>
                </a:solidFill>
              </a:rPr>
              <a:t>Collect domain problems + buyer needs (problem-first)</a:t>
            </a:r>
            <a:endParaRPr lang="en-US" sz="1100" b="1">
              <a:solidFill>
                <a:schemeClr val="bg1"/>
              </a:solidFill>
            </a:endParaRPr>
          </a:p>
        </p:txBody>
      </p:sp>
      <p:sp>
        <p:nvSpPr>
          <p:cNvPr id="40" name="TextBox 39">
            <a:extLst>
              <a:ext uri="{FF2B5EF4-FFF2-40B4-BE49-F238E27FC236}">
                <a16:creationId xmlns:a16="http://schemas.microsoft.com/office/drawing/2014/main" id="{A6C3A031-53FF-D559-D88B-9E902FD6E9CC}"/>
              </a:ext>
            </a:extLst>
          </p:cNvPr>
          <p:cNvSpPr txBox="1"/>
          <p:nvPr/>
        </p:nvSpPr>
        <p:spPr>
          <a:xfrm>
            <a:off x="1150248" y="3028480"/>
            <a:ext cx="2545452" cy="677108"/>
          </a:xfrm>
          <a:prstGeom prst="rect">
            <a:avLst/>
          </a:prstGeom>
          <a:noFill/>
        </p:spPr>
        <p:txBody>
          <a:bodyPr wrap="square" rtlCol="0">
            <a:spAutoFit/>
          </a:bodyPr>
          <a:lstStyle/>
          <a:p>
            <a:r>
              <a:rPr lang="en-US" sz="1600" b="1">
                <a:solidFill>
                  <a:schemeClr val="bg1"/>
                </a:solidFill>
              </a:rPr>
              <a:t>Prioritize with leadership</a:t>
            </a:r>
          </a:p>
          <a:p>
            <a:r>
              <a:rPr lang="en-US" sz="1100">
                <a:solidFill>
                  <a:schemeClr val="bg1"/>
                </a:solidFill>
              </a:rPr>
              <a:t>Select top 1–2 items (industry-relevant, repeatable)</a:t>
            </a:r>
            <a:endParaRPr lang="en-US" sz="1100" b="1">
              <a:solidFill>
                <a:schemeClr val="bg1"/>
              </a:solidFill>
            </a:endParaRPr>
          </a:p>
        </p:txBody>
      </p:sp>
      <p:sp>
        <p:nvSpPr>
          <p:cNvPr id="41" name="TextBox 40">
            <a:extLst>
              <a:ext uri="{FF2B5EF4-FFF2-40B4-BE49-F238E27FC236}">
                <a16:creationId xmlns:a16="http://schemas.microsoft.com/office/drawing/2014/main" id="{65B99427-FA5B-AED0-0C67-F9D2D73FC931}"/>
              </a:ext>
            </a:extLst>
          </p:cNvPr>
          <p:cNvSpPr txBox="1"/>
          <p:nvPr/>
        </p:nvSpPr>
        <p:spPr>
          <a:xfrm>
            <a:off x="1150248" y="3781754"/>
            <a:ext cx="2545452" cy="677108"/>
          </a:xfrm>
          <a:prstGeom prst="rect">
            <a:avLst/>
          </a:prstGeom>
          <a:noFill/>
        </p:spPr>
        <p:txBody>
          <a:bodyPr wrap="square" rtlCol="0">
            <a:spAutoFit/>
          </a:bodyPr>
          <a:lstStyle/>
          <a:p>
            <a:r>
              <a:rPr lang="en-US" sz="1600" b="1">
                <a:solidFill>
                  <a:schemeClr val="bg1"/>
                </a:solidFill>
              </a:rPr>
              <a:t>Develop with AI + Sales</a:t>
            </a:r>
          </a:p>
          <a:p>
            <a:r>
              <a:rPr lang="en-US" sz="1100">
                <a:solidFill>
                  <a:schemeClr val="bg1"/>
                </a:solidFill>
              </a:rPr>
              <a:t>Work with AI build support + Sales Force to shape MVP/demo</a:t>
            </a:r>
            <a:endParaRPr lang="en-US" sz="1100" b="1">
              <a:solidFill>
                <a:schemeClr val="bg1"/>
              </a:solidFill>
            </a:endParaRPr>
          </a:p>
        </p:txBody>
      </p:sp>
      <p:sp>
        <p:nvSpPr>
          <p:cNvPr id="42" name="TextBox 41">
            <a:extLst>
              <a:ext uri="{FF2B5EF4-FFF2-40B4-BE49-F238E27FC236}">
                <a16:creationId xmlns:a16="http://schemas.microsoft.com/office/drawing/2014/main" id="{32C2A4B5-BC5E-DBB1-9D51-AF0D8275B88F}"/>
              </a:ext>
            </a:extLst>
          </p:cNvPr>
          <p:cNvSpPr txBox="1"/>
          <p:nvPr/>
        </p:nvSpPr>
        <p:spPr>
          <a:xfrm>
            <a:off x="1150248" y="4535028"/>
            <a:ext cx="2545452" cy="677108"/>
          </a:xfrm>
          <a:prstGeom prst="rect">
            <a:avLst/>
          </a:prstGeom>
          <a:noFill/>
        </p:spPr>
        <p:txBody>
          <a:bodyPr wrap="square" rtlCol="0">
            <a:spAutoFit/>
          </a:bodyPr>
          <a:lstStyle/>
          <a:p>
            <a:r>
              <a:rPr lang="en-US" sz="1600" b="1" dirty="0">
                <a:solidFill>
                  <a:schemeClr val="bg1"/>
                </a:solidFill>
              </a:rPr>
              <a:t>Demo / asset ready</a:t>
            </a:r>
          </a:p>
          <a:p>
            <a:r>
              <a:rPr lang="en-US" sz="1100" dirty="0">
                <a:solidFill>
                  <a:schemeClr val="bg1"/>
                </a:solidFill>
              </a:rPr>
              <a:t>Demo/video + talk track: where it fits, AI vs non-AI Infused, value</a:t>
            </a:r>
            <a:endParaRPr lang="en-US" sz="1100" b="1" dirty="0">
              <a:solidFill>
                <a:schemeClr val="bg1"/>
              </a:solidFill>
            </a:endParaRPr>
          </a:p>
        </p:txBody>
      </p:sp>
      <p:sp>
        <p:nvSpPr>
          <p:cNvPr id="43" name="TextBox 42">
            <a:extLst>
              <a:ext uri="{FF2B5EF4-FFF2-40B4-BE49-F238E27FC236}">
                <a16:creationId xmlns:a16="http://schemas.microsoft.com/office/drawing/2014/main" id="{D6B87D53-9ABC-7588-76EF-D7CD8C449CAE}"/>
              </a:ext>
            </a:extLst>
          </p:cNvPr>
          <p:cNvSpPr txBox="1"/>
          <p:nvPr/>
        </p:nvSpPr>
        <p:spPr>
          <a:xfrm>
            <a:off x="1150248" y="5288302"/>
            <a:ext cx="2545452" cy="677108"/>
          </a:xfrm>
          <a:prstGeom prst="rect">
            <a:avLst/>
          </a:prstGeom>
          <a:noFill/>
        </p:spPr>
        <p:txBody>
          <a:bodyPr wrap="square" rtlCol="0">
            <a:spAutoFit/>
          </a:bodyPr>
          <a:lstStyle/>
          <a:p>
            <a:r>
              <a:rPr lang="en-US" sz="1600" b="1" dirty="0">
                <a:solidFill>
                  <a:schemeClr val="bg1"/>
                </a:solidFill>
              </a:rPr>
              <a:t>Bring to Market &amp; Scale</a:t>
            </a:r>
          </a:p>
          <a:p>
            <a:r>
              <a:rPr lang="en-US" sz="1100" dirty="0">
                <a:solidFill>
                  <a:schemeClr val="bg1"/>
                </a:solidFill>
              </a:rPr>
              <a:t>Showcase → target accounts → pursuits (reuse across clients)</a:t>
            </a:r>
            <a:endParaRPr lang="en-US" sz="1100" b="1" dirty="0">
              <a:solidFill>
                <a:schemeClr val="bg1"/>
              </a:solidFill>
            </a:endParaRPr>
          </a:p>
        </p:txBody>
      </p:sp>
      <p:sp>
        <p:nvSpPr>
          <p:cNvPr id="44" name="TextBox 43">
            <a:extLst>
              <a:ext uri="{FF2B5EF4-FFF2-40B4-BE49-F238E27FC236}">
                <a16:creationId xmlns:a16="http://schemas.microsoft.com/office/drawing/2014/main" id="{D0B4B6F0-A1D1-AA61-34A3-DCECFDF86F96}"/>
              </a:ext>
            </a:extLst>
          </p:cNvPr>
          <p:cNvSpPr txBox="1"/>
          <p:nvPr/>
        </p:nvSpPr>
        <p:spPr>
          <a:xfrm>
            <a:off x="9164274" y="2291320"/>
            <a:ext cx="2775117" cy="3170099"/>
          </a:xfrm>
          <a:prstGeom prst="rect">
            <a:avLst/>
          </a:prstGeom>
          <a:noFill/>
          <a:ln>
            <a:solidFill>
              <a:srgbClr val="004346"/>
            </a:solidFill>
          </a:ln>
        </p:spPr>
        <p:txBody>
          <a:bodyPr wrap="square" rtlCol="0">
            <a:spAutoFit/>
          </a:bodyPr>
          <a:lstStyle/>
          <a:p>
            <a:pPr algn="ctr"/>
            <a:r>
              <a:rPr lang="en-US" sz="1600" b="1" u="sng" dirty="0"/>
              <a:t>OUTCOMES</a:t>
            </a:r>
          </a:p>
          <a:p>
            <a:pPr algn="ctr"/>
            <a:endParaRPr lang="en-US" sz="1100" b="1" u="sng" dirty="0"/>
          </a:p>
          <a:p>
            <a:pPr marL="228600" indent="-228600">
              <a:buFont typeface="+mj-lt"/>
              <a:buAutoNum type="arabicPeriod"/>
            </a:pPr>
            <a:r>
              <a:rPr lang="en-US" sz="1200" b="1" dirty="0"/>
              <a:t>Client:</a:t>
            </a:r>
            <a:r>
              <a:rPr lang="en-US" sz="1200" dirty="0"/>
              <a:t> stronger, industry-relevant offerings that better meet client needs and improve competitiveness</a:t>
            </a:r>
          </a:p>
          <a:p>
            <a:pPr marL="228600" indent="-228600">
              <a:buFont typeface="+mj-lt"/>
              <a:buAutoNum type="arabicPeriod"/>
            </a:pPr>
            <a:endParaRPr lang="en-US" sz="1200" dirty="0"/>
          </a:p>
          <a:p>
            <a:pPr marL="228600" indent="-228600">
              <a:buFont typeface="+mj-lt"/>
              <a:buAutoNum type="arabicPeriod"/>
            </a:pPr>
            <a:r>
              <a:rPr lang="en-US" sz="1200" b="1" dirty="0"/>
              <a:t>Internal:</a:t>
            </a:r>
            <a:r>
              <a:rPr lang="en-US" sz="1200" dirty="0"/>
              <a:t> increased </a:t>
            </a:r>
            <a:r>
              <a:rPr lang="en-US" sz="1200" b="1" dirty="0"/>
              <a:t>pipeline and revenue</a:t>
            </a:r>
            <a:r>
              <a:rPr lang="en-US" sz="1200" dirty="0"/>
              <a:t> through differentiated AI-enabled offerings</a:t>
            </a:r>
          </a:p>
          <a:p>
            <a:pPr marL="228600" indent="-228600">
              <a:buFont typeface="+mj-lt"/>
              <a:buAutoNum type="arabicPeriod"/>
            </a:pPr>
            <a:endParaRPr lang="en-US" sz="1200" dirty="0"/>
          </a:p>
          <a:p>
            <a:pPr marL="228600" indent="-228600">
              <a:buFont typeface="+mj-lt"/>
              <a:buAutoNum type="arabicPeriod"/>
            </a:pPr>
            <a:r>
              <a:rPr lang="en-US" sz="1200" b="1" dirty="0"/>
              <a:t>Scale:</a:t>
            </a:r>
            <a:r>
              <a:rPr lang="en-US" sz="1200" dirty="0"/>
              <a:t> broader enablement through reusable assets, education, and the ability to scale what works across the firm</a:t>
            </a:r>
            <a:endParaRPr lang="en-US" sz="1200" b="1" dirty="0"/>
          </a:p>
        </p:txBody>
      </p:sp>
      <p:sp>
        <p:nvSpPr>
          <p:cNvPr id="19" name="Rectangle 1">
            <a:extLst>
              <a:ext uri="{FF2B5EF4-FFF2-40B4-BE49-F238E27FC236}">
                <a16:creationId xmlns:a16="http://schemas.microsoft.com/office/drawing/2014/main" id="{DB27D92A-4AAD-BB3F-A6FB-9B630362CE65}"/>
              </a:ext>
            </a:extLst>
          </p:cNvPr>
          <p:cNvSpPr>
            <a:spLocks noChangeArrowheads="1"/>
          </p:cNvSpPr>
          <p:nvPr/>
        </p:nvSpPr>
        <p:spPr bwMode="auto">
          <a:xfrm>
            <a:off x="5361137" y="5207105"/>
            <a:ext cx="2369559"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Arial" panose="020B0604020202020204" pitchFamily="34" charset="0"/>
              </a:rPr>
              <a:t>●</a:t>
            </a:r>
            <a:r>
              <a:rPr kumimoji="0" lang="en-US" altLang="en-US" sz="1200" b="1" i="0" u="none" strike="noStrike" cap="none" normalizeH="0" baseline="0" dirty="0">
                <a:ln>
                  <a:noFill/>
                </a:ln>
                <a:solidFill>
                  <a:schemeClr val="tx1"/>
                </a:solidFill>
                <a:effectLst/>
                <a:latin typeface="Arial" panose="020B0604020202020204" pitchFamily="34" charset="0"/>
              </a:rPr>
              <a:t> </a:t>
            </a:r>
            <a:r>
              <a:rPr lang="en-US" altLang="en-US" sz="1100" b="1" dirty="0">
                <a:latin typeface="Arial" panose="020B0604020202020204" pitchFamily="34" charset="0"/>
              </a:rPr>
              <a:t>AI Service Offering C</a:t>
            </a:r>
            <a:r>
              <a:rPr kumimoji="0" lang="en-US" altLang="en-US" sz="1100" b="1" i="0" u="none" strike="noStrike" cap="none" normalizeH="0" baseline="0" dirty="0">
                <a:ln>
                  <a:noFill/>
                </a:ln>
                <a:solidFill>
                  <a:schemeClr val="tx1"/>
                </a:solidFill>
                <a:effectLst/>
                <a:latin typeface="Arial" panose="020B0604020202020204" pitchFamily="34" charset="0"/>
              </a:rPr>
              <a:t>hampion</a:t>
            </a:r>
          </a:p>
          <a:p>
            <a:pPr lvl="0" eaLnBrk="0" fontAlgn="base" hangingPunct="0">
              <a:spcBef>
                <a:spcPct val="0"/>
              </a:spcBef>
              <a:spcAft>
                <a:spcPct val="0"/>
              </a:spcAft>
            </a:pPr>
            <a:r>
              <a:rPr lang="en-US" sz="1400" dirty="0"/>
              <a:t>★</a:t>
            </a:r>
            <a:r>
              <a:rPr kumimoji="0" lang="en-US" altLang="en-US" sz="1100" b="1" i="0" u="none" strike="noStrike" cap="none" normalizeH="0" baseline="0" dirty="0">
                <a:ln>
                  <a:noFill/>
                </a:ln>
                <a:solidFill>
                  <a:schemeClr val="tx1"/>
                </a:solidFill>
                <a:effectLst/>
                <a:latin typeface="Arial" panose="020B0604020202020204" pitchFamily="34" charset="0"/>
              </a:rPr>
              <a:t> AI Build Support (FDE/AI Lab)</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rial" panose="020B0604020202020204" pitchFamily="34" charset="0"/>
              </a:rPr>
              <a:t>◆</a:t>
            </a:r>
            <a:r>
              <a:rPr kumimoji="0" lang="en-US" altLang="en-US" sz="1100" b="1" i="0" u="none" strike="noStrike" cap="none" normalizeH="0" baseline="0" dirty="0">
                <a:ln>
                  <a:noFill/>
                </a:ln>
                <a:solidFill>
                  <a:schemeClr val="tx1"/>
                </a:solidFill>
                <a:effectLst/>
                <a:latin typeface="Arial" panose="020B0604020202020204" pitchFamily="34" charset="0"/>
              </a:rPr>
              <a:t> AI Sales Force</a:t>
            </a: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rial" panose="020B0604020202020204" pitchFamily="34" charset="0"/>
              </a:rPr>
              <a:t>▲</a:t>
            </a:r>
            <a:r>
              <a:rPr kumimoji="0" lang="en-US" altLang="en-US" sz="1100" b="1" i="0" u="none" strike="noStrike" cap="none" normalizeH="0" baseline="0" dirty="0">
                <a:ln>
                  <a:noFill/>
                </a:ln>
                <a:solidFill>
                  <a:schemeClr val="tx1"/>
                </a:solidFill>
                <a:effectLst/>
                <a:latin typeface="Arial" panose="020B0604020202020204" pitchFamily="34" charset="0"/>
              </a:rPr>
              <a:t> Practice Leadership</a:t>
            </a: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21" name="TextBox 20">
            <a:extLst>
              <a:ext uri="{FF2B5EF4-FFF2-40B4-BE49-F238E27FC236}">
                <a16:creationId xmlns:a16="http://schemas.microsoft.com/office/drawing/2014/main" id="{1074A3E8-1F49-B057-F356-288FD5788890}"/>
              </a:ext>
            </a:extLst>
          </p:cNvPr>
          <p:cNvSpPr txBox="1"/>
          <p:nvPr/>
        </p:nvSpPr>
        <p:spPr>
          <a:xfrm>
            <a:off x="3638269" y="1699946"/>
            <a:ext cx="421481" cy="369332"/>
          </a:xfrm>
          <a:prstGeom prst="rect">
            <a:avLst/>
          </a:prstGeom>
          <a:noFill/>
        </p:spPr>
        <p:txBody>
          <a:bodyPr wrap="square">
            <a:spAutoFit/>
          </a:bodyPr>
          <a:lstStyle/>
          <a:p>
            <a:r>
              <a:rPr kumimoji="0" lang="en-US" altLang="en-US" sz="1800" b="1" i="0" u="none" strike="noStrike" cap="none" normalizeH="0" baseline="0">
                <a:ln>
                  <a:noFill/>
                </a:ln>
                <a:solidFill>
                  <a:schemeClr val="bg1"/>
                </a:solidFill>
                <a:effectLst/>
                <a:latin typeface="Arial" panose="020B0604020202020204" pitchFamily="34" charset="0"/>
              </a:rPr>
              <a:t>▲</a:t>
            </a:r>
            <a:endParaRPr lang="en-US">
              <a:solidFill>
                <a:schemeClr val="bg1"/>
              </a:solidFill>
            </a:endParaRPr>
          </a:p>
        </p:txBody>
      </p:sp>
      <p:sp>
        <p:nvSpPr>
          <p:cNvPr id="23" name="TextBox 22">
            <a:extLst>
              <a:ext uri="{FF2B5EF4-FFF2-40B4-BE49-F238E27FC236}">
                <a16:creationId xmlns:a16="http://schemas.microsoft.com/office/drawing/2014/main" id="{ECE6C0FC-998A-81AA-7B14-BE3BCA0B9832}"/>
              </a:ext>
            </a:extLst>
          </p:cNvPr>
          <p:cNvSpPr txBox="1"/>
          <p:nvPr/>
        </p:nvSpPr>
        <p:spPr>
          <a:xfrm>
            <a:off x="3683349" y="2399707"/>
            <a:ext cx="331320" cy="400110"/>
          </a:xfrm>
          <a:prstGeom prst="rect">
            <a:avLst/>
          </a:prstGeom>
          <a:noFill/>
        </p:spPr>
        <p:txBody>
          <a:bodyPr wrap="square">
            <a:spAutoFit/>
          </a:bodyPr>
          <a:lstStyle/>
          <a:p>
            <a:r>
              <a:rPr kumimoji="0" lang="en-US" altLang="en-US" sz="2000" b="1" i="0" u="none" strike="noStrike" cap="none" normalizeH="0" baseline="0">
                <a:ln>
                  <a:noFill/>
                </a:ln>
                <a:solidFill>
                  <a:schemeClr val="bg1"/>
                </a:solidFill>
                <a:effectLst/>
                <a:latin typeface="Arial" panose="020B0604020202020204" pitchFamily="34" charset="0"/>
              </a:rPr>
              <a:t>●</a:t>
            </a:r>
            <a:endParaRPr lang="en-US" sz="2000">
              <a:solidFill>
                <a:schemeClr val="bg1"/>
              </a:solidFill>
            </a:endParaRPr>
          </a:p>
        </p:txBody>
      </p:sp>
      <p:sp>
        <p:nvSpPr>
          <p:cNvPr id="25" name="TextBox 24">
            <a:extLst>
              <a:ext uri="{FF2B5EF4-FFF2-40B4-BE49-F238E27FC236}">
                <a16:creationId xmlns:a16="http://schemas.microsoft.com/office/drawing/2014/main" id="{BC27605A-0FEF-BAFA-6906-3E47DAA4275A}"/>
              </a:ext>
            </a:extLst>
          </p:cNvPr>
          <p:cNvSpPr txBox="1"/>
          <p:nvPr/>
        </p:nvSpPr>
        <p:spPr>
          <a:xfrm>
            <a:off x="3662091" y="3163371"/>
            <a:ext cx="295556" cy="400110"/>
          </a:xfrm>
          <a:prstGeom prst="rect">
            <a:avLst/>
          </a:prstGeom>
          <a:noFill/>
        </p:spPr>
        <p:txBody>
          <a:bodyPr wrap="square">
            <a:spAutoFit/>
          </a:bodyPr>
          <a:lstStyle/>
          <a:p>
            <a:r>
              <a:rPr kumimoji="0" lang="en-US" altLang="en-US" sz="2000" b="1" i="0" u="none" strike="noStrike" cap="none" normalizeH="0" baseline="0">
                <a:ln>
                  <a:noFill/>
                </a:ln>
                <a:solidFill>
                  <a:schemeClr val="bg1"/>
                </a:solidFill>
                <a:effectLst/>
                <a:latin typeface="Arial" panose="020B0604020202020204" pitchFamily="34" charset="0"/>
              </a:rPr>
              <a:t>●</a:t>
            </a:r>
            <a:endParaRPr lang="en-US" sz="2000">
              <a:solidFill>
                <a:schemeClr val="bg1"/>
              </a:solidFill>
            </a:endParaRPr>
          </a:p>
        </p:txBody>
      </p:sp>
      <p:sp>
        <p:nvSpPr>
          <p:cNvPr id="27" name="TextBox 26">
            <a:extLst>
              <a:ext uri="{FF2B5EF4-FFF2-40B4-BE49-F238E27FC236}">
                <a16:creationId xmlns:a16="http://schemas.microsoft.com/office/drawing/2014/main" id="{6FFF2B8B-F4FD-13F6-DFA9-7187BF51096E}"/>
              </a:ext>
            </a:extLst>
          </p:cNvPr>
          <p:cNvSpPr txBox="1"/>
          <p:nvPr/>
        </p:nvSpPr>
        <p:spPr>
          <a:xfrm>
            <a:off x="3820959" y="3185643"/>
            <a:ext cx="404953" cy="369332"/>
          </a:xfrm>
          <a:prstGeom prst="rect">
            <a:avLst/>
          </a:prstGeom>
          <a:noFill/>
        </p:spPr>
        <p:txBody>
          <a:bodyPr wrap="square">
            <a:spAutoFit/>
          </a:bodyPr>
          <a:lstStyle/>
          <a:p>
            <a:r>
              <a:rPr kumimoji="0" lang="en-US" altLang="en-US" sz="1800" b="1" i="0" u="none" strike="noStrike" cap="none" normalizeH="0" baseline="0">
                <a:ln>
                  <a:noFill/>
                </a:ln>
                <a:solidFill>
                  <a:schemeClr val="bg1"/>
                </a:solidFill>
                <a:effectLst/>
                <a:latin typeface="Arial" panose="020B0604020202020204" pitchFamily="34" charset="0"/>
              </a:rPr>
              <a:t>▲</a:t>
            </a:r>
            <a:endParaRPr lang="en-US">
              <a:solidFill>
                <a:schemeClr val="bg1"/>
              </a:solidFill>
            </a:endParaRPr>
          </a:p>
        </p:txBody>
      </p:sp>
      <p:sp>
        <p:nvSpPr>
          <p:cNvPr id="29" name="TextBox 28">
            <a:extLst>
              <a:ext uri="{FF2B5EF4-FFF2-40B4-BE49-F238E27FC236}">
                <a16:creationId xmlns:a16="http://schemas.microsoft.com/office/drawing/2014/main" id="{704DD826-18F7-ECDF-5FB1-06EFB7746BB0}"/>
              </a:ext>
            </a:extLst>
          </p:cNvPr>
          <p:cNvSpPr txBox="1"/>
          <p:nvPr/>
        </p:nvSpPr>
        <p:spPr>
          <a:xfrm>
            <a:off x="3564815" y="3925276"/>
            <a:ext cx="404953" cy="369332"/>
          </a:xfrm>
          <a:prstGeom prst="rect">
            <a:avLst/>
          </a:prstGeom>
          <a:noFill/>
        </p:spPr>
        <p:txBody>
          <a:bodyPr wrap="square">
            <a:spAutoFit/>
          </a:bodyPr>
          <a:lstStyle/>
          <a:p>
            <a:r>
              <a:rPr lang="en-US" sz="1800">
                <a:solidFill>
                  <a:schemeClr val="bg1"/>
                </a:solidFill>
              </a:rPr>
              <a:t>★</a:t>
            </a:r>
            <a:endParaRPr lang="en-US">
              <a:solidFill>
                <a:schemeClr val="bg1"/>
              </a:solidFill>
            </a:endParaRPr>
          </a:p>
        </p:txBody>
      </p:sp>
      <p:sp>
        <p:nvSpPr>
          <p:cNvPr id="30" name="TextBox 29">
            <a:extLst>
              <a:ext uri="{FF2B5EF4-FFF2-40B4-BE49-F238E27FC236}">
                <a16:creationId xmlns:a16="http://schemas.microsoft.com/office/drawing/2014/main" id="{161F36A8-E0BC-6F7E-4BF2-7187D289DD89}"/>
              </a:ext>
            </a:extLst>
          </p:cNvPr>
          <p:cNvSpPr txBox="1"/>
          <p:nvPr/>
        </p:nvSpPr>
        <p:spPr>
          <a:xfrm>
            <a:off x="3799809" y="3906281"/>
            <a:ext cx="331320" cy="400110"/>
          </a:xfrm>
          <a:prstGeom prst="rect">
            <a:avLst/>
          </a:prstGeom>
          <a:noFill/>
        </p:spPr>
        <p:txBody>
          <a:bodyPr wrap="square">
            <a:spAutoFit/>
          </a:bodyPr>
          <a:lstStyle/>
          <a:p>
            <a:r>
              <a:rPr kumimoji="0" lang="en-US" altLang="en-US" sz="2000" b="1" i="0" u="none" strike="noStrike" cap="none" normalizeH="0" baseline="0">
                <a:ln>
                  <a:noFill/>
                </a:ln>
                <a:solidFill>
                  <a:schemeClr val="bg1"/>
                </a:solidFill>
                <a:effectLst/>
                <a:latin typeface="Arial" panose="020B0604020202020204" pitchFamily="34" charset="0"/>
              </a:rPr>
              <a:t>●</a:t>
            </a:r>
            <a:endParaRPr lang="en-US" sz="2000">
              <a:solidFill>
                <a:schemeClr val="bg1"/>
              </a:solidFill>
            </a:endParaRPr>
          </a:p>
        </p:txBody>
      </p:sp>
      <p:sp>
        <p:nvSpPr>
          <p:cNvPr id="32" name="TextBox 31">
            <a:extLst>
              <a:ext uri="{FF2B5EF4-FFF2-40B4-BE49-F238E27FC236}">
                <a16:creationId xmlns:a16="http://schemas.microsoft.com/office/drawing/2014/main" id="{688316A3-8193-45F7-4D0E-82CBE54B088C}"/>
              </a:ext>
            </a:extLst>
          </p:cNvPr>
          <p:cNvSpPr txBox="1"/>
          <p:nvPr/>
        </p:nvSpPr>
        <p:spPr>
          <a:xfrm>
            <a:off x="3994860" y="3936891"/>
            <a:ext cx="404953" cy="369332"/>
          </a:xfrm>
          <a:prstGeom prst="rect">
            <a:avLst/>
          </a:prstGeom>
          <a:noFill/>
        </p:spPr>
        <p:txBody>
          <a:bodyPr wrap="square">
            <a:spAutoFit/>
          </a:bodyPr>
          <a:lstStyle/>
          <a:p>
            <a:r>
              <a:rPr kumimoji="0" lang="en-US" altLang="en-US" sz="1800" b="1" i="0" u="none" strike="noStrike" cap="none" normalizeH="0" baseline="0">
                <a:ln>
                  <a:noFill/>
                </a:ln>
                <a:solidFill>
                  <a:schemeClr val="bg1"/>
                </a:solidFill>
                <a:effectLst/>
                <a:latin typeface="Arial" panose="020B0604020202020204" pitchFamily="34" charset="0"/>
              </a:rPr>
              <a:t>◆</a:t>
            </a:r>
            <a:endParaRPr lang="en-US">
              <a:solidFill>
                <a:schemeClr val="bg1"/>
              </a:solidFill>
            </a:endParaRPr>
          </a:p>
        </p:txBody>
      </p:sp>
      <p:sp>
        <p:nvSpPr>
          <p:cNvPr id="33" name="TextBox 32">
            <a:extLst>
              <a:ext uri="{FF2B5EF4-FFF2-40B4-BE49-F238E27FC236}">
                <a16:creationId xmlns:a16="http://schemas.microsoft.com/office/drawing/2014/main" id="{73F0AF7D-4834-1D14-32C1-5E7CF63726E8}"/>
              </a:ext>
            </a:extLst>
          </p:cNvPr>
          <p:cNvSpPr txBox="1"/>
          <p:nvPr/>
        </p:nvSpPr>
        <p:spPr>
          <a:xfrm>
            <a:off x="3607393" y="4703504"/>
            <a:ext cx="404953" cy="369332"/>
          </a:xfrm>
          <a:prstGeom prst="rect">
            <a:avLst/>
          </a:prstGeom>
          <a:noFill/>
        </p:spPr>
        <p:txBody>
          <a:bodyPr wrap="square">
            <a:spAutoFit/>
          </a:bodyPr>
          <a:lstStyle/>
          <a:p>
            <a:r>
              <a:rPr lang="en-US" sz="1800">
                <a:solidFill>
                  <a:schemeClr val="bg1"/>
                </a:solidFill>
              </a:rPr>
              <a:t>★</a:t>
            </a:r>
            <a:endParaRPr lang="en-US">
              <a:solidFill>
                <a:schemeClr val="bg1"/>
              </a:solidFill>
            </a:endParaRPr>
          </a:p>
        </p:txBody>
      </p:sp>
      <p:sp>
        <p:nvSpPr>
          <p:cNvPr id="35" name="TextBox 34">
            <a:extLst>
              <a:ext uri="{FF2B5EF4-FFF2-40B4-BE49-F238E27FC236}">
                <a16:creationId xmlns:a16="http://schemas.microsoft.com/office/drawing/2014/main" id="{B8546A55-87B2-3295-1AAB-11D4652C4F41}"/>
              </a:ext>
            </a:extLst>
          </p:cNvPr>
          <p:cNvSpPr txBox="1"/>
          <p:nvPr/>
        </p:nvSpPr>
        <p:spPr>
          <a:xfrm>
            <a:off x="3829200" y="4684509"/>
            <a:ext cx="331320" cy="400110"/>
          </a:xfrm>
          <a:prstGeom prst="rect">
            <a:avLst/>
          </a:prstGeom>
          <a:noFill/>
        </p:spPr>
        <p:txBody>
          <a:bodyPr wrap="square">
            <a:spAutoFit/>
          </a:bodyPr>
          <a:lstStyle/>
          <a:p>
            <a:r>
              <a:rPr kumimoji="0" lang="en-US" altLang="en-US" sz="2000" b="1" i="0" u="none" strike="noStrike" cap="none" normalizeH="0" baseline="0">
                <a:ln>
                  <a:noFill/>
                </a:ln>
                <a:solidFill>
                  <a:schemeClr val="bg1"/>
                </a:solidFill>
                <a:effectLst/>
                <a:latin typeface="Arial" panose="020B0604020202020204" pitchFamily="34" charset="0"/>
              </a:rPr>
              <a:t>●</a:t>
            </a:r>
            <a:endParaRPr lang="en-US" sz="2000">
              <a:solidFill>
                <a:schemeClr val="bg1"/>
              </a:solidFill>
            </a:endParaRPr>
          </a:p>
        </p:txBody>
      </p:sp>
      <p:sp>
        <p:nvSpPr>
          <p:cNvPr id="46" name="TextBox 45">
            <a:extLst>
              <a:ext uri="{FF2B5EF4-FFF2-40B4-BE49-F238E27FC236}">
                <a16:creationId xmlns:a16="http://schemas.microsoft.com/office/drawing/2014/main" id="{BC31C39F-2729-358A-63A4-436EFCD2787F}"/>
              </a:ext>
            </a:extLst>
          </p:cNvPr>
          <p:cNvSpPr txBox="1"/>
          <p:nvPr/>
        </p:nvSpPr>
        <p:spPr>
          <a:xfrm>
            <a:off x="3632590" y="5438105"/>
            <a:ext cx="331320" cy="400110"/>
          </a:xfrm>
          <a:prstGeom prst="rect">
            <a:avLst/>
          </a:prstGeom>
          <a:noFill/>
        </p:spPr>
        <p:txBody>
          <a:bodyPr wrap="square">
            <a:spAutoFit/>
          </a:bodyPr>
          <a:lstStyle/>
          <a:p>
            <a:r>
              <a:rPr kumimoji="0" lang="en-US" altLang="en-US" sz="2000" b="1" i="0" u="none" strike="noStrike" cap="none" normalizeH="0" baseline="0">
                <a:ln>
                  <a:noFill/>
                </a:ln>
                <a:solidFill>
                  <a:schemeClr val="bg1"/>
                </a:solidFill>
                <a:effectLst/>
                <a:latin typeface="Arial" panose="020B0604020202020204" pitchFamily="34" charset="0"/>
              </a:rPr>
              <a:t>●</a:t>
            </a:r>
            <a:endParaRPr lang="en-US" sz="2000">
              <a:solidFill>
                <a:schemeClr val="bg1"/>
              </a:solidFill>
            </a:endParaRPr>
          </a:p>
        </p:txBody>
      </p:sp>
      <p:sp>
        <p:nvSpPr>
          <p:cNvPr id="47" name="TextBox 46">
            <a:extLst>
              <a:ext uri="{FF2B5EF4-FFF2-40B4-BE49-F238E27FC236}">
                <a16:creationId xmlns:a16="http://schemas.microsoft.com/office/drawing/2014/main" id="{ED3E6030-3589-D135-B736-04DC01AD25F5}"/>
              </a:ext>
            </a:extLst>
          </p:cNvPr>
          <p:cNvSpPr txBox="1"/>
          <p:nvPr/>
        </p:nvSpPr>
        <p:spPr>
          <a:xfrm>
            <a:off x="3822140" y="5468715"/>
            <a:ext cx="404953" cy="369332"/>
          </a:xfrm>
          <a:prstGeom prst="rect">
            <a:avLst/>
          </a:prstGeom>
          <a:noFill/>
        </p:spPr>
        <p:txBody>
          <a:bodyPr wrap="square">
            <a:spAutoFit/>
          </a:bodyPr>
          <a:lstStyle/>
          <a:p>
            <a:r>
              <a:rPr kumimoji="0" lang="en-US" altLang="en-US" sz="1800" b="1" i="0" u="none" strike="noStrike" cap="none" normalizeH="0" baseline="0">
                <a:ln>
                  <a:noFill/>
                </a:ln>
                <a:solidFill>
                  <a:schemeClr val="bg1"/>
                </a:solidFill>
                <a:effectLst/>
                <a:latin typeface="Arial" panose="020B0604020202020204" pitchFamily="34" charset="0"/>
              </a:rPr>
              <a:t>◆</a:t>
            </a:r>
            <a:endParaRPr lang="en-US">
              <a:solidFill>
                <a:schemeClr val="bg1"/>
              </a:solidFill>
            </a:endParaRPr>
          </a:p>
        </p:txBody>
      </p:sp>
      <p:sp>
        <p:nvSpPr>
          <p:cNvPr id="16" name="TextBox 15">
            <a:extLst>
              <a:ext uri="{FF2B5EF4-FFF2-40B4-BE49-F238E27FC236}">
                <a16:creationId xmlns:a16="http://schemas.microsoft.com/office/drawing/2014/main" id="{0964CB55-4891-1020-A4C3-7BB9A5748E01}"/>
              </a:ext>
            </a:extLst>
          </p:cNvPr>
          <p:cNvSpPr txBox="1"/>
          <p:nvPr/>
        </p:nvSpPr>
        <p:spPr>
          <a:xfrm>
            <a:off x="-1452096" y="469208"/>
            <a:ext cx="1927412" cy="276999"/>
          </a:xfrm>
          <a:prstGeom prst="rect">
            <a:avLst/>
          </a:prstGeom>
          <a:solidFill>
            <a:schemeClr val="accent1">
              <a:lumMod val="20000"/>
              <a:lumOff val="80000"/>
            </a:schemeClr>
          </a:solidFill>
        </p:spPr>
        <p:txBody>
          <a:bodyPr wrap="square" rtlCol="0">
            <a:spAutoFit/>
          </a:bodyPr>
          <a:lstStyle/>
          <a:p>
            <a:pPr algn="l"/>
            <a:r>
              <a:rPr lang="en-US" sz="1200" dirty="0"/>
              <a:t>Speaker:</a:t>
            </a:r>
          </a:p>
        </p:txBody>
      </p:sp>
    </p:spTree>
    <p:extLst>
      <p:ext uri="{BB962C8B-B14F-4D97-AF65-F5344CB8AC3E}">
        <p14:creationId xmlns:p14="http://schemas.microsoft.com/office/powerpoint/2010/main" val="2071409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51BF6-E648-0772-D61B-F506B297972E}"/>
              </a:ext>
            </a:extLst>
          </p:cNvPr>
          <p:cNvSpPr>
            <a:spLocks noGrp="1"/>
          </p:cNvSpPr>
          <p:nvPr>
            <p:ph type="title"/>
          </p:nvPr>
        </p:nvSpPr>
        <p:spPr>
          <a:xfrm>
            <a:off x="546500" y="531323"/>
            <a:ext cx="11098999" cy="332399"/>
          </a:xfrm>
        </p:spPr>
        <p:txBody>
          <a:bodyPr/>
          <a:lstStyle/>
          <a:p>
            <a:r>
              <a:rPr lang="en-US" dirty="0">
                <a:latin typeface="+mj-lt"/>
              </a:rPr>
              <a:t>Next Steps: First cycle expectations + key dates</a:t>
            </a:r>
          </a:p>
        </p:txBody>
      </p:sp>
      <p:sp>
        <p:nvSpPr>
          <p:cNvPr id="4" name="AutoShape 3">
            <a:extLst>
              <a:ext uri="{FF2B5EF4-FFF2-40B4-BE49-F238E27FC236}">
                <a16:creationId xmlns:a16="http://schemas.microsoft.com/office/drawing/2014/main" id="{9AC3EE09-D3A4-875C-366C-F83376312EE9}"/>
              </a:ext>
            </a:extLst>
          </p:cNvPr>
          <p:cNvSpPr>
            <a:spLocks noChangeArrowheads="1"/>
          </p:cNvSpPr>
          <p:nvPr/>
        </p:nvSpPr>
        <p:spPr bwMode="auto">
          <a:xfrm>
            <a:off x="546500" y="1300559"/>
            <a:ext cx="2680425" cy="636334"/>
          </a:xfrm>
          <a:prstGeom prst="homePlate">
            <a:avLst>
              <a:gd name="adj" fmla="val 27437"/>
            </a:avLst>
          </a:prstGeom>
          <a:solidFill>
            <a:schemeClr val="bg1">
              <a:lumMod val="95000"/>
            </a:schemeClr>
          </a:solidFill>
          <a:ln w="9525" algn="ctr">
            <a:solidFill>
              <a:srgbClr val="004346"/>
            </a:solidFill>
            <a:miter lim="800000"/>
            <a:headEnd/>
            <a:tailEnd/>
          </a:ln>
        </p:spPr>
        <p:txBody>
          <a:bodyPr lIns="0" tIns="91410" rIns="0" bIns="91410" anchor="ctr"/>
          <a:lstStyle/>
          <a:p>
            <a:pPr algn="ctr" defTabSz="1088340" eaLnBrk="0" hangingPunct="0"/>
            <a:r>
              <a:rPr lang="en-US" dirty="0">
                <a:latin typeface="+mj-lt"/>
              </a:rPr>
              <a:t>Current Week</a:t>
            </a:r>
            <a:endParaRPr lang="en-US" dirty="0">
              <a:solidFill>
                <a:srgbClr val="000000"/>
              </a:solidFill>
              <a:latin typeface="+mj-lt"/>
              <a:sym typeface="+mn-lt"/>
            </a:endParaRPr>
          </a:p>
        </p:txBody>
      </p:sp>
      <p:sp>
        <p:nvSpPr>
          <p:cNvPr id="7" name="Rectangle 6">
            <a:extLst>
              <a:ext uri="{FF2B5EF4-FFF2-40B4-BE49-F238E27FC236}">
                <a16:creationId xmlns:a16="http://schemas.microsoft.com/office/drawing/2014/main" id="{7C6E6957-7C57-EB64-56C8-C7B9A14ACB0C}"/>
              </a:ext>
            </a:extLst>
          </p:cNvPr>
          <p:cNvSpPr/>
          <p:nvPr/>
        </p:nvSpPr>
        <p:spPr>
          <a:xfrm>
            <a:off x="9413507" y="0"/>
            <a:ext cx="2778493" cy="6858000"/>
          </a:xfrm>
          <a:prstGeom prst="rect">
            <a:avLst/>
          </a:prstGeom>
          <a:solidFill>
            <a:srgbClr val="004346"/>
          </a:solidFill>
          <a:ln>
            <a:solidFill>
              <a:srgbClr val="004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mj-lt"/>
              </a:rPr>
              <a:t>Key Dates</a:t>
            </a:r>
          </a:p>
          <a:p>
            <a:pPr algn="ctr"/>
            <a:endParaRPr lang="en-US" sz="2400" b="1" dirty="0">
              <a:latin typeface="+mj-lt"/>
            </a:endParaRPr>
          </a:p>
          <a:p>
            <a:pPr algn="ctr"/>
            <a:endParaRPr lang="en-US" sz="2400" b="1" dirty="0">
              <a:latin typeface="+mj-lt"/>
            </a:endParaRPr>
          </a:p>
          <a:p>
            <a:pPr algn="ctr"/>
            <a:endParaRPr lang="en-US" sz="2400" b="1" dirty="0">
              <a:latin typeface="+mj-lt"/>
            </a:endParaRPr>
          </a:p>
          <a:p>
            <a:pPr algn="ctr"/>
            <a:endParaRPr lang="en-US" sz="2400" b="1" dirty="0">
              <a:latin typeface="+mj-lt"/>
            </a:endParaRPr>
          </a:p>
          <a:p>
            <a:pPr algn="ctr"/>
            <a:endParaRPr lang="en-US" sz="2400" b="1" dirty="0">
              <a:latin typeface="+mj-lt"/>
            </a:endParaRPr>
          </a:p>
          <a:p>
            <a:pPr algn="ctr"/>
            <a:endParaRPr lang="en-US" sz="2400" b="1" dirty="0">
              <a:latin typeface="+mj-lt"/>
            </a:endParaRPr>
          </a:p>
          <a:p>
            <a:pPr algn="ctr"/>
            <a:endParaRPr lang="en-US" sz="2400" b="1" dirty="0">
              <a:latin typeface="+mj-lt"/>
            </a:endParaRPr>
          </a:p>
          <a:p>
            <a:pPr algn="ctr"/>
            <a:endParaRPr lang="en-US" sz="2400" b="1" dirty="0">
              <a:latin typeface="+mj-lt"/>
            </a:endParaRPr>
          </a:p>
          <a:p>
            <a:pPr algn="ctr"/>
            <a:endParaRPr lang="en-US" sz="2400" b="1" dirty="0">
              <a:latin typeface="+mj-lt"/>
            </a:endParaRPr>
          </a:p>
        </p:txBody>
      </p:sp>
      <p:sp>
        <p:nvSpPr>
          <p:cNvPr id="8" name="Rectangle 1">
            <a:extLst>
              <a:ext uri="{FF2B5EF4-FFF2-40B4-BE49-F238E27FC236}">
                <a16:creationId xmlns:a16="http://schemas.microsoft.com/office/drawing/2014/main" id="{E02136D8-7CCC-3526-9D28-B4F84CA37DD1}"/>
              </a:ext>
            </a:extLst>
          </p:cNvPr>
          <p:cNvSpPr>
            <a:spLocks noChangeArrowheads="1"/>
          </p:cNvSpPr>
          <p:nvPr/>
        </p:nvSpPr>
        <p:spPr bwMode="auto">
          <a:xfrm>
            <a:off x="9413507" y="2400461"/>
            <a:ext cx="2778493" cy="275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mj-lt"/>
              </a:rPr>
              <a:t>Champions confirmed: </a:t>
            </a:r>
            <a:r>
              <a:rPr kumimoji="0" lang="en-US" altLang="en-US" sz="1600" b="1" i="0" u="none" strike="noStrike" cap="none" normalizeH="0" baseline="0" dirty="0">
                <a:ln>
                  <a:noFill/>
                </a:ln>
                <a:solidFill>
                  <a:schemeClr val="bg1"/>
                </a:solidFill>
                <a:effectLst/>
                <a:latin typeface="+mj-lt"/>
              </a:rPr>
              <a:t>Mon 3/9</a:t>
            </a:r>
          </a:p>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mj-lt"/>
              </a:rPr>
              <a:t>Champions kick off session: </a:t>
            </a:r>
            <a:r>
              <a:rPr lang="en-US" altLang="en-US" sz="1600" b="1" dirty="0">
                <a:solidFill>
                  <a:schemeClr val="bg1"/>
                </a:solidFill>
                <a:latin typeface="+mj-lt"/>
              </a:rPr>
              <a:t>Wed 3/18</a:t>
            </a:r>
            <a:endParaRPr kumimoji="0" lang="en-US" altLang="en-US" sz="1600" b="1" i="0" u="none" strike="noStrike" cap="none" normalizeH="0" baseline="0" dirty="0">
              <a:ln>
                <a:noFill/>
              </a:ln>
              <a:solidFill>
                <a:schemeClr val="bg1"/>
              </a:solidFill>
              <a:effectLst/>
              <a:latin typeface="+mj-lt"/>
            </a:endParaRPr>
          </a:p>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mj-lt"/>
              </a:rPr>
              <a:t>First Friday showcase: Target </a:t>
            </a:r>
            <a:r>
              <a:rPr kumimoji="0" lang="en-US" altLang="en-US" sz="1600" b="1" i="0" u="none" strike="noStrike" cap="none" normalizeH="0" baseline="0" dirty="0">
                <a:ln>
                  <a:noFill/>
                </a:ln>
                <a:solidFill>
                  <a:schemeClr val="bg1"/>
                </a:solidFill>
                <a:effectLst/>
                <a:latin typeface="+mj-lt"/>
              </a:rPr>
              <a:t>Fri </a:t>
            </a:r>
            <a:r>
              <a:rPr lang="en-US" altLang="en-US" sz="1600" b="1" dirty="0">
                <a:solidFill>
                  <a:schemeClr val="bg1"/>
                </a:solidFill>
                <a:latin typeface="+mj-lt"/>
              </a:rPr>
              <a:t>4/3</a:t>
            </a:r>
            <a:endParaRPr kumimoji="0" lang="en-US" altLang="en-US" sz="1600" b="1" i="0" u="none" strike="noStrike" cap="none" normalizeH="0" baseline="0" dirty="0">
              <a:ln>
                <a:noFill/>
              </a:ln>
              <a:solidFill>
                <a:schemeClr val="bg1"/>
              </a:solidFill>
              <a:effectLst/>
              <a:latin typeface="+mj-lt"/>
            </a:endParaRPr>
          </a:p>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mj-lt"/>
              </a:rPr>
              <a:t>Next showcase slots: bi-weekly thereafter</a:t>
            </a:r>
          </a:p>
        </p:txBody>
      </p:sp>
      <p:sp>
        <p:nvSpPr>
          <p:cNvPr id="11" name="AutoShape 3">
            <a:extLst>
              <a:ext uri="{FF2B5EF4-FFF2-40B4-BE49-F238E27FC236}">
                <a16:creationId xmlns:a16="http://schemas.microsoft.com/office/drawing/2014/main" id="{FCBC7B05-811A-9222-BD38-46FF2198745B}"/>
              </a:ext>
            </a:extLst>
          </p:cNvPr>
          <p:cNvSpPr>
            <a:spLocks noChangeArrowheads="1"/>
          </p:cNvSpPr>
          <p:nvPr/>
        </p:nvSpPr>
        <p:spPr bwMode="auto">
          <a:xfrm>
            <a:off x="3400741" y="1300559"/>
            <a:ext cx="2680425" cy="636334"/>
          </a:xfrm>
          <a:prstGeom prst="homePlate">
            <a:avLst>
              <a:gd name="adj" fmla="val 27437"/>
            </a:avLst>
          </a:prstGeom>
          <a:solidFill>
            <a:schemeClr val="bg1">
              <a:lumMod val="95000"/>
            </a:schemeClr>
          </a:solidFill>
          <a:ln w="9525" algn="ctr">
            <a:solidFill>
              <a:srgbClr val="004346"/>
            </a:solidFill>
            <a:miter lim="800000"/>
            <a:headEnd/>
            <a:tailEnd/>
          </a:ln>
        </p:spPr>
        <p:txBody>
          <a:bodyPr lIns="0" tIns="91410" rIns="0" bIns="91410" anchor="ctr"/>
          <a:lstStyle/>
          <a:p>
            <a:pPr algn="ctr" defTabSz="1088340" eaLnBrk="0" hangingPunct="0"/>
            <a:r>
              <a:rPr lang="en-US" dirty="0">
                <a:latin typeface="+mj-lt"/>
              </a:rPr>
              <a:t>Next 2 Weeks </a:t>
            </a:r>
          </a:p>
          <a:p>
            <a:pPr algn="ctr" defTabSz="1088340" eaLnBrk="0" hangingPunct="0"/>
            <a:r>
              <a:rPr lang="en-US" dirty="0">
                <a:latin typeface="+mj-lt"/>
              </a:rPr>
              <a:t>(Date TBD)</a:t>
            </a:r>
            <a:endParaRPr lang="en-US" dirty="0">
              <a:solidFill>
                <a:srgbClr val="000000"/>
              </a:solidFill>
              <a:latin typeface="+mj-lt"/>
              <a:sym typeface="+mn-lt"/>
            </a:endParaRPr>
          </a:p>
        </p:txBody>
      </p:sp>
      <p:sp>
        <p:nvSpPr>
          <p:cNvPr id="12" name="AutoShape 3">
            <a:extLst>
              <a:ext uri="{FF2B5EF4-FFF2-40B4-BE49-F238E27FC236}">
                <a16:creationId xmlns:a16="http://schemas.microsoft.com/office/drawing/2014/main" id="{ED649245-8420-63D7-D18F-C88F0511BEEB}"/>
              </a:ext>
            </a:extLst>
          </p:cNvPr>
          <p:cNvSpPr>
            <a:spLocks noChangeArrowheads="1"/>
          </p:cNvSpPr>
          <p:nvPr/>
        </p:nvSpPr>
        <p:spPr bwMode="auto">
          <a:xfrm>
            <a:off x="6254982" y="1300559"/>
            <a:ext cx="2680425" cy="636334"/>
          </a:xfrm>
          <a:prstGeom prst="homePlate">
            <a:avLst>
              <a:gd name="adj" fmla="val 27437"/>
            </a:avLst>
          </a:prstGeom>
          <a:solidFill>
            <a:schemeClr val="bg1">
              <a:lumMod val="95000"/>
            </a:schemeClr>
          </a:solidFill>
          <a:ln w="9525" algn="ctr">
            <a:solidFill>
              <a:srgbClr val="004346"/>
            </a:solidFill>
            <a:miter lim="800000"/>
            <a:headEnd/>
            <a:tailEnd/>
          </a:ln>
        </p:spPr>
        <p:txBody>
          <a:bodyPr lIns="0" tIns="91410" rIns="0" bIns="91410" anchor="ctr"/>
          <a:lstStyle/>
          <a:p>
            <a:pPr algn="ctr" defTabSz="1088340" eaLnBrk="0" hangingPunct="0"/>
            <a:r>
              <a:rPr lang="en-US" dirty="0"/>
              <a:t>Next 4 Weeks / BUILD </a:t>
            </a:r>
          </a:p>
          <a:p>
            <a:pPr algn="ctr" defTabSz="1088340" eaLnBrk="0" hangingPunct="0"/>
            <a:r>
              <a:rPr lang="en-US" dirty="0"/>
              <a:t>(Date TBD)</a:t>
            </a:r>
            <a:endParaRPr lang="en-US" dirty="0">
              <a:solidFill>
                <a:srgbClr val="000000"/>
              </a:solidFill>
              <a:sym typeface="+mn-lt"/>
            </a:endParaRPr>
          </a:p>
        </p:txBody>
      </p:sp>
      <p:cxnSp>
        <p:nvCxnSpPr>
          <p:cNvPr id="14" name="Straight Connector 13">
            <a:extLst>
              <a:ext uri="{FF2B5EF4-FFF2-40B4-BE49-F238E27FC236}">
                <a16:creationId xmlns:a16="http://schemas.microsoft.com/office/drawing/2014/main" id="{EC6F81F5-F147-BDD5-4CD2-60786C352A29}"/>
              </a:ext>
            </a:extLst>
          </p:cNvPr>
          <p:cNvCxnSpPr>
            <a:cxnSpLocks/>
          </p:cNvCxnSpPr>
          <p:nvPr/>
        </p:nvCxnSpPr>
        <p:spPr>
          <a:xfrm>
            <a:off x="3293600" y="1300559"/>
            <a:ext cx="0" cy="4653103"/>
          </a:xfrm>
          <a:prstGeom prst="line">
            <a:avLst/>
          </a:prstGeom>
          <a:ln w="19050"/>
        </p:spPr>
        <p:style>
          <a:lnRef idx="1">
            <a:schemeClr val="dk1"/>
          </a:lnRef>
          <a:fillRef idx="0">
            <a:schemeClr val="dk1"/>
          </a:fillRef>
          <a:effectRef idx="0">
            <a:schemeClr val="dk1"/>
          </a:effectRef>
          <a:fontRef idx="minor">
            <a:schemeClr val="tx1"/>
          </a:fontRef>
        </p:style>
      </p:cxnSp>
      <p:sp>
        <p:nvSpPr>
          <p:cNvPr id="24" name="Rectangle 2">
            <a:extLst>
              <a:ext uri="{FF2B5EF4-FFF2-40B4-BE49-F238E27FC236}">
                <a16:creationId xmlns:a16="http://schemas.microsoft.com/office/drawing/2014/main" id="{132BE187-88E5-FA93-D8CF-1610D9FB19E1}"/>
              </a:ext>
            </a:extLst>
          </p:cNvPr>
          <p:cNvSpPr>
            <a:spLocks noChangeArrowheads="1"/>
          </p:cNvSpPr>
          <p:nvPr/>
        </p:nvSpPr>
        <p:spPr bwMode="auto">
          <a:xfrm>
            <a:off x="546500" y="2292307"/>
            <a:ext cx="2616595"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Confirm </a:t>
            </a:r>
            <a:r>
              <a:rPr kumimoji="0" lang="en-US" altLang="en-US" sz="1600" b="1" i="0" u="none" strike="noStrike" cap="none" normalizeH="0" baseline="0" dirty="0">
                <a:ln>
                  <a:noFill/>
                </a:ln>
                <a:solidFill>
                  <a:schemeClr val="tx1"/>
                </a:solidFill>
                <a:effectLst/>
                <a:latin typeface="+mj-lt"/>
              </a:rPr>
              <a:t>Service Offering Champion(s)</a:t>
            </a:r>
            <a:r>
              <a:rPr kumimoji="0" lang="en-US" altLang="en-US" sz="1600" b="0" i="0" u="none" strike="noStrike" cap="none" normalizeH="0" baseline="0" dirty="0">
                <a:ln>
                  <a:noFill/>
                </a:ln>
                <a:solidFill>
                  <a:schemeClr val="tx1"/>
                </a:solidFill>
                <a:effectLst/>
                <a:latin typeface="+mj-lt"/>
              </a:rPr>
              <a:t> for your practice/domain </a:t>
            </a:r>
          </a:p>
          <a:p>
            <a:pPr marL="285750" marR="0" lvl="0" indent="-285750" algn="l" defTabSz="914400" rtl="0" eaLnBrk="0" fontAlgn="base" latinLnBrk="0" hangingPunct="0">
              <a:lnSpc>
                <a:spcPct val="100000"/>
              </a:lnSpc>
              <a:spcBef>
                <a:spcPts val="600"/>
              </a:spcBef>
              <a:spcAft>
                <a:spcPts val="600"/>
              </a:spcAft>
              <a:buClrTx/>
              <a:buSzTx/>
              <a:buFont typeface="Arial" panose="020B0604020202020204" pitchFamily="34" charset="0"/>
              <a:buChar char="•"/>
              <a:tabLst/>
            </a:pPr>
            <a:r>
              <a:rPr lang="en-US" altLang="en-US" sz="1600" dirty="0">
                <a:latin typeface="+mj-lt"/>
              </a:rPr>
              <a:t>Champions kick off session</a:t>
            </a:r>
            <a:endParaRPr kumimoji="0" lang="en-US" altLang="en-US" sz="1600" b="0" i="0" u="none" strike="noStrike" cap="none" normalizeH="0" baseline="0" dirty="0">
              <a:ln>
                <a:noFill/>
              </a:ln>
              <a:solidFill>
                <a:schemeClr val="tx1"/>
              </a:solidFill>
              <a:effectLst/>
              <a:latin typeface="+mj-lt"/>
            </a:endParaRPr>
          </a:p>
        </p:txBody>
      </p:sp>
      <p:sp>
        <p:nvSpPr>
          <p:cNvPr id="27" name="Rectangle 4">
            <a:extLst>
              <a:ext uri="{FF2B5EF4-FFF2-40B4-BE49-F238E27FC236}">
                <a16:creationId xmlns:a16="http://schemas.microsoft.com/office/drawing/2014/main" id="{3896F0DF-50BB-C52B-0958-292DB91330A5}"/>
              </a:ext>
            </a:extLst>
          </p:cNvPr>
          <p:cNvSpPr>
            <a:spLocks noChangeArrowheads="1"/>
          </p:cNvSpPr>
          <p:nvPr/>
        </p:nvSpPr>
        <p:spPr bwMode="auto">
          <a:xfrm>
            <a:off x="6254982" y="2039952"/>
            <a:ext cx="2588429"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spcBef>
                <a:spcPts val="600"/>
              </a:spcBef>
              <a:spcAft>
                <a:spcPts val="600"/>
              </a:spcAft>
              <a:buFont typeface="Arial" panose="020B0604020202020204" pitchFamily="34" charset="0"/>
              <a:buChar char="•"/>
            </a:pPr>
            <a:r>
              <a:rPr lang="en-US" altLang="en-US" sz="1600" dirty="0"/>
              <a:t>Meet with </a:t>
            </a:r>
            <a:r>
              <a:rPr lang="en-US" altLang="en-US" sz="1600" b="1" dirty="0"/>
              <a:t>AI Build Support + AI Sales Force</a:t>
            </a:r>
            <a:r>
              <a:rPr lang="en-US" altLang="en-US" sz="1600" dirty="0"/>
              <a:t> to shape MVP/demo scope</a:t>
            </a:r>
          </a:p>
          <a:p>
            <a:pPr marL="285750" lvl="0" indent="-285750" eaLnBrk="0" fontAlgn="base" hangingPunct="0">
              <a:spcBef>
                <a:spcPts val="600"/>
              </a:spcBef>
              <a:spcAft>
                <a:spcPts val="600"/>
              </a:spcAft>
              <a:buFont typeface="Arial" panose="020B0604020202020204" pitchFamily="34" charset="0"/>
              <a:buChar char="•"/>
            </a:pPr>
            <a:r>
              <a:rPr lang="en-US" altLang="en-US" sz="1600" dirty="0"/>
              <a:t>Draft </a:t>
            </a:r>
            <a:r>
              <a:rPr lang="en-US" altLang="en-US" sz="1600" b="1" dirty="0"/>
              <a:t>where it fits + best-fit buyers</a:t>
            </a:r>
            <a:r>
              <a:rPr lang="en-US" altLang="en-US" sz="1600" dirty="0"/>
              <a:t> and a simple talk track (“AI vs non-AI”)</a:t>
            </a:r>
          </a:p>
          <a:p>
            <a:pPr marL="285750" lvl="0" indent="-285750" eaLnBrk="0" fontAlgn="base" hangingPunct="0">
              <a:spcBef>
                <a:spcPts val="600"/>
              </a:spcBef>
              <a:spcAft>
                <a:spcPts val="600"/>
              </a:spcAft>
              <a:buFont typeface="Arial" panose="020B0604020202020204" pitchFamily="34" charset="0"/>
              <a:buChar char="•"/>
            </a:pPr>
            <a:r>
              <a:rPr lang="en-US" altLang="en-US" sz="1600" dirty="0"/>
              <a:t>Provide </a:t>
            </a:r>
            <a:r>
              <a:rPr lang="en-US" altLang="en-US" sz="1600" b="1" dirty="0"/>
              <a:t>2–3 target accounts/pursuits</a:t>
            </a:r>
            <a:r>
              <a:rPr lang="en-US" altLang="en-US" sz="1600" dirty="0"/>
              <a:t> to activate</a:t>
            </a:r>
          </a:p>
        </p:txBody>
      </p:sp>
      <p:cxnSp>
        <p:nvCxnSpPr>
          <p:cNvPr id="33" name="Straight Connector 32">
            <a:extLst>
              <a:ext uri="{FF2B5EF4-FFF2-40B4-BE49-F238E27FC236}">
                <a16:creationId xmlns:a16="http://schemas.microsoft.com/office/drawing/2014/main" id="{CE54F2CB-A743-E46B-6475-0A810B599B78}"/>
              </a:ext>
            </a:extLst>
          </p:cNvPr>
          <p:cNvCxnSpPr>
            <a:cxnSpLocks/>
          </p:cNvCxnSpPr>
          <p:nvPr/>
        </p:nvCxnSpPr>
        <p:spPr>
          <a:xfrm>
            <a:off x="6167428" y="1300559"/>
            <a:ext cx="0" cy="4653103"/>
          </a:xfrm>
          <a:prstGeom prst="line">
            <a:avLst/>
          </a:prstGeom>
          <a:ln w="19050"/>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52839175-B120-1350-9AF5-A590D3D7F844}"/>
              </a:ext>
            </a:extLst>
          </p:cNvPr>
          <p:cNvSpPr txBox="1"/>
          <p:nvPr/>
        </p:nvSpPr>
        <p:spPr>
          <a:xfrm>
            <a:off x="3451851" y="2086118"/>
            <a:ext cx="2435942" cy="2215991"/>
          </a:xfrm>
          <a:prstGeom prst="rect">
            <a:avLst/>
          </a:prstGeom>
          <a:noFill/>
        </p:spPr>
        <p:txBody>
          <a:bodyPr wrap="square">
            <a:spAutoFit/>
          </a:bodyPr>
          <a:lstStyle/>
          <a:p>
            <a:pPr marL="285750" marR="0" lvl="0" indent="-285750" algn="l" defTabSz="914400" rtl="0" eaLnBrk="0" fontAlgn="base" latinLnBrk="0" hangingPunct="0">
              <a:lnSpc>
                <a:spcPct val="10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Submit your </a:t>
            </a:r>
            <a:r>
              <a:rPr kumimoji="0" lang="en-US" altLang="en-US" sz="1600" b="1" i="0" u="none" strike="noStrike" cap="none" normalizeH="0" baseline="0" dirty="0">
                <a:ln>
                  <a:noFill/>
                </a:ln>
                <a:solidFill>
                  <a:schemeClr val="tx1"/>
                </a:solidFill>
                <a:effectLst/>
                <a:latin typeface="+mj-lt"/>
              </a:rPr>
              <a:t>use case ideas</a:t>
            </a:r>
            <a:r>
              <a:rPr kumimoji="0" lang="en-US" altLang="en-US" sz="1600" b="0" i="0" u="none" strike="noStrike" cap="none" normalizeH="0" baseline="0" dirty="0">
                <a:ln>
                  <a:noFill/>
                </a:ln>
                <a:solidFill>
                  <a:schemeClr val="tx1"/>
                </a:solidFill>
                <a:effectLst/>
                <a:latin typeface="+mj-lt"/>
              </a:rPr>
              <a:t> for your practice (problem statement)</a:t>
            </a:r>
          </a:p>
          <a:p>
            <a:pPr marL="285750" marR="0" lvl="0" indent="-285750" algn="l" defTabSz="914400" rtl="0" eaLnBrk="0" fontAlgn="base" latinLnBrk="0" hangingPunct="0">
              <a:lnSpc>
                <a:spcPct val="100000"/>
              </a:lnSpc>
              <a:spcBef>
                <a:spcPts val="60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Identify </a:t>
            </a:r>
            <a:r>
              <a:rPr kumimoji="0" lang="en-US" altLang="en-US" sz="1600" b="1" i="0" u="none" strike="noStrike" cap="none" normalizeH="0" baseline="0" dirty="0">
                <a:ln>
                  <a:noFill/>
                </a:ln>
                <a:solidFill>
                  <a:schemeClr val="tx1"/>
                </a:solidFill>
                <a:effectLst/>
                <a:latin typeface="+mj-lt"/>
              </a:rPr>
              <a:t>top 1–2 priorities</a:t>
            </a:r>
            <a:r>
              <a:rPr kumimoji="0" lang="en-US" altLang="en-US" sz="1600" b="0" i="0" u="none" strike="noStrike" cap="none" normalizeH="0" baseline="0" dirty="0">
                <a:ln>
                  <a:noFill/>
                </a:ln>
                <a:solidFill>
                  <a:schemeClr val="tx1"/>
                </a:solidFill>
                <a:effectLst/>
                <a:latin typeface="+mj-lt"/>
              </a:rPr>
              <a:t> you want to move into development</a:t>
            </a:r>
          </a:p>
        </p:txBody>
      </p:sp>
    </p:spTree>
    <p:extLst>
      <p:ext uri="{BB962C8B-B14F-4D97-AF65-F5344CB8AC3E}">
        <p14:creationId xmlns:p14="http://schemas.microsoft.com/office/powerpoint/2010/main" val="1956990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583B5-4203-388B-8B40-ABF33BCB5C88}"/>
              </a:ext>
            </a:extLst>
          </p:cNvPr>
          <p:cNvSpPr>
            <a:spLocks noGrp="1"/>
          </p:cNvSpPr>
          <p:nvPr>
            <p:ph type="title"/>
          </p:nvPr>
        </p:nvSpPr>
        <p:spPr>
          <a:xfrm>
            <a:off x="542647" y="365126"/>
            <a:ext cx="11098999" cy="332399"/>
          </a:xfrm>
          <a:noFill/>
        </p:spPr>
        <p:txBody>
          <a:bodyPr/>
          <a:lstStyle/>
          <a:p>
            <a:r>
              <a:rPr lang="en-US" dirty="0"/>
              <a:t>AI Use Case Identification Roadmap</a:t>
            </a:r>
            <a:endParaRPr lang="en-US" b="1" dirty="0">
              <a:latin typeface="+mj-lt"/>
            </a:endParaRPr>
          </a:p>
        </p:txBody>
      </p:sp>
      <p:sp>
        <p:nvSpPr>
          <p:cNvPr id="3" name="Text Placeholder 2">
            <a:extLst>
              <a:ext uri="{FF2B5EF4-FFF2-40B4-BE49-F238E27FC236}">
                <a16:creationId xmlns:a16="http://schemas.microsoft.com/office/drawing/2014/main" id="{3B4A2764-BF56-88FA-4AA9-960F495C02D0}"/>
              </a:ext>
            </a:extLst>
          </p:cNvPr>
          <p:cNvSpPr>
            <a:spLocks noGrp="1"/>
          </p:cNvSpPr>
          <p:nvPr>
            <p:ph type="body" sz="quarter" idx="10"/>
          </p:nvPr>
        </p:nvSpPr>
        <p:spPr>
          <a:xfrm>
            <a:off x="542647" y="762299"/>
            <a:ext cx="11098999" cy="276999"/>
          </a:xfrm>
        </p:spPr>
        <p:txBody>
          <a:bodyPr/>
          <a:lstStyle/>
          <a:p>
            <a:r>
              <a:rPr lang="en-US" dirty="0">
                <a:latin typeface="+mj-lt"/>
              </a:rPr>
              <a:t>How to build the storyline to your use case</a:t>
            </a:r>
          </a:p>
        </p:txBody>
      </p:sp>
      <p:sp>
        <p:nvSpPr>
          <p:cNvPr id="4" name="Rectangle 3">
            <a:extLst>
              <a:ext uri="{FF2B5EF4-FFF2-40B4-BE49-F238E27FC236}">
                <a16:creationId xmlns:a16="http://schemas.microsoft.com/office/drawing/2014/main" id="{4EDCC731-C87D-14B8-47D8-36167D712673}"/>
              </a:ext>
            </a:extLst>
          </p:cNvPr>
          <p:cNvSpPr/>
          <p:nvPr/>
        </p:nvSpPr>
        <p:spPr>
          <a:xfrm>
            <a:off x="988038" y="1790251"/>
            <a:ext cx="3175063" cy="3711628"/>
          </a:xfrm>
          <a:prstGeom prst="rect">
            <a:avLst/>
          </a:prstGeom>
          <a:solidFill>
            <a:schemeClr val="bg1">
              <a:lumMod val="85000"/>
            </a:schemeClr>
          </a:solidFill>
          <a:ln w="1439" cap="flat">
            <a:noFill/>
            <a:prstDash val="solid"/>
            <a:miter/>
          </a:ln>
        </p:spPr>
        <p:txBody>
          <a:bodyPr/>
          <a:lstStyle/>
          <a:p>
            <a:endParaRPr lang="fr-FR">
              <a:latin typeface="+mj-lt"/>
            </a:endParaRPr>
          </a:p>
        </p:txBody>
      </p:sp>
      <p:sp>
        <p:nvSpPr>
          <p:cNvPr id="5" name="Rectangle 4">
            <a:extLst>
              <a:ext uri="{FF2B5EF4-FFF2-40B4-BE49-F238E27FC236}">
                <a16:creationId xmlns:a16="http://schemas.microsoft.com/office/drawing/2014/main" id="{C9784958-6906-96E6-E7A3-EC9DC3B342A5}"/>
              </a:ext>
            </a:extLst>
          </p:cNvPr>
          <p:cNvSpPr/>
          <p:nvPr/>
        </p:nvSpPr>
        <p:spPr>
          <a:xfrm>
            <a:off x="4654001" y="1790251"/>
            <a:ext cx="3175063" cy="3711628"/>
          </a:xfrm>
          <a:prstGeom prst="rect">
            <a:avLst/>
          </a:prstGeom>
          <a:solidFill>
            <a:schemeClr val="bg1">
              <a:lumMod val="85000"/>
            </a:schemeClr>
          </a:solidFill>
          <a:ln w="1439" cap="flat">
            <a:noFill/>
            <a:prstDash val="solid"/>
            <a:miter/>
          </a:ln>
        </p:spPr>
        <p:txBody>
          <a:bodyPr/>
          <a:lstStyle/>
          <a:p>
            <a:endParaRPr lang="fr-FR">
              <a:latin typeface="+mj-lt"/>
            </a:endParaRPr>
          </a:p>
        </p:txBody>
      </p:sp>
      <p:sp>
        <p:nvSpPr>
          <p:cNvPr id="6" name="Rectangle 5">
            <a:extLst>
              <a:ext uri="{FF2B5EF4-FFF2-40B4-BE49-F238E27FC236}">
                <a16:creationId xmlns:a16="http://schemas.microsoft.com/office/drawing/2014/main" id="{5686F00C-BC62-1AA8-9FE3-5E55476D6F75}"/>
              </a:ext>
            </a:extLst>
          </p:cNvPr>
          <p:cNvSpPr/>
          <p:nvPr/>
        </p:nvSpPr>
        <p:spPr>
          <a:xfrm>
            <a:off x="8319954" y="1790251"/>
            <a:ext cx="3175063" cy="3711628"/>
          </a:xfrm>
          <a:prstGeom prst="rect">
            <a:avLst/>
          </a:prstGeom>
          <a:solidFill>
            <a:schemeClr val="bg1">
              <a:lumMod val="85000"/>
            </a:schemeClr>
          </a:solidFill>
          <a:ln w="1439" cap="flat">
            <a:noFill/>
            <a:prstDash val="solid"/>
            <a:miter/>
          </a:ln>
        </p:spPr>
        <p:txBody>
          <a:bodyPr/>
          <a:lstStyle/>
          <a:p>
            <a:endParaRPr lang="fr-FR">
              <a:latin typeface="+mj-lt"/>
            </a:endParaRPr>
          </a:p>
        </p:txBody>
      </p:sp>
      <p:sp>
        <p:nvSpPr>
          <p:cNvPr id="7" name="Rectangle 6">
            <a:extLst>
              <a:ext uri="{FF2B5EF4-FFF2-40B4-BE49-F238E27FC236}">
                <a16:creationId xmlns:a16="http://schemas.microsoft.com/office/drawing/2014/main" id="{6BCA4737-43FA-1F0C-11B6-57B27F7BA253}"/>
              </a:ext>
            </a:extLst>
          </p:cNvPr>
          <p:cNvSpPr/>
          <p:nvPr/>
        </p:nvSpPr>
        <p:spPr>
          <a:xfrm>
            <a:off x="838200" y="1640413"/>
            <a:ext cx="3175063" cy="3711628"/>
          </a:xfrm>
          <a:prstGeom prst="rect">
            <a:avLst/>
          </a:prstGeom>
          <a:solidFill>
            <a:schemeClr val="bg1"/>
          </a:solidFill>
          <a:ln w="1439" cap="flat">
            <a:solidFill>
              <a:schemeClr val="tx1"/>
            </a:solidFill>
            <a:prstDash val="solid"/>
            <a:miter/>
          </a:ln>
        </p:spPr>
        <p:txBody>
          <a:bodyPr/>
          <a:lstStyle/>
          <a:p>
            <a:endParaRPr lang="fr-FR">
              <a:latin typeface="+mj-lt"/>
            </a:endParaRPr>
          </a:p>
        </p:txBody>
      </p:sp>
      <p:sp>
        <p:nvSpPr>
          <p:cNvPr id="8" name="Forme libre 4">
            <a:extLst>
              <a:ext uri="{FF2B5EF4-FFF2-40B4-BE49-F238E27FC236}">
                <a16:creationId xmlns:a16="http://schemas.microsoft.com/office/drawing/2014/main" id="{EAFC5BDB-77F2-6848-38B4-3DAB01ADC003}"/>
              </a:ext>
            </a:extLst>
          </p:cNvPr>
          <p:cNvSpPr/>
          <p:nvPr/>
        </p:nvSpPr>
        <p:spPr>
          <a:xfrm>
            <a:off x="937667" y="1502516"/>
            <a:ext cx="669690" cy="3255902"/>
          </a:xfrm>
          <a:custGeom>
            <a:avLst/>
            <a:gdLst>
              <a:gd name="csX0" fmla="*/ 49414 w 62231"/>
              <a:gd name="csY0" fmla="*/ 0 h 302555"/>
              <a:gd name="csX1" fmla="*/ 12947 w 62231"/>
              <a:gd name="csY1" fmla="*/ 0 h 302555"/>
              <a:gd name="csX2" fmla="*/ 0 w 62231"/>
              <a:gd name="csY2" fmla="*/ 12943 h 302555"/>
              <a:gd name="csX3" fmla="*/ 0 w 62231"/>
              <a:gd name="csY3" fmla="*/ 277863 h 302555"/>
              <a:gd name="csX4" fmla="*/ 24700 w 62231"/>
              <a:gd name="csY4" fmla="*/ 302556 h 302555"/>
              <a:gd name="csX5" fmla="*/ 24700 w 62231"/>
              <a:gd name="csY5" fmla="*/ 302556 h 302555"/>
              <a:gd name="csX6" fmla="*/ 49399 w 62231"/>
              <a:gd name="csY6" fmla="*/ 277863 h 302555"/>
              <a:gd name="csX7" fmla="*/ 49399 w 62231"/>
              <a:gd name="csY7" fmla="*/ 12828 h 302555"/>
              <a:gd name="csX8" fmla="*/ 62231 w 62231"/>
              <a:gd name="csY8" fmla="*/ 0 h 302555"/>
              <a:gd name="csX9" fmla="*/ 49399 w 62231"/>
              <a:gd name="csY9" fmla="*/ 0 h 3025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231" h="302555">
                <a:moveTo>
                  <a:pt x="49414" y="0"/>
                </a:moveTo>
                <a:lnTo>
                  <a:pt x="12947" y="0"/>
                </a:lnTo>
                <a:cubicBezTo>
                  <a:pt x="5797" y="0"/>
                  <a:pt x="0" y="5796"/>
                  <a:pt x="0" y="12943"/>
                </a:cubicBezTo>
                <a:lnTo>
                  <a:pt x="0" y="277863"/>
                </a:lnTo>
                <a:cubicBezTo>
                  <a:pt x="0" y="291496"/>
                  <a:pt x="11062" y="302556"/>
                  <a:pt x="24700" y="302556"/>
                </a:cubicBezTo>
                <a:lnTo>
                  <a:pt x="24700" y="302556"/>
                </a:lnTo>
                <a:cubicBezTo>
                  <a:pt x="38351" y="302556"/>
                  <a:pt x="49399" y="291496"/>
                  <a:pt x="49399" y="277863"/>
                </a:cubicBezTo>
                <a:lnTo>
                  <a:pt x="49399" y="12828"/>
                </a:lnTo>
                <a:cubicBezTo>
                  <a:pt x="49399" y="12828"/>
                  <a:pt x="61095" y="0"/>
                  <a:pt x="62231" y="0"/>
                </a:cubicBezTo>
                <a:lnTo>
                  <a:pt x="49399" y="0"/>
                </a:lnTo>
                <a:close/>
              </a:path>
            </a:pathLst>
          </a:custGeom>
          <a:solidFill>
            <a:schemeClr val="tx1"/>
          </a:solidFill>
          <a:ln w="1439" cap="flat">
            <a:noFill/>
            <a:prstDash val="solid"/>
            <a:miter/>
          </a:ln>
        </p:spPr>
        <p:txBody>
          <a:bodyPr/>
          <a:lstStyle/>
          <a:p>
            <a:endParaRPr lang="fr-FR">
              <a:latin typeface="+mj-lt"/>
            </a:endParaRPr>
          </a:p>
        </p:txBody>
      </p:sp>
      <p:sp>
        <p:nvSpPr>
          <p:cNvPr id="9" name="Forme libre 5">
            <a:extLst>
              <a:ext uri="{FF2B5EF4-FFF2-40B4-BE49-F238E27FC236}">
                <a16:creationId xmlns:a16="http://schemas.microsoft.com/office/drawing/2014/main" id="{2FAEEE23-70FC-C009-D09C-3138044F571E}"/>
              </a:ext>
            </a:extLst>
          </p:cNvPr>
          <p:cNvSpPr/>
          <p:nvPr/>
        </p:nvSpPr>
        <p:spPr>
          <a:xfrm>
            <a:off x="1469418" y="1502516"/>
            <a:ext cx="276007" cy="138047"/>
          </a:xfrm>
          <a:custGeom>
            <a:avLst/>
            <a:gdLst>
              <a:gd name="csX0" fmla="*/ 12832 w 25648"/>
              <a:gd name="csY0" fmla="*/ 0 h 12828"/>
              <a:gd name="csX1" fmla="*/ 0 w 25648"/>
              <a:gd name="csY1" fmla="*/ 12828 h 12828"/>
              <a:gd name="csX2" fmla="*/ 25649 w 25648"/>
              <a:gd name="csY2" fmla="*/ 12828 h 12828"/>
              <a:gd name="csX3" fmla="*/ 12817 w 25648"/>
              <a:gd name="csY3" fmla="*/ 0 h 12828"/>
            </a:gdLst>
            <a:ahLst/>
            <a:cxnLst>
              <a:cxn ang="0">
                <a:pos x="csX0" y="csY0"/>
              </a:cxn>
              <a:cxn ang="0">
                <a:pos x="csX1" y="csY1"/>
              </a:cxn>
              <a:cxn ang="0">
                <a:pos x="csX2" y="csY2"/>
              </a:cxn>
              <a:cxn ang="0">
                <a:pos x="csX3" y="csY3"/>
              </a:cxn>
            </a:cxnLst>
            <a:rect l="l" t="t" r="r" b="b"/>
            <a:pathLst>
              <a:path w="25648" h="12828">
                <a:moveTo>
                  <a:pt x="12832" y="0"/>
                </a:moveTo>
                <a:cubicBezTo>
                  <a:pt x="5754" y="0"/>
                  <a:pt x="0" y="5738"/>
                  <a:pt x="0" y="12828"/>
                </a:cubicBezTo>
                <a:lnTo>
                  <a:pt x="25649" y="12828"/>
                </a:lnTo>
                <a:cubicBezTo>
                  <a:pt x="25649" y="5738"/>
                  <a:pt x="19909" y="0"/>
                  <a:pt x="12817" y="0"/>
                </a:cubicBezTo>
                <a:close/>
              </a:path>
            </a:pathLst>
          </a:custGeom>
          <a:solidFill>
            <a:schemeClr val="tx1"/>
          </a:solidFill>
          <a:ln w="1439" cap="flat">
            <a:noFill/>
            <a:prstDash val="solid"/>
            <a:miter/>
          </a:ln>
        </p:spPr>
        <p:txBody>
          <a:bodyPr/>
          <a:lstStyle/>
          <a:p>
            <a:endParaRPr lang="fr-FR">
              <a:latin typeface="+mj-lt"/>
            </a:endParaRPr>
          </a:p>
        </p:txBody>
      </p:sp>
      <p:sp>
        <p:nvSpPr>
          <p:cNvPr id="10" name="Rectangle 9">
            <a:extLst>
              <a:ext uri="{FF2B5EF4-FFF2-40B4-BE49-F238E27FC236}">
                <a16:creationId xmlns:a16="http://schemas.microsoft.com/office/drawing/2014/main" id="{2B722EEF-53E9-8690-BC0D-166B5561F48F}"/>
              </a:ext>
            </a:extLst>
          </p:cNvPr>
          <p:cNvSpPr/>
          <p:nvPr/>
        </p:nvSpPr>
        <p:spPr>
          <a:xfrm>
            <a:off x="4504163" y="1640413"/>
            <a:ext cx="3175063" cy="3711628"/>
          </a:xfrm>
          <a:prstGeom prst="rect">
            <a:avLst/>
          </a:prstGeom>
          <a:solidFill>
            <a:schemeClr val="bg1"/>
          </a:solidFill>
          <a:ln w="1439" cap="flat">
            <a:solidFill>
              <a:schemeClr val="tx1"/>
            </a:solidFill>
            <a:prstDash val="solid"/>
            <a:miter/>
          </a:ln>
        </p:spPr>
        <p:txBody>
          <a:bodyPr/>
          <a:lstStyle/>
          <a:p>
            <a:endParaRPr lang="fr-FR">
              <a:latin typeface="+mj-lt"/>
            </a:endParaRPr>
          </a:p>
        </p:txBody>
      </p:sp>
      <p:sp>
        <p:nvSpPr>
          <p:cNvPr id="11" name="Forme libre 7">
            <a:extLst>
              <a:ext uri="{FF2B5EF4-FFF2-40B4-BE49-F238E27FC236}">
                <a16:creationId xmlns:a16="http://schemas.microsoft.com/office/drawing/2014/main" id="{42D2F939-32ED-DDDF-8F2A-6651E9AA3B05}"/>
              </a:ext>
            </a:extLst>
          </p:cNvPr>
          <p:cNvSpPr/>
          <p:nvPr/>
        </p:nvSpPr>
        <p:spPr>
          <a:xfrm>
            <a:off x="4622670" y="1502516"/>
            <a:ext cx="669690" cy="3255902"/>
          </a:xfrm>
          <a:custGeom>
            <a:avLst/>
            <a:gdLst>
              <a:gd name="csX0" fmla="*/ 49413 w 62231"/>
              <a:gd name="csY0" fmla="*/ 0 h 302555"/>
              <a:gd name="csX1" fmla="*/ 12947 w 62231"/>
              <a:gd name="csY1" fmla="*/ 0 h 302555"/>
              <a:gd name="csX2" fmla="*/ 0 w 62231"/>
              <a:gd name="csY2" fmla="*/ 12943 h 302555"/>
              <a:gd name="csX3" fmla="*/ 0 w 62231"/>
              <a:gd name="csY3" fmla="*/ 277863 h 302555"/>
              <a:gd name="csX4" fmla="*/ 24700 w 62231"/>
              <a:gd name="csY4" fmla="*/ 302556 h 302555"/>
              <a:gd name="csX5" fmla="*/ 24700 w 62231"/>
              <a:gd name="csY5" fmla="*/ 302556 h 302555"/>
              <a:gd name="csX6" fmla="*/ 49399 w 62231"/>
              <a:gd name="csY6" fmla="*/ 277863 h 302555"/>
              <a:gd name="csX7" fmla="*/ 49399 w 62231"/>
              <a:gd name="csY7" fmla="*/ 12828 h 302555"/>
              <a:gd name="csX8" fmla="*/ 62231 w 62231"/>
              <a:gd name="csY8" fmla="*/ 0 h 302555"/>
              <a:gd name="csX9" fmla="*/ 49399 w 62231"/>
              <a:gd name="csY9" fmla="*/ 0 h 3025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231" h="302555">
                <a:moveTo>
                  <a:pt x="49413" y="0"/>
                </a:moveTo>
                <a:lnTo>
                  <a:pt x="12947" y="0"/>
                </a:lnTo>
                <a:cubicBezTo>
                  <a:pt x="5797" y="0"/>
                  <a:pt x="0" y="5796"/>
                  <a:pt x="0" y="12943"/>
                </a:cubicBezTo>
                <a:lnTo>
                  <a:pt x="0" y="277863"/>
                </a:lnTo>
                <a:cubicBezTo>
                  <a:pt x="0" y="291496"/>
                  <a:pt x="11062" y="302556"/>
                  <a:pt x="24700" y="302556"/>
                </a:cubicBezTo>
                <a:lnTo>
                  <a:pt x="24700" y="302556"/>
                </a:lnTo>
                <a:cubicBezTo>
                  <a:pt x="38351" y="302556"/>
                  <a:pt x="49399" y="291496"/>
                  <a:pt x="49399" y="277863"/>
                </a:cubicBezTo>
                <a:lnTo>
                  <a:pt x="49399" y="12828"/>
                </a:lnTo>
                <a:cubicBezTo>
                  <a:pt x="49399" y="12828"/>
                  <a:pt x="61095" y="0"/>
                  <a:pt x="62231" y="0"/>
                </a:cubicBezTo>
                <a:lnTo>
                  <a:pt x="49399" y="0"/>
                </a:lnTo>
                <a:close/>
              </a:path>
            </a:pathLst>
          </a:custGeom>
          <a:solidFill>
            <a:schemeClr val="accent5"/>
          </a:solidFill>
          <a:ln w="1439" cap="flat">
            <a:noFill/>
            <a:prstDash val="solid"/>
            <a:miter/>
          </a:ln>
        </p:spPr>
        <p:txBody>
          <a:bodyPr/>
          <a:lstStyle/>
          <a:p>
            <a:endParaRPr lang="fr-FR">
              <a:latin typeface="+mj-lt"/>
            </a:endParaRPr>
          </a:p>
        </p:txBody>
      </p:sp>
      <p:sp>
        <p:nvSpPr>
          <p:cNvPr id="12" name="Forme libre 8">
            <a:extLst>
              <a:ext uri="{FF2B5EF4-FFF2-40B4-BE49-F238E27FC236}">
                <a16:creationId xmlns:a16="http://schemas.microsoft.com/office/drawing/2014/main" id="{C573990E-6348-AA6F-A01B-D25E9D2107C3}"/>
              </a:ext>
            </a:extLst>
          </p:cNvPr>
          <p:cNvSpPr/>
          <p:nvPr/>
        </p:nvSpPr>
        <p:spPr>
          <a:xfrm>
            <a:off x="5154421" y="1502516"/>
            <a:ext cx="276018" cy="138047"/>
          </a:xfrm>
          <a:custGeom>
            <a:avLst/>
            <a:gdLst>
              <a:gd name="csX0" fmla="*/ 12832 w 25649"/>
              <a:gd name="csY0" fmla="*/ 0 h 12828"/>
              <a:gd name="csX1" fmla="*/ 0 w 25649"/>
              <a:gd name="csY1" fmla="*/ 12828 h 12828"/>
              <a:gd name="csX2" fmla="*/ 25649 w 25649"/>
              <a:gd name="csY2" fmla="*/ 12828 h 12828"/>
              <a:gd name="csX3" fmla="*/ 12818 w 25649"/>
              <a:gd name="csY3" fmla="*/ 0 h 12828"/>
            </a:gdLst>
            <a:ahLst/>
            <a:cxnLst>
              <a:cxn ang="0">
                <a:pos x="csX0" y="csY0"/>
              </a:cxn>
              <a:cxn ang="0">
                <a:pos x="csX1" y="csY1"/>
              </a:cxn>
              <a:cxn ang="0">
                <a:pos x="csX2" y="csY2"/>
              </a:cxn>
              <a:cxn ang="0">
                <a:pos x="csX3" y="csY3"/>
              </a:cxn>
            </a:cxnLst>
            <a:rect l="l" t="t" r="r" b="b"/>
            <a:pathLst>
              <a:path w="25649" h="12828">
                <a:moveTo>
                  <a:pt x="12832" y="0"/>
                </a:moveTo>
                <a:cubicBezTo>
                  <a:pt x="5754" y="0"/>
                  <a:pt x="0" y="5738"/>
                  <a:pt x="0" y="12828"/>
                </a:cubicBezTo>
                <a:lnTo>
                  <a:pt x="25649" y="12828"/>
                </a:lnTo>
                <a:cubicBezTo>
                  <a:pt x="25649" y="5738"/>
                  <a:pt x="19909" y="0"/>
                  <a:pt x="12818" y="0"/>
                </a:cubicBezTo>
                <a:close/>
              </a:path>
            </a:pathLst>
          </a:custGeom>
          <a:solidFill>
            <a:schemeClr val="accent5">
              <a:lumMod val="50000"/>
            </a:schemeClr>
          </a:solidFill>
          <a:ln w="1439" cap="flat">
            <a:noFill/>
            <a:prstDash val="solid"/>
            <a:miter/>
          </a:ln>
        </p:spPr>
        <p:txBody>
          <a:bodyPr/>
          <a:lstStyle/>
          <a:p>
            <a:endParaRPr lang="fr-FR">
              <a:latin typeface="+mj-lt"/>
            </a:endParaRPr>
          </a:p>
        </p:txBody>
      </p:sp>
      <p:sp>
        <p:nvSpPr>
          <p:cNvPr id="13" name="Rectangle 12">
            <a:extLst>
              <a:ext uri="{FF2B5EF4-FFF2-40B4-BE49-F238E27FC236}">
                <a16:creationId xmlns:a16="http://schemas.microsoft.com/office/drawing/2014/main" id="{182BF541-ED75-89F3-B46C-67DE09FEE7F5}"/>
              </a:ext>
            </a:extLst>
          </p:cNvPr>
          <p:cNvSpPr/>
          <p:nvPr/>
        </p:nvSpPr>
        <p:spPr>
          <a:xfrm>
            <a:off x="8170116" y="1640413"/>
            <a:ext cx="3175063" cy="3711628"/>
          </a:xfrm>
          <a:prstGeom prst="rect">
            <a:avLst/>
          </a:prstGeom>
          <a:solidFill>
            <a:schemeClr val="bg1"/>
          </a:solidFill>
          <a:ln w="1439" cap="flat">
            <a:solidFill>
              <a:schemeClr val="tx1"/>
            </a:solidFill>
            <a:prstDash val="solid"/>
            <a:miter/>
          </a:ln>
        </p:spPr>
        <p:txBody>
          <a:bodyPr/>
          <a:lstStyle/>
          <a:p>
            <a:endParaRPr lang="fr-FR">
              <a:latin typeface="+mj-lt"/>
            </a:endParaRPr>
          </a:p>
        </p:txBody>
      </p:sp>
      <p:sp>
        <p:nvSpPr>
          <p:cNvPr id="14" name="Forme libre 10">
            <a:extLst>
              <a:ext uri="{FF2B5EF4-FFF2-40B4-BE49-F238E27FC236}">
                <a16:creationId xmlns:a16="http://schemas.microsoft.com/office/drawing/2014/main" id="{091A6789-BB8A-579E-4C0F-51809B73B5FE}"/>
              </a:ext>
            </a:extLst>
          </p:cNvPr>
          <p:cNvSpPr/>
          <p:nvPr/>
        </p:nvSpPr>
        <p:spPr>
          <a:xfrm>
            <a:off x="8279097" y="1502516"/>
            <a:ext cx="669690" cy="3255902"/>
          </a:xfrm>
          <a:custGeom>
            <a:avLst/>
            <a:gdLst>
              <a:gd name="csX0" fmla="*/ 49414 w 62231"/>
              <a:gd name="csY0" fmla="*/ 0 h 302555"/>
              <a:gd name="csX1" fmla="*/ 12947 w 62231"/>
              <a:gd name="csY1" fmla="*/ 0 h 302555"/>
              <a:gd name="csX2" fmla="*/ 0 w 62231"/>
              <a:gd name="csY2" fmla="*/ 12943 h 302555"/>
              <a:gd name="csX3" fmla="*/ 0 w 62231"/>
              <a:gd name="csY3" fmla="*/ 277863 h 302555"/>
              <a:gd name="csX4" fmla="*/ 24700 w 62231"/>
              <a:gd name="csY4" fmla="*/ 302556 h 302555"/>
              <a:gd name="csX5" fmla="*/ 24700 w 62231"/>
              <a:gd name="csY5" fmla="*/ 302556 h 302555"/>
              <a:gd name="csX6" fmla="*/ 49399 w 62231"/>
              <a:gd name="csY6" fmla="*/ 277863 h 302555"/>
              <a:gd name="csX7" fmla="*/ 49399 w 62231"/>
              <a:gd name="csY7" fmla="*/ 12828 h 302555"/>
              <a:gd name="csX8" fmla="*/ 62231 w 62231"/>
              <a:gd name="csY8" fmla="*/ 0 h 302555"/>
              <a:gd name="csX9" fmla="*/ 49399 w 62231"/>
              <a:gd name="csY9" fmla="*/ 0 h 3025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231" h="302555">
                <a:moveTo>
                  <a:pt x="49414" y="0"/>
                </a:moveTo>
                <a:lnTo>
                  <a:pt x="12947" y="0"/>
                </a:lnTo>
                <a:cubicBezTo>
                  <a:pt x="5797" y="0"/>
                  <a:pt x="0" y="5796"/>
                  <a:pt x="0" y="12943"/>
                </a:cubicBezTo>
                <a:lnTo>
                  <a:pt x="0" y="277863"/>
                </a:lnTo>
                <a:cubicBezTo>
                  <a:pt x="0" y="291496"/>
                  <a:pt x="11063" y="302556"/>
                  <a:pt x="24700" y="302556"/>
                </a:cubicBezTo>
                <a:lnTo>
                  <a:pt x="24700" y="302556"/>
                </a:lnTo>
                <a:cubicBezTo>
                  <a:pt x="38352" y="302556"/>
                  <a:pt x="49399" y="291496"/>
                  <a:pt x="49399" y="277863"/>
                </a:cubicBezTo>
                <a:lnTo>
                  <a:pt x="49399" y="12828"/>
                </a:lnTo>
                <a:cubicBezTo>
                  <a:pt x="49399" y="12828"/>
                  <a:pt x="61095" y="0"/>
                  <a:pt x="62231" y="0"/>
                </a:cubicBezTo>
                <a:lnTo>
                  <a:pt x="49399" y="0"/>
                </a:lnTo>
                <a:close/>
              </a:path>
            </a:pathLst>
          </a:custGeom>
          <a:solidFill>
            <a:schemeClr val="accent4"/>
          </a:solidFill>
          <a:ln w="1439" cap="flat">
            <a:noFill/>
            <a:prstDash val="solid"/>
            <a:miter/>
          </a:ln>
        </p:spPr>
        <p:txBody>
          <a:bodyPr/>
          <a:lstStyle/>
          <a:p>
            <a:endParaRPr lang="fr-FR">
              <a:latin typeface="+mj-lt"/>
            </a:endParaRPr>
          </a:p>
        </p:txBody>
      </p:sp>
      <p:sp>
        <p:nvSpPr>
          <p:cNvPr id="15" name="Forme libre 11">
            <a:extLst>
              <a:ext uri="{FF2B5EF4-FFF2-40B4-BE49-F238E27FC236}">
                <a16:creationId xmlns:a16="http://schemas.microsoft.com/office/drawing/2014/main" id="{FB83020B-64FA-A711-8980-41926304366C}"/>
              </a:ext>
            </a:extLst>
          </p:cNvPr>
          <p:cNvSpPr/>
          <p:nvPr/>
        </p:nvSpPr>
        <p:spPr>
          <a:xfrm>
            <a:off x="8810859" y="1502516"/>
            <a:ext cx="276018" cy="138047"/>
          </a:xfrm>
          <a:custGeom>
            <a:avLst/>
            <a:gdLst>
              <a:gd name="csX0" fmla="*/ 12832 w 25649"/>
              <a:gd name="csY0" fmla="*/ 0 h 12828"/>
              <a:gd name="csX1" fmla="*/ 0 w 25649"/>
              <a:gd name="csY1" fmla="*/ 12828 h 12828"/>
              <a:gd name="csX2" fmla="*/ 25649 w 25649"/>
              <a:gd name="csY2" fmla="*/ 12828 h 12828"/>
              <a:gd name="csX3" fmla="*/ 12817 w 25649"/>
              <a:gd name="csY3" fmla="*/ 0 h 12828"/>
            </a:gdLst>
            <a:ahLst/>
            <a:cxnLst>
              <a:cxn ang="0">
                <a:pos x="csX0" y="csY0"/>
              </a:cxn>
              <a:cxn ang="0">
                <a:pos x="csX1" y="csY1"/>
              </a:cxn>
              <a:cxn ang="0">
                <a:pos x="csX2" y="csY2"/>
              </a:cxn>
              <a:cxn ang="0">
                <a:pos x="csX3" y="csY3"/>
              </a:cxn>
            </a:cxnLst>
            <a:rect l="l" t="t" r="r" b="b"/>
            <a:pathLst>
              <a:path w="25649" h="12828">
                <a:moveTo>
                  <a:pt x="12832" y="0"/>
                </a:moveTo>
                <a:cubicBezTo>
                  <a:pt x="5754" y="0"/>
                  <a:pt x="0" y="5738"/>
                  <a:pt x="0" y="12828"/>
                </a:cubicBezTo>
                <a:lnTo>
                  <a:pt x="25649" y="12828"/>
                </a:lnTo>
                <a:cubicBezTo>
                  <a:pt x="25649" y="5738"/>
                  <a:pt x="19909" y="0"/>
                  <a:pt x="12817" y="0"/>
                </a:cubicBezTo>
                <a:close/>
              </a:path>
            </a:pathLst>
          </a:custGeom>
          <a:solidFill>
            <a:schemeClr val="accent4">
              <a:lumMod val="50000"/>
            </a:schemeClr>
          </a:solidFill>
          <a:ln w="1439" cap="flat">
            <a:noFill/>
            <a:prstDash val="solid"/>
            <a:miter/>
          </a:ln>
        </p:spPr>
        <p:txBody>
          <a:bodyPr/>
          <a:lstStyle/>
          <a:p>
            <a:endParaRPr lang="fr-FR">
              <a:latin typeface="+mj-lt"/>
            </a:endParaRPr>
          </a:p>
        </p:txBody>
      </p:sp>
      <p:pic>
        <p:nvPicPr>
          <p:cNvPr id="16" name="Graphic 13" descr="Bullseye with solid fill">
            <a:extLst>
              <a:ext uri="{FF2B5EF4-FFF2-40B4-BE49-F238E27FC236}">
                <a16:creationId xmlns:a16="http://schemas.microsoft.com/office/drawing/2014/main" id="{626C4C2E-5B70-CF7F-2702-0CC36F79C2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55" y="4249605"/>
            <a:ext cx="444225" cy="444225"/>
          </a:xfrm>
          <a:prstGeom prst="rect">
            <a:avLst/>
          </a:prstGeom>
        </p:spPr>
      </p:pic>
      <p:pic>
        <p:nvPicPr>
          <p:cNvPr id="17" name="Graphic 16" descr="Hourglass 30% with solid fill">
            <a:extLst>
              <a:ext uri="{FF2B5EF4-FFF2-40B4-BE49-F238E27FC236}">
                <a16:creationId xmlns:a16="http://schemas.microsoft.com/office/drawing/2014/main" id="{11E75E46-F0C0-A81F-C2D8-F5BB5AD918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6358" y="4200721"/>
            <a:ext cx="444225" cy="444225"/>
          </a:xfrm>
          <a:prstGeom prst="rect">
            <a:avLst/>
          </a:prstGeom>
        </p:spPr>
      </p:pic>
      <p:pic>
        <p:nvPicPr>
          <p:cNvPr id="18" name="Graphic 17" descr="Lightbulb with solid fill">
            <a:extLst>
              <a:ext uri="{FF2B5EF4-FFF2-40B4-BE49-F238E27FC236}">
                <a16:creationId xmlns:a16="http://schemas.microsoft.com/office/drawing/2014/main" id="{ECA5B844-039A-35B2-D255-F468A4C97BE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22785" y="4221985"/>
            <a:ext cx="444225" cy="444225"/>
          </a:xfrm>
          <a:prstGeom prst="rect">
            <a:avLst/>
          </a:prstGeom>
        </p:spPr>
      </p:pic>
      <p:sp>
        <p:nvSpPr>
          <p:cNvPr id="19" name="ZoneTexte 20">
            <a:extLst>
              <a:ext uri="{FF2B5EF4-FFF2-40B4-BE49-F238E27FC236}">
                <a16:creationId xmlns:a16="http://schemas.microsoft.com/office/drawing/2014/main" id="{D686B337-7BBC-1D83-5EAA-78F751EC5F08}"/>
              </a:ext>
            </a:extLst>
          </p:cNvPr>
          <p:cNvSpPr txBox="1"/>
          <p:nvPr/>
        </p:nvSpPr>
        <p:spPr>
          <a:xfrm>
            <a:off x="981291" y="1571539"/>
            <a:ext cx="444353" cy="369332"/>
          </a:xfrm>
          <a:prstGeom prst="rect">
            <a:avLst/>
          </a:prstGeom>
          <a:noFill/>
        </p:spPr>
        <p:txBody>
          <a:bodyPr wrap="none" rtlCol="0" anchor="ctr">
            <a:spAutoFit/>
          </a:bodyPr>
          <a:lstStyle/>
          <a:p>
            <a:pPr algn="ctr"/>
            <a:r>
              <a:rPr lang="fr-FR" b="1" dirty="0">
                <a:solidFill>
                  <a:schemeClr val="bg1"/>
                </a:solidFill>
                <a:latin typeface="+mj-lt"/>
              </a:rPr>
              <a:t>01</a:t>
            </a:r>
          </a:p>
        </p:txBody>
      </p:sp>
      <p:sp>
        <p:nvSpPr>
          <p:cNvPr id="20" name="ZoneTexte 21">
            <a:extLst>
              <a:ext uri="{FF2B5EF4-FFF2-40B4-BE49-F238E27FC236}">
                <a16:creationId xmlns:a16="http://schemas.microsoft.com/office/drawing/2014/main" id="{CA2069F1-44D1-62F0-21F7-8A80775C3A52}"/>
              </a:ext>
            </a:extLst>
          </p:cNvPr>
          <p:cNvSpPr txBox="1"/>
          <p:nvPr/>
        </p:nvSpPr>
        <p:spPr>
          <a:xfrm>
            <a:off x="4666294" y="1571539"/>
            <a:ext cx="444353" cy="369332"/>
          </a:xfrm>
          <a:prstGeom prst="rect">
            <a:avLst/>
          </a:prstGeom>
          <a:noFill/>
        </p:spPr>
        <p:txBody>
          <a:bodyPr wrap="none" rtlCol="0" anchor="ctr">
            <a:spAutoFit/>
          </a:bodyPr>
          <a:lstStyle/>
          <a:p>
            <a:pPr algn="ctr"/>
            <a:r>
              <a:rPr lang="fr-FR" b="1" dirty="0">
                <a:solidFill>
                  <a:schemeClr val="bg1"/>
                </a:solidFill>
                <a:latin typeface="+mj-lt"/>
              </a:rPr>
              <a:t>02</a:t>
            </a:r>
          </a:p>
        </p:txBody>
      </p:sp>
      <p:sp>
        <p:nvSpPr>
          <p:cNvPr id="21" name="ZoneTexte 22">
            <a:extLst>
              <a:ext uri="{FF2B5EF4-FFF2-40B4-BE49-F238E27FC236}">
                <a16:creationId xmlns:a16="http://schemas.microsoft.com/office/drawing/2014/main" id="{3709C1BD-C689-A242-A325-4268ECC4CD5A}"/>
              </a:ext>
            </a:extLst>
          </p:cNvPr>
          <p:cNvSpPr txBox="1"/>
          <p:nvPr/>
        </p:nvSpPr>
        <p:spPr>
          <a:xfrm>
            <a:off x="8322721" y="1571539"/>
            <a:ext cx="444353" cy="369332"/>
          </a:xfrm>
          <a:prstGeom prst="rect">
            <a:avLst/>
          </a:prstGeom>
          <a:noFill/>
        </p:spPr>
        <p:txBody>
          <a:bodyPr wrap="none" rtlCol="0" anchor="ctr">
            <a:spAutoFit/>
          </a:bodyPr>
          <a:lstStyle/>
          <a:p>
            <a:pPr algn="ctr"/>
            <a:r>
              <a:rPr lang="fr-FR" b="1" dirty="0">
                <a:solidFill>
                  <a:schemeClr val="bg1"/>
                </a:solidFill>
                <a:latin typeface="+mj-lt"/>
              </a:rPr>
              <a:t>03</a:t>
            </a:r>
          </a:p>
        </p:txBody>
      </p:sp>
      <p:sp>
        <p:nvSpPr>
          <p:cNvPr id="22" name="TextBox 36">
            <a:extLst>
              <a:ext uri="{FF2B5EF4-FFF2-40B4-BE49-F238E27FC236}">
                <a16:creationId xmlns:a16="http://schemas.microsoft.com/office/drawing/2014/main" id="{5C399D47-A0D8-AE13-73B7-C1B4D3F18172}"/>
              </a:ext>
            </a:extLst>
          </p:cNvPr>
          <p:cNvSpPr txBox="1"/>
          <p:nvPr/>
        </p:nvSpPr>
        <p:spPr>
          <a:xfrm rot="16200000">
            <a:off x="357647" y="2803651"/>
            <a:ext cx="1691640" cy="461665"/>
          </a:xfrm>
          <a:prstGeom prst="rect">
            <a:avLst/>
          </a:prstGeom>
          <a:noFill/>
        </p:spPr>
        <p:txBody>
          <a:bodyPr wrap="square" lIns="0" rIns="0" rtlCol="0" anchor="ctr">
            <a:spAutoFit/>
          </a:bodyPr>
          <a:lstStyle/>
          <a:p>
            <a:pPr algn="ctr"/>
            <a:r>
              <a:rPr lang="en-US" sz="2400" b="1" noProof="1">
                <a:solidFill>
                  <a:schemeClr val="bg1"/>
                </a:solidFill>
                <a:effectLst>
                  <a:outerShdw blurRad="38100" dist="38100" dir="2700000" algn="tl">
                    <a:srgbClr val="000000">
                      <a:alpha val="43137"/>
                    </a:srgbClr>
                  </a:outerShdw>
                </a:effectLst>
                <a:latin typeface="+mj-lt"/>
              </a:rPr>
              <a:t>Desirability</a:t>
            </a:r>
          </a:p>
        </p:txBody>
      </p:sp>
      <p:sp>
        <p:nvSpPr>
          <p:cNvPr id="23" name="TextBox 36">
            <a:extLst>
              <a:ext uri="{FF2B5EF4-FFF2-40B4-BE49-F238E27FC236}">
                <a16:creationId xmlns:a16="http://schemas.microsoft.com/office/drawing/2014/main" id="{04D72B9D-75D5-8728-236C-B15C4C8092C8}"/>
              </a:ext>
            </a:extLst>
          </p:cNvPr>
          <p:cNvSpPr txBox="1"/>
          <p:nvPr/>
        </p:nvSpPr>
        <p:spPr>
          <a:xfrm rot="16200000">
            <a:off x="4042650" y="2803652"/>
            <a:ext cx="1691640" cy="461665"/>
          </a:xfrm>
          <a:prstGeom prst="rect">
            <a:avLst/>
          </a:prstGeom>
          <a:noFill/>
        </p:spPr>
        <p:txBody>
          <a:bodyPr wrap="square" lIns="0" rIns="0" rtlCol="0" anchor="ctr">
            <a:spAutoFit/>
          </a:bodyPr>
          <a:lstStyle/>
          <a:p>
            <a:pPr algn="ctr"/>
            <a:r>
              <a:rPr lang="en-US" sz="2400" b="1" noProof="1">
                <a:solidFill>
                  <a:schemeClr val="bg1"/>
                </a:solidFill>
                <a:effectLst>
                  <a:outerShdw blurRad="38100" dist="38100" dir="2700000" algn="tl">
                    <a:srgbClr val="000000">
                      <a:alpha val="43137"/>
                    </a:srgbClr>
                  </a:outerShdw>
                </a:effectLst>
                <a:latin typeface="+mj-lt"/>
              </a:rPr>
              <a:t>Feasibility</a:t>
            </a:r>
          </a:p>
        </p:txBody>
      </p:sp>
      <p:sp>
        <p:nvSpPr>
          <p:cNvPr id="24" name="TextBox 36">
            <a:extLst>
              <a:ext uri="{FF2B5EF4-FFF2-40B4-BE49-F238E27FC236}">
                <a16:creationId xmlns:a16="http://schemas.microsoft.com/office/drawing/2014/main" id="{3698E1F7-6B6C-5FFC-A480-D1304694A8F7}"/>
              </a:ext>
            </a:extLst>
          </p:cNvPr>
          <p:cNvSpPr txBox="1"/>
          <p:nvPr/>
        </p:nvSpPr>
        <p:spPr>
          <a:xfrm rot="16200000">
            <a:off x="7699077" y="2803653"/>
            <a:ext cx="1691640" cy="461665"/>
          </a:xfrm>
          <a:prstGeom prst="rect">
            <a:avLst/>
          </a:prstGeom>
          <a:noFill/>
        </p:spPr>
        <p:txBody>
          <a:bodyPr wrap="square" lIns="0" rIns="0" rtlCol="0" anchor="ctr">
            <a:spAutoFit/>
          </a:bodyPr>
          <a:lstStyle/>
          <a:p>
            <a:pPr algn="ctr"/>
            <a:r>
              <a:rPr lang="en-US" sz="2400" b="1" noProof="1">
                <a:solidFill>
                  <a:schemeClr val="bg1"/>
                </a:solidFill>
                <a:effectLst>
                  <a:outerShdw blurRad="38100" dist="38100" dir="2700000" algn="tl">
                    <a:srgbClr val="000000">
                      <a:alpha val="43137"/>
                    </a:srgbClr>
                  </a:outerShdw>
                </a:effectLst>
                <a:latin typeface="+mj-lt"/>
              </a:rPr>
              <a:t>Viability</a:t>
            </a:r>
          </a:p>
        </p:txBody>
      </p:sp>
      <p:sp>
        <p:nvSpPr>
          <p:cNvPr id="37" name="Rectangle 1">
            <a:extLst>
              <a:ext uri="{FF2B5EF4-FFF2-40B4-BE49-F238E27FC236}">
                <a16:creationId xmlns:a16="http://schemas.microsoft.com/office/drawing/2014/main" id="{ED943FCF-F3D3-5CD7-9EB1-DAD15842CAF0}"/>
              </a:ext>
            </a:extLst>
          </p:cNvPr>
          <p:cNvSpPr>
            <a:spLocks noChangeArrowheads="1"/>
          </p:cNvSpPr>
          <p:nvPr/>
        </p:nvSpPr>
        <p:spPr bwMode="auto">
          <a:xfrm>
            <a:off x="1527598" y="1947248"/>
            <a:ext cx="2466615" cy="26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What is the pain?</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(in plain language)</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Who feels it?</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(buyer / user)</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Why it matters:</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cost, time, risk, errors, client experience</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Why unsolved today?</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(data, process, tooling, governance, fragmentation)</a:t>
            </a:r>
          </a:p>
        </p:txBody>
      </p:sp>
      <p:sp>
        <p:nvSpPr>
          <p:cNvPr id="38" name="Rectangle 2">
            <a:extLst>
              <a:ext uri="{FF2B5EF4-FFF2-40B4-BE49-F238E27FC236}">
                <a16:creationId xmlns:a16="http://schemas.microsoft.com/office/drawing/2014/main" id="{5B6D82E5-D0A7-2A53-2638-8C08EFBC6C1A}"/>
              </a:ext>
            </a:extLst>
          </p:cNvPr>
          <p:cNvSpPr>
            <a:spLocks noChangeArrowheads="1"/>
          </p:cNvSpPr>
          <p:nvPr/>
        </p:nvSpPr>
        <p:spPr bwMode="auto">
          <a:xfrm>
            <a:off x="5269142" y="1947248"/>
            <a:ext cx="2322284"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What could we do?</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(2–3 options, include “non-AI” if relevant)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Best approach:</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what we’d build first (MVP/demo)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Inputs needed:</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data, SMEs, systems, controls/guardrails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What “done” looks like:</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output artifact (demo, accelerator, agent, workflow)</a:t>
            </a:r>
          </a:p>
        </p:txBody>
      </p:sp>
      <p:sp>
        <p:nvSpPr>
          <p:cNvPr id="39" name="Rectangle 3">
            <a:extLst>
              <a:ext uri="{FF2B5EF4-FFF2-40B4-BE49-F238E27FC236}">
                <a16:creationId xmlns:a16="http://schemas.microsoft.com/office/drawing/2014/main" id="{CDE93D0C-910D-A8F6-04B7-59DE7C35292D}"/>
              </a:ext>
            </a:extLst>
          </p:cNvPr>
          <p:cNvSpPr>
            <a:spLocks noChangeArrowheads="1"/>
          </p:cNvSpPr>
          <p:nvPr/>
        </p:nvSpPr>
        <p:spPr bwMode="auto">
          <a:xfrm>
            <a:off x="8863618" y="1947248"/>
            <a:ext cx="2481561"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Repeatability:</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can this scale to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2+ clients</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Value signal:</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expected impact (time saved, throughput, quality, margin)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Services angle:</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assess / build / implement / run (where Capco monetizes)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Differentiation:</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why Capco wins (domain + AI + delivery)</a:t>
            </a:r>
          </a:p>
        </p:txBody>
      </p:sp>
    </p:spTree>
    <p:extLst>
      <p:ext uri="{BB962C8B-B14F-4D97-AF65-F5344CB8AC3E}">
        <p14:creationId xmlns:p14="http://schemas.microsoft.com/office/powerpoint/2010/main" val="3327679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6DC3C-7661-9790-0738-A25C5BBDD3EE}"/>
              </a:ext>
            </a:extLst>
          </p:cNvPr>
          <p:cNvSpPr>
            <a:spLocks noGrp="1"/>
          </p:cNvSpPr>
          <p:nvPr>
            <p:ph type="title"/>
          </p:nvPr>
        </p:nvSpPr>
        <p:spPr/>
        <p:txBody>
          <a:bodyPr/>
          <a:lstStyle/>
          <a:p>
            <a:r>
              <a:rPr lang="en-US" dirty="0"/>
              <a:t>AI Use Case Identification Roadmap: Desirability </a:t>
            </a:r>
          </a:p>
        </p:txBody>
      </p:sp>
      <p:sp>
        <p:nvSpPr>
          <p:cNvPr id="3" name="Text Placeholder 2">
            <a:extLst>
              <a:ext uri="{FF2B5EF4-FFF2-40B4-BE49-F238E27FC236}">
                <a16:creationId xmlns:a16="http://schemas.microsoft.com/office/drawing/2014/main" id="{4CF1C2A5-1B48-0FD6-86A8-E6A079B1A48A}"/>
              </a:ext>
            </a:extLst>
          </p:cNvPr>
          <p:cNvSpPr>
            <a:spLocks noGrp="1"/>
          </p:cNvSpPr>
          <p:nvPr>
            <p:ph type="body" sz="quarter" idx="10"/>
          </p:nvPr>
        </p:nvSpPr>
        <p:spPr/>
        <p:txBody>
          <a:bodyPr/>
          <a:lstStyle/>
          <a:p>
            <a:endParaRPr lang="en-US" dirty="0"/>
          </a:p>
        </p:txBody>
      </p:sp>
      <p:sp>
        <p:nvSpPr>
          <p:cNvPr id="4" name="Rectangle 3">
            <a:extLst>
              <a:ext uri="{FF2B5EF4-FFF2-40B4-BE49-F238E27FC236}">
                <a16:creationId xmlns:a16="http://schemas.microsoft.com/office/drawing/2014/main" id="{272FE07D-86E8-824E-FEA4-89266DC5074F}"/>
              </a:ext>
            </a:extLst>
          </p:cNvPr>
          <p:cNvSpPr/>
          <p:nvPr/>
        </p:nvSpPr>
        <p:spPr>
          <a:xfrm>
            <a:off x="542647" y="5430410"/>
            <a:ext cx="10952370" cy="849019"/>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US" sz="1400" dirty="0"/>
              <a:t>Complete by X: please submit 2–3 AI use-case ideas by [DATE / e.g., 3/9] to Chinmoy, Hanni, and Jessie.</a:t>
            </a:r>
            <a:br>
              <a:rPr lang="en-US" sz="1400" dirty="0"/>
            </a:br>
            <a:r>
              <a:rPr lang="en-US" sz="1400" dirty="0"/>
              <a:t>For now, focus primarily on the problem: what it is, who feels it, why it matters, and how it is measured.</a:t>
            </a:r>
          </a:p>
        </p:txBody>
      </p:sp>
      <p:sp>
        <p:nvSpPr>
          <p:cNvPr id="7" name="TextBox 6">
            <a:extLst>
              <a:ext uri="{FF2B5EF4-FFF2-40B4-BE49-F238E27FC236}">
                <a16:creationId xmlns:a16="http://schemas.microsoft.com/office/drawing/2014/main" id="{FDFE7756-761A-07BE-3F77-08F1D78066BC}"/>
              </a:ext>
            </a:extLst>
          </p:cNvPr>
          <p:cNvSpPr txBox="1"/>
          <p:nvPr/>
        </p:nvSpPr>
        <p:spPr>
          <a:xfrm>
            <a:off x="363071" y="1608756"/>
            <a:ext cx="1927412" cy="2492990"/>
          </a:xfrm>
          <a:prstGeom prst="rect">
            <a:avLst/>
          </a:prstGeom>
          <a:solidFill>
            <a:schemeClr val="accent1">
              <a:lumMod val="20000"/>
              <a:lumOff val="80000"/>
            </a:schemeClr>
          </a:solidFill>
        </p:spPr>
        <p:txBody>
          <a:bodyPr wrap="square" rtlCol="0">
            <a:spAutoFit/>
          </a:bodyPr>
          <a:lstStyle/>
          <a:p>
            <a:pPr marL="342900" indent="-342900" algn="l">
              <a:buAutoNum type="arabicPeriod"/>
            </a:pPr>
            <a:r>
              <a:rPr lang="en-US" sz="1200" dirty="0"/>
              <a:t>Create template here to fill out for Desirability answering the 4 questions</a:t>
            </a:r>
          </a:p>
          <a:p>
            <a:pPr marL="342900" indent="-342900" algn="l">
              <a:buAutoNum type="arabicPeriod"/>
            </a:pPr>
            <a:r>
              <a:rPr lang="en-US" sz="1200" dirty="0"/>
              <a:t>Link the excel file with guidance on what to fill out (include ranking for prioritization)</a:t>
            </a:r>
          </a:p>
          <a:p>
            <a:pPr marL="342900" indent="-342900" algn="l">
              <a:buAutoNum type="arabicPeriod"/>
            </a:pPr>
            <a:r>
              <a:rPr lang="en-US" sz="1200" dirty="0"/>
              <a:t>Have directions below on what needs to be done</a:t>
            </a:r>
          </a:p>
        </p:txBody>
      </p:sp>
      <p:sp>
        <p:nvSpPr>
          <p:cNvPr id="8" name="Rectangle 1">
            <a:extLst>
              <a:ext uri="{FF2B5EF4-FFF2-40B4-BE49-F238E27FC236}">
                <a16:creationId xmlns:a16="http://schemas.microsoft.com/office/drawing/2014/main" id="{134789ED-CFE9-601D-AE04-0702CE7F402A}"/>
              </a:ext>
            </a:extLst>
          </p:cNvPr>
          <p:cNvSpPr>
            <a:spLocks noChangeArrowheads="1"/>
          </p:cNvSpPr>
          <p:nvPr/>
        </p:nvSpPr>
        <p:spPr bwMode="auto">
          <a:xfrm>
            <a:off x="5194163" y="1608756"/>
            <a:ext cx="2466615" cy="26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What is the pain?</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(in plain language)</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Who feels it?</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(buyer / user)</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Why it matters:</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cost, time, risk, errors, client experience</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Why unsolved today?</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(data, process, tooling, governance, fragmentation)</a:t>
            </a:r>
          </a:p>
        </p:txBody>
      </p:sp>
    </p:spTree>
    <p:extLst>
      <p:ext uri="{BB962C8B-B14F-4D97-AF65-F5344CB8AC3E}">
        <p14:creationId xmlns:p14="http://schemas.microsoft.com/office/powerpoint/2010/main" val="2315985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8191B-4B8B-8EAC-FA35-9EDE29CE1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3FCF81-7C59-25F1-156A-339CA3EBF2B2}"/>
              </a:ext>
            </a:extLst>
          </p:cNvPr>
          <p:cNvSpPr>
            <a:spLocks noGrp="1"/>
          </p:cNvSpPr>
          <p:nvPr>
            <p:ph type="title"/>
          </p:nvPr>
        </p:nvSpPr>
        <p:spPr/>
        <p:txBody>
          <a:bodyPr/>
          <a:lstStyle/>
          <a:p>
            <a:r>
              <a:rPr lang="en-US" dirty="0"/>
              <a:t>Bi-Weekly AI Capability showcase</a:t>
            </a:r>
          </a:p>
        </p:txBody>
      </p:sp>
      <p:sp>
        <p:nvSpPr>
          <p:cNvPr id="3" name="Text Placeholder 2">
            <a:extLst>
              <a:ext uri="{FF2B5EF4-FFF2-40B4-BE49-F238E27FC236}">
                <a16:creationId xmlns:a16="http://schemas.microsoft.com/office/drawing/2014/main" id="{287E7BE6-7464-93C7-BF97-EE2B913DF9AA}"/>
              </a:ext>
            </a:extLst>
          </p:cNvPr>
          <p:cNvSpPr>
            <a:spLocks noGrp="1"/>
          </p:cNvSpPr>
          <p:nvPr>
            <p:ph type="body" sz="quarter" idx="11"/>
          </p:nvPr>
        </p:nvSpPr>
        <p:spPr/>
        <p:txBody>
          <a:bodyPr/>
          <a:lstStyle/>
          <a:p>
            <a:r>
              <a:rPr lang="en-US" dirty="0"/>
              <a:t>Two Separate Cadence &amp; Focuses to power up sales &amp; wins</a:t>
            </a:r>
          </a:p>
        </p:txBody>
      </p:sp>
      <p:sp>
        <p:nvSpPr>
          <p:cNvPr id="10" name="Rectangle 9">
            <a:extLst>
              <a:ext uri="{FF2B5EF4-FFF2-40B4-BE49-F238E27FC236}">
                <a16:creationId xmlns:a16="http://schemas.microsoft.com/office/drawing/2014/main" id="{BB658508-F4BE-D7D6-67FC-D36FB2A8FE8E}"/>
              </a:ext>
            </a:extLst>
          </p:cNvPr>
          <p:cNvSpPr/>
          <p:nvPr/>
        </p:nvSpPr>
        <p:spPr>
          <a:xfrm>
            <a:off x="928042" y="1369057"/>
            <a:ext cx="4037685" cy="230498"/>
          </a:xfrm>
          <a:prstGeom prst="rect">
            <a:avLst/>
          </a:prstGeom>
          <a:noFill/>
          <a:ln w="12700" cap="flat" cmpd="sng" algn="ctr">
            <a:noFill/>
            <a:prstDash val="solid"/>
            <a:miter lim="800000"/>
          </a:ln>
          <a:effectLst/>
        </p:spPr>
        <p:txBody>
          <a:bodyPr wrap="square" lIns="0" bIns="68580" rtlCol="0" anchor="ctr">
            <a:noAutofit/>
          </a:bodyPr>
          <a:lstStyle/>
          <a:p>
            <a:pPr marL="365760" marR="0" lvl="0" indent="0" algn="ctr" defTabSz="914400" rtl="0" eaLnBrk="1" fontAlgn="auto" latinLnBrk="0" hangingPunct="1">
              <a:lnSpc>
                <a:spcPct val="90000"/>
              </a:lnSpc>
              <a:spcBef>
                <a:spcPct val="0"/>
              </a:spcBef>
              <a:spcAft>
                <a:spcPts val="0"/>
              </a:spcAft>
              <a:buClrTx/>
              <a:buSzTx/>
              <a:buFontTx/>
              <a:buNone/>
              <a:tabLst/>
              <a:defRPr/>
            </a:pPr>
            <a:r>
              <a:rPr lang="en-US" sz="1600" b="1" cap="all" dirty="0">
                <a:solidFill>
                  <a:srgbClr val="005F65"/>
                </a:solidFill>
                <a:latin typeface="Century Gothic" panose="020B0502020202020204" pitchFamily="34" charset="0"/>
                <a:sym typeface="+mn-lt"/>
              </a:rPr>
              <a:t>AI SERVICE OFFERINGS SHOWCASE</a:t>
            </a:r>
            <a:endParaRPr kumimoji="0" lang="en-US" sz="1600" b="1" i="0" u="none" strike="noStrike" kern="1200" cap="all" spc="0" normalizeH="0" baseline="0" noProof="0" dirty="0">
              <a:ln>
                <a:noFill/>
              </a:ln>
              <a:solidFill>
                <a:srgbClr val="005F65"/>
              </a:solidFill>
              <a:effectLst/>
              <a:uLnTx/>
              <a:uFillTx/>
              <a:latin typeface="Century Gothic" panose="020B0502020202020204" pitchFamily="34" charset="0"/>
              <a:ea typeface="+mn-ea"/>
              <a:cs typeface="+mn-cs"/>
              <a:sym typeface="+mn-lt"/>
            </a:endParaRPr>
          </a:p>
        </p:txBody>
      </p:sp>
      <p:sp>
        <p:nvSpPr>
          <p:cNvPr id="12" name="Rectangle 11">
            <a:extLst>
              <a:ext uri="{FF2B5EF4-FFF2-40B4-BE49-F238E27FC236}">
                <a16:creationId xmlns:a16="http://schemas.microsoft.com/office/drawing/2014/main" id="{3D24F4F8-9450-070D-D51E-2F59A30A2964}"/>
              </a:ext>
            </a:extLst>
          </p:cNvPr>
          <p:cNvSpPr/>
          <p:nvPr/>
        </p:nvSpPr>
        <p:spPr>
          <a:xfrm>
            <a:off x="705766" y="1248234"/>
            <a:ext cx="444552" cy="423085"/>
          </a:xfrm>
          <a:prstGeom prst="rect">
            <a:avLst/>
          </a:prstGeom>
          <a:solidFill>
            <a:srgbClr val="005F6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Tungsten Semibold"/>
                <a:ea typeface="Helvetica Neue Medium"/>
                <a:cs typeface="Helvetica Neue Medium"/>
                <a:sym typeface="Helvetica Neue Medium"/>
              </a:rPr>
              <a:t>1</a:t>
            </a:r>
          </a:p>
        </p:txBody>
      </p:sp>
      <p:sp>
        <p:nvSpPr>
          <p:cNvPr id="21" name="Rectangle 20">
            <a:extLst>
              <a:ext uri="{FF2B5EF4-FFF2-40B4-BE49-F238E27FC236}">
                <a16:creationId xmlns:a16="http://schemas.microsoft.com/office/drawing/2014/main" id="{342D5A8E-BEA3-52D1-2E6D-E3C4BAF8CB8F}"/>
              </a:ext>
            </a:extLst>
          </p:cNvPr>
          <p:cNvSpPr/>
          <p:nvPr/>
        </p:nvSpPr>
        <p:spPr>
          <a:xfrm>
            <a:off x="6045367" y="1348747"/>
            <a:ext cx="3657600" cy="230498"/>
          </a:xfrm>
          <a:prstGeom prst="rect">
            <a:avLst/>
          </a:prstGeom>
          <a:noFill/>
          <a:ln w="12700" cap="flat" cmpd="sng" algn="ctr">
            <a:noFill/>
            <a:prstDash val="solid"/>
            <a:miter lim="800000"/>
          </a:ln>
          <a:effectLst/>
        </p:spPr>
        <p:txBody>
          <a:bodyPr wrap="square" lIns="0" bIns="68580" rtlCol="0" anchor="ctr">
            <a:noAutofit/>
          </a:bodyPr>
          <a:lstStyle/>
          <a:p>
            <a:pPr marL="365760" marR="0" lvl="0" indent="0" algn="ctr" defTabSz="914400" rtl="0" eaLnBrk="1" fontAlgn="auto" latinLnBrk="0" hangingPunct="1">
              <a:lnSpc>
                <a:spcPct val="90000"/>
              </a:lnSpc>
              <a:spcBef>
                <a:spcPct val="0"/>
              </a:spcBef>
              <a:spcAft>
                <a:spcPts val="0"/>
              </a:spcAft>
              <a:buClrTx/>
              <a:buSzTx/>
              <a:buFontTx/>
              <a:buNone/>
              <a:tabLst/>
              <a:defRPr/>
            </a:pPr>
            <a:r>
              <a:rPr lang="en-US" sz="1600" b="1" cap="all" dirty="0">
                <a:solidFill>
                  <a:srgbClr val="005F65"/>
                </a:solidFill>
                <a:latin typeface="Century Gothic" panose="020B0502020202020204" pitchFamily="34" charset="0"/>
                <a:sym typeface="+mn-lt"/>
              </a:rPr>
              <a:t>AI Infusion Showcase</a:t>
            </a:r>
            <a:endParaRPr kumimoji="0" lang="en-US" sz="1600" b="1" i="0" u="none" strike="noStrike" kern="1200" cap="all" spc="0" normalizeH="0" baseline="0" noProof="0" dirty="0">
              <a:ln>
                <a:noFill/>
              </a:ln>
              <a:solidFill>
                <a:srgbClr val="005F65"/>
              </a:solidFill>
              <a:effectLst/>
              <a:uLnTx/>
              <a:uFillTx/>
              <a:latin typeface="Century Gothic" panose="020B0502020202020204" pitchFamily="34" charset="0"/>
              <a:ea typeface="+mn-ea"/>
              <a:cs typeface="+mn-cs"/>
              <a:sym typeface="+mn-lt"/>
            </a:endParaRPr>
          </a:p>
        </p:txBody>
      </p:sp>
      <p:sp>
        <p:nvSpPr>
          <p:cNvPr id="22" name="Rectangle 21">
            <a:extLst>
              <a:ext uri="{FF2B5EF4-FFF2-40B4-BE49-F238E27FC236}">
                <a16:creationId xmlns:a16="http://schemas.microsoft.com/office/drawing/2014/main" id="{4CE862CC-B687-81D8-5209-ED060DA862B0}"/>
              </a:ext>
            </a:extLst>
          </p:cNvPr>
          <p:cNvSpPr/>
          <p:nvPr/>
        </p:nvSpPr>
        <p:spPr>
          <a:xfrm>
            <a:off x="6117039" y="1248234"/>
            <a:ext cx="444552" cy="423085"/>
          </a:xfrm>
          <a:prstGeom prst="rect">
            <a:avLst/>
          </a:prstGeom>
          <a:solidFill>
            <a:srgbClr val="005F6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lang="en-US" sz="1600">
                <a:solidFill>
                  <a:srgbClr val="FFFFFF"/>
                </a:solidFill>
                <a:latin typeface="Tungsten Semibold"/>
                <a:ea typeface="Helvetica Neue Medium"/>
                <a:cs typeface="Helvetica Neue Medium"/>
                <a:sym typeface="Helvetica Neue Medium"/>
              </a:rPr>
              <a:t>2</a:t>
            </a:r>
            <a:endParaRPr kumimoji="0" lang="en-US" sz="1600" b="0" i="0" u="none" strike="noStrike" kern="1200" cap="none" spc="0" normalizeH="0" baseline="0" noProof="0">
              <a:ln>
                <a:noFill/>
              </a:ln>
              <a:solidFill>
                <a:srgbClr val="FFFFFF"/>
              </a:solidFill>
              <a:effectLst/>
              <a:uLnTx/>
              <a:uFillTx/>
              <a:latin typeface="Tungsten Semibold"/>
              <a:ea typeface="Helvetica Neue Medium"/>
              <a:cs typeface="Helvetica Neue Medium"/>
              <a:sym typeface="Helvetica Neue Medium"/>
            </a:endParaRPr>
          </a:p>
        </p:txBody>
      </p:sp>
      <p:sp>
        <p:nvSpPr>
          <p:cNvPr id="6" name="TextBox 5">
            <a:extLst>
              <a:ext uri="{FF2B5EF4-FFF2-40B4-BE49-F238E27FC236}">
                <a16:creationId xmlns:a16="http://schemas.microsoft.com/office/drawing/2014/main" id="{33707628-8D81-8B78-26A5-92460A93B5AB}"/>
              </a:ext>
            </a:extLst>
          </p:cNvPr>
          <p:cNvSpPr txBox="1"/>
          <p:nvPr/>
        </p:nvSpPr>
        <p:spPr>
          <a:xfrm>
            <a:off x="705766" y="1809439"/>
            <a:ext cx="5152110" cy="4596130"/>
          </a:xfrm>
          <a:prstGeom prst="rect">
            <a:avLst/>
          </a:prstGeom>
          <a:noFill/>
        </p:spPr>
        <p:txBody>
          <a:bodyPr wrap="square">
            <a:spAutoFit/>
          </a:bodyPr>
          <a:lstStyle/>
          <a:p>
            <a:pPr>
              <a:spcBef>
                <a:spcPts val="200"/>
              </a:spcBef>
              <a:buNone/>
            </a:pPr>
            <a:r>
              <a:rPr lang="en-US" sz="1200" b="1" dirty="0">
                <a:solidFill>
                  <a:srgbClr val="004346"/>
                </a:solidFill>
              </a:rPr>
              <a:t>Purpose</a:t>
            </a:r>
          </a:p>
          <a:p>
            <a:pPr marL="171450" indent="-171450">
              <a:spcBef>
                <a:spcPts val="200"/>
              </a:spcBef>
              <a:buFont typeface="Arial" panose="020B0604020202020204" pitchFamily="34" charset="0"/>
              <a:buChar char="•"/>
            </a:pPr>
            <a:r>
              <a:rPr lang="en-US" sz="1100" dirty="0"/>
              <a:t>Surface </a:t>
            </a:r>
            <a:r>
              <a:rPr lang="en-US" sz="1100" b="1" dirty="0"/>
              <a:t>domain-specific problems</a:t>
            </a:r>
            <a:r>
              <a:rPr lang="en-US" sz="1100" dirty="0"/>
              <a:t> worth solving with AI</a:t>
            </a:r>
          </a:p>
          <a:p>
            <a:pPr marL="171450" indent="-171450">
              <a:spcBef>
                <a:spcPts val="200"/>
              </a:spcBef>
              <a:buFont typeface="Arial" panose="020B0604020202020204" pitchFamily="34" charset="0"/>
              <a:buChar char="•"/>
            </a:pPr>
            <a:r>
              <a:rPr lang="en-US" sz="1100" dirty="0"/>
              <a:t>Turn those problems into </a:t>
            </a:r>
            <a:r>
              <a:rPr lang="en-US" sz="1100" b="1" dirty="0"/>
              <a:t>client-facing use cases and demos</a:t>
            </a:r>
            <a:endParaRPr lang="en-US" sz="1100" dirty="0"/>
          </a:p>
          <a:p>
            <a:pPr marL="171450" indent="-171450">
              <a:spcBef>
                <a:spcPts val="200"/>
              </a:spcBef>
              <a:buFont typeface="Arial" panose="020B0604020202020204" pitchFamily="34" charset="0"/>
              <a:buChar char="•"/>
            </a:pPr>
            <a:r>
              <a:rPr lang="en-US" sz="1100" dirty="0"/>
              <a:t>Build confidence in </a:t>
            </a:r>
            <a:r>
              <a:rPr lang="en-US" sz="1100" b="1" dirty="0"/>
              <a:t>how to position and sell</a:t>
            </a:r>
            <a:r>
              <a:rPr lang="en-US" sz="1100" dirty="0"/>
              <a:t> offerings</a:t>
            </a:r>
          </a:p>
          <a:p>
            <a:pPr>
              <a:spcBef>
                <a:spcPts val="200"/>
              </a:spcBef>
            </a:pPr>
            <a:r>
              <a:rPr lang="en-US" sz="1200" b="1" dirty="0">
                <a:solidFill>
                  <a:srgbClr val="004346"/>
                </a:solidFill>
              </a:rPr>
              <a:t>Audience</a:t>
            </a:r>
          </a:p>
          <a:p>
            <a:pPr marL="171450" indent="-171450">
              <a:spcBef>
                <a:spcPts val="200"/>
              </a:spcBef>
              <a:buFont typeface="Arial" panose="020B0604020202020204" pitchFamily="34" charset="0"/>
              <a:buChar char="•"/>
            </a:pPr>
            <a:r>
              <a:rPr lang="en-US" sz="1100" dirty="0"/>
              <a:t>Service Offering Champions</a:t>
            </a:r>
          </a:p>
          <a:p>
            <a:pPr marL="171450" indent="-171450">
              <a:spcBef>
                <a:spcPts val="200"/>
              </a:spcBef>
              <a:buFont typeface="Arial" panose="020B0604020202020204" pitchFamily="34" charset="0"/>
              <a:buChar char="•"/>
            </a:pPr>
            <a:r>
              <a:rPr lang="en-US" sz="1100" dirty="0"/>
              <a:t>Practice / Domain Leaders</a:t>
            </a:r>
          </a:p>
          <a:p>
            <a:pPr marL="171450" indent="-171450">
              <a:spcBef>
                <a:spcPts val="200"/>
              </a:spcBef>
              <a:buFont typeface="Arial" panose="020B0604020202020204" pitchFamily="34" charset="0"/>
              <a:buChar char="•"/>
            </a:pPr>
            <a:r>
              <a:rPr lang="en-US" sz="1100" dirty="0"/>
              <a:t>AI Build Support / AI Lab</a:t>
            </a:r>
          </a:p>
          <a:p>
            <a:pPr marL="171450" indent="-171450">
              <a:spcBef>
                <a:spcPts val="200"/>
              </a:spcBef>
              <a:buFont typeface="Arial" panose="020B0604020202020204" pitchFamily="34" charset="0"/>
              <a:buChar char="•"/>
            </a:pPr>
            <a:r>
              <a:rPr lang="en-US" sz="1100" dirty="0"/>
              <a:t>AI Sales Force</a:t>
            </a:r>
          </a:p>
          <a:p>
            <a:pPr>
              <a:spcBef>
                <a:spcPts val="200"/>
              </a:spcBef>
            </a:pPr>
            <a:r>
              <a:rPr lang="en-US" sz="1200" b="1" dirty="0">
                <a:solidFill>
                  <a:srgbClr val="004346"/>
                </a:solidFill>
              </a:rPr>
              <a:t>What this covers</a:t>
            </a:r>
          </a:p>
          <a:p>
            <a:pPr marL="171450" indent="-171450">
              <a:spcBef>
                <a:spcPts val="200"/>
              </a:spcBef>
              <a:buFont typeface="Arial" panose="020B0604020202020204" pitchFamily="34" charset="0"/>
              <a:buChar char="•"/>
            </a:pPr>
            <a:r>
              <a:rPr lang="en-US" sz="1100" dirty="0"/>
              <a:t>Domain problem / buyer need</a:t>
            </a:r>
          </a:p>
          <a:p>
            <a:pPr marL="171450" indent="-171450">
              <a:spcBef>
                <a:spcPts val="200"/>
              </a:spcBef>
              <a:buFont typeface="Arial" panose="020B0604020202020204" pitchFamily="34" charset="0"/>
              <a:buChar char="•"/>
            </a:pPr>
            <a:r>
              <a:rPr lang="en-US" sz="1100" dirty="0"/>
              <a:t>Use case / demo / walkthrough</a:t>
            </a:r>
          </a:p>
          <a:p>
            <a:pPr marL="171450" indent="-171450">
              <a:spcBef>
                <a:spcPts val="200"/>
              </a:spcBef>
              <a:buFont typeface="Arial" panose="020B0604020202020204" pitchFamily="34" charset="0"/>
              <a:buChar char="•"/>
            </a:pPr>
            <a:r>
              <a:rPr lang="en-US" sz="1100" dirty="0"/>
              <a:t>Where it fits and who buys it</a:t>
            </a:r>
          </a:p>
          <a:p>
            <a:pPr marL="171450" indent="-171450">
              <a:spcBef>
                <a:spcPts val="200"/>
              </a:spcBef>
              <a:buFont typeface="Arial" panose="020B0604020202020204" pitchFamily="34" charset="0"/>
              <a:buChar char="•"/>
            </a:pPr>
            <a:r>
              <a:rPr lang="en-US" sz="1100" dirty="0"/>
              <a:t>GTM readiness: talk track, objections, target accounts</a:t>
            </a:r>
          </a:p>
          <a:p>
            <a:pPr>
              <a:spcBef>
                <a:spcPts val="200"/>
              </a:spcBef>
            </a:pPr>
            <a:r>
              <a:rPr lang="en-US" sz="1200" b="1" dirty="0">
                <a:solidFill>
                  <a:srgbClr val="004346"/>
                </a:solidFill>
              </a:rPr>
              <a:t>What presenters should bring</a:t>
            </a:r>
          </a:p>
          <a:p>
            <a:pPr marL="171450" indent="-171450">
              <a:spcBef>
                <a:spcPts val="200"/>
              </a:spcBef>
              <a:buFont typeface="Arial" panose="020B0604020202020204" pitchFamily="34" charset="0"/>
              <a:buChar char="•"/>
            </a:pPr>
            <a:r>
              <a:rPr lang="en-US" sz="1100" dirty="0"/>
              <a:t>A clear </a:t>
            </a:r>
            <a:r>
              <a:rPr lang="en-US" sz="1100" b="1" dirty="0"/>
              <a:t>problem statement</a:t>
            </a:r>
            <a:endParaRPr lang="en-US" sz="1100" dirty="0"/>
          </a:p>
          <a:p>
            <a:pPr marL="171450" indent="-171450">
              <a:spcBef>
                <a:spcPts val="200"/>
              </a:spcBef>
              <a:buFont typeface="Arial" panose="020B0604020202020204" pitchFamily="34" charset="0"/>
              <a:buChar char="•"/>
            </a:pPr>
            <a:r>
              <a:rPr lang="en-US" sz="1100" dirty="0"/>
              <a:t>A lightweight </a:t>
            </a:r>
            <a:r>
              <a:rPr lang="en-US" sz="1100" b="1" dirty="0"/>
              <a:t>demo/video/walkthrough</a:t>
            </a:r>
            <a:endParaRPr lang="en-US" sz="1100" dirty="0"/>
          </a:p>
          <a:p>
            <a:pPr marL="171450" indent="-171450">
              <a:spcBef>
                <a:spcPts val="200"/>
              </a:spcBef>
              <a:buFont typeface="Arial" panose="020B0604020202020204" pitchFamily="34" charset="0"/>
              <a:buChar char="•"/>
            </a:pPr>
            <a:r>
              <a:rPr lang="en-US" sz="1100" dirty="0"/>
              <a:t>Best-fit buyers + 2–3 target accounts</a:t>
            </a:r>
          </a:p>
          <a:p>
            <a:pPr marL="171450" indent="-171450">
              <a:spcBef>
                <a:spcPts val="200"/>
              </a:spcBef>
              <a:buFont typeface="Arial" panose="020B0604020202020204" pitchFamily="34" charset="0"/>
              <a:buChar char="•"/>
            </a:pPr>
            <a:r>
              <a:rPr lang="en-US" sz="1100" dirty="0"/>
              <a:t>A simple </a:t>
            </a:r>
            <a:r>
              <a:rPr lang="en-US" sz="1100" b="1" dirty="0"/>
              <a:t>AI vs non-AI</a:t>
            </a:r>
            <a:r>
              <a:rPr lang="en-US" sz="1100" dirty="0"/>
              <a:t> positioning story</a:t>
            </a:r>
          </a:p>
          <a:p>
            <a:pPr>
              <a:spcBef>
                <a:spcPts val="200"/>
              </a:spcBef>
            </a:pPr>
            <a:r>
              <a:rPr lang="en-US" sz="1200" b="1" dirty="0">
                <a:solidFill>
                  <a:srgbClr val="004346"/>
                </a:solidFill>
              </a:rPr>
              <a:t>Expected outcomes</a:t>
            </a:r>
          </a:p>
          <a:p>
            <a:pPr marL="171450" indent="-171450">
              <a:spcBef>
                <a:spcPts val="200"/>
              </a:spcBef>
              <a:buFont typeface="Arial" panose="020B0604020202020204" pitchFamily="34" charset="0"/>
              <a:buChar char="•"/>
            </a:pPr>
            <a:r>
              <a:rPr lang="en-US" sz="1100" dirty="0"/>
              <a:t>More </a:t>
            </a:r>
            <a:r>
              <a:rPr lang="en-US" sz="1100" b="1" dirty="0"/>
              <a:t>use cases in backlog / in market</a:t>
            </a:r>
            <a:endParaRPr lang="en-US" sz="1100" dirty="0"/>
          </a:p>
          <a:p>
            <a:pPr marL="171450" indent="-171450">
              <a:spcBef>
                <a:spcPts val="200"/>
              </a:spcBef>
              <a:buFont typeface="Arial" panose="020B0604020202020204" pitchFamily="34" charset="0"/>
              <a:buChar char="•"/>
            </a:pPr>
            <a:r>
              <a:rPr lang="en-US" sz="1100" dirty="0"/>
              <a:t>Stronger </a:t>
            </a:r>
            <a:r>
              <a:rPr lang="en-US" sz="1100" b="1" dirty="0"/>
              <a:t>positioning in pursuits</a:t>
            </a:r>
            <a:endParaRPr lang="en-US" sz="1100" dirty="0"/>
          </a:p>
          <a:p>
            <a:pPr marL="171450" indent="-171450">
              <a:spcBef>
                <a:spcPts val="200"/>
              </a:spcBef>
              <a:buFont typeface="Arial" panose="020B0604020202020204" pitchFamily="34" charset="0"/>
              <a:buChar char="•"/>
            </a:pPr>
            <a:r>
              <a:rPr lang="en-US" sz="1100" dirty="0"/>
              <a:t>Clear next actions to move into </a:t>
            </a:r>
            <a:r>
              <a:rPr lang="en-US" sz="1100" b="1" dirty="0"/>
              <a:t>active pipeline</a:t>
            </a:r>
            <a:endParaRPr lang="en-US" sz="1100" dirty="0"/>
          </a:p>
        </p:txBody>
      </p:sp>
      <p:sp>
        <p:nvSpPr>
          <p:cNvPr id="8" name="TextBox 7">
            <a:extLst>
              <a:ext uri="{FF2B5EF4-FFF2-40B4-BE49-F238E27FC236}">
                <a16:creationId xmlns:a16="http://schemas.microsoft.com/office/drawing/2014/main" id="{DE7CBD54-4585-800A-9E53-FBB3B282E1B4}"/>
              </a:ext>
            </a:extLst>
          </p:cNvPr>
          <p:cNvSpPr txBox="1"/>
          <p:nvPr/>
        </p:nvSpPr>
        <p:spPr>
          <a:xfrm>
            <a:off x="6045367" y="1809439"/>
            <a:ext cx="5795487" cy="4626908"/>
          </a:xfrm>
          <a:prstGeom prst="rect">
            <a:avLst/>
          </a:prstGeom>
          <a:noFill/>
        </p:spPr>
        <p:txBody>
          <a:bodyPr wrap="square">
            <a:spAutoFit/>
          </a:bodyPr>
          <a:lstStyle/>
          <a:p>
            <a:pPr>
              <a:spcBef>
                <a:spcPts val="200"/>
              </a:spcBef>
            </a:pPr>
            <a:r>
              <a:rPr lang="en-US" sz="1200" b="1" dirty="0">
                <a:solidFill>
                  <a:srgbClr val="004346"/>
                </a:solidFill>
              </a:rPr>
              <a:t>Purpose</a:t>
            </a:r>
          </a:p>
          <a:p>
            <a:pPr marL="171450" indent="-171450">
              <a:spcBef>
                <a:spcPts val="200"/>
              </a:spcBef>
              <a:buFont typeface="Arial" panose="020B0604020202020204" pitchFamily="34" charset="0"/>
              <a:buChar char="•"/>
            </a:pPr>
            <a:r>
              <a:rPr lang="en-US" sz="1100" dirty="0"/>
              <a:t>Identify how delivery can be </a:t>
            </a:r>
            <a:r>
              <a:rPr lang="en-US" sz="1100" b="1" dirty="0"/>
              <a:t>AI-infused</a:t>
            </a:r>
            <a:endParaRPr lang="en-US" sz="1100" dirty="0"/>
          </a:p>
          <a:p>
            <a:pPr marL="171450" indent="-171450">
              <a:spcBef>
                <a:spcPts val="200"/>
              </a:spcBef>
              <a:buFont typeface="Arial" panose="020B0604020202020204" pitchFamily="34" charset="0"/>
              <a:buChar char="•"/>
            </a:pPr>
            <a:r>
              <a:rPr lang="en-US" sz="1100" dirty="0"/>
              <a:t>Share examples of </a:t>
            </a:r>
            <a:r>
              <a:rPr lang="en-US" sz="1100" b="1" dirty="0"/>
              <a:t>agents, accelerators, and AI-enabled delivery</a:t>
            </a:r>
            <a:endParaRPr lang="en-US" sz="1100" dirty="0"/>
          </a:p>
          <a:p>
            <a:pPr marL="171450" indent="-171450">
              <a:spcBef>
                <a:spcPts val="200"/>
              </a:spcBef>
              <a:buFont typeface="Arial" panose="020B0604020202020204" pitchFamily="34" charset="0"/>
              <a:buChar char="•"/>
            </a:pPr>
            <a:r>
              <a:rPr lang="en-US" sz="1100" dirty="0"/>
              <a:t>Help teams understand how AI changes </a:t>
            </a:r>
            <a:r>
              <a:rPr lang="en-US" sz="1100" b="1" dirty="0"/>
              <a:t>delivery, commercials, and margin</a:t>
            </a:r>
            <a:endParaRPr lang="en-US" sz="1100" dirty="0"/>
          </a:p>
          <a:p>
            <a:pPr>
              <a:spcBef>
                <a:spcPts val="200"/>
              </a:spcBef>
            </a:pPr>
            <a:r>
              <a:rPr lang="en-US" sz="1200" b="1" dirty="0">
                <a:solidFill>
                  <a:srgbClr val="004346"/>
                </a:solidFill>
              </a:rPr>
              <a:t>Audience</a:t>
            </a:r>
          </a:p>
          <a:p>
            <a:pPr marL="171450" indent="-171450">
              <a:spcBef>
                <a:spcPts val="200"/>
              </a:spcBef>
              <a:buFont typeface="Arial" panose="020B0604020202020204" pitchFamily="34" charset="0"/>
              <a:buChar char="•"/>
            </a:pPr>
            <a:r>
              <a:rPr lang="en-US" sz="1100" dirty="0"/>
              <a:t>AI Infusion Champions / AI Czars</a:t>
            </a:r>
          </a:p>
          <a:p>
            <a:pPr marL="171450" indent="-171450">
              <a:spcBef>
                <a:spcPts val="200"/>
              </a:spcBef>
              <a:buFont typeface="Arial" panose="020B0604020202020204" pitchFamily="34" charset="0"/>
              <a:buChar char="•"/>
            </a:pPr>
            <a:r>
              <a:rPr lang="en-US" sz="1100" dirty="0"/>
              <a:t>Practice / Domain Leaders</a:t>
            </a:r>
          </a:p>
          <a:p>
            <a:pPr marL="171450" indent="-171450">
              <a:spcBef>
                <a:spcPts val="200"/>
              </a:spcBef>
              <a:buFont typeface="Arial" panose="020B0604020202020204" pitchFamily="34" charset="0"/>
              <a:buChar char="•"/>
            </a:pPr>
            <a:r>
              <a:rPr lang="en-US" sz="1100" dirty="0"/>
              <a:t>AI Build Support / AI Lab</a:t>
            </a:r>
          </a:p>
          <a:p>
            <a:pPr marL="171450" indent="-171450">
              <a:spcBef>
                <a:spcPts val="200"/>
              </a:spcBef>
              <a:buFont typeface="Arial" panose="020B0604020202020204" pitchFamily="34" charset="0"/>
              <a:buChar char="•"/>
            </a:pPr>
            <a:r>
              <a:rPr lang="en-US" sz="1100" dirty="0"/>
              <a:t>Deal teams / delivery leaders</a:t>
            </a:r>
          </a:p>
          <a:p>
            <a:pPr>
              <a:spcBef>
                <a:spcPts val="200"/>
              </a:spcBef>
            </a:pPr>
            <a:r>
              <a:rPr lang="en-US" sz="1200" b="1" dirty="0">
                <a:solidFill>
                  <a:srgbClr val="004346"/>
                </a:solidFill>
              </a:rPr>
              <a:t>What this covers</a:t>
            </a:r>
          </a:p>
          <a:p>
            <a:pPr marL="171450" indent="-171450">
              <a:spcBef>
                <a:spcPts val="200"/>
              </a:spcBef>
              <a:buFont typeface="Arial" panose="020B0604020202020204" pitchFamily="34" charset="0"/>
              <a:buChar char="•"/>
            </a:pPr>
            <a:r>
              <a:rPr lang="en-US" sz="1100" dirty="0"/>
              <a:t>Delivery activity / workflow being improved</a:t>
            </a:r>
          </a:p>
          <a:p>
            <a:pPr marL="171450" indent="-171450">
              <a:spcBef>
                <a:spcPts val="200"/>
              </a:spcBef>
              <a:buFont typeface="Arial" panose="020B0604020202020204" pitchFamily="34" charset="0"/>
              <a:buChar char="•"/>
            </a:pPr>
            <a:r>
              <a:rPr lang="en-US" sz="1100" dirty="0"/>
              <a:t>How AI is embedded into delivery</a:t>
            </a:r>
          </a:p>
          <a:p>
            <a:pPr marL="171450" indent="-171450">
              <a:spcBef>
                <a:spcPts val="200"/>
              </a:spcBef>
              <a:buFont typeface="Arial" panose="020B0604020202020204" pitchFamily="34" charset="0"/>
              <a:buChar char="•"/>
            </a:pPr>
            <a:r>
              <a:rPr lang="en-US" sz="1100" dirty="0"/>
              <a:t>Accelerators / agents / tools used</a:t>
            </a:r>
          </a:p>
          <a:p>
            <a:pPr marL="171450" indent="-171450">
              <a:spcBef>
                <a:spcPts val="200"/>
              </a:spcBef>
              <a:buFont typeface="Arial" panose="020B0604020202020204" pitchFamily="34" charset="0"/>
              <a:buChar char="•"/>
            </a:pPr>
            <a:r>
              <a:rPr lang="en-US" sz="1100" dirty="0"/>
              <a:t>How proposals, commercials, or staffing change</a:t>
            </a:r>
          </a:p>
          <a:p>
            <a:pPr>
              <a:spcBef>
                <a:spcPts val="200"/>
              </a:spcBef>
            </a:pPr>
            <a:r>
              <a:rPr lang="en-US" sz="1200" b="1" dirty="0">
                <a:solidFill>
                  <a:srgbClr val="004346"/>
                </a:solidFill>
              </a:rPr>
              <a:t>What presenters should bring</a:t>
            </a:r>
          </a:p>
          <a:p>
            <a:pPr marL="171450" indent="-171450">
              <a:spcBef>
                <a:spcPts val="200"/>
              </a:spcBef>
              <a:buFont typeface="Arial" panose="020B0604020202020204" pitchFamily="34" charset="0"/>
              <a:buChar char="•"/>
            </a:pPr>
            <a:r>
              <a:rPr lang="en-US" sz="1100" dirty="0"/>
              <a:t>A short </a:t>
            </a:r>
            <a:r>
              <a:rPr lang="en-US" sz="1100" b="1" dirty="0"/>
              <a:t>delivery or deal story</a:t>
            </a:r>
            <a:endParaRPr lang="en-US" sz="1100" dirty="0"/>
          </a:p>
          <a:p>
            <a:pPr marL="171450" indent="-171450">
              <a:spcBef>
                <a:spcPts val="200"/>
              </a:spcBef>
              <a:buFont typeface="Arial" panose="020B0604020202020204" pitchFamily="34" charset="0"/>
              <a:buChar char="•"/>
            </a:pPr>
            <a:r>
              <a:rPr lang="en-US" sz="1100" dirty="0"/>
              <a:t>AI-infused vs non-AI comparison</a:t>
            </a:r>
          </a:p>
          <a:p>
            <a:pPr marL="171450" indent="-171450">
              <a:spcBef>
                <a:spcPts val="200"/>
              </a:spcBef>
              <a:buFont typeface="Arial" panose="020B0604020202020204" pitchFamily="34" charset="0"/>
              <a:buChar char="•"/>
            </a:pPr>
            <a:r>
              <a:rPr lang="en-US" sz="1100" dirty="0"/>
              <a:t>Concept-level commercials / delivery impact</a:t>
            </a:r>
          </a:p>
          <a:p>
            <a:pPr marL="171450" indent="-171450">
              <a:spcBef>
                <a:spcPts val="200"/>
              </a:spcBef>
              <a:buFont typeface="Arial" panose="020B0604020202020204" pitchFamily="34" charset="0"/>
              <a:buChar char="•"/>
            </a:pPr>
            <a:r>
              <a:rPr lang="en-US" sz="1100" dirty="0"/>
              <a:t>Where else the pattern is repeatable</a:t>
            </a:r>
          </a:p>
          <a:p>
            <a:pPr>
              <a:spcBef>
                <a:spcPts val="200"/>
              </a:spcBef>
            </a:pPr>
            <a:r>
              <a:rPr lang="en-US" sz="1200" b="1" dirty="0">
                <a:solidFill>
                  <a:srgbClr val="004346"/>
                </a:solidFill>
              </a:rPr>
              <a:t>Expected outcomes</a:t>
            </a:r>
          </a:p>
          <a:p>
            <a:pPr marL="171450" indent="-171450">
              <a:spcBef>
                <a:spcPts val="200"/>
              </a:spcBef>
              <a:buFont typeface="Arial" panose="020B0604020202020204" pitchFamily="34" charset="0"/>
              <a:buChar char="•"/>
            </a:pPr>
            <a:r>
              <a:rPr lang="en-US" sz="1100" dirty="0"/>
              <a:t>Greater </a:t>
            </a:r>
            <a:r>
              <a:rPr lang="en-US" sz="1100" b="1" dirty="0"/>
              <a:t>AI infusion across delivery</a:t>
            </a:r>
            <a:endParaRPr lang="en-US" sz="1100" dirty="0"/>
          </a:p>
          <a:p>
            <a:pPr marL="171450" indent="-171450">
              <a:spcBef>
                <a:spcPts val="200"/>
              </a:spcBef>
              <a:buFont typeface="Arial" panose="020B0604020202020204" pitchFamily="34" charset="0"/>
              <a:buChar char="•"/>
            </a:pPr>
            <a:r>
              <a:rPr lang="en-US" sz="1100" dirty="0"/>
              <a:t>Better use of </a:t>
            </a:r>
            <a:r>
              <a:rPr lang="en-US" sz="1100" b="1" dirty="0"/>
              <a:t>agents / accelerators</a:t>
            </a:r>
            <a:endParaRPr lang="en-US" sz="1100" dirty="0"/>
          </a:p>
          <a:p>
            <a:pPr marL="171450" indent="-171450">
              <a:spcBef>
                <a:spcPts val="200"/>
              </a:spcBef>
              <a:buFont typeface="Arial" panose="020B0604020202020204" pitchFamily="34" charset="0"/>
              <a:buChar char="•"/>
            </a:pPr>
            <a:r>
              <a:rPr lang="en-US" sz="1100" dirty="0"/>
              <a:t>Clearer connection between AI-enabled delivery and </a:t>
            </a:r>
            <a:r>
              <a:rPr lang="en-US" sz="1100" b="1" dirty="0"/>
              <a:t>margin / competitiveness</a:t>
            </a:r>
            <a:endParaRPr lang="en-US" sz="1100" dirty="0"/>
          </a:p>
        </p:txBody>
      </p:sp>
      <p:cxnSp>
        <p:nvCxnSpPr>
          <p:cNvPr id="13" name="Straight Connector 12">
            <a:extLst>
              <a:ext uri="{FF2B5EF4-FFF2-40B4-BE49-F238E27FC236}">
                <a16:creationId xmlns:a16="http://schemas.microsoft.com/office/drawing/2014/main" id="{3E1DA298-80E7-D1C9-D8D4-242F9F2B4F90}"/>
              </a:ext>
            </a:extLst>
          </p:cNvPr>
          <p:cNvCxnSpPr>
            <a:cxnSpLocks/>
          </p:cNvCxnSpPr>
          <p:nvPr/>
        </p:nvCxnSpPr>
        <p:spPr>
          <a:xfrm>
            <a:off x="5682112" y="1386354"/>
            <a:ext cx="0" cy="4898943"/>
          </a:xfrm>
          <a:prstGeom prst="line">
            <a:avLst/>
          </a:prstGeom>
          <a:ln w="38100"/>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AC9BBEA4-F035-3109-FE86-7CB53AB7A97E}"/>
              </a:ext>
            </a:extLst>
          </p:cNvPr>
          <p:cNvSpPr txBox="1"/>
          <p:nvPr/>
        </p:nvSpPr>
        <p:spPr>
          <a:xfrm>
            <a:off x="-1439109" y="1240726"/>
            <a:ext cx="1927412" cy="1384995"/>
          </a:xfrm>
          <a:prstGeom prst="rect">
            <a:avLst/>
          </a:prstGeom>
          <a:solidFill>
            <a:schemeClr val="accent1">
              <a:lumMod val="20000"/>
              <a:lumOff val="80000"/>
            </a:schemeClr>
          </a:solidFill>
        </p:spPr>
        <p:txBody>
          <a:bodyPr wrap="square" rtlCol="0">
            <a:spAutoFit/>
          </a:bodyPr>
          <a:lstStyle/>
          <a:p>
            <a:pPr marL="342900" indent="-342900" algn="l">
              <a:buAutoNum type="arabicPeriod"/>
            </a:pPr>
            <a:r>
              <a:rPr lang="en-US" sz="1200" dirty="0"/>
              <a:t>Sean Walters working on comms for Bi-weekly cadence</a:t>
            </a:r>
          </a:p>
          <a:p>
            <a:pPr marL="342900" indent="-342900" algn="l">
              <a:buAutoNum type="arabicPeriod"/>
            </a:pPr>
            <a:r>
              <a:rPr lang="en-US" sz="1200" dirty="0"/>
              <a:t>Hanni to rework showcase slides</a:t>
            </a:r>
          </a:p>
          <a:p>
            <a:pPr marL="342900" indent="-342900" algn="l">
              <a:buAutoNum type="arabicPeriod"/>
            </a:pPr>
            <a:endParaRPr lang="en-US" sz="1200" dirty="0"/>
          </a:p>
        </p:txBody>
      </p:sp>
    </p:spTree>
    <p:extLst>
      <p:ext uri="{BB962C8B-B14F-4D97-AF65-F5344CB8AC3E}">
        <p14:creationId xmlns:p14="http://schemas.microsoft.com/office/powerpoint/2010/main" val="669473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5B275-3FDB-507F-6046-6F89F0BE9012}"/>
              </a:ext>
            </a:extLst>
          </p:cNvPr>
          <p:cNvSpPr>
            <a:spLocks noGrp="1"/>
          </p:cNvSpPr>
          <p:nvPr>
            <p:ph type="title"/>
          </p:nvPr>
        </p:nvSpPr>
        <p:spPr>
          <a:xfrm>
            <a:off x="542647" y="365126"/>
            <a:ext cx="11098999" cy="332399"/>
          </a:xfrm>
        </p:spPr>
        <p:txBody>
          <a:bodyPr/>
          <a:lstStyle/>
          <a:p>
            <a:r>
              <a:rPr lang="en-US" dirty="0">
                <a:latin typeface="+mj-lt"/>
              </a:rPr>
              <a:t>Friday AI Showcase (1 of 2): Use Case / Capability Showcase</a:t>
            </a:r>
          </a:p>
        </p:txBody>
      </p:sp>
      <p:sp>
        <p:nvSpPr>
          <p:cNvPr id="3" name="Text Placeholder 2">
            <a:extLst>
              <a:ext uri="{FF2B5EF4-FFF2-40B4-BE49-F238E27FC236}">
                <a16:creationId xmlns:a16="http://schemas.microsoft.com/office/drawing/2014/main" id="{DA81836F-32DD-7A33-32E1-3557D7F4EEED}"/>
              </a:ext>
            </a:extLst>
          </p:cNvPr>
          <p:cNvSpPr>
            <a:spLocks noGrp="1"/>
          </p:cNvSpPr>
          <p:nvPr>
            <p:ph type="body" sz="quarter" idx="10"/>
          </p:nvPr>
        </p:nvSpPr>
        <p:spPr>
          <a:xfrm>
            <a:off x="542647" y="814367"/>
            <a:ext cx="11098999" cy="553998"/>
          </a:xfrm>
        </p:spPr>
        <p:txBody>
          <a:bodyPr/>
          <a:lstStyle/>
          <a:p>
            <a:r>
              <a:rPr lang="en-US" dirty="0"/>
              <a:t>Purpose: educate the firm on the capability, where it fits, and how to position it in client conversations — without making it a technical training</a:t>
            </a:r>
            <a:endParaRPr lang="en-US" dirty="0">
              <a:latin typeface="+mj-lt"/>
            </a:endParaRPr>
          </a:p>
        </p:txBody>
      </p:sp>
      <p:sp>
        <p:nvSpPr>
          <p:cNvPr id="5" name="Rectangle 4">
            <a:extLst>
              <a:ext uri="{FF2B5EF4-FFF2-40B4-BE49-F238E27FC236}">
                <a16:creationId xmlns:a16="http://schemas.microsoft.com/office/drawing/2014/main" id="{2F05B01E-5DEC-96B5-A9A2-5471B3428109}"/>
              </a:ext>
            </a:extLst>
          </p:cNvPr>
          <p:cNvSpPr/>
          <p:nvPr/>
        </p:nvSpPr>
        <p:spPr>
          <a:xfrm>
            <a:off x="402233" y="1272341"/>
            <a:ext cx="5022440" cy="638094"/>
          </a:xfrm>
          <a:prstGeom prst="rect">
            <a:avLst/>
          </a:prstGeom>
          <a:noFill/>
          <a:ln w="12700" cap="flat" cmpd="sng" algn="ctr">
            <a:noFill/>
            <a:prstDash val="solid"/>
            <a:miter lim="800000"/>
          </a:ln>
          <a:effectLst/>
        </p:spPr>
        <p:txBody>
          <a:bodyPr wrap="square" bIns="91416" rtlCol="0" anchor="b"/>
          <a:lstStyle/>
          <a:p>
            <a:pPr lvl="0" algn="ctr" defTabSz="914126">
              <a:defRPr/>
            </a:pPr>
            <a:r>
              <a:rPr lang="en-US" sz="2000" dirty="0">
                <a:latin typeface="+mj-lt"/>
              </a:rPr>
              <a:t>What this session is designed to do</a:t>
            </a:r>
            <a:endParaRPr kumimoji="0" lang="en-US" sz="1999" b="0" i="0" u="none" strike="noStrike" kern="0" cap="none" spc="0" normalizeH="0" baseline="0" noProof="0" dirty="0">
              <a:ln>
                <a:noFill/>
              </a:ln>
              <a:solidFill>
                <a:srgbClr val="000000"/>
              </a:solidFill>
              <a:effectLst/>
              <a:uLnTx/>
              <a:uFillTx/>
              <a:latin typeface="+mj-lt"/>
              <a:sym typeface="+mn-lt"/>
            </a:endParaRPr>
          </a:p>
        </p:txBody>
      </p:sp>
      <p:cxnSp>
        <p:nvCxnSpPr>
          <p:cNvPr id="8" name="Straight Connector 7">
            <a:extLst>
              <a:ext uri="{FF2B5EF4-FFF2-40B4-BE49-F238E27FC236}">
                <a16:creationId xmlns:a16="http://schemas.microsoft.com/office/drawing/2014/main" id="{A4B209FB-5CD7-ED42-4DB9-B19426BFFFD3}"/>
              </a:ext>
            </a:extLst>
          </p:cNvPr>
          <p:cNvCxnSpPr/>
          <p:nvPr/>
        </p:nvCxnSpPr>
        <p:spPr>
          <a:xfrm>
            <a:off x="402233" y="1910435"/>
            <a:ext cx="5022440" cy="0"/>
          </a:xfrm>
          <a:prstGeom prst="line">
            <a:avLst/>
          </a:prstGeom>
          <a:ln w="28575">
            <a:solidFill>
              <a:srgbClr val="004346"/>
            </a:solidFill>
          </a:ln>
        </p:spPr>
        <p:style>
          <a:lnRef idx="1">
            <a:schemeClr val="accent1"/>
          </a:lnRef>
          <a:fillRef idx="0">
            <a:schemeClr val="accent1"/>
          </a:fillRef>
          <a:effectRef idx="0">
            <a:schemeClr val="accent1"/>
          </a:effectRef>
          <a:fontRef idx="minor">
            <a:schemeClr val="tx1"/>
          </a:fontRef>
        </p:style>
      </p:cxnSp>
      <p:sp>
        <p:nvSpPr>
          <p:cNvPr id="9" name="Freeform 10">
            <a:extLst>
              <a:ext uri="{FF2B5EF4-FFF2-40B4-BE49-F238E27FC236}">
                <a16:creationId xmlns:a16="http://schemas.microsoft.com/office/drawing/2014/main" id="{00C47460-221F-0D36-93A7-350FFF4C350D}"/>
              </a:ext>
            </a:extLst>
          </p:cNvPr>
          <p:cNvSpPr/>
          <p:nvPr/>
        </p:nvSpPr>
        <p:spPr>
          <a:xfrm>
            <a:off x="5910282" y="2080786"/>
            <a:ext cx="409340" cy="3129390"/>
          </a:xfrm>
          <a:custGeom>
            <a:avLst/>
            <a:gdLst>
              <a:gd name="connsiteX0" fmla="*/ 0 w 219456"/>
              <a:gd name="connsiteY0" fmla="*/ 0 h 3200399"/>
              <a:gd name="connsiteX1" fmla="*/ 219456 w 219456"/>
              <a:gd name="connsiteY1" fmla="*/ 1600200 h 3200399"/>
              <a:gd name="connsiteX2" fmla="*/ 0 w 219456"/>
              <a:gd name="connsiteY2" fmla="*/ 3200399 h 3200399"/>
              <a:gd name="connsiteX3" fmla="*/ 0 w 219456"/>
              <a:gd name="connsiteY3" fmla="*/ 3200399 h 3200399"/>
            </a:gdLst>
            <a:ahLst/>
            <a:cxnLst>
              <a:cxn ang="0">
                <a:pos x="connsiteX0" y="connsiteY0"/>
              </a:cxn>
              <a:cxn ang="0">
                <a:pos x="connsiteX1" y="connsiteY1"/>
              </a:cxn>
              <a:cxn ang="0">
                <a:pos x="connsiteX2" y="connsiteY2"/>
              </a:cxn>
              <a:cxn ang="0">
                <a:pos x="connsiteX3" y="connsiteY3"/>
              </a:cxn>
            </a:cxnLst>
            <a:rect l="l" t="t" r="r" b="b"/>
            <a:pathLst>
              <a:path w="219456" h="3200399">
                <a:moveTo>
                  <a:pt x="0" y="0"/>
                </a:moveTo>
                <a:lnTo>
                  <a:pt x="219456" y="1600200"/>
                </a:lnTo>
                <a:lnTo>
                  <a:pt x="0" y="3200399"/>
                </a:lnTo>
                <a:lnTo>
                  <a:pt x="0" y="3200399"/>
                </a:lnTo>
                <a:close/>
              </a:path>
            </a:pathLst>
          </a:custGeom>
          <a:solidFill>
            <a:schemeClr val="tx2">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mj-lt"/>
              <a:ea typeface="+mn-ea"/>
              <a:cs typeface="+mn-cs"/>
              <a:sym typeface="+mn-lt"/>
            </a:endParaRPr>
          </a:p>
        </p:txBody>
      </p:sp>
      <p:sp>
        <p:nvSpPr>
          <p:cNvPr id="11" name="Rectangle 10">
            <a:extLst>
              <a:ext uri="{FF2B5EF4-FFF2-40B4-BE49-F238E27FC236}">
                <a16:creationId xmlns:a16="http://schemas.microsoft.com/office/drawing/2014/main" id="{CB26C521-338A-7D5B-84D3-ED183CB3559B}"/>
              </a:ext>
            </a:extLst>
          </p:cNvPr>
          <p:cNvSpPr/>
          <p:nvPr/>
        </p:nvSpPr>
        <p:spPr>
          <a:xfrm>
            <a:off x="6648093" y="1272341"/>
            <a:ext cx="5016263" cy="638094"/>
          </a:xfrm>
          <a:prstGeom prst="rect">
            <a:avLst/>
          </a:prstGeom>
          <a:noFill/>
          <a:ln w="12700" cap="flat" cmpd="sng" algn="ctr">
            <a:noFill/>
            <a:prstDash val="solid"/>
            <a:miter lim="800000"/>
          </a:ln>
          <a:effectLst/>
        </p:spPr>
        <p:txBody>
          <a:bodyPr wrap="square" bIns="91416" rtlCol="0" anchor="b"/>
          <a:lstStyle/>
          <a:p>
            <a:pPr lvl="0" algn="ctr" defTabSz="914126">
              <a:defRPr/>
            </a:pPr>
            <a:r>
              <a:rPr lang="en-US" sz="2000" dirty="0">
                <a:latin typeface="+mj-lt"/>
              </a:rPr>
              <a:t>What presenters should prepare</a:t>
            </a:r>
            <a:endParaRPr kumimoji="0" lang="en-US" sz="1999" b="0" i="0" u="none" strike="noStrike" kern="0" cap="none" spc="0" normalizeH="0" baseline="0" noProof="0" dirty="0">
              <a:ln>
                <a:noFill/>
              </a:ln>
              <a:solidFill>
                <a:srgbClr val="000000"/>
              </a:solidFill>
              <a:effectLst/>
              <a:uLnTx/>
              <a:uFillTx/>
              <a:latin typeface="+mj-lt"/>
              <a:sym typeface="+mn-lt"/>
            </a:endParaRPr>
          </a:p>
        </p:txBody>
      </p:sp>
      <p:cxnSp>
        <p:nvCxnSpPr>
          <p:cNvPr id="13" name="Straight Connector 12">
            <a:extLst>
              <a:ext uri="{FF2B5EF4-FFF2-40B4-BE49-F238E27FC236}">
                <a16:creationId xmlns:a16="http://schemas.microsoft.com/office/drawing/2014/main" id="{248B0148-D809-9804-8B95-55C2C6CE9FC1}"/>
              </a:ext>
            </a:extLst>
          </p:cNvPr>
          <p:cNvCxnSpPr/>
          <p:nvPr/>
        </p:nvCxnSpPr>
        <p:spPr>
          <a:xfrm>
            <a:off x="6645005" y="1910435"/>
            <a:ext cx="5016263" cy="0"/>
          </a:xfrm>
          <a:prstGeom prst="line">
            <a:avLst/>
          </a:prstGeom>
          <a:ln w="28575">
            <a:solidFill>
              <a:srgbClr val="004346"/>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1FEDC4F-2C76-99DC-6B77-7054B9FE8336}"/>
              </a:ext>
            </a:extLst>
          </p:cNvPr>
          <p:cNvSpPr/>
          <p:nvPr/>
        </p:nvSpPr>
        <p:spPr>
          <a:xfrm>
            <a:off x="542647" y="5606364"/>
            <a:ext cx="11121709" cy="638089"/>
          </a:xfrm>
          <a:prstGeom prst="rect">
            <a:avLst/>
          </a:prstGeom>
          <a:solidFill>
            <a:srgbClr val="004346"/>
          </a:solidFill>
          <a:ln>
            <a:solidFill>
              <a:srgbClr val="004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rPr>
              <a:t>Expected outcome: attendees leave understanding the capability, how to talk about it, and where they could apply it in client conversations</a:t>
            </a:r>
          </a:p>
        </p:txBody>
      </p:sp>
      <p:sp>
        <p:nvSpPr>
          <p:cNvPr id="4" name="Rectangle 1">
            <a:extLst>
              <a:ext uri="{FF2B5EF4-FFF2-40B4-BE49-F238E27FC236}">
                <a16:creationId xmlns:a16="http://schemas.microsoft.com/office/drawing/2014/main" id="{1E138BB9-2CC7-7EE1-D11A-9CAD671B2D54}"/>
              </a:ext>
            </a:extLst>
          </p:cNvPr>
          <p:cNvSpPr>
            <a:spLocks noChangeArrowheads="1"/>
          </p:cNvSpPr>
          <p:nvPr/>
        </p:nvSpPr>
        <p:spPr bwMode="auto">
          <a:xfrm>
            <a:off x="402234" y="2079094"/>
            <a:ext cx="502244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The capability / use case</a:t>
            </a: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What it is, what problem it solves, and why it matters</a:t>
            </a:r>
          </a:p>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How it was positioned</a:t>
            </a: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How the team talked about it with a client or in a real pursuit</a:t>
            </a:r>
          </a:p>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Where it fits</a:t>
            </a: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Best-fit buyers, client situations, and why it is relevant now</a:t>
            </a:r>
          </a:p>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What others can reuse</a:t>
            </a: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The pattern, talk track, or asset that others can apply in similar conversations</a:t>
            </a:r>
          </a:p>
        </p:txBody>
      </p:sp>
      <p:sp>
        <p:nvSpPr>
          <p:cNvPr id="6" name="Rectangle 2">
            <a:extLst>
              <a:ext uri="{FF2B5EF4-FFF2-40B4-BE49-F238E27FC236}">
                <a16:creationId xmlns:a16="http://schemas.microsoft.com/office/drawing/2014/main" id="{60856D65-BEAF-4524-85EE-0E96757760BE}"/>
              </a:ext>
            </a:extLst>
          </p:cNvPr>
          <p:cNvSpPr>
            <a:spLocks noChangeArrowheads="1"/>
          </p:cNvSpPr>
          <p:nvPr/>
        </p:nvSpPr>
        <p:spPr bwMode="auto">
          <a:xfrm>
            <a:off x="6648093" y="1994294"/>
            <a:ext cx="501935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5–10 min demo, video, or walkthrough</a:t>
            </a: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Prefer something already built / already used externally where possible</a:t>
            </a:r>
          </a:p>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A simple talk track</a:t>
            </a: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How you explain it in non-technical language</a:t>
            </a:r>
          </a:p>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Where it fits</a:t>
            </a: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Best-fit buyers and 1–2 example client scenarios</a:t>
            </a:r>
          </a:p>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How you positioned it</a:t>
            </a: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What resonated in the conversation and what objections came up</a:t>
            </a:r>
          </a:p>
          <a:p>
            <a:pPr marR="0" lvl="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mj-lt"/>
              </a:rPr>
              <a:t>Next actions</a:t>
            </a:r>
            <a:endParaRPr kumimoji="0" lang="en-US" altLang="en-US" sz="16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mj-lt"/>
              </a:rPr>
              <a:t>2–3 target accounts or follow-ups to pursue next</a:t>
            </a:r>
          </a:p>
        </p:txBody>
      </p:sp>
    </p:spTree>
    <p:extLst>
      <p:ext uri="{BB962C8B-B14F-4D97-AF65-F5344CB8AC3E}">
        <p14:creationId xmlns:p14="http://schemas.microsoft.com/office/powerpoint/2010/main" val="645781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80E1C-EE84-2DD1-B80E-2E479C2809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A3621-B51B-3F1C-0874-81F690F484CF}"/>
              </a:ext>
            </a:extLst>
          </p:cNvPr>
          <p:cNvSpPr>
            <a:spLocks noGrp="1"/>
          </p:cNvSpPr>
          <p:nvPr>
            <p:ph type="title"/>
          </p:nvPr>
        </p:nvSpPr>
        <p:spPr>
          <a:xfrm>
            <a:off x="542647" y="365126"/>
            <a:ext cx="11098999" cy="332399"/>
          </a:xfrm>
        </p:spPr>
        <p:txBody>
          <a:bodyPr/>
          <a:lstStyle/>
          <a:p>
            <a:r>
              <a:rPr lang="en-US" dirty="0">
                <a:latin typeface="+mj-lt"/>
              </a:rPr>
              <a:t>Friday AI Showcase (2 of 2): Deal Spotlight (AI-Infused Solutions)</a:t>
            </a:r>
          </a:p>
        </p:txBody>
      </p:sp>
      <p:sp>
        <p:nvSpPr>
          <p:cNvPr id="3" name="Text Placeholder 2">
            <a:extLst>
              <a:ext uri="{FF2B5EF4-FFF2-40B4-BE49-F238E27FC236}">
                <a16:creationId xmlns:a16="http://schemas.microsoft.com/office/drawing/2014/main" id="{3B7908A9-316D-04A8-E2C2-ED1AC05CAD7F}"/>
              </a:ext>
            </a:extLst>
          </p:cNvPr>
          <p:cNvSpPr>
            <a:spLocks noGrp="1"/>
          </p:cNvSpPr>
          <p:nvPr>
            <p:ph type="body" sz="quarter" idx="10"/>
          </p:nvPr>
        </p:nvSpPr>
        <p:spPr>
          <a:xfrm>
            <a:off x="542647" y="814367"/>
            <a:ext cx="11098999" cy="553998"/>
          </a:xfrm>
        </p:spPr>
        <p:txBody>
          <a:bodyPr/>
          <a:lstStyle/>
          <a:p>
            <a:r>
              <a:rPr lang="en-US" dirty="0">
                <a:latin typeface="+mj-lt"/>
              </a:rPr>
              <a:t>Purpose: share a repeatable deal pattern — how the opportunity was sourced, how AI changed the solution, and how commercials were structured</a:t>
            </a:r>
          </a:p>
        </p:txBody>
      </p:sp>
      <p:sp>
        <p:nvSpPr>
          <p:cNvPr id="5" name="Rectangle 4">
            <a:extLst>
              <a:ext uri="{FF2B5EF4-FFF2-40B4-BE49-F238E27FC236}">
                <a16:creationId xmlns:a16="http://schemas.microsoft.com/office/drawing/2014/main" id="{C35EEFAA-F93B-1166-CE9B-077152DE62BA}"/>
              </a:ext>
            </a:extLst>
          </p:cNvPr>
          <p:cNvSpPr/>
          <p:nvPr/>
        </p:nvSpPr>
        <p:spPr>
          <a:xfrm>
            <a:off x="402233" y="1272341"/>
            <a:ext cx="5022440" cy="638094"/>
          </a:xfrm>
          <a:prstGeom prst="rect">
            <a:avLst/>
          </a:prstGeom>
          <a:noFill/>
          <a:ln w="12700" cap="flat" cmpd="sng" algn="ctr">
            <a:noFill/>
            <a:prstDash val="solid"/>
            <a:miter lim="800000"/>
          </a:ln>
          <a:effectLst/>
        </p:spPr>
        <p:txBody>
          <a:bodyPr wrap="square" bIns="91416" rtlCol="0" anchor="b"/>
          <a:lstStyle/>
          <a:p>
            <a:pPr lvl="0" algn="ctr" defTabSz="914126">
              <a:defRPr/>
            </a:pPr>
            <a:r>
              <a:rPr lang="en-US" sz="2000" dirty="0">
                <a:latin typeface="+mj-lt"/>
              </a:rPr>
              <a:t>What this session is designed to do</a:t>
            </a:r>
            <a:endParaRPr kumimoji="0" lang="en-US" sz="1999" b="0" i="0" u="none" strike="noStrike" kern="0" cap="none" spc="0" normalizeH="0" baseline="0" noProof="0" dirty="0">
              <a:ln>
                <a:noFill/>
              </a:ln>
              <a:solidFill>
                <a:srgbClr val="000000"/>
              </a:solidFill>
              <a:effectLst/>
              <a:uLnTx/>
              <a:uFillTx/>
              <a:latin typeface="+mj-lt"/>
              <a:sym typeface="+mn-lt"/>
            </a:endParaRPr>
          </a:p>
        </p:txBody>
      </p:sp>
      <p:cxnSp>
        <p:nvCxnSpPr>
          <p:cNvPr id="8" name="Straight Connector 7">
            <a:extLst>
              <a:ext uri="{FF2B5EF4-FFF2-40B4-BE49-F238E27FC236}">
                <a16:creationId xmlns:a16="http://schemas.microsoft.com/office/drawing/2014/main" id="{1B23A584-28F4-07A8-9527-70930450164A}"/>
              </a:ext>
            </a:extLst>
          </p:cNvPr>
          <p:cNvCxnSpPr/>
          <p:nvPr/>
        </p:nvCxnSpPr>
        <p:spPr>
          <a:xfrm>
            <a:off x="402233" y="1910435"/>
            <a:ext cx="5022440" cy="0"/>
          </a:xfrm>
          <a:prstGeom prst="line">
            <a:avLst/>
          </a:prstGeom>
          <a:ln w="28575">
            <a:solidFill>
              <a:srgbClr val="004346"/>
            </a:solidFill>
          </a:ln>
        </p:spPr>
        <p:style>
          <a:lnRef idx="1">
            <a:schemeClr val="accent1"/>
          </a:lnRef>
          <a:fillRef idx="0">
            <a:schemeClr val="accent1"/>
          </a:fillRef>
          <a:effectRef idx="0">
            <a:schemeClr val="accent1"/>
          </a:effectRef>
          <a:fontRef idx="minor">
            <a:schemeClr val="tx1"/>
          </a:fontRef>
        </p:style>
      </p:cxnSp>
      <p:sp>
        <p:nvSpPr>
          <p:cNvPr id="9" name="Freeform 10">
            <a:extLst>
              <a:ext uri="{FF2B5EF4-FFF2-40B4-BE49-F238E27FC236}">
                <a16:creationId xmlns:a16="http://schemas.microsoft.com/office/drawing/2014/main" id="{B648DBBF-20CA-09FD-589C-F24E4366531D}"/>
              </a:ext>
            </a:extLst>
          </p:cNvPr>
          <p:cNvSpPr/>
          <p:nvPr/>
        </p:nvSpPr>
        <p:spPr>
          <a:xfrm>
            <a:off x="5910282" y="2080786"/>
            <a:ext cx="409340" cy="3129390"/>
          </a:xfrm>
          <a:custGeom>
            <a:avLst/>
            <a:gdLst>
              <a:gd name="connsiteX0" fmla="*/ 0 w 219456"/>
              <a:gd name="connsiteY0" fmla="*/ 0 h 3200399"/>
              <a:gd name="connsiteX1" fmla="*/ 219456 w 219456"/>
              <a:gd name="connsiteY1" fmla="*/ 1600200 h 3200399"/>
              <a:gd name="connsiteX2" fmla="*/ 0 w 219456"/>
              <a:gd name="connsiteY2" fmla="*/ 3200399 h 3200399"/>
              <a:gd name="connsiteX3" fmla="*/ 0 w 219456"/>
              <a:gd name="connsiteY3" fmla="*/ 3200399 h 3200399"/>
            </a:gdLst>
            <a:ahLst/>
            <a:cxnLst>
              <a:cxn ang="0">
                <a:pos x="connsiteX0" y="connsiteY0"/>
              </a:cxn>
              <a:cxn ang="0">
                <a:pos x="connsiteX1" y="connsiteY1"/>
              </a:cxn>
              <a:cxn ang="0">
                <a:pos x="connsiteX2" y="connsiteY2"/>
              </a:cxn>
              <a:cxn ang="0">
                <a:pos x="connsiteX3" y="connsiteY3"/>
              </a:cxn>
            </a:cxnLst>
            <a:rect l="l" t="t" r="r" b="b"/>
            <a:pathLst>
              <a:path w="219456" h="3200399">
                <a:moveTo>
                  <a:pt x="0" y="0"/>
                </a:moveTo>
                <a:lnTo>
                  <a:pt x="219456" y="1600200"/>
                </a:lnTo>
                <a:lnTo>
                  <a:pt x="0" y="3200399"/>
                </a:lnTo>
                <a:lnTo>
                  <a:pt x="0" y="3200399"/>
                </a:lnTo>
                <a:close/>
              </a:path>
            </a:pathLst>
          </a:custGeom>
          <a:solidFill>
            <a:schemeClr val="tx2">
              <a:lumMod val="40000"/>
              <a:lumOff val="6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mj-lt"/>
              <a:ea typeface="+mn-ea"/>
              <a:cs typeface="+mn-cs"/>
              <a:sym typeface="+mn-lt"/>
            </a:endParaRPr>
          </a:p>
        </p:txBody>
      </p:sp>
      <p:sp>
        <p:nvSpPr>
          <p:cNvPr id="11" name="Rectangle 10">
            <a:extLst>
              <a:ext uri="{FF2B5EF4-FFF2-40B4-BE49-F238E27FC236}">
                <a16:creationId xmlns:a16="http://schemas.microsoft.com/office/drawing/2014/main" id="{E604FC04-A294-8D58-D0CC-9F993C4C7291}"/>
              </a:ext>
            </a:extLst>
          </p:cNvPr>
          <p:cNvSpPr/>
          <p:nvPr/>
        </p:nvSpPr>
        <p:spPr>
          <a:xfrm>
            <a:off x="6648093" y="1272341"/>
            <a:ext cx="5016263" cy="638094"/>
          </a:xfrm>
          <a:prstGeom prst="rect">
            <a:avLst/>
          </a:prstGeom>
          <a:noFill/>
          <a:ln w="12700" cap="flat" cmpd="sng" algn="ctr">
            <a:noFill/>
            <a:prstDash val="solid"/>
            <a:miter lim="800000"/>
          </a:ln>
          <a:effectLst/>
        </p:spPr>
        <p:txBody>
          <a:bodyPr wrap="square" bIns="91416" rtlCol="0" anchor="b"/>
          <a:lstStyle/>
          <a:p>
            <a:pPr lvl="0" algn="ctr" defTabSz="914126">
              <a:defRPr/>
            </a:pPr>
            <a:r>
              <a:rPr lang="en-US" sz="2000" dirty="0">
                <a:latin typeface="+mj-lt"/>
              </a:rPr>
              <a:t>What presenters should prepare</a:t>
            </a:r>
            <a:endParaRPr kumimoji="0" lang="en-US" sz="1999" b="0" i="0" u="none" strike="noStrike" kern="0" cap="none" spc="0" normalizeH="0" baseline="0" noProof="0" dirty="0">
              <a:ln>
                <a:noFill/>
              </a:ln>
              <a:solidFill>
                <a:srgbClr val="000000"/>
              </a:solidFill>
              <a:effectLst/>
              <a:uLnTx/>
              <a:uFillTx/>
              <a:latin typeface="+mj-lt"/>
              <a:sym typeface="+mn-lt"/>
            </a:endParaRPr>
          </a:p>
        </p:txBody>
      </p:sp>
      <p:cxnSp>
        <p:nvCxnSpPr>
          <p:cNvPr id="13" name="Straight Connector 12">
            <a:extLst>
              <a:ext uri="{FF2B5EF4-FFF2-40B4-BE49-F238E27FC236}">
                <a16:creationId xmlns:a16="http://schemas.microsoft.com/office/drawing/2014/main" id="{8AC0AAFF-1900-7762-B9BD-DFFA4ACEDDAB}"/>
              </a:ext>
            </a:extLst>
          </p:cNvPr>
          <p:cNvCxnSpPr/>
          <p:nvPr/>
        </p:nvCxnSpPr>
        <p:spPr>
          <a:xfrm>
            <a:off x="6645005" y="1910435"/>
            <a:ext cx="5016263" cy="0"/>
          </a:xfrm>
          <a:prstGeom prst="line">
            <a:avLst/>
          </a:prstGeom>
          <a:ln w="28575">
            <a:solidFill>
              <a:srgbClr val="004346"/>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9F0F04B-C920-473B-F5D8-20C3C4131D0A}"/>
              </a:ext>
            </a:extLst>
          </p:cNvPr>
          <p:cNvSpPr/>
          <p:nvPr/>
        </p:nvSpPr>
        <p:spPr>
          <a:xfrm>
            <a:off x="542647" y="5553075"/>
            <a:ext cx="11121709" cy="638089"/>
          </a:xfrm>
          <a:prstGeom prst="rect">
            <a:avLst/>
          </a:prstGeom>
          <a:solidFill>
            <a:srgbClr val="004346"/>
          </a:solidFill>
          <a:ln>
            <a:solidFill>
              <a:srgbClr val="0043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j-lt"/>
              </a:rPr>
              <a:t>Expected outcome: attendees learn a repeatable play for shaping and selling AI-infused work — and identify next deals where it can be applied.</a:t>
            </a:r>
          </a:p>
        </p:txBody>
      </p:sp>
      <p:sp>
        <p:nvSpPr>
          <p:cNvPr id="10" name="Rectangle 1">
            <a:extLst>
              <a:ext uri="{FF2B5EF4-FFF2-40B4-BE49-F238E27FC236}">
                <a16:creationId xmlns:a16="http://schemas.microsoft.com/office/drawing/2014/main" id="{79B12E05-4965-5548-C1B6-EE9AB04A7BD0}"/>
              </a:ext>
            </a:extLst>
          </p:cNvPr>
          <p:cNvSpPr>
            <a:spLocks noChangeArrowheads="1"/>
          </p:cNvSpPr>
          <p:nvPr/>
        </p:nvSpPr>
        <p:spPr bwMode="auto">
          <a:xfrm>
            <a:off x="402234" y="2147119"/>
            <a:ext cx="5022440"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mj-lt"/>
              </a:rPr>
              <a:t>How the opportunity was sourced</a:t>
            </a: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What triggered it, who the buyer was, and why it mattered now</a:t>
            </a: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mj-lt"/>
              </a:rPr>
              <a:t>How AI changed the solution</a:t>
            </a: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What was different with AI vs. without AI in the approach or delivery</a:t>
            </a: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mj-lt"/>
              </a:rPr>
              <a:t>How commercials were structured</a:t>
            </a: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How scope, value, and pricing logic were framed so the work was sellable</a:t>
            </a: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mj-lt"/>
              </a:rPr>
              <a:t>What others can reuse</a:t>
            </a: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The pattern, talking points, or commercial approach that could apply to similar deals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400" b="0" i="0" u="none" strike="noStrike" cap="none" normalizeH="0" baseline="0" dirty="0">
              <a:ln>
                <a:noFill/>
              </a:ln>
              <a:solidFill>
                <a:schemeClr val="tx1"/>
              </a:solidFill>
              <a:effectLst/>
              <a:latin typeface="+mj-lt"/>
            </a:endParaRPr>
          </a:p>
        </p:txBody>
      </p:sp>
      <p:sp>
        <p:nvSpPr>
          <p:cNvPr id="12" name="Rectangle 2">
            <a:extLst>
              <a:ext uri="{FF2B5EF4-FFF2-40B4-BE49-F238E27FC236}">
                <a16:creationId xmlns:a16="http://schemas.microsoft.com/office/drawing/2014/main" id="{D98962D6-C9D0-5089-5C51-FCAC37826D8E}"/>
              </a:ext>
            </a:extLst>
          </p:cNvPr>
          <p:cNvSpPr>
            <a:spLocks noChangeArrowheads="1"/>
          </p:cNvSpPr>
          <p:nvPr/>
        </p:nvSpPr>
        <p:spPr bwMode="auto">
          <a:xfrm>
            <a:off x="6553200" y="2039397"/>
            <a:ext cx="508844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mj-lt"/>
              </a:rPr>
              <a:t>A short deal story</a:t>
            </a: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5–7 minutes on the opportunity, buyer context, and why it moved</a:t>
            </a: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mj-lt"/>
              </a:rPr>
              <a:t>A simple AI vs non-AI comparison</a:t>
            </a: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What changed in the solution or delivery and why it mattered</a:t>
            </a: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mj-lt"/>
              </a:rPr>
              <a:t>Commercial structure</a:t>
            </a: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How the work was packaged and how value was framed</a:t>
            </a: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mj-lt"/>
              </a:rPr>
              <a:t>Repeatability</a:t>
            </a: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Where this pattern could work again across 2+ clients or similar deals</a:t>
            </a:r>
          </a:p>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mj-lt"/>
              </a:rPr>
              <a:t>Next actions</a:t>
            </a: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2–3 target opportunities or follow-ups to pursue next</a:t>
            </a:r>
          </a:p>
        </p:txBody>
      </p:sp>
    </p:spTree>
    <p:extLst>
      <p:ext uri="{BB962C8B-B14F-4D97-AF65-F5344CB8AC3E}">
        <p14:creationId xmlns:p14="http://schemas.microsoft.com/office/powerpoint/2010/main" val="3885231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873B7-3A73-246C-1288-4CB190EDEAFF}"/>
              </a:ext>
            </a:extLst>
          </p:cNvPr>
          <p:cNvSpPr>
            <a:spLocks noGrp="1"/>
          </p:cNvSpPr>
          <p:nvPr>
            <p:ph type="title"/>
          </p:nvPr>
        </p:nvSpPr>
        <p:spPr/>
        <p:txBody>
          <a:bodyPr/>
          <a:lstStyle/>
          <a:p>
            <a:r>
              <a:rPr lang="en-US" dirty="0">
                <a:latin typeface="+mj-lt"/>
              </a:rPr>
              <a:t>How We Operate: Two Phases to Scale Service Offerings</a:t>
            </a:r>
          </a:p>
        </p:txBody>
      </p:sp>
      <p:sp>
        <p:nvSpPr>
          <p:cNvPr id="3" name="Text Placeholder 2">
            <a:extLst>
              <a:ext uri="{FF2B5EF4-FFF2-40B4-BE49-F238E27FC236}">
                <a16:creationId xmlns:a16="http://schemas.microsoft.com/office/drawing/2014/main" id="{87442CB2-8DDB-C76B-76F5-D4A034D1DF68}"/>
              </a:ext>
            </a:extLst>
          </p:cNvPr>
          <p:cNvSpPr>
            <a:spLocks noGrp="1"/>
          </p:cNvSpPr>
          <p:nvPr>
            <p:ph type="body" sz="quarter" idx="10"/>
          </p:nvPr>
        </p:nvSpPr>
        <p:spPr/>
        <p:txBody>
          <a:bodyPr/>
          <a:lstStyle/>
          <a:p>
            <a:r>
              <a:rPr lang="en-US" dirty="0">
                <a:latin typeface="+mj-lt"/>
              </a:rPr>
              <a:t>Build first, then scale—repeat each cycle to grow a pipeline of market-ready offerings</a:t>
            </a:r>
          </a:p>
        </p:txBody>
      </p:sp>
      <p:sp>
        <p:nvSpPr>
          <p:cNvPr id="4" name="Rectangle 3">
            <a:extLst>
              <a:ext uri="{FF2B5EF4-FFF2-40B4-BE49-F238E27FC236}">
                <a16:creationId xmlns:a16="http://schemas.microsoft.com/office/drawing/2014/main" id="{ED9B5E7D-EF08-BD95-EA1E-66AC661CC865}"/>
              </a:ext>
            </a:extLst>
          </p:cNvPr>
          <p:cNvSpPr/>
          <p:nvPr/>
        </p:nvSpPr>
        <p:spPr>
          <a:xfrm>
            <a:off x="6479196" y="1467151"/>
            <a:ext cx="5103201" cy="1193397"/>
          </a:xfrm>
          <a:prstGeom prst="rect">
            <a:avLst/>
          </a:prstGeom>
          <a:ln w="28575">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j-lt"/>
                <a:ea typeface="+mn-ea"/>
                <a:cs typeface="+mn-cs"/>
              </a:rPr>
              <a:t>Showcase what’s ready, activate target accounts, and reuse what works across clients.</a:t>
            </a:r>
            <a:endParaRPr kumimoji="0" lang="en-GB" sz="1600" b="0" i="0" u="none" strike="noStrike" kern="1200" cap="none" spc="0" normalizeH="0" baseline="0" noProof="0" dirty="0">
              <a:ln>
                <a:noFill/>
              </a:ln>
              <a:solidFill>
                <a:srgbClr val="000000"/>
              </a:solidFill>
              <a:effectLst/>
              <a:uLnTx/>
              <a:uFillTx/>
              <a:latin typeface="+mj-lt"/>
              <a:ea typeface="+mn-ea"/>
              <a:cs typeface="+mn-cs"/>
            </a:endParaRPr>
          </a:p>
        </p:txBody>
      </p:sp>
      <p:sp>
        <p:nvSpPr>
          <p:cNvPr id="5" name="TextBox 4">
            <a:extLst>
              <a:ext uri="{FF2B5EF4-FFF2-40B4-BE49-F238E27FC236}">
                <a16:creationId xmlns:a16="http://schemas.microsoft.com/office/drawing/2014/main" id="{259524F2-E3F4-AC09-A656-25E18BF28FBF}"/>
              </a:ext>
            </a:extLst>
          </p:cNvPr>
          <p:cNvSpPr txBox="1"/>
          <p:nvPr/>
        </p:nvSpPr>
        <p:spPr>
          <a:xfrm>
            <a:off x="7708026" y="1311287"/>
            <a:ext cx="2745290" cy="307777"/>
          </a:xfrm>
          <a:prstGeom prst="rect">
            <a:avLst/>
          </a:prstGeom>
          <a:solidFill>
            <a:schemeClr val="bg1"/>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004346"/>
                </a:solidFill>
                <a:effectLst/>
                <a:uLnTx/>
                <a:uFillTx/>
                <a:latin typeface="+mj-lt"/>
                <a:ea typeface="+mn-ea"/>
                <a:cs typeface="+mn-cs"/>
              </a:rPr>
              <a:t>Phase 2: Scale &amp; Enablement</a:t>
            </a:r>
            <a:endParaRPr kumimoji="0" lang="en-GB" sz="1400" b="1" i="1" u="none" strike="noStrike" kern="1200" cap="none" spc="0" normalizeH="0" baseline="0" noProof="0" dirty="0">
              <a:ln>
                <a:noFill/>
              </a:ln>
              <a:solidFill>
                <a:srgbClr val="004346"/>
              </a:solidFill>
              <a:effectLst/>
              <a:uLnTx/>
              <a:uFillTx/>
              <a:latin typeface="+mj-lt"/>
              <a:ea typeface="+mn-ea"/>
              <a:cs typeface="+mn-cs"/>
            </a:endParaRPr>
          </a:p>
        </p:txBody>
      </p:sp>
      <p:sp>
        <p:nvSpPr>
          <p:cNvPr id="6" name="TextBox 5">
            <a:extLst>
              <a:ext uri="{FF2B5EF4-FFF2-40B4-BE49-F238E27FC236}">
                <a16:creationId xmlns:a16="http://schemas.microsoft.com/office/drawing/2014/main" id="{A85FD403-4427-142F-0F2B-923115BEFF7B}"/>
              </a:ext>
            </a:extLst>
          </p:cNvPr>
          <p:cNvSpPr txBox="1"/>
          <p:nvPr/>
        </p:nvSpPr>
        <p:spPr>
          <a:xfrm>
            <a:off x="953396" y="2903491"/>
            <a:ext cx="5142604" cy="331763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0" normalizeH="0" baseline="0" noProof="0" dirty="0">
                <a:ln>
                  <a:noFill/>
                </a:ln>
                <a:solidFill>
                  <a:srgbClr val="004B6C"/>
                </a:solidFill>
                <a:effectLst/>
                <a:uLnTx/>
                <a:uFillTx/>
                <a:latin typeface="+mj-lt"/>
                <a:ea typeface="+mn-ea"/>
                <a:cs typeface="+mn-cs"/>
              </a:rPr>
              <a:t> </a:t>
            </a:r>
          </a:p>
          <a:p>
            <a:pPr marL="0" marR="0" lvl="0" indent="0" algn="l" defTabSz="914400" rtl="0" eaLnBrk="1" fontAlgn="auto" latinLnBrk="0" hangingPunct="1">
              <a:lnSpc>
                <a:spcPct val="120000"/>
              </a:lnSpc>
              <a:spcBef>
                <a:spcPts val="600"/>
              </a:spcBef>
              <a:spcAft>
                <a:spcPts val="60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mj-lt"/>
                <a:ea typeface="+mn-ea"/>
                <a:cs typeface="+mn-cs"/>
              </a:rPr>
              <a:t>Prioritize 1–2 use cases with domain leadership (industry-relevant, repeatable)</a:t>
            </a:r>
          </a:p>
          <a:p>
            <a:pPr lvl="0">
              <a:lnSpc>
                <a:spcPct val="120000"/>
              </a:lnSpc>
              <a:spcBef>
                <a:spcPts val="600"/>
              </a:spcBef>
              <a:spcAft>
                <a:spcPts val="600"/>
              </a:spcAft>
              <a:defRPr/>
            </a:pPr>
            <a:r>
              <a:rPr lang="en-US" sz="1400" dirty="0">
                <a:latin typeface="+mj-lt"/>
              </a:rPr>
              <a:t>Confirm </a:t>
            </a:r>
            <a:r>
              <a:rPr lang="en-US" sz="1400" b="1" dirty="0">
                <a:latin typeface="+mj-lt"/>
              </a:rPr>
              <a:t>buyer + where it fits + value hypothesis</a:t>
            </a:r>
            <a:endParaRPr kumimoji="0" lang="en-GB" sz="1400" b="0" i="0" u="none" strike="noStrike" kern="1200" cap="none" spc="0" normalizeH="0" baseline="0" noProof="0" dirty="0">
              <a:ln>
                <a:noFill/>
              </a:ln>
              <a:solidFill>
                <a:srgbClr val="000000"/>
              </a:solidFill>
              <a:effectLst/>
              <a:uLnTx/>
              <a:uFillTx/>
              <a:latin typeface="+mj-lt"/>
              <a:ea typeface="+mn-ea"/>
              <a:cs typeface="+mn-cs"/>
            </a:endParaRPr>
          </a:p>
          <a:p>
            <a:pPr lvl="0">
              <a:lnSpc>
                <a:spcPct val="120000"/>
              </a:lnSpc>
              <a:spcBef>
                <a:spcPts val="600"/>
              </a:spcBef>
              <a:spcAft>
                <a:spcPts val="600"/>
              </a:spcAft>
              <a:defRPr/>
            </a:pPr>
            <a:r>
              <a:rPr lang="en-US" sz="1400" dirty="0">
                <a:latin typeface="+mj-lt"/>
              </a:rPr>
              <a:t>Partner with AI build support to create </a:t>
            </a:r>
            <a:r>
              <a:rPr lang="en-US" sz="1400" b="1" dirty="0">
                <a:latin typeface="+mj-lt"/>
              </a:rPr>
              <a:t>MVP/demo/asset</a:t>
            </a:r>
            <a:r>
              <a:rPr lang="en-US" sz="1400" dirty="0">
                <a:latin typeface="+mj-lt"/>
              </a:rPr>
              <a:t> (lightweight)</a:t>
            </a:r>
            <a:endParaRPr kumimoji="0" lang="en-GB" sz="1400" b="0" i="0" u="none" strike="noStrike" kern="1200" cap="none" spc="0" normalizeH="0" baseline="0" noProof="0" dirty="0">
              <a:ln>
                <a:noFill/>
              </a:ln>
              <a:solidFill>
                <a:srgbClr val="000000"/>
              </a:solidFill>
              <a:effectLst/>
              <a:uLnTx/>
              <a:uFillTx/>
              <a:latin typeface="+mj-lt"/>
              <a:ea typeface="+mn-ea"/>
              <a:cs typeface="+mn-cs"/>
            </a:endParaRPr>
          </a:p>
          <a:p>
            <a:pPr lvl="0">
              <a:lnSpc>
                <a:spcPct val="120000"/>
              </a:lnSpc>
              <a:spcBef>
                <a:spcPts val="600"/>
              </a:spcBef>
              <a:spcAft>
                <a:spcPts val="600"/>
              </a:spcAft>
              <a:defRPr/>
            </a:pPr>
            <a:r>
              <a:rPr lang="en-US" sz="1400" dirty="0">
                <a:latin typeface="+mj-lt"/>
              </a:rPr>
              <a:t>Draft the talk track: </a:t>
            </a:r>
            <a:r>
              <a:rPr lang="en-US" sz="1400" b="1" dirty="0">
                <a:latin typeface="+mj-lt"/>
              </a:rPr>
              <a:t>AI vs non-AI</a:t>
            </a:r>
            <a:r>
              <a:rPr lang="en-US" sz="1400" dirty="0">
                <a:latin typeface="+mj-lt"/>
              </a:rPr>
              <a:t>, benefits, common objections</a:t>
            </a:r>
            <a:endParaRPr kumimoji="0" lang="en-GB" sz="1400" b="0" i="0" u="none" strike="noStrike" kern="1200" cap="none" spc="0" normalizeH="0" baseline="0" noProof="0" dirty="0">
              <a:ln>
                <a:noFill/>
              </a:ln>
              <a:solidFill>
                <a:srgbClr val="000000"/>
              </a:solidFill>
              <a:effectLst/>
              <a:uLnTx/>
              <a:uFillTx/>
              <a:latin typeface="+mj-lt"/>
              <a:ea typeface="+mn-ea"/>
              <a:cs typeface="+mn-cs"/>
            </a:endParaRPr>
          </a:p>
          <a:p>
            <a:pPr lvl="0">
              <a:lnSpc>
                <a:spcPct val="120000"/>
              </a:lnSpc>
              <a:spcBef>
                <a:spcPts val="600"/>
              </a:spcBef>
              <a:spcAft>
                <a:spcPts val="600"/>
              </a:spcAft>
              <a:defRPr/>
            </a:pPr>
            <a:r>
              <a:rPr lang="en-US" sz="1400" dirty="0">
                <a:latin typeface="+mj-lt"/>
              </a:rPr>
              <a:t>Confirm </a:t>
            </a:r>
            <a:r>
              <a:rPr lang="en-US" sz="1400" b="1" dirty="0">
                <a:latin typeface="+mj-lt"/>
              </a:rPr>
              <a:t>inputs + guardrails</a:t>
            </a:r>
            <a:r>
              <a:rPr lang="en-US" sz="1400" dirty="0">
                <a:latin typeface="+mj-lt"/>
              </a:rPr>
              <a:t> (data, SMEs, controls) to move fast</a:t>
            </a:r>
            <a:r>
              <a:rPr kumimoji="0" lang="en-GB" sz="1400" b="0" i="0" u="none" strike="noStrike" kern="1200" cap="none" spc="0" normalizeH="0" baseline="0" noProof="0" dirty="0">
                <a:ln>
                  <a:noFill/>
                </a:ln>
                <a:solidFill>
                  <a:srgbClr val="000000"/>
                </a:solidFill>
                <a:effectLst/>
                <a:uLnTx/>
                <a:uFillTx/>
                <a:latin typeface="+mj-lt"/>
                <a:ea typeface="+mn-ea"/>
                <a:cs typeface="+mn-cs"/>
              </a:rPr>
              <a:t> </a:t>
            </a:r>
          </a:p>
        </p:txBody>
      </p:sp>
      <p:sp>
        <p:nvSpPr>
          <p:cNvPr id="7" name="TextBox 6">
            <a:extLst>
              <a:ext uri="{FF2B5EF4-FFF2-40B4-BE49-F238E27FC236}">
                <a16:creationId xmlns:a16="http://schemas.microsoft.com/office/drawing/2014/main" id="{C78CCDD4-A7C3-515B-DE96-23EE7FB7D3FC}"/>
              </a:ext>
            </a:extLst>
          </p:cNvPr>
          <p:cNvSpPr txBox="1"/>
          <p:nvPr/>
        </p:nvSpPr>
        <p:spPr>
          <a:xfrm>
            <a:off x="7784307" y="2903491"/>
            <a:ext cx="2592729"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4346"/>
                </a:solidFill>
                <a:effectLst/>
                <a:uLnTx/>
                <a:uFillTx/>
                <a:latin typeface="+mj-lt"/>
                <a:ea typeface="+mn-ea"/>
                <a:cs typeface="+mn-cs"/>
              </a:rPr>
              <a:t>Phase 2 — Key Outcomes</a:t>
            </a:r>
          </a:p>
        </p:txBody>
      </p:sp>
      <p:sp>
        <p:nvSpPr>
          <p:cNvPr id="8" name="Rectangle 7">
            <a:extLst>
              <a:ext uri="{FF2B5EF4-FFF2-40B4-BE49-F238E27FC236}">
                <a16:creationId xmlns:a16="http://schemas.microsoft.com/office/drawing/2014/main" id="{F4040F5C-C2ED-09B9-8814-EE45DF0DB73A}"/>
              </a:ext>
            </a:extLst>
          </p:cNvPr>
          <p:cNvSpPr/>
          <p:nvPr/>
        </p:nvSpPr>
        <p:spPr>
          <a:xfrm>
            <a:off x="609341" y="1467151"/>
            <a:ext cx="5103201" cy="1193397"/>
          </a:xfrm>
          <a:prstGeom prst="rect">
            <a:avLst/>
          </a:prstGeom>
          <a:ln w="28575">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j-lt"/>
                <a:ea typeface="+mn-ea"/>
                <a:cs typeface="+mn-cs"/>
              </a:rPr>
              <a:t>Select 1–2 priority use cases and build demo-ready assets with clear client positioning</a:t>
            </a:r>
          </a:p>
        </p:txBody>
      </p:sp>
      <p:sp>
        <p:nvSpPr>
          <p:cNvPr id="9" name="TextBox 8">
            <a:extLst>
              <a:ext uri="{FF2B5EF4-FFF2-40B4-BE49-F238E27FC236}">
                <a16:creationId xmlns:a16="http://schemas.microsoft.com/office/drawing/2014/main" id="{136AE55C-2ACD-2DC6-356D-F57146516E14}"/>
              </a:ext>
            </a:extLst>
          </p:cNvPr>
          <p:cNvSpPr txBox="1"/>
          <p:nvPr/>
        </p:nvSpPr>
        <p:spPr>
          <a:xfrm>
            <a:off x="1562100" y="1357452"/>
            <a:ext cx="3114675" cy="215444"/>
          </a:xfrm>
          <a:prstGeom prst="rect">
            <a:avLst/>
          </a:prstGeom>
          <a:solidFill>
            <a:schemeClr val="bg1"/>
          </a:solid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005F65"/>
                </a:solidFill>
                <a:effectLst/>
                <a:uLnTx/>
                <a:uFillTx/>
                <a:latin typeface="+mj-lt"/>
                <a:ea typeface="+mn-ea"/>
                <a:cs typeface="+mn-cs"/>
              </a:rPr>
              <a:t>Phase 1: Alignment &amp; Development</a:t>
            </a:r>
            <a:endParaRPr kumimoji="0" lang="en-GB" sz="1400" b="1" i="1" u="none" strike="noStrike" kern="1200" cap="none" spc="0" normalizeH="0" baseline="0" noProof="0" dirty="0">
              <a:ln>
                <a:noFill/>
              </a:ln>
              <a:solidFill>
                <a:srgbClr val="005F65"/>
              </a:solidFill>
              <a:effectLst/>
              <a:uLnTx/>
              <a:uFillTx/>
              <a:latin typeface="+mj-lt"/>
              <a:ea typeface="+mn-ea"/>
              <a:cs typeface="+mn-cs"/>
            </a:endParaRPr>
          </a:p>
        </p:txBody>
      </p:sp>
      <p:sp>
        <p:nvSpPr>
          <p:cNvPr id="10" name="Arrow: Right 9">
            <a:extLst>
              <a:ext uri="{FF2B5EF4-FFF2-40B4-BE49-F238E27FC236}">
                <a16:creationId xmlns:a16="http://schemas.microsoft.com/office/drawing/2014/main" id="{83D83C1F-2970-8DD9-7042-3A212AC57A1C}"/>
              </a:ext>
            </a:extLst>
          </p:cNvPr>
          <p:cNvSpPr/>
          <p:nvPr/>
        </p:nvSpPr>
        <p:spPr>
          <a:xfrm>
            <a:off x="5830295" y="1881531"/>
            <a:ext cx="550812" cy="364635"/>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pic>
        <p:nvPicPr>
          <p:cNvPr id="11" name="Graphic 10" descr="Handshake">
            <a:extLst>
              <a:ext uri="{FF2B5EF4-FFF2-40B4-BE49-F238E27FC236}">
                <a16:creationId xmlns:a16="http://schemas.microsoft.com/office/drawing/2014/main" id="{344438DF-704D-359F-34BB-92B47412C6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1037" y="3203128"/>
            <a:ext cx="584750" cy="584750"/>
          </a:xfrm>
          <a:prstGeom prst="rect">
            <a:avLst/>
          </a:prstGeom>
        </p:spPr>
      </p:pic>
      <p:pic>
        <p:nvPicPr>
          <p:cNvPr id="12" name="Graphic 11" descr="Clipboard">
            <a:extLst>
              <a:ext uri="{FF2B5EF4-FFF2-40B4-BE49-F238E27FC236}">
                <a16:creationId xmlns:a16="http://schemas.microsoft.com/office/drawing/2014/main" id="{05633B3E-5572-56B6-97B5-CF7EF6805A8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2877" y="3877746"/>
            <a:ext cx="481071" cy="481071"/>
          </a:xfrm>
          <a:prstGeom prst="rect">
            <a:avLst/>
          </a:prstGeom>
        </p:spPr>
      </p:pic>
      <p:pic>
        <p:nvPicPr>
          <p:cNvPr id="13" name="Graphic 12" descr="Warning">
            <a:extLst>
              <a:ext uri="{FF2B5EF4-FFF2-40B4-BE49-F238E27FC236}">
                <a16:creationId xmlns:a16="http://schemas.microsoft.com/office/drawing/2014/main" id="{E7B6B50B-326E-06CE-35CF-98CE1DD0396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634" y="4995618"/>
            <a:ext cx="473221" cy="473221"/>
          </a:xfrm>
          <a:prstGeom prst="rect">
            <a:avLst/>
          </a:prstGeom>
        </p:spPr>
      </p:pic>
      <p:pic>
        <p:nvPicPr>
          <p:cNvPr id="14" name="Graphic 13" descr="Board Of Directors">
            <a:extLst>
              <a:ext uri="{FF2B5EF4-FFF2-40B4-BE49-F238E27FC236}">
                <a16:creationId xmlns:a16="http://schemas.microsoft.com/office/drawing/2014/main" id="{7A24E60B-924F-CFD4-8639-3AF59A281DA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8474" y="5558707"/>
            <a:ext cx="548606" cy="548606"/>
          </a:xfrm>
          <a:prstGeom prst="rect">
            <a:avLst/>
          </a:prstGeom>
        </p:spPr>
      </p:pic>
      <p:pic>
        <p:nvPicPr>
          <p:cNvPr id="15" name="Graphic 14" descr="Transfer">
            <a:extLst>
              <a:ext uri="{FF2B5EF4-FFF2-40B4-BE49-F238E27FC236}">
                <a16:creationId xmlns:a16="http://schemas.microsoft.com/office/drawing/2014/main" id="{38D58DEA-ED97-339A-CF52-FA54AEFBA9B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24880" y="4448685"/>
            <a:ext cx="457065" cy="457065"/>
          </a:xfrm>
          <a:prstGeom prst="rect">
            <a:avLst/>
          </a:prstGeom>
        </p:spPr>
      </p:pic>
      <p:sp>
        <p:nvSpPr>
          <p:cNvPr id="17" name="Rectangle 1">
            <a:extLst>
              <a:ext uri="{FF2B5EF4-FFF2-40B4-BE49-F238E27FC236}">
                <a16:creationId xmlns:a16="http://schemas.microsoft.com/office/drawing/2014/main" id="{75EA5F1B-B0CD-9BF4-29DA-A2ECE6E23859}"/>
              </a:ext>
            </a:extLst>
          </p:cNvPr>
          <p:cNvSpPr>
            <a:spLocks noChangeArrowheads="1"/>
          </p:cNvSpPr>
          <p:nvPr/>
        </p:nvSpPr>
        <p:spPr bwMode="auto">
          <a:xfrm>
            <a:off x="6479196" y="3290494"/>
            <a:ext cx="5103201" cy="27505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10000"/>
              </a:lnSpc>
              <a:spcBef>
                <a:spcPts val="6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Offering is </a:t>
            </a:r>
            <a:r>
              <a:rPr kumimoji="0" lang="en-US" altLang="en-US" sz="1400" b="1" i="0" u="none" strike="noStrike" cap="none" normalizeH="0" baseline="0" dirty="0">
                <a:ln>
                  <a:noFill/>
                </a:ln>
                <a:solidFill>
                  <a:schemeClr val="tx1"/>
                </a:solidFill>
                <a:effectLst/>
                <a:latin typeface="+mj-lt"/>
              </a:rPr>
              <a:t>demo-ready</a:t>
            </a:r>
            <a:r>
              <a:rPr kumimoji="0" lang="en-US" altLang="en-US" sz="1400" b="0" i="0" u="none" strike="noStrike" cap="none" normalizeH="0" baseline="0" dirty="0">
                <a:ln>
                  <a:noFill/>
                </a:ln>
                <a:solidFill>
                  <a:schemeClr val="tx1"/>
                </a:solidFill>
                <a:effectLst/>
                <a:latin typeface="+mj-lt"/>
              </a:rPr>
              <a:t> and easy to explain in non-technical language</a:t>
            </a:r>
          </a:p>
          <a:p>
            <a:pPr marL="285750" marR="0" lvl="0" indent="-285750" algn="l" defTabSz="914400" rtl="0" eaLnBrk="0" fontAlgn="base" latinLnBrk="0" hangingPunct="0">
              <a:lnSpc>
                <a:spcPct val="110000"/>
              </a:lnSpc>
              <a:spcBef>
                <a:spcPts val="6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Clear </a:t>
            </a:r>
            <a:r>
              <a:rPr kumimoji="0" lang="en-US" altLang="en-US" sz="1400" b="1" i="0" u="none" strike="noStrike" cap="none" normalizeH="0" baseline="0" dirty="0">
                <a:ln>
                  <a:noFill/>
                </a:ln>
                <a:solidFill>
                  <a:schemeClr val="tx1"/>
                </a:solidFill>
                <a:effectLst/>
                <a:latin typeface="+mj-lt"/>
              </a:rPr>
              <a:t>best-fit buyers</a:t>
            </a:r>
            <a:r>
              <a:rPr kumimoji="0" lang="en-US" altLang="en-US" sz="1400" b="0" i="0" u="none" strike="noStrike" cap="none" normalizeH="0" baseline="0" dirty="0">
                <a:ln>
                  <a:noFill/>
                </a:ln>
                <a:solidFill>
                  <a:schemeClr val="tx1"/>
                </a:solidFill>
                <a:effectLst/>
                <a:latin typeface="+mj-lt"/>
              </a:rPr>
              <a:t> and </a:t>
            </a:r>
            <a:r>
              <a:rPr kumimoji="0" lang="en-US" altLang="en-US" sz="1400" b="1" i="0" u="none" strike="noStrike" cap="none" normalizeH="0" baseline="0" dirty="0">
                <a:ln>
                  <a:noFill/>
                </a:ln>
                <a:solidFill>
                  <a:schemeClr val="tx1"/>
                </a:solidFill>
                <a:effectLst/>
                <a:latin typeface="+mj-lt"/>
              </a:rPr>
              <a:t>2–3 target accounts/pursuits</a:t>
            </a:r>
            <a:r>
              <a:rPr kumimoji="0" lang="en-US" altLang="en-US" sz="1400" b="0" i="0" u="none" strike="noStrike" cap="none" normalizeH="0" baseline="0" dirty="0">
                <a:ln>
                  <a:noFill/>
                </a:ln>
                <a:solidFill>
                  <a:schemeClr val="tx1"/>
                </a:solidFill>
                <a:effectLst/>
                <a:latin typeface="+mj-lt"/>
              </a:rPr>
              <a:t> to activate</a:t>
            </a:r>
          </a:p>
          <a:p>
            <a:pPr marL="285750" marR="0" lvl="0" indent="-285750" algn="l" defTabSz="914400" rtl="0" eaLnBrk="0" fontAlgn="base" latinLnBrk="0" hangingPunct="0">
              <a:lnSpc>
                <a:spcPct val="110000"/>
              </a:lnSpc>
              <a:spcBef>
                <a:spcPts val="6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Reusable assets (demo/video/talk track) support </a:t>
            </a:r>
            <a:r>
              <a:rPr kumimoji="0" lang="en-US" altLang="en-US" sz="1400" b="1" i="0" u="none" strike="noStrike" cap="none" normalizeH="0" baseline="0" dirty="0">
                <a:ln>
                  <a:noFill/>
                </a:ln>
                <a:solidFill>
                  <a:schemeClr val="tx1"/>
                </a:solidFill>
                <a:effectLst/>
                <a:latin typeface="+mj-lt"/>
              </a:rPr>
              <a:t>cross-sell</a:t>
            </a:r>
            <a:r>
              <a:rPr kumimoji="0" lang="en-US" altLang="en-US" sz="1400" b="0" i="0" u="none" strike="noStrike" cap="none" normalizeH="0" baseline="0" dirty="0">
                <a:ln>
                  <a:noFill/>
                </a:ln>
                <a:solidFill>
                  <a:schemeClr val="tx1"/>
                </a:solidFill>
                <a:effectLst/>
                <a:latin typeface="+mj-lt"/>
              </a:rPr>
              <a:t> across domains</a:t>
            </a:r>
          </a:p>
          <a:p>
            <a:pPr marL="285750" marR="0" lvl="0" indent="-285750" algn="l" defTabSz="914400" rtl="0" eaLnBrk="0" fontAlgn="base" latinLnBrk="0" hangingPunct="0">
              <a:lnSpc>
                <a:spcPct val="110000"/>
              </a:lnSpc>
              <a:spcBef>
                <a:spcPts val="6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Follow-ups convert showcase interest into </a:t>
            </a:r>
            <a:r>
              <a:rPr kumimoji="0" lang="en-US" altLang="en-US" sz="1400" b="1" i="0" u="none" strike="noStrike" cap="none" normalizeH="0" baseline="0" dirty="0">
                <a:ln>
                  <a:noFill/>
                </a:ln>
                <a:solidFill>
                  <a:schemeClr val="tx1"/>
                </a:solidFill>
                <a:effectLst/>
                <a:latin typeface="+mj-lt"/>
              </a:rPr>
              <a:t>meetings, pursuits, proposals</a:t>
            </a:r>
            <a:endParaRPr kumimoji="0" lang="en-US" altLang="en-US" sz="14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10000"/>
              </a:lnSpc>
              <a:spcBef>
                <a:spcPts val="60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rPr>
              <a:t>Learnings captured to iterate and scale the next cycle</a:t>
            </a:r>
          </a:p>
        </p:txBody>
      </p:sp>
      <p:sp>
        <p:nvSpPr>
          <p:cNvPr id="18" name="TextBox 17">
            <a:extLst>
              <a:ext uri="{FF2B5EF4-FFF2-40B4-BE49-F238E27FC236}">
                <a16:creationId xmlns:a16="http://schemas.microsoft.com/office/drawing/2014/main" id="{46E28A84-4E2B-C0D0-285F-C028FE829289}"/>
              </a:ext>
            </a:extLst>
          </p:cNvPr>
          <p:cNvSpPr txBox="1"/>
          <p:nvPr/>
        </p:nvSpPr>
        <p:spPr>
          <a:xfrm>
            <a:off x="1864576" y="2903491"/>
            <a:ext cx="2592729"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5F65"/>
                </a:solidFill>
                <a:effectLst/>
                <a:uLnTx/>
                <a:uFillTx/>
                <a:latin typeface="+mj-lt"/>
                <a:ea typeface="+mn-ea"/>
                <a:cs typeface="+mn-cs"/>
              </a:rPr>
              <a:t>Phase 1 — Key Activities</a:t>
            </a:r>
          </a:p>
        </p:txBody>
      </p:sp>
      <p:sp>
        <p:nvSpPr>
          <p:cNvPr id="16" name="Rectangle 15">
            <a:extLst>
              <a:ext uri="{FF2B5EF4-FFF2-40B4-BE49-F238E27FC236}">
                <a16:creationId xmlns:a16="http://schemas.microsoft.com/office/drawing/2014/main" id="{4909DCA0-7B59-F669-4B70-AB4625A57560}"/>
              </a:ext>
            </a:extLst>
          </p:cNvPr>
          <p:cNvSpPr/>
          <p:nvPr/>
        </p:nvSpPr>
        <p:spPr>
          <a:xfrm>
            <a:off x="-1222310" y="-1"/>
            <a:ext cx="1483347" cy="5337111"/>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Ensure that excitement is generated toward AI Champion responsibilities </a:t>
            </a:r>
          </a:p>
          <a:p>
            <a:pPr algn="ctr"/>
            <a:endParaRPr lang="en-US" sz="1200" dirty="0"/>
          </a:p>
          <a:p>
            <a:pPr algn="ctr"/>
            <a:r>
              <a:rPr lang="en-US" sz="1200" dirty="0"/>
              <a:t>Timebox – when do we want to get this going? Dates? Phases?</a:t>
            </a:r>
          </a:p>
          <a:p>
            <a:pPr algn="ctr"/>
            <a:endParaRPr lang="en-US" sz="1200" dirty="0"/>
          </a:p>
          <a:p>
            <a:pPr algn="ctr"/>
            <a:r>
              <a:rPr lang="en-US" sz="1200" dirty="0"/>
              <a:t>Where do they fit into the roadmap? What are our goals? Simplicity and clarity are most important</a:t>
            </a:r>
          </a:p>
          <a:p>
            <a:pPr algn="ctr"/>
            <a:endParaRPr lang="en-US" sz="1200" dirty="0"/>
          </a:p>
          <a:p>
            <a:pPr algn="ctr"/>
            <a:endParaRPr lang="en-US" sz="1200" dirty="0"/>
          </a:p>
          <a:p>
            <a:pPr algn="ctr"/>
            <a:r>
              <a:rPr lang="en-US" sz="1200" dirty="0"/>
              <a:t>Overview, responsibility, roadmaps as three slides, slide that’s missing are immediate activities – Champions identified by Tuesday of next week, first AI champion meeting by x date, use cases use blank date, by march 20 first AI capabilities showcase, cadence slide (add in slide one two or three) fourth item/slide would be connecting dream team cadence</a:t>
            </a:r>
          </a:p>
          <a:p>
            <a:pPr algn="ctr"/>
            <a:endParaRPr lang="en-US" sz="1200" dirty="0"/>
          </a:p>
          <a:p>
            <a:pPr algn="ctr"/>
            <a:r>
              <a:rPr lang="en-US" sz="1200" dirty="0"/>
              <a:t>Template as homework – refer to slide x for template to help with idea generation</a:t>
            </a:r>
          </a:p>
        </p:txBody>
      </p:sp>
    </p:spTree>
    <p:extLst>
      <p:ext uri="{BB962C8B-B14F-4D97-AF65-F5344CB8AC3E}">
        <p14:creationId xmlns:p14="http://schemas.microsoft.com/office/powerpoint/2010/main" val="607012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5394B-D45E-1E29-F803-3420A1219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02F52-EF39-0407-4916-1D2D2506AC9B}"/>
              </a:ext>
            </a:extLst>
          </p:cNvPr>
          <p:cNvSpPr>
            <a:spLocks noGrp="1"/>
          </p:cNvSpPr>
          <p:nvPr>
            <p:ph type="title"/>
          </p:nvPr>
        </p:nvSpPr>
        <p:spPr/>
        <p:txBody>
          <a:bodyPr/>
          <a:lstStyle/>
          <a:p>
            <a:r>
              <a:rPr lang="en-US" dirty="0"/>
              <a:t>Cadence: How we keep service offerings moving</a:t>
            </a:r>
            <a:endParaRPr lang="en-US" b="1" dirty="0">
              <a:latin typeface="+mj-lt"/>
            </a:endParaRPr>
          </a:p>
        </p:txBody>
      </p:sp>
      <p:sp>
        <p:nvSpPr>
          <p:cNvPr id="3" name="Text Placeholder 2">
            <a:extLst>
              <a:ext uri="{FF2B5EF4-FFF2-40B4-BE49-F238E27FC236}">
                <a16:creationId xmlns:a16="http://schemas.microsoft.com/office/drawing/2014/main" id="{B7E14C2B-62A7-F2B0-E935-67302D1FD137}"/>
              </a:ext>
            </a:extLst>
          </p:cNvPr>
          <p:cNvSpPr>
            <a:spLocks noGrp="1"/>
          </p:cNvSpPr>
          <p:nvPr>
            <p:ph type="body" sz="quarter" idx="10"/>
          </p:nvPr>
        </p:nvSpPr>
        <p:spPr>
          <a:xfrm>
            <a:off x="542647" y="814367"/>
            <a:ext cx="11098999" cy="276999"/>
          </a:xfrm>
        </p:spPr>
        <p:txBody>
          <a:bodyPr/>
          <a:lstStyle/>
          <a:p>
            <a:r>
              <a:rPr lang="en-US" dirty="0">
                <a:latin typeface="+mj-lt"/>
              </a:rPr>
              <a:t>Purpose: scale US AI revenue and embed AI into how we deliver, operate, and compete</a:t>
            </a:r>
          </a:p>
        </p:txBody>
      </p:sp>
      <p:sp>
        <p:nvSpPr>
          <p:cNvPr id="7" name="Rectangle 6">
            <a:extLst>
              <a:ext uri="{FF2B5EF4-FFF2-40B4-BE49-F238E27FC236}">
                <a16:creationId xmlns:a16="http://schemas.microsoft.com/office/drawing/2014/main" id="{4641A9D6-3FCC-9063-34A7-7B0EBF9B7B2E}"/>
              </a:ext>
            </a:extLst>
          </p:cNvPr>
          <p:cNvSpPr/>
          <p:nvPr/>
        </p:nvSpPr>
        <p:spPr>
          <a:xfrm>
            <a:off x="5668102" y="4811133"/>
            <a:ext cx="2763836" cy="1503942"/>
          </a:xfrm>
          <a:prstGeom prst="rect">
            <a:avLst/>
          </a:prstGeom>
        </p:spPr>
        <p:txBody>
          <a:bodyPr wrap="square" numCol="2" spcCol="274320">
            <a:noAutofit/>
          </a:bodyPr>
          <a:lstStyle/>
          <a:p>
            <a:pPr marL="171450" indent="-171450">
              <a:spcBef>
                <a:spcPts val="900"/>
              </a:spcBef>
              <a:spcAft>
                <a:spcPts val="300"/>
              </a:spcAft>
              <a:buClr>
                <a:schemeClr val="tx1"/>
              </a:buClr>
              <a:buFont typeface="Wingdings" charset="2"/>
              <a:buChar char="§"/>
            </a:pPr>
            <a:endParaRPr lang="en-US" sz="1200" b="1" dirty="0">
              <a:solidFill>
                <a:schemeClr val="tx2"/>
              </a:solidFill>
              <a:latin typeface="+mj-lt"/>
              <a:ea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A783DA5E-03D0-F3EB-0963-921351B0D17C}"/>
              </a:ext>
            </a:extLst>
          </p:cNvPr>
          <p:cNvSpPr/>
          <p:nvPr/>
        </p:nvSpPr>
        <p:spPr>
          <a:xfrm flipH="1">
            <a:off x="6864193" y="1193272"/>
            <a:ext cx="4273208" cy="400110"/>
          </a:xfrm>
          <a:prstGeom prst="rect">
            <a:avLst/>
          </a:prstGeom>
          <a:solidFill>
            <a:schemeClr val="bg1"/>
          </a:solidFill>
          <a:ln w="12700">
            <a:solidFill>
              <a:schemeClr val="tx1"/>
            </a:solidFill>
          </a:ln>
        </p:spPr>
        <p:txBody>
          <a:bodyPr wrap="square">
            <a:spAutoFit/>
          </a:bodyPr>
          <a:lstStyle/>
          <a:p>
            <a:pPr lvl="0" algn="ctr"/>
            <a:r>
              <a:rPr lang="en-US" sz="2000" b="1" dirty="0">
                <a:latin typeface="+mj-lt"/>
                <a:ea typeface="Calibri" panose="020F0502020204030204" pitchFamily="34" charset="0"/>
                <a:cs typeface="Calibri" panose="020F0502020204030204" pitchFamily="34" charset="0"/>
              </a:rPr>
              <a:t>Why This Role Exists</a:t>
            </a:r>
          </a:p>
        </p:txBody>
      </p:sp>
      <p:sp>
        <p:nvSpPr>
          <p:cNvPr id="20" name="Rectangle 19">
            <a:extLst>
              <a:ext uri="{FF2B5EF4-FFF2-40B4-BE49-F238E27FC236}">
                <a16:creationId xmlns:a16="http://schemas.microsoft.com/office/drawing/2014/main" id="{579F179D-2FA3-EDA0-D30D-23F3509F00DB}"/>
              </a:ext>
            </a:extLst>
          </p:cNvPr>
          <p:cNvSpPr/>
          <p:nvPr/>
        </p:nvSpPr>
        <p:spPr>
          <a:xfrm flipH="1">
            <a:off x="6864193" y="3789846"/>
            <a:ext cx="4273208" cy="400110"/>
          </a:xfrm>
          <a:prstGeom prst="rect">
            <a:avLst/>
          </a:prstGeom>
          <a:solidFill>
            <a:schemeClr val="bg1"/>
          </a:solidFill>
          <a:ln w="12700">
            <a:solidFill>
              <a:schemeClr val="tx1"/>
            </a:solidFill>
          </a:ln>
        </p:spPr>
        <p:txBody>
          <a:bodyPr wrap="square">
            <a:spAutoFit/>
          </a:bodyPr>
          <a:lstStyle/>
          <a:p>
            <a:pPr lvl="0" algn="ctr"/>
            <a:r>
              <a:rPr lang="en-US" sz="2000" b="1" dirty="0">
                <a:latin typeface="+mj-lt"/>
                <a:ea typeface="Calibri" panose="020F0502020204030204" pitchFamily="34" charset="0"/>
                <a:cs typeface="Calibri" panose="020F0502020204030204" pitchFamily="34" charset="0"/>
              </a:rPr>
              <a:t>What Good Looks Like</a:t>
            </a:r>
          </a:p>
        </p:txBody>
      </p:sp>
      <p:sp>
        <p:nvSpPr>
          <p:cNvPr id="44" name="Rectangle 43">
            <a:extLst>
              <a:ext uri="{FF2B5EF4-FFF2-40B4-BE49-F238E27FC236}">
                <a16:creationId xmlns:a16="http://schemas.microsoft.com/office/drawing/2014/main" id="{05096F9F-D619-3FBF-9716-266704B23C1E}"/>
              </a:ext>
            </a:extLst>
          </p:cNvPr>
          <p:cNvSpPr/>
          <p:nvPr/>
        </p:nvSpPr>
        <p:spPr>
          <a:xfrm>
            <a:off x="6372224" y="1689948"/>
            <a:ext cx="5269422" cy="186204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dirty="0">
              <a:solidFill>
                <a:schemeClr val="bg1"/>
              </a:solidFill>
              <a:latin typeface="+mj-lt"/>
              <a:ea typeface="Calibri" panose="020F0502020204030204" pitchFamily="34" charset="0"/>
              <a:cs typeface="Calibri" panose="020F0502020204030204" pitchFamily="34" charset="0"/>
            </a:endParaRPr>
          </a:p>
        </p:txBody>
      </p:sp>
      <p:sp>
        <p:nvSpPr>
          <p:cNvPr id="45" name="Rectangle 5">
            <a:extLst>
              <a:ext uri="{FF2B5EF4-FFF2-40B4-BE49-F238E27FC236}">
                <a16:creationId xmlns:a16="http://schemas.microsoft.com/office/drawing/2014/main" id="{560CA56A-AF7F-F24D-A618-BBA54B4C24EA}"/>
              </a:ext>
            </a:extLst>
          </p:cNvPr>
          <p:cNvSpPr>
            <a:spLocks noChangeArrowheads="1"/>
          </p:cNvSpPr>
          <p:nvPr/>
        </p:nvSpPr>
        <p:spPr bwMode="auto">
          <a:xfrm>
            <a:off x="6372224" y="1834078"/>
            <a:ext cx="5257146"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ts val="600"/>
              </a:spcAft>
              <a:buClrTx/>
              <a:buSzTx/>
              <a:buFont typeface="+mj-lt"/>
              <a:buAutoNum type="arabicPeriod"/>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US ambition: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double AI revenue</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(FY27 target) while making AI part of delivery DNA</a:t>
            </a:r>
          </a:p>
          <a:p>
            <a:pPr marL="342900" marR="0" lvl="0" indent="-342900" algn="l" defTabSz="914400" rtl="0" eaLnBrk="0" fontAlgn="base" latinLnBrk="0" hangingPunct="0">
              <a:lnSpc>
                <a:spcPct val="100000"/>
              </a:lnSpc>
              <a:spcBef>
                <a:spcPct val="0"/>
              </a:spcBef>
              <a:spcAft>
                <a:spcPts val="600"/>
              </a:spcAft>
              <a:buClrTx/>
              <a:buSzTx/>
              <a:buFont typeface="+mj-lt"/>
              <a:buAutoNum type="arabicPeriod"/>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This only works with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practice ownership + AI interlock</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(not “AI team only”)</a:t>
            </a:r>
          </a:p>
          <a:p>
            <a:pPr marL="342900" marR="0" lvl="0" indent="-342900" algn="l" defTabSz="914400" rtl="0" eaLnBrk="0" fontAlgn="base" latinLnBrk="0" hangingPunct="0">
              <a:lnSpc>
                <a:spcPct val="100000"/>
              </a:lnSpc>
              <a:spcBef>
                <a:spcPct val="0"/>
              </a:spcBef>
              <a:spcAft>
                <a:spcPts val="600"/>
              </a:spcAft>
              <a:buClrTx/>
              <a:buSzTx/>
              <a:buFont typeface="+mj-lt"/>
              <a:buAutoNum type="arabicPeriod"/>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Champions ensure we focus on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domain-relevant problems</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and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sellable solutions</a:t>
            </a:r>
            <a:endPar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p:txBody>
      </p:sp>
      <p:sp>
        <p:nvSpPr>
          <p:cNvPr id="46" name="Rectangle 6">
            <a:extLst>
              <a:ext uri="{FF2B5EF4-FFF2-40B4-BE49-F238E27FC236}">
                <a16:creationId xmlns:a16="http://schemas.microsoft.com/office/drawing/2014/main" id="{F0446FA7-53E7-B987-B365-5A961DBAF9F8}"/>
              </a:ext>
            </a:extLst>
          </p:cNvPr>
          <p:cNvSpPr>
            <a:spLocks noChangeArrowheads="1"/>
          </p:cNvSpPr>
          <p:nvPr/>
        </p:nvSpPr>
        <p:spPr bwMode="auto">
          <a:xfrm>
            <a:off x="5680136" y="4383742"/>
            <a:ext cx="594923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A prioritized backlog in your domain (problem-first) </a:t>
            </a:r>
            <a:r>
              <a:rPr kumimoji="0" lang="en-US" altLang="en-US" sz="1400" b="1"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with 2–3 top items ready for action</a:t>
            </a:r>
            <a:endPar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At least one item per cycle moving toward </a:t>
            </a:r>
            <a:r>
              <a:rPr kumimoji="0" lang="en-US" altLang="en-US" sz="1400" b="1"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demo-ready / GTM-ready</a:t>
            </a:r>
            <a:endPar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Your domain can clearly answer:</a:t>
            </a:r>
            <a:b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br>
            <a:r>
              <a:rPr kumimoji="0" lang="en-US" altLang="en-US" sz="1400" b="1"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“What are we selling?”</a:t>
            </a:r>
            <a: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 and </a:t>
            </a:r>
            <a:r>
              <a:rPr kumimoji="0" lang="en-US" altLang="en-US" sz="1400" b="1"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“How does AI change delivery?”</a:t>
            </a:r>
            <a:endPar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You (and others) can confidently explain these to a client in </a:t>
            </a:r>
            <a:r>
              <a:rPr kumimoji="0" lang="en-US" altLang="en-US" sz="1400" b="1"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non-technical language</a:t>
            </a:r>
            <a:endPar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FBB070AC-9407-C4AC-A81B-3FB234C8842A}"/>
              </a:ext>
            </a:extLst>
          </p:cNvPr>
          <p:cNvSpPr/>
          <p:nvPr/>
        </p:nvSpPr>
        <p:spPr>
          <a:xfrm flipH="1">
            <a:off x="1034616" y="1193272"/>
            <a:ext cx="4273208" cy="400110"/>
          </a:xfrm>
          <a:prstGeom prst="rect">
            <a:avLst/>
          </a:prstGeom>
          <a:solidFill>
            <a:schemeClr val="bg1"/>
          </a:solidFill>
          <a:ln w="12700">
            <a:solidFill>
              <a:schemeClr val="tx1"/>
            </a:solidFill>
          </a:ln>
        </p:spPr>
        <p:txBody>
          <a:bodyPr wrap="square">
            <a:spAutoFit/>
          </a:bodyPr>
          <a:lstStyle/>
          <a:p>
            <a:pPr lvl="0" algn="ctr"/>
            <a:r>
              <a:rPr lang="en-US" sz="2000" b="1" dirty="0">
                <a:latin typeface="+mj-lt"/>
                <a:ea typeface="Calibri" panose="020F0502020204030204" pitchFamily="34" charset="0"/>
                <a:cs typeface="Calibri" panose="020F0502020204030204" pitchFamily="34" charset="0"/>
              </a:rPr>
              <a:t>Why This Role Exists</a:t>
            </a:r>
          </a:p>
        </p:txBody>
      </p:sp>
      <p:sp>
        <p:nvSpPr>
          <p:cNvPr id="14" name="Rectangle 13">
            <a:extLst>
              <a:ext uri="{FF2B5EF4-FFF2-40B4-BE49-F238E27FC236}">
                <a16:creationId xmlns:a16="http://schemas.microsoft.com/office/drawing/2014/main" id="{1DD47BA6-E9CF-D1C9-ADA3-F66C78F81B0A}"/>
              </a:ext>
            </a:extLst>
          </p:cNvPr>
          <p:cNvSpPr/>
          <p:nvPr/>
        </p:nvSpPr>
        <p:spPr>
          <a:xfrm>
            <a:off x="542647" y="1689948"/>
            <a:ext cx="5269422" cy="4509676"/>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dirty="0">
              <a:solidFill>
                <a:schemeClr val="bg1"/>
              </a:solidFill>
              <a:latin typeface="+mj-lt"/>
              <a:ea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9F4450F3-B6D2-A36B-C409-9B17208660EB}"/>
              </a:ext>
            </a:extLst>
          </p:cNvPr>
          <p:cNvSpPr/>
          <p:nvPr/>
        </p:nvSpPr>
        <p:spPr>
          <a:xfrm>
            <a:off x="6372224" y="4336117"/>
            <a:ext cx="5269422" cy="186204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dirty="0">
              <a:solidFill>
                <a:schemeClr val="bg1"/>
              </a:solidFill>
              <a:latin typeface="+mj-lt"/>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097029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03D24-F464-0B5D-49A0-36F6FF4AE7AA}"/>
              </a:ext>
            </a:extLst>
          </p:cNvPr>
          <p:cNvSpPr>
            <a:spLocks noGrp="1"/>
          </p:cNvSpPr>
          <p:nvPr>
            <p:ph type="title"/>
          </p:nvPr>
        </p:nvSpPr>
        <p:spPr/>
        <p:txBody>
          <a:bodyPr/>
          <a:lstStyle/>
          <a:p>
            <a:r>
              <a:rPr lang="en-US" dirty="0"/>
              <a:t>From Domain Problems to Market-Ready Offerings</a:t>
            </a:r>
          </a:p>
        </p:txBody>
      </p:sp>
      <p:sp>
        <p:nvSpPr>
          <p:cNvPr id="3" name="Text Placeholder 2">
            <a:extLst>
              <a:ext uri="{FF2B5EF4-FFF2-40B4-BE49-F238E27FC236}">
                <a16:creationId xmlns:a16="http://schemas.microsoft.com/office/drawing/2014/main" id="{D3FBABA4-152C-F3A3-0572-D060162E7690}"/>
              </a:ext>
            </a:extLst>
          </p:cNvPr>
          <p:cNvSpPr>
            <a:spLocks noGrp="1"/>
          </p:cNvSpPr>
          <p:nvPr>
            <p:ph type="body" sz="quarter" idx="10"/>
          </p:nvPr>
        </p:nvSpPr>
        <p:spPr/>
        <p:txBody>
          <a:bodyPr/>
          <a:lstStyle/>
          <a:p>
            <a:r>
              <a:rPr lang="en-US" dirty="0"/>
              <a:t>A simple funnel that moves ideas from identification → demo-ready → GTM activation</a:t>
            </a:r>
          </a:p>
        </p:txBody>
      </p:sp>
      <p:sp>
        <p:nvSpPr>
          <p:cNvPr id="4" name="Freeform 5">
            <a:extLst>
              <a:ext uri="{FF2B5EF4-FFF2-40B4-BE49-F238E27FC236}">
                <a16:creationId xmlns:a16="http://schemas.microsoft.com/office/drawing/2014/main" id="{70F8304D-FB8B-1329-3D11-E7FE6E6FB74C}"/>
              </a:ext>
            </a:extLst>
          </p:cNvPr>
          <p:cNvSpPr>
            <a:spLocks/>
          </p:cNvSpPr>
          <p:nvPr/>
        </p:nvSpPr>
        <p:spPr bwMode="auto">
          <a:xfrm rot="900000">
            <a:off x="6280321" y="1412201"/>
            <a:ext cx="719137" cy="854824"/>
          </a:xfrm>
          <a:custGeom>
            <a:avLst/>
            <a:gdLst>
              <a:gd name="T0" fmla="*/ 841 w 906"/>
              <a:gd name="T1" fmla="*/ 0 h 1340"/>
              <a:gd name="T2" fmla="*/ 906 w 906"/>
              <a:gd name="T3" fmla="*/ 155 h 1340"/>
              <a:gd name="T4" fmla="*/ 831 w 906"/>
              <a:gd name="T5" fmla="*/ 190 h 1340"/>
              <a:gd name="T6" fmla="*/ 760 w 906"/>
              <a:gd name="T7" fmla="*/ 230 h 1340"/>
              <a:gd name="T8" fmla="*/ 692 w 906"/>
              <a:gd name="T9" fmla="*/ 276 h 1340"/>
              <a:gd name="T10" fmla="*/ 629 w 906"/>
              <a:gd name="T11" fmla="*/ 326 h 1340"/>
              <a:gd name="T12" fmla="*/ 571 w 906"/>
              <a:gd name="T13" fmla="*/ 380 h 1340"/>
              <a:gd name="T14" fmla="*/ 517 w 906"/>
              <a:gd name="T15" fmla="*/ 440 h 1340"/>
              <a:gd name="T16" fmla="*/ 467 w 906"/>
              <a:gd name="T17" fmla="*/ 503 h 1340"/>
              <a:gd name="T18" fmla="*/ 423 w 906"/>
              <a:gd name="T19" fmla="*/ 568 h 1340"/>
              <a:gd name="T20" fmla="*/ 385 w 906"/>
              <a:gd name="T21" fmla="*/ 637 h 1340"/>
              <a:gd name="T22" fmla="*/ 352 w 906"/>
              <a:gd name="T23" fmla="*/ 710 h 1340"/>
              <a:gd name="T24" fmla="*/ 325 w 906"/>
              <a:gd name="T25" fmla="*/ 785 h 1340"/>
              <a:gd name="T26" fmla="*/ 302 w 906"/>
              <a:gd name="T27" fmla="*/ 862 h 1340"/>
              <a:gd name="T28" fmla="*/ 287 w 906"/>
              <a:gd name="T29" fmla="*/ 941 h 1340"/>
              <a:gd name="T30" fmla="*/ 277 w 906"/>
              <a:gd name="T31" fmla="*/ 1021 h 1340"/>
              <a:gd name="T32" fmla="*/ 273 w 906"/>
              <a:gd name="T33" fmla="*/ 1102 h 1340"/>
              <a:gd name="T34" fmla="*/ 277 w 906"/>
              <a:gd name="T35" fmla="*/ 1184 h 1340"/>
              <a:gd name="T36" fmla="*/ 387 w 906"/>
              <a:gd name="T37" fmla="*/ 1161 h 1340"/>
              <a:gd name="T38" fmla="*/ 215 w 906"/>
              <a:gd name="T39" fmla="*/ 1340 h 1340"/>
              <a:gd name="T40" fmla="*/ 0 w 906"/>
              <a:gd name="T41" fmla="*/ 1246 h 1340"/>
              <a:gd name="T42" fmla="*/ 110 w 906"/>
              <a:gd name="T43" fmla="*/ 1221 h 1340"/>
              <a:gd name="T44" fmla="*/ 106 w 906"/>
              <a:gd name="T45" fmla="*/ 1173 h 1340"/>
              <a:gd name="T46" fmla="*/ 104 w 906"/>
              <a:gd name="T47" fmla="*/ 1123 h 1340"/>
              <a:gd name="T48" fmla="*/ 104 w 906"/>
              <a:gd name="T49" fmla="*/ 1075 h 1340"/>
              <a:gd name="T50" fmla="*/ 106 w 906"/>
              <a:gd name="T51" fmla="*/ 1027 h 1340"/>
              <a:gd name="T52" fmla="*/ 112 w 906"/>
              <a:gd name="T53" fmla="*/ 979 h 1340"/>
              <a:gd name="T54" fmla="*/ 117 w 906"/>
              <a:gd name="T55" fmla="*/ 931 h 1340"/>
              <a:gd name="T56" fmla="*/ 135 w 906"/>
              <a:gd name="T57" fmla="*/ 839 h 1340"/>
              <a:gd name="T58" fmla="*/ 158 w 906"/>
              <a:gd name="T59" fmla="*/ 747 h 1340"/>
              <a:gd name="T60" fmla="*/ 190 w 906"/>
              <a:gd name="T61" fmla="*/ 658 h 1340"/>
              <a:gd name="T62" fmla="*/ 229 w 906"/>
              <a:gd name="T63" fmla="*/ 572 h 1340"/>
              <a:gd name="T64" fmla="*/ 273 w 906"/>
              <a:gd name="T65" fmla="*/ 489 h 1340"/>
              <a:gd name="T66" fmla="*/ 325 w 906"/>
              <a:gd name="T67" fmla="*/ 411 h 1340"/>
              <a:gd name="T68" fmla="*/ 383 w 906"/>
              <a:gd name="T69" fmla="*/ 338 h 1340"/>
              <a:gd name="T70" fmla="*/ 444 w 906"/>
              <a:gd name="T71" fmla="*/ 267 h 1340"/>
              <a:gd name="T72" fmla="*/ 514 w 906"/>
              <a:gd name="T73" fmla="*/ 202 h 1340"/>
              <a:gd name="T74" fmla="*/ 589 w 906"/>
              <a:gd name="T75" fmla="*/ 142 h 1340"/>
              <a:gd name="T76" fmla="*/ 667 w 906"/>
              <a:gd name="T77" fmla="*/ 88 h 1340"/>
              <a:gd name="T78" fmla="*/ 752 w 906"/>
              <a:gd name="T79" fmla="*/ 40 h 1340"/>
              <a:gd name="T80" fmla="*/ 841 w 906"/>
              <a:gd name="T81" fmla="*/ 0 h 1340"/>
              <a:gd name="T82" fmla="*/ 841 w 906"/>
              <a:gd name="T83" fmla="*/ 0 h 1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06" h="1340">
                <a:moveTo>
                  <a:pt x="841" y="0"/>
                </a:moveTo>
                <a:lnTo>
                  <a:pt x="906" y="155"/>
                </a:lnTo>
                <a:lnTo>
                  <a:pt x="831" y="190"/>
                </a:lnTo>
                <a:lnTo>
                  <a:pt x="760" y="230"/>
                </a:lnTo>
                <a:lnTo>
                  <a:pt x="692" y="276"/>
                </a:lnTo>
                <a:lnTo>
                  <a:pt x="629" y="326"/>
                </a:lnTo>
                <a:lnTo>
                  <a:pt x="571" y="380"/>
                </a:lnTo>
                <a:lnTo>
                  <a:pt x="517" y="440"/>
                </a:lnTo>
                <a:lnTo>
                  <a:pt x="467" y="503"/>
                </a:lnTo>
                <a:lnTo>
                  <a:pt x="423" y="568"/>
                </a:lnTo>
                <a:lnTo>
                  <a:pt x="385" y="637"/>
                </a:lnTo>
                <a:lnTo>
                  <a:pt x="352" y="710"/>
                </a:lnTo>
                <a:lnTo>
                  <a:pt x="325" y="785"/>
                </a:lnTo>
                <a:lnTo>
                  <a:pt x="302" y="862"/>
                </a:lnTo>
                <a:lnTo>
                  <a:pt x="287" y="941"/>
                </a:lnTo>
                <a:lnTo>
                  <a:pt x="277" y="1021"/>
                </a:lnTo>
                <a:lnTo>
                  <a:pt x="273" y="1102"/>
                </a:lnTo>
                <a:lnTo>
                  <a:pt x="277" y="1184"/>
                </a:lnTo>
                <a:lnTo>
                  <a:pt x="387" y="1161"/>
                </a:lnTo>
                <a:lnTo>
                  <a:pt x="215" y="1340"/>
                </a:lnTo>
                <a:lnTo>
                  <a:pt x="0" y="1246"/>
                </a:lnTo>
                <a:lnTo>
                  <a:pt x="110" y="1221"/>
                </a:lnTo>
                <a:lnTo>
                  <a:pt x="106" y="1173"/>
                </a:lnTo>
                <a:lnTo>
                  <a:pt x="104" y="1123"/>
                </a:lnTo>
                <a:lnTo>
                  <a:pt x="104" y="1075"/>
                </a:lnTo>
                <a:lnTo>
                  <a:pt x="106" y="1027"/>
                </a:lnTo>
                <a:lnTo>
                  <a:pt x="112" y="979"/>
                </a:lnTo>
                <a:lnTo>
                  <a:pt x="117" y="931"/>
                </a:lnTo>
                <a:lnTo>
                  <a:pt x="135" y="839"/>
                </a:lnTo>
                <a:lnTo>
                  <a:pt x="158" y="747"/>
                </a:lnTo>
                <a:lnTo>
                  <a:pt x="190" y="658"/>
                </a:lnTo>
                <a:lnTo>
                  <a:pt x="229" y="572"/>
                </a:lnTo>
                <a:lnTo>
                  <a:pt x="273" y="489"/>
                </a:lnTo>
                <a:lnTo>
                  <a:pt x="325" y="411"/>
                </a:lnTo>
                <a:lnTo>
                  <a:pt x="383" y="338"/>
                </a:lnTo>
                <a:lnTo>
                  <a:pt x="444" y="267"/>
                </a:lnTo>
                <a:lnTo>
                  <a:pt x="514" y="202"/>
                </a:lnTo>
                <a:lnTo>
                  <a:pt x="589" y="142"/>
                </a:lnTo>
                <a:lnTo>
                  <a:pt x="667" y="88"/>
                </a:lnTo>
                <a:lnTo>
                  <a:pt x="752" y="40"/>
                </a:lnTo>
                <a:lnTo>
                  <a:pt x="841" y="0"/>
                </a:lnTo>
                <a:lnTo>
                  <a:pt x="841" y="0"/>
                </a:lnTo>
                <a:close/>
              </a:path>
            </a:pathLst>
          </a:custGeom>
          <a:solidFill>
            <a:srgbClr val="B5CB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Text" lastClr="000000"/>
              </a:solidFill>
              <a:effectLst/>
              <a:uLnTx/>
              <a:uFillTx/>
              <a:latin typeface="Calibri" panose="020F0502020204030204"/>
              <a:ea typeface="+mn-ea"/>
              <a:cs typeface="+mn-cs"/>
            </a:endParaRPr>
          </a:p>
        </p:txBody>
      </p:sp>
      <p:sp>
        <p:nvSpPr>
          <p:cNvPr id="5" name="Freeform 5">
            <a:extLst>
              <a:ext uri="{FF2B5EF4-FFF2-40B4-BE49-F238E27FC236}">
                <a16:creationId xmlns:a16="http://schemas.microsoft.com/office/drawing/2014/main" id="{F34A4451-EC5A-F9D5-E515-5B00FE6BF4F2}"/>
              </a:ext>
            </a:extLst>
          </p:cNvPr>
          <p:cNvSpPr>
            <a:spLocks/>
          </p:cNvSpPr>
          <p:nvPr/>
        </p:nvSpPr>
        <p:spPr bwMode="auto">
          <a:xfrm rot="20700000" flipH="1">
            <a:off x="4686830" y="1412202"/>
            <a:ext cx="722376" cy="854824"/>
          </a:xfrm>
          <a:custGeom>
            <a:avLst/>
            <a:gdLst>
              <a:gd name="T0" fmla="*/ 841 w 906"/>
              <a:gd name="T1" fmla="*/ 0 h 1340"/>
              <a:gd name="T2" fmla="*/ 906 w 906"/>
              <a:gd name="T3" fmla="*/ 155 h 1340"/>
              <a:gd name="T4" fmla="*/ 831 w 906"/>
              <a:gd name="T5" fmla="*/ 190 h 1340"/>
              <a:gd name="T6" fmla="*/ 760 w 906"/>
              <a:gd name="T7" fmla="*/ 230 h 1340"/>
              <a:gd name="T8" fmla="*/ 692 w 906"/>
              <a:gd name="T9" fmla="*/ 276 h 1340"/>
              <a:gd name="T10" fmla="*/ 629 w 906"/>
              <a:gd name="T11" fmla="*/ 326 h 1340"/>
              <a:gd name="T12" fmla="*/ 571 w 906"/>
              <a:gd name="T13" fmla="*/ 380 h 1340"/>
              <a:gd name="T14" fmla="*/ 517 w 906"/>
              <a:gd name="T15" fmla="*/ 440 h 1340"/>
              <a:gd name="T16" fmla="*/ 467 w 906"/>
              <a:gd name="T17" fmla="*/ 503 h 1340"/>
              <a:gd name="T18" fmla="*/ 423 w 906"/>
              <a:gd name="T19" fmla="*/ 568 h 1340"/>
              <a:gd name="T20" fmla="*/ 385 w 906"/>
              <a:gd name="T21" fmla="*/ 637 h 1340"/>
              <a:gd name="T22" fmla="*/ 352 w 906"/>
              <a:gd name="T23" fmla="*/ 710 h 1340"/>
              <a:gd name="T24" fmla="*/ 325 w 906"/>
              <a:gd name="T25" fmla="*/ 785 h 1340"/>
              <a:gd name="T26" fmla="*/ 302 w 906"/>
              <a:gd name="T27" fmla="*/ 862 h 1340"/>
              <a:gd name="T28" fmla="*/ 287 w 906"/>
              <a:gd name="T29" fmla="*/ 941 h 1340"/>
              <a:gd name="T30" fmla="*/ 277 w 906"/>
              <a:gd name="T31" fmla="*/ 1021 h 1340"/>
              <a:gd name="T32" fmla="*/ 273 w 906"/>
              <a:gd name="T33" fmla="*/ 1102 h 1340"/>
              <a:gd name="T34" fmla="*/ 277 w 906"/>
              <a:gd name="T35" fmla="*/ 1184 h 1340"/>
              <a:gd name="T36" fmla="*/ 387 w 906"/>
              <a:gd name="T37" fmla="*/ 1161 h 1340"/>
              <a:gd name="T38" fmla="*/ 215 w 906"/>
              <a:gd name="T39" fmla="*/ 1340 h 1340"/>
              <a:gd name="T40" fmla="*/ 0 w 906"/>
              <a:gd name="T41" fmla="*/ 1246 h 1340"/>
              <a:gd name="T42" fmla="*/ 110 w 906"/>
              <a:gd name="T43" fmla="*/ 1221 h 1340"/>
              <a:gd name="T44" fmla="*/ 106 w 906"/>
              <a:gd name="T45" fmla="*/ 1173 h 1340"/>
              <a:gd name="T46" fmla="*/ 104 w 906"/>
              <a:gd name="T47" fmla="*/ 1123 h 1340"/>
              <a:gd name="T48" fmla="*/ 104 w 906"/>
              <a:gd name="T49" fmla="*/ 1075 h 1340"/>
              <a:gd name="T50" fmla="*/ 106 w 906"/>
              <a:gd name="T51" fmla="*/ 1027 h 1340"/>
              <a:gd name="T52" fmla="*/ 112 w 906"/>
              <a:gd name="T53" fmla="*/ 979 h 1340"/>
              <a:gd name="T54" fmla="*/ 117 w 906"/>
              <a:gd name="T55" fmla="*/ 931 h 1340"/>
              <a:gd name="T56" fmla="*/ 135 w 906"/>
              <a:gd name="T57" fmla="*/ 839 h 1340"/>
              <a:gd name="T58" fmla="*/ 158 w 906"/>
              <a:gd name="T59" fmla="*/ 747 h 1340"/>
              <a:gd name="T60" fmla="*/ 190 w 906"/>
              <a:gd name="T61" fmla="*/ 658 h 1340"/>
              <a:gd name="T62" fmla="*/ 229 w 906"/>
              <a:gd name="T63" fmla="*/ 572 h 1340"/>
              <a:gd name="T64" fmla="*/ 273 w 906"/>
              <a:gd name="T65" fmla="*/ 489 h 1340"/>
              <a:gd name="T66" fmla="*/ 325 w 906"/>
              <a:gd name="T67" fmla="*/ 411 h 1340"/>
              <a:gd name="T68" fmla="*/ 383 w 906"/>
              <a:gd name="T69" fmla="*/ 338 h 1340"/>
              <a:gd name="T70" fmla="*/ 444 w 906"/>
              <a:gd name="T71" fmla="*/ 267 h 1340"/>
              <a:gd name="T72" fmla="*/ 514 w 906"/>
              <a:gd name="T73" fmla="*/ 202 h 1340"/>
              <a:gd name="T74" fmla="*/ 589 w 906"/>
              <a:gd name="T75" fmla="*/ 142 h 1340"/>
              <a:gd name="T76" fmla="*/ 667 w 906"/>
              <a:gd name="T77" fmla="*/ 88 h 1340"/>
              <a:gd name="T78" fmla="*/ 752 w 906"/>
              <a:gd name="T79" fmla="*/ 40 h 1340"/>
              <a:gd name="T80" fmla="*/ 841 w 906"/>
              <a:gd name="T81" fmla="*/ 0 h 1340"/>
              <a:gd name="T82" fmla="*/ 841 w 906"/>
              <a:gd name="T83" fmla="*/ 0 h 1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06" h="1340">
                <a:moveTo>
                  <a:pt x="841" y="0"/>
                </a:moveTo>
                <a:lnTo>
                  <a:pt x="906" y="155"/>
                </a:lnTo>
                <a:lnTo>
                  <a:pt x="831" y="190"/>
                </a:lnTo>
                <a:lnTo>
                  <a:pt x="760" y="230"/>
                </a:lnTo>
                <a:lnTo>
                  <a:pt x="692" y="276"/>
                </a:lnTo>
                <a:lnTo>
                  <a:pt x="629" y="326"/>
                </a:lnTo>
                <a:lnTo>
                  <a:pt x="571" y="380"/>
                </a:lnTo>
                <a:lnTo>
                  <a:pt x="517" y="440"/>
                </a:lnTo>
                <a:lnTo>
                  <a:pt x="467" y="503"/>
                </a:lnTo>
                <a:lnTo>
                  <a:pt x="423" y="568"/>
                </a:lnTo>
                <a:lnTo>
                  <a:pt x="385" y="637"/>
                </a:lnTo>
                <a:lnTo>
                  <a:pt x="352" y="710"/>
                </a:lnTo>
                <a:lnTo>
                  <a:pt x="325" y="785"/>
                </a:lnTo>
                <a:lnTo>
                  <a:pt x="302" y="862"/>
                </a:lnTo>
                <a:lnTo>
                  <a:pt x="287" y="941"/>
                </a:lnTo>
                <a:lnTo>
                  <a:pt x="277" y="1021"/>
                </a:lnTo>
                <a:lnTo>
                  <a:pt x="273" y="1102"/>
                </a:lnTo>
                <a:lnTo>
                  <a:pt x="277" y="1184"/>
                </a:lnTo>
                <a:lnTo>
                  <a:pt x="387" y="1161"/>
                </a:lnTo>
                <a:lnTo>
                  <a:pt x="215" y="1340"/>
                </a:lnTo>
                <a:lnTo>
                  <a:pt x="0" y="1246"/>
                </a:lnTo>
                <a:lnTo>
                  <a:pt x="110" y="1221"/>
                </a:lnTo>
                <a:lnTo>
                  <a:pt x="106" y="1173"/>
                </a:lnTo>
                <a:lnTo>
                  <a:pt x="104" y="1123"/>
                </a:lnTo>
                <a:lnTo>
                  <a:pt x="104" y="1075"/>
                </a:lnTo>
                <a:lnTo>
                  <a:pt x="106" y="1027"/>
                </a:lnTo>
                <a:lnTo>
                  <a:pt x="112" y="979"/>
                </a:lnTo>
                <a:lnTo>
                  <a:pt x="117" y="931"/>
                </a:lnTo>
                <a:lnTo>
                  <a:pt x="135" y="839"/>
                </a:lnTo>
                <a:lnTo>
                  <a:pt x="158" y="747"/>
                </a:lnTo>
                <a:lnTo>
                  <a:pt x="190" y="658"/>
                </a:lnTo>
                <a:lnTo>
                  <a:pt x="229" y="572"/>
                </a:lnTo>
                <a:lnTo>
                  <a:pt x="273" y="489"/>
                </a:lnTo>
                <a:lnTo>
                  <a:pt x="325" y="411"/>
                </a:lnTo>
                <a:lnTo>
                  <a:pt x="383" y="338"/>
                </a:lnTo>
                <a:lnTo>
                  <a:pt x="444" y="267"/>
                </a:lnTo>
                <a:lnTo>
                  <a:pt x="514" y="202"/>
                </a:lnTo>
                <a:lnTo>
                  <a:pt x="589" y="142"/>
                </a:lnTo>
                <a:lnTo>
                  <a:pt x="667" y="88"/>
                </a:lnTo>
                <a:lnTo>
                  <a:pt x="752" y="40"/>
                </a:lnTo>
                <a:lnTo>
                  <a:pt x="841" y="0"/>
                </a:lnTo>
                <a:lnTo>
                  <a:pt x="841" y="0"/>
                </a:lnTo>
                <a:close/>
              </a:path>
            </a:pathLst>
          </a:custGeom>
          <a:solidFill>
            <a:srgbClr val="B5CB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Text" lastClr="000000"/>
              </a:solidFill>
              <a:effectLst/>
              <a:uLnTx/>
              <a:uFillTx/>
              <a:latin typeface="Calibri" panose="020F0502020204030204"/>
              <a:ea typeface="+mn-ea"/>
              <a:cs typeface="+mn-cs"/>
            </a:endParaRPr>
          </a:p>
        </p:txBody>
      </p:sp>
      <p:sp>
        <p:nvSpPr>
          <p:cNvPr id="6" name="TextBox 8">
            <a:extLst>
              <a:ext uri="{FF2B5EF4-FFF2-40B4-BE49-F238E27FC236}">
                <a16:creationId xmlns:a16="http://schemas.microsoft.com/office/drawing/2014/main" id="{10A6AD51-79A0-6537-C098-5F016BB10317}"/>
              </a:ext>
            </a:extLst>
          </p:cNvPr>
          <p:cNvSpPr txBox="1"/>
          <p:nvPr/>
        </p:nvSpPr>
        <p:spPr>
          <a:xfrm>
            <a:off x="3260398" y="5829434"/>
            <a:ext cx="2010124"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1" dirty="0"/>
              <a:t>Market-ready offering(s) to activate in pursuits</a:t>
            </a:r>
            <a:endParaRPr lang="en-US" sz="1200" dirty="0"/>
          </a:p>
        </p:txBody>
      </p:sp>
      <p:sp>
        <p:nvSpPr>
          <p:cNvPr id="7" name="Chevron 12">
            <a:extLst>
              <a:ext uri="{FF2B5EF4-FFF2-40B4-BE49-F238E27FC236}">
                <a16:creationId xmlns:a16="http://schemas.microsoft.com/office/drawing/2014/main" id="{36D59614-D12B-0172-2BDE-B711F8F06239}"/>
              </a:ext>
            </a:extLst>
          </p:cNvPr>
          <p:cNvSpPr/>
          <p:nvPr/>
        </p:nvSpPr>
        <p:spPr>
          <a:xfrm rot="5400000">
            <a:off x="5252490" y="6136586"/>
            <a:ext cx="287813" cy="393700"/>
          </a:xfrm>
          <a:prstGeom prst="chevron">
            <a:avLst/>
          </a:prstGeom>
          <a:solidFill>
            <a:srgbClr val="B5CB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Text" lastClr="000000"/>
              </a:solidFill>
              <a:effectLst/>
              <a:uLnTx/>
              <a:uFillTx/>
              <a:latin typeface="Calibri" panose="020F0502020204030204"/>
              <a:ea typeface="+mn-ea"/>
              <a:cs typeface="+mn-cs"/>
            </a:endParaRPr>
          </a:p>
        </p:txBody>
      </p:sp>
      <p:sp>
        <p:nvSpPr>
          <p:cNvPr id="8" name="TextBox 45">
            <a:extLst>
              <a:ext uri="{FF2B5EF4-FFF2-40B4-BE49-F238E27FC236}">
                <a16:creationId xmlns:a16="http://schemas.microsoft.com/office/drawing/2014/main" id="{79121DC3-DF08-F4BE-3918-31260CB8F915}"/>
              </a:ext>
            </a:extLst>
          </p:cNvPr>
          <p:cNvSpPr txBox="1"/>
          <p:nvPr/>
        </p:nvSpPr>
        <p:spPr>
          <a:xfrm>
            <a:off x="2790401" y="1333282"/>
            <a:ext cx="1703415"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1">
                <a:ln>
                  <a:noFill/>
                </a:ln>
                <a:solidFill>
                  <a:sysClr val="windowText" lastClr="000000"/>
                </a:solidFill>
                <a:effectLst/>
                <a:uLnTx/>
                <a:uFillTx/>
                <a:latin typeface="Calibri" panose="020F0502020204030204"/>
                <a:ea typeface="+mn-ea"/>
                <a:cs typeface="+mn-cs"/>
              </a:rPr>
              <a:t>Domain problems</a:t>
            </a:r>
          </a:p>
        </p:txBody>
      </p:sp>
      <p:sp>
        <p:nvSpPr>
          <p:cNvPr id="9" name="TextBox 46">
            <a:extLst>
              <a:ext uri="{FF2B5EF4-FFF2-40B4-BE49-F238E27FC236}">
                <a16:creationId xmlns:a16="http://schemas.microsoft.com/office/drawing/2014/main" id="{AE48AE67-D189-90B8-1D2B-255C7A611E58}"/>
              </a:ext>
            </a:extLst>
          </p:cNvPr>
          <p:cNvSpPr txBox="1"/>
          <p:nvPr/>
        </p:nvSpPr>
        <p:spPr>
          <a:xfrm>
            <a:off x="7057892" y="1342613"/>
            <a:ext cx="2193935"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1">
                <a:ln>
                  <a:noFill/>
                </a:ln>
                <a:solidFill>
                  <a:sysClr val="windowText" lastClr="000000"/>
                </a:solidFill>
                <a:effectLst/>
                <a:uLnTx/>
                <a:uFillTx/>
                <a:latin typeface="Calibri" panose="020F0502020204030204"/>
                <a:ea typeface="+mn-ea"/>
                <a:cs typeface="+mn-cs"/>
              </a:rPr>
              <a:t>Cross-sell opportunities</a:t>
            </a:r>
          </a:p>
        </p:txBody>
      </p:sp>
      <p:sp>
        <p:nvSpPr>
          <p:cNvPr id="10" name="TextBox 47">
            <a:extLst>
              <a:ext uri="{FF2B5EF4-FFF2-40B4-BE49-F238E27FC236}">
                <a16:creationId xmlns:a16="http://schemas.microsoft.com/office/drawing/2014/main" id="{A3E2E817-AA9B-8C3A-985D-6D59A810D8CF}"/>
              </a:ext>
            </a:extLst>
          </p:cNvPr>
          <p:cNvSpPr txBox="1"/>
          <p:nvPr/>
        </p:nvSpPr>
        <p:spPr>
          <a:xfrm>
            <a:off x="4385042" y="1133389"/>
            <a:ext cx="2884764"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1">
                <a:ln>
                  <a:noFill/>
                </a:ln>
                <a:solidFill>
                  <a:sysClr val="windowText" lastClr="000000"/>
                </a:solidFill>
                <a:effectLst/>
                <a:uLnTx/>
                <a:uFillTx/>
                <a:latin typeface="Calibri" panose="020F0502020204030204"/>
                <a:ea typeface="+mn-ea"/>
                <a:cs typeface="+mn-cs"/>
              </a:rPr>
              <a:t>Client signals &amp; market demand</a:t>
            </a:r>
          </a:p>
        </p:txBody>
      </p:sp>
      <p:sp>
        <p:nvSpPr>
          <p:cNvPr id="11" name="Right Arrow 13">
            <a:extLst>
              <a:ext uri="{FF2B5EF4-FFF2-40B4-BE49-F238E27FC236}">
                <a16:creationId xmlns:a16="http://schemas.microsoft.com/office/drawing/2014/main" id="{506637AB-545F-AB2F-0C81-FA4C971B52CA}"/>
              </a:ext>
            </a:extLst>
          </p:cNvPr>
          <p:cNvSpPr/>
          <p:nvPr/>
        </p:nvSpPr>
        <p:spPr>
          <a:xfrm rot="5400000">
            <a:off x="5483953" y="1737550"/>
            <a:ext cx="721563" cy="338015"/>
          </a:xfrm>
          <a:prstGeom prst="rightArrow">
            <a:avLst>
              <a:gd name="adj1" fmla="val 27456"/>
              <a:gd name="adj2" fmla="val 46243"/>
            </a:avLst>
          </a:prstGeom>
          <a:solidFill>
            <a:srgbClr val="B5CBE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Text" lastClr="000000"/>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9BF3AD74-4CC0-25BA-7F0E-51C3D3C32E10}"/>
              </a:ext>
            </a:extLst>
          </p:cNvPr>
          <p:cNvCxnSpPr>
            <a:cxnSpLocks/>
          </p:cNvCxnSpPr>
          <p:nvPr/>
        </p:nvCxnSpPr>
        <p:spPr>
          <a:xfrm>
            <a:off x="8162670" y="2086350"/>
            <a:ext cx="1" cy="4084592"/>
          </a:xfrm>
          <a:prstGeom prst="straightConnector1">
            <a:avLst/>
          </a:prstGeom>
          <a:noFill/>
          <a:ln w="19050" cap="flat" cmpd="sng" algn="ctr">
            <a:solidFill>
              <a:srgbClr val="E7E6E6">
                <a:lumMod val="50000"/>
              </a:srgbClr>
            </a:solidFill>
            <a:prstDash val="solid"/>
            <a:miter lim="800000"/>
            <a:tailEnd type="triangle"/>
          </a:ln>
          <a:effectLst/>
        </p:spPr>
      </p:cxnSp>
      <p:sp>
        <p:nvSpPr>
          <p:cNvPr id="13" name="Oval 12">
            <a:extLst>
              <a:ext uri="{FF2B5EF4-FFF2-40B4-BE49-F238E27FC236}">
                <a16:creationId xmlns:a16="http://schemas.microsoft.com/office/drawing/2014/main" id="{EBB4E0C6-E8A8-0337-DAAF-7B37D8155D89}"/>
              </a:ext>
            </a:extLst>
          </p:cNvPr>
          <p:cNvSpPr/>
          <p:nvPr/>
        </p:nvSpPr>
        <p:spPr>
          <a:xfrm flipH="1">
            <a:off x="7959294" y="3293833"/>
            <a:ext cx="406753" cy="406752"/>
          </a:xfrm>
          <a:prstGeom prst="ellipse">
            <a:avLst/>
          </a:prstGeom>
          <a:solidFill>
            <a:srgbClr val="477274"/>
          </a:solidFill>
          <a:ln w="28575" cap="flat" cmpd="sng" algn="ctr">
            <a:solidFill>
              <a:sysClr val="window" lastClr="FFFFFF"/>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1">
                <a:ln>
                  <a:noFill/>
                </a:ln>
                <a:solidFill>
                  <a:sysClr val="window" lastClr="FFFFFF"/>
                </a:solidFill>
                <a:effectLst>
                  <a:outerShdw blurRad="38100" dist="38100" dir="2700000" algn="tl">
                    <a:srgbClr val="000000">
                      <a:alpha val="43137"/>
                    </a:srgbClr>
                  </a:outerShdw>
                </a:effectLst>
                <a:uLnTx/>
                <a:uFillTx/>
                <a:latin typeface="Calibri" panose="020F0502020204030204"/>
                <a:ea typeface="+mn-ea"/>
                <a:cs typeface="+mn-cs"/>
              </a:rPr>
              <a:t>2</a:t>
            </a:r>
          </a:p>
        </p:txBody>
      </p:sp>
      <p:sp>
        <p:nvSpPr>
          <p:cNvPr id="14" name="Oval 13">
            <a:extLst>
              <a:ext uri="{FF2B5EF4-FFF2-40B4-BE49-F238E27FC236}">
                <a16:creationId xmlns:a16="http://schemas.microsoft.com/office/drawing/2014/main" id="{C4968D3B-B76C-4A20-410A-EDC2DB756A4E}"/>
              </a:ext>
            </a:extLst>
          </p:cNvPr>
          <p:cNvSpPr/>
          <p:nvPr/>
        </p:nvSpPr>
        <p:spPr>
          <a:xfrm flipH="1">
            <a:off x="7959294" y="4043763"/>
            <a:ext cx="406753" cy="406752"/>
          </a:xfrm>
          <a:prstGeom prst="ellipse">
            <a:avLst/>
          </a:prstGeom>
          <a:solidFill>
            <a:srgbClr val="47B6BC"/>
          </a:solidFill>
          <a:ln w="28575" cap="flat" cmpd="sng" algn="ctr">
            <a:solidFill>
              <a:sysClr val="window" lastClr="FFFFFF"/>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1">
                <a:ln>
                  <a:noFill/>
                </a:ln>
                <a:solidFill>
                  <a:sysClr val="window" lastClr="FFFFFF"/>
                </a:solidFill>
                <a:effectLst>
                  <a:outerShdw blurRad="38100" dist="38100" dir="2700000" algn="tl">
                    <a:srgbClr val="000000">
                      <a:alpha val="43137"/>
                    </a:srgbClr>
                  </a:outerShdw>
                </a:effectLst>
                <a:uLnTx/>
                <a:uFillTx/>
                <a:latin typeface="Calibri" panose="020F0502020204030204"/>
                <a:ea typeface="+mn-ea"/>
                <a:cs typeface="+mn-cs"/>
              </a:rPr>
              <a:t>3</a:t>
            </a:r>
          </a:p>
        </p:txBody>
      </p:sp>
      <p:sp>
        <p:nvSpPr>
          <p:cNvPr id="15" name="Oval 14">
            <a:extLst>
              <a:ext uri="{FF2B5EF4-FFF2-40B4-BE49-F238E27FC236}">
                <a16:creationId xmlns:a16="http://schemas.microsoft.com/office/drawing/2014/main" id="{591F0F7A-FF2B-3ACF-C486-2EABF9E7B097}"/>
              </a:ext>
            </a:extLst>
          </p:cNvPr>
          <p:cNvSpPr/>
          <p:nvPr/>
        </p:nvSpPr>
        <p:spPr>
          <a:xfrm flipH="1">
            <a:off x="7959294" y="5543621"/>
            <a:ext cx="406753" cy="406752"/>
          </a:xfrm>
          <a:prstGeom prst="ellipse">
            <a:avLst/>
          </a:prstGeom>
          <a:solidFill>
            <a:srgbClr val="0B4366"/>
          </a:solidFill>
          <a:ln w="28575" cap="flat" cmpd="sng" algn="ctr">
            <a:solidFill>
              <a:sysClr val="window" lastClr="FFFFFF"/>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1">
                <a:ln>
                  <a:noFill/>
                </a:ln>
                <a:solidFill>
                  <a:sysClr val="window" lastClr="FFFFFF"/>
                </a:solidFill>
                <a:effectLst>
                  <a:outerShdw blurRad="38100" dist="38100" dir="2700000" algn="tl">
                    <a:srgbClr val="000000">
                      <a:alpha val="43137"/>
                    </a:srgbClr>
                  </a:outerShdw>
                </a:effectLst>
                <a:uLnTx/>
                <a:uFillTx/>
                <a:latin typeface="Calibri" panose="020F0502020204030204"/>
                <a:ea typeface="+mn-ea"/>
                <a:cs typeface="+mn-cs"/>
              </a:rPr>
              <a:t>5</a:t>
            </a:r>
          </a:p>
        </p:txBody>
      </p:sp>
      <p:sp>
        <p:nvSpPr>
          <p:cNvPr id="16" name="Oval 15">
            <a:extLst>
              <a:ext uri="{FF2B5EF4-FFF2-40B4-BE49-F238E27FC236}">
                <a16:creationId xmlns:a16="http://schemas.microsoft.com/office/drawing/2014/main" id="{BEE7CE5A-C08C-D3D0-1C5D-5D4463D373C5}"/>
              </a:ext>
            </a:extLst>
          </p:cNvPr>
          <p:cNvSpPr/>
          <p:nvPr/>
        </p:nvSpPr>
        <p:spPr>
          <a:xfrm flipH="1">
            <a:off x="7959294" y="4793693"/>
            <a:ext cx="406753" cy="406752"/>
          </a:xfrm>
          <a:prstGeom prst="ellipse">
            <a:avLst/>
          </a:prstGeom>
          <a:solidFill>
            <a:srgbClr val="0499D3"/>
          </a:solidFill>
          <a:ln w="28575" cap="flat" cmpd="sng" algn="ctr">
            <a:solidFill>
              <a:sysClr val="window" lastClr="FFFFFF"/>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1">
                <a:ln>
                  <a:noFill/>
                </a:ln>
                <a:solidFill>
                  <a:sysClr val="window" lastClr="FFFFFF"/>
                </a:solidFill>
                <a:effectLst>
                  <a:outerShdw blurRad="38100" dist="38100" dir="2700000" algn="tl">
                    <a:srgbClr val="000000">
                      <a:alpha val="43137"/>
                    </a:srgbClr>
                  </a:outerShdw>
                </a:effectLst>
                <a:uLnTx/>
                <a:uFillTx/>
                <a:latin typeface="Calibri" panose="020F0502020204030204"/>
                <a:ea typeface="+mn-ea"/>
                <a:cs typeface="+mn-cs"/>
              </a:rPr>
              <a:t>4</a:t>
            </a:r>
          </a:p>
        </p:txBody>
      </p:sp>
      <p:sp>
        <p:nvSpPr>
          <p:cNvPr id="24" name="Freeform 87">
            <a:extLst>
              <a:ext uri="{FF2B5EF4-FFF2-40B4-BE49-F238E27FC236}">
                <a16:creationId xmlns:a16="http://schemas.microsoft.com/office/drawing/2014/main" id="{F694EE2A-FA2D-182E-F526-A961363AE2C3}"/>
              </a:ext>
            </a:extLst>
          </p:cNvPr>
          <p:cNvSpPr/>
          <p:nvPr/>
        </p:nvSpPr>
        <p:spPr>
          <a:xfrm rot="10800000">
            <a:off x="5048462" y="4601597"/>
            <a:ext cx="1475632" cy="1389415"/>
          </a:xfrm>
          <a:custGeom>
            <a:avLst/>
            <a:gdLst>
              <a:gd name="connsiteX0" fmla="*/ 249718 w 1877126"/>
              <a:gd name="connsiteY0" fmla="*/ 27848 h 2151276"/>
              <a:gd name="connsiteX1" fmla="*/ 248598 w 1877126"/>
              <a:gd name="connsiteY1" fmla="*/ 1 h 2151276"/>
              <a:gd name="connsiteX2" fmla="*/ 248598 w 1877126"/>
              <a:gd name="connsiteY2" fmla="*/ 0 h 2151276"/>
              <a:gd name="connsiteX3" fmla="*/ 238214 w 1877126"/>
              <a:gd name="connsiteY3" fmla="*/ 507182 h 2151276"/>
              <a:gd name="connsiteX4" fmla="*/ 242944 w 1877126"/>
              <a:gd name="connsiteY4" fmla="*/ 409270 h 2151276"/>
              <a:gd name="connsiteX5" fmla="*/ 242072 w 1877126"/>
              <a:gd name="connsiteY5" fmla="*/ 456825 h 2151276"/>
              <a:gd name="connsiteX6" fmla="*/ 1638913 w 1877126"/>
              <a:gd name="connsiteY6" fmla="*/ 507183 h 2151276"/>
              <a:gd name="connsiteX7" fmla="*/ 1635054 w 1877126"/>
              <a:gd name="connsiteY7" fmla="*/ 456825 h 2151276"/>
              <a:gd name="connsiteX8" fmla="*/ 1634182 w 1877126"/>
              <a:gd name="connsiteY8" fmla="*/ 409270 h 2151276"/>
              <a:gd name="connsiteX9" fmla="*/ 1877126 w 1877126"/>
              <a:gd name="connsiteY9" fmla="*/ 2151276 h 2151276"/>
              <a:gd name="connsiteX10" fmla="*/ 1875772 w 1877126"/>
              <a:gd name="connsiteY10" fmla="*/ 2151276 h 2151276"/>
              <a:gd name="connsiteX11" fmla="*/ 1875824 w 1877126"/>
              <a:gd name="connsiteY11" fmla="*/ 2151120 h 2151276"/>
              <a:gd name="connsiteX12" fmla="*/ 938564 w 1877126"/>
              <a:gd name="connsiteY12" fmla="*/ 1866284 h 2151276"/>
              <a:gd name="connsiteX13" fmla="*/ 1304 w 1877126"/>
              <a:gd name="connsiteY13" fmla="*/ 2151120 h 2151276"/>
              <a:gd name="connsiteX14" fmla="*/ 1356 w 1877126"/>
              <a:gd name="connsiteY14" fmla="*/ 2151276 h 2151276"/>
              <a:gd name="connsiteX15" fmla="*/ 0 w 1877126"/>
              <a:gd name="connsiteY15" fmla="*/ 2151276 h 2151276"/>
              <a:gd name="connsiteX16" fmla="*/ 87655 w 1877126"/>
              <a:gd name="connsiteY16" fmla="*/ 1728827 h 2151276"/>
              <a:gd name="connsiteX17" fmla="*/ 207125 w 1877126"/>
              <a:gd name="connsiteY17" fmla="*/ 912947 h 2151276"/>
              <a:gd name="connsiteX18" fmla="*/ 207127 w 1877126"/>
              <a:gd name="connsiteY18" fmla="*/ 912926 h 2151276"/>
              <a:gd name="connsiteX19" fmla="*/ 207125 w 1877126"/>
              <a:gd name="connsiteY19" fmla="*/ 912948 h 2151276"/>
              <a:gd name="connsiteX20" fmla="*/ 187629 w 1877126"/>
              <a:gd name="connsiteY20" fmla="*/ 1074256 h 2151276"/>
              <a:gd name="connsiteX21" fmla="*/ 188803 w 1877126"/>
              <a:gd name="connsiteY21" fmla="*/ 1074256 h 2151276"/>
              <a:gd name="connsiteX22" fmla="*/ 188756 w 1877126"/>
              <a:gd name="connsiteY22" fmla="*/ 1074105 h 2151276"/>
              <a:gd name="connsiteX23" fmla="*/ 938564 w 1877126"/>
              <a:gd name="connsiteY23" fmla="*/ 829960 h 2151276"/>
              <a:gd name="connsiteX24" fmla="*/ 1688372 w 1877126"/>
              <a:gd name="connsiteY24" fmla="*/ 1074105 h 2151276"/>
              <a:gd name="connsiteX25" fmla="*/ 1688325 w 1877126"/>
              <a:gd name="connsiteY25" fmla="*/ 1074256 h 2151276"/>
              <a:gd name="connsiteX26" fmla="*/ 1689497 w 1877126"/>
              <a:gd name="connsiteY26" fmla="*/ 1074256 h 2151276"/>
              <a:gd name="connsiteX27" fmla="*/ 1670001 w 1877126"/>
              <a:gd name="connsiteY27" fmla="*/ 912948 h 2151276"/>
              <a:gd name="connsiteX28" fmla="*/ 1669999 w 1877126"/>
              <a:gd name="connsiteY28" fmla="*/ 912919 h 2151276"/>
              <a:gd name="connsiteX29" fmla="*/ 1670001 w 1877126"/>
              <a:gd name="connsiteY29" fmla="*/ 912947 h 2151276"/>
              <a:gd name="connsiteX30" fmla="*/ 1789472 w 1877126"/>
              <a:gd name="connsiteY30" fmla="*/ 1728827 h 215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877126" h="2151276">
                <a:moveTo>
                  <a:pt x="249718" y="27848"/>
                </a:moveTo>
                <a:lnTo>
                  <a:pt x="248598" y="1"/>
                </a:lnTo>
                <a:lnTo>
                  <a:pt x="248598" y="0"/>
                </a:lnTo>
                <a:close/>
                <a:moveTo>
                  <a:pt x="238214" y="507182"/>
                </a:moveTo>
                <a:lnTo>
                  <a:pt x="242944" y="409270"/>
                </a:lnTo>
                <a:lnTo>
                  <a:pt x="242072" y="456825"/>
                </a:lnTo>
                <a:close/>
                <a:moveTo>
                  <a:pt x="1638913" y="507183"/>
                </a:moveTo>
                <a:lnTo>
                  <a:pt x="1635054" y="456825"/>
                </a:lnTo>
                <a:lnTo>
                  <a:pt x="1634182" y="409270"/>
                </a:lnTo>
                <a:close/>
                <a:moveTo>
                  <a:pt x="1877126" y="2151276"/>
                </a:moveTo>
                <a:lnTo>
                  <a:pt x="1875772" y="2151276"/>
                </a:lnTo>
                <a:lnTo>
                  <a:pt x="1875824" y="2151120"/>
                </a:lnTo>
                <a:cubicBezTo>
                  <a:pt x="1875824" y="1993809"/>
                  <a:pt x="1456198" y="1866284"/>
                  <a:pt x="938564" y="1866284"/>
                </a:cubicBezTo>
                <a:cubicBezTo>
                  <a:pt x="420930" y="1866284"/>
                  <a:pt x="1304" y="1993809"/>
                  <a:pt x="1304" y="2151120"/>
                </a:cubicBezTo>
                <a:lnTo>
                  <a:pt x="1356" y="2151276"/>
                </a:lnTo>
                <a:lnTo>
                  <a:pt x="0" y="2151276"/>
                </a:lnTo>
                <a:lnTo>
                  <a:pt x="87655" y="1728827"/>
                </a:lnTo>
                <a:cubicBezTo>
                  <a:pt x="140370" y="1447260"/>
                  <a:pt x="180108" y="1174056"/>
                  <a:pt x="207125" y="912947"/>
                </a:cubicBezTo>
                <a:lnTo>
                  <a:pt x="207127" y="912926"/>
                </a:lnTo>
                <a:lnTo>
                  <a:pt x="207125" y="912948"/>
                </a:lnTo>
                <a:lnTo>
                  <a:pt x="187629" y="1074256"/>
                </a:lnTo>
                <a:lnTo>
                  <a:pt x="188803" y="1074256"/>
                </a:lnTo>
                <a:lnTo>
                  <a:pt x="188756" y="1074105"/>
                </a:lnTo>
                <a:cubicBezTo>
                  <a:pt x="188756" y="939267"/>
                  <a:pt x="524456" y="829960"/>
                  <a:pt x="938564" y="829960"/>
                </a:cubicBezTo>
                <a:cubicBezTo>
                  <a:pt x="1352672" y="829960"/>
                  <a:pt x="1688372" y="939267"/>
                  <a:pt x="1688372" y="1074105"/>
                </a:cubicBezTo>
                <a:lnTo>
                  <a:pt x="1688325" y="1074256"/>
                </a:lnTo>
                <a:lnTo>
                  <a:pt x="1689497" y="1074256"/>
                </a:lnTo>
                <a:lnTo>
                  <a:pt x="1670001" y="912948"/>
                </a:lnTo>
                <a:lnTo>
                  <a:pt x="1669999" y="912919"/>
                </a:lnTo>
                <a:lnTo>
                  <a:pt x="1670001" y="912947"/>
                </a:lnTo>
                <a:cubicBezTo>
                  <a:pt x="1697018" y="1174056"/>
                  <a:pt x="1736756" y="1447260"/>
                  <a:pt x="1789472" y="1728827"/>
                </a:cubicBezTo>
                <a:close/>
              </a:path>
            </a:pathLst>
          </a:custGeom>
          <a:solidFill>
            <a:srgbClr val="0499D3"/>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 lastClr="FFFFFF"/>
              </a:solidFill>
              <a:effectLst/>
              <a:uLnTx/>
              <a:uFillTx/>
              <a:latin typeface="Calibri" panose="020F0502020204030204"/>
              <a:ea typeface="+mn-ea"/>
              <a:cs typeface="+mn-cs"/>
            </a:endParaRPr>
          </a:p>
        </p:txBody>
      </p:sp>
      <p:sp>
        <p:nvSpPr>
          <p:cNvPr id="25" name="Freeform 88">
            <a:extLst>
              <a:ext uri="{FF2B5EF4-FFF2-40B4-BE49-F238E27FC236}">
                <a16:creationId xmlns:a16="http://schemas.microsoft.com/office/drawing/2014/main" id="{81F65138-E949-36ED-2E86-7DFE1250DF9F}"/>
              </a:ext>
            </a:extLst>
          </p:cNvPr>
          <p:cNvSpPr/>
          <p:nvPr/>
        </p:nvSpPr>
        <p:spPr>
          <a:xfrm rot="10800000">
            <a:off x="5195959" y="5297198"/>
            <a:ext cx="1180636" cy="825817"/>
          </a:xfrm>
          <a:custGeom>
            <a:avLst/>
            <a:gdLst>
              <a:gd name="connsiteX0" fmla="*/ 1501868 w 1501868"/>
              <a:gd name="connsiteY0" fmla="*/ 1278640 h 1278640"/>
              <a:gd name="connsiteX1" fmla="*/ 1500696 w 1501868"/>
              <a:gd name="connsiteY1" fmla="*/ 1278640 h 1278640"/>
              <a:gd name="connsiteX2" fmla="*/ 1500743 w 1501868"/>
              <a:gd name="connsiteY2" fmla="*/ 1278489 h 1278640"/>
              <a:gd name="connsiteX3" fmla="*/ 750935 w 1501868"/>
              <a:gd name="connsiteY3" fmla="*/ 1034344 h 1278640"/>
              <a:gd name="connsiteX4" fmla="*/ 1127 w 1501868"/>
              <a:gd name="connsiteY4" fmla="*/ 1278489 h 1278640"/>
              <a:gd name="connsiteX5" fmla="*/ 1174 w 1501868"/>
              <a:gd name="connsiteY5" fmla="*/ 1278640 h 1278640"/>
              <a:gd name="connsiteX6" fmla="*/ 0 w 1501868"/>
              <a:gd name="connsiteY6" fmla="*/ 1278640 h 1278640"/>
              <a:gd name="connsiteX7" fmla="*/ 19496 w 1501868"/>
              <a:gd name="connsiteY7" fmla="*/ 1117332 h 1278640"/>
              <a:gd name="connsiteX8" fmla="*/ 62243 w 1501868"/>
              <a:gd name="connsiteY8" fmla="*/ 236055 h 1278640"/>
              <a:gd name="connsiteX9" fmla="*/ 60969 w 1501868"/>
              <a:gd name="connsiteY9" fmla="*/ 204385 h 1278640"/>
              <a:gd name="connsiteX10" fmla="*/ 60563 w 1501868"/>
              <a:gd name="connsiteY10" fmla="*/ 203200 h 1278640"/>
              <a:gd name="connsiteX11" fmla="*/ 750935 w 1501868"/>
              <a:gd name="connsiteY11" fmla="*/ 0 h 1278640"/>
              <a:gd name="connsiteX12" fmla="*/ 1441307 w 1501868"/>
              <a:gd name="connsiteY12" fmla="*/ 203200 h 1278640"/>
              <a:gd name="connsiteX13" fmla="*/ 1440899 w 1501868"/>
              <a:gd name="connsiteY13" fmla="*/ 204391 h 1278640"/>
              <a:gd name="connsiteX14" fmla="*/ 1439625 w 1501868"/>
              <a:gd name="connsiteY14" fmla="*/ 236055 h 1278640"/>
              <a:gd name="connsiteX15" fmla="*/ 1482372 w 1501868"/>
              <a:gd name="connsiteY15" fmla="*/ 1117332 h 127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01868" h="1278640">
                <a:moveTo>
                  <a:pt x="1501868" y="1278640"/>
                </a:moveTo>
                <a:lnTo>
                  <a:pt x="1500696" y="1278640"/>
                </a:lnTo>
                <a:lnTo>
                  <a:pt x="1500743" y="1278489"/>
                </a:lnTo>
                <a:cubicBezTo>
                  <a:pt x="1500743" y="1143651"/>
                  <a:pt x="1165043" y="1034344"/>
                  <a:pt x="750935" y="1034344"/>
                </a:cubicBezTo>
                <a:cubicBezTo>
                  <a:pt x="336827" y="1034344"/>
                  <a:pt x="1127" y="1143651"/>
                  <a:pt x="1127" y="1278489"/>
                </a:cubicBezTo>
                <a:lnTo>
                  <a:pt x="1174" y="1278640"/>
                </a:lnTo>
                <a:lnTo>
                  <a:pt x="0" y="1278640"/>
                </a:lnTo>
                <a:lnTo>
                  <a:pt x="19496" y="1117332"/>
                </a:lnTo>
                <a:cubicBezTo>
                  <a:pt x="51916" y="804003"/>
                  <a:pt x="66018" y="508092"/>
                  <a:pt x="62243" y="236055"/>
                </a:cubicBezTo>
                <a:lnTo>
                  <a:pt x="60969" y="204385"/>
                </a:lnTo>
                <a:lnTo>
                  <a:pt x="60563" y="203200"/>
                </a:lnTo>
                <a:cubicBezTo>
                  <a:pt x="60563" y="90976"/>
                  <a:pt x="369653" y="0"/>
                  <a:pt x="750935" y="0"/>
                </a:cubicBezTo>
                <a:cubicBezTo>
                  <a:pt x="1132217" y="0"/>
                  <a:pt x="1441307" y="90976"/>
                  <a:pt x="1441307" y="203200"/>
                </a:cubicBezTo>
                <a:lnTo>
                  <a:pt x="1440899" y="204391"/>
                </a:lnTo>
                <a:lnTo>
                  <a:pt x="1439625" y="236055"/>
                </a:lnTo>
                <a:cubicBezTo>
                  <a:pt x="1435850" y="508092"/>
                  <a:pt x="1449952" y="804003"/>
                  <a:pt x="1482372" y="1117332"/>
                </a:cubicBezTo>
                <a:close/>
              </a:path>
            </a:pathLst>
          </a:custGeom>
          <a:solidFill>
            <a:srgbClr val="0B4366"/>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 lastClr="FFFFFF"/>
              </a:solidFill>
              <a:effectLst/>
              <a:uLnTx/>
              <a:uFillTx/>
              <a:latin typeface="Calibri" panose="020F0502020204030204"/>
              <a:ea typeface="+mn-ea"/>
              <a:cs typeface="+mn-cs"/>
            </a:endParaRPr>
          </a:p>
        </p:txBody>
      </p:sp>
      <p:sp>
        <p:nvSpPr>
          <p:cNvPr id="26" name="Freeform 89">
            <a:extLst>
              <a:ext uri="{FF2B5EF4-FFF2-40B4-BE49-F238E27FC236}">
                <a16:creationId xmlns:a16="http://schemas.microsoft.com/office/drawing/2014/main" id="{9FA862D4-5725-B468-228F-7BCB8C69AF81}"/>
              </a:ext>
            </a:extLst>
          </p:cNvPr>
          <p:cNvSpPr/>
          <p:nvPr/>
        </p:nvSpPr>
        <p:spPr>
          <a:xfrm rot="10800000">
            <a:off x="4816665" y="3925290"/>
            <a:ext cx="1939224" cy="868961"/>
          </a:xfrm>
          <a:custGeom>
            <a:avLst/>
            <a:gdLst>
              <a:gd name="connsiteX0" fmla="*/ 368469 w 2466854"/>
              <a:gd name="connsiteY0" fmla="*/ 50067 h 1465251"/>
              <a:gd name="connsiteX1" fmla="*/ 377845 w 2466854"/>
              <a:gd name="connsiteY1" fmla="*/ 0 h 1465251"/>
              <a:gd name="connsiteX2" fmla="*/ 378857 w 2466854"/>
              <a:gd name="connsiteY2" fmla="*/ 0 h 1465251"/>
              <a:gd name="connsiteX3" fmla="*/ 2098385 w 2466854"/>
              <a:gd name="connsiteY3" fmla="*/ 50067 h 1465251"/>
              <a:gd name="connsiteX4" fmla="*/ 2087997 w 2466854"/>
              <a:gd name="connsiteY4" fmla="*/ 0 h 1465251"/>
              <a:gd name="connsiteX5" fmla="*/ 2089010 w 2466854"/>
              <a:gd name="connsiteY5" fmla="*/ 0 h 1465251"/>
              <a:gd name="connsiteX6" fmla="*/ 2466854 w 2466854"/>
              <a:gd name="connsiteY6" fmla="*/ 1465251 h 1465251"/>
              <a:gd name="connsiteX7" fmla="*/ 2462874 w 2466854"/>
              <a:gd name="connsiteY7" fmla="*/ 1465251 h 1465251"/>
              <a:gd name="connsiteX8" fmla="*/ 2442788 w 2466854"/>
              <a:gd name="connsiteY8" fmla="*/ 1409427 h 1465251"/>
              <a:gd name="connsiteX9" fmla="*/ 1233428 w 2466854"/>
              <a:gd name="connsiteY9" fmla="*/ 1133260 h 1465251"/>
              <a:gd name="connsiteX10" fmla="*/ 24067 w 2466854"/>
              <a:gd name="connsiteY10" fmla="*/ 1409427 h 1465251"/>
              <a:gd name="connsiteX11" fmla="*/ 3982 w 2466854"/>
              <a:gd name="connsiteY11" fmla="*/ 1465251 h 1465251"/>
              <a:gd name="connsiteX12" fmla="*/ 0 w 2466854"/>
              <a:gd name="connsiteY12" fmla="*/ 1465251 h 1465251"/>
              <a:gd name="connsiteX13" fmla="*/ 71409 w 2466854"/>
              <a:gd name="connsiteY13" fmla="*/ 1245406 h 1465251"/>
              <a:gd name="connsiteX14" fmla="*/ 185185 w 2466854"/>
              <a:gd name="connsiteY14" fmla="*/ 848402 h 1465251"/>
              <a:gd name="connsiteX15" fmla="*/ 273560 w 2466854"/>
              <a:gd name="connsiteY15" fmla="*/ 497397 h 1465251"/>
              <a:gd name="connsiteX16" fmla="*/ 311669 w 2466854"/>
              <a:gd name="connsiteY16" fmla="*/ 323812 h 1465251"/>
              <a:gd name="connsiteX17" fmla="*/ 294864 w 2466854"/>
              <a:gd name="connsiteY17" fmla="*/ 404803 h 1465251"/>
              <a:gd name="connsiteX18" fmla="*/ 296220 w 2466854"/>
              <a:gd name="connsiteY18" fmla="*/ 404803 h 1465251"/>
              <a:gd name="connsiteX19" fmla="*/ 296168 w 2466854"/>
              <a:gd name="connsiteY19" fmla="*/ 404647 h 1465251"/>
              <a:gd name="connsiteX20" fmla="*/ 1233428 w 2466854"/>
              <a:gd name="connsiteY20" fmla="*/ 119811 h 1465251"/>
              <a:gd name="connsiteX21" fmla="*/ 2170688 w 2466854"/>
              <a:gd name="connsiteY21" fmla="*/ 404647 h 1465251"/>
              <a:gd name="connsiteX22" fmla="*/ 2170636 w 2466854"/>
              <a:gd name="connsiteY22" fmla="*/ 404803 h 1465251"/>
              <a:gd name="connsiteX23" fmla="*/ 2171990 w 2466854"/>
              <a:gd name="connsiteY23" fmla="*/ 404803 h 1465251"/>
              <a:gd name="connsiteX24" fmla="*/ 2155185 w 2466854"/>
              <a:gd name="connsiteY24" fmla="*/ 323812 h 1465251"/>
              <a:gd name="connsiteX25" fmla="*/ 2193294 w 2466854"/>
              <a:gd name="connsiteY25" fmla="*/ 497397 h 1465251"/>
              <a:gd name="connsiteX26" fmla="*/ 2281669 w 2466854"/>
              <a:gd name="connsiteY26" fmla="*/ 848402 h 1465251"/>
              <a:gd name="connsiteX27" fmla="*/ 2395445 w 2466854"/>
              <a:gd name="connsiteY27" fmla="*/ 1245406 h 1465251"/>
              <a:gd name="connsiteX0" fmla="*/ 368469 w 2466854"/>
              <a:gd name="connsiteY0" fmla="*/ 50067 h 1465251"/>
              <a:gd name="connsiteX1" fmla="*/ 377845 w 2466854"/>
              <a:gd name="connsiteY1" fmla="*/ 0 h 1465251"/>
              <a:gd name="connsiteX2" fmla="*/ 368469 w 2466854"/>
              <a:gd name="connsiteY2" fmla="*/ 50067 h 1465251"/>
              <a:gd name="connsiteX3" fmla="*/ 2098385 w 2466854"/>
              <a:gd name="connsiteY3" fmla="*/ 50067 h 1465251"/>
              <a:gd name="connsiteX4" fmla="*/ 2087997 w 2466854"/>
              <a:gd name="connsiteY4" fmla="*/ 0 h 1465251"/>
              <a:gd name="connsiteX5" fmla="*/ 2089010 w 2466854"/>
              <a:gd name="connsiteY5" fmla="*/ 0 h 1465251"/>
              <a:gd name="connsiteX6" fmla="*/ 2098385 w 2466854"/>
              <a:gd name="connsiteY6" fmla="*/ 50067 h 1465251"/>
              <a:gd name="connsiteX7" fmla="*/ 2466854 w 2466854"/>
              <a:gd name="connsiteY7" fmla="*/ 1465251 h 1465251"/>
              <a:gd name="connsiteX8" fmla="*/ 2462874 w 2466854"/>
              <a:gd name="connsiteY8" fmla="*/ 1465251 h 1465251"/>
              <a:gd name="connsiteX9" fmla="*/ 2442788 w 2466854"/>
              <a:gd name="connsiteY9" fmla="*/ 1409427 h 1465251"/>
              <a:gd name="connsiteX10" fmla="*/ 1233428 w 2466854"/>
              <a:gd name="connsiteY10" fmla="*/ 1133260 h 1465251"/>
              <a:gd name="connsiteX11" fmla="*/ 24067 w 2466854"/>
              <a:gd name="connsiteY11" fmla="*/ 1409427 h 1465251"/>
              <a:gd name="connsiteX12" fmla="*/ 3982 w 2466854"/>
              <a:gd name="connsiteY12" fmla="*/ 1465251 h 1465251"/>
              <a:gd name="connsiteX13" fmla="*/ 0 w 2466854"/>
              <a:gd name="connsiteY13" fmla="*/ 1465251 h 1465251"/>
              <a:gd name="connsiteX14" fmla="*/ 71409 w 2466854"/>
              <a:gd name="connsiteY14" fmla="*/ 1245406 h 1465251"/>
              <a:gd name="connsiteX15" fmla="*/ 185185 w 2466854"/>
              <a:gd name="connsiteY15" fmla="*/ 848402 h 1465251"/>
              <a:gd name="connsiteX16" fmla="*/ 273560 w 2466854"/>
              <a:gd name="connsiteY16" fmla="*/ 497397 h 1465251"/>
              <a:gd name="connsiteX17" fmla="*/ 311669 w 2466854"/>
              <a:gd name="connsiteY17" fmla="*/ 323812 h 1465251"/>
              <a:gd name="connsiteX18" fmla="*/ 294864 w 2466854"/>
              <a:gd name="connsiteY18" fmla="*/ 404803 h 1465251"/>
              <a:gd name="connsiteX19" fmla="*/ 296220 w 2466854"/>
              <a:gd name="connsiteY19" fmla="*/ 404803 h 1465251"/>
              <a:gd name="connsiteX20" fmla="*/ 296168 w 2466854"/>
              <a:gd name="connsiteY20" fmla="*/ 404647 h 1465251"/>
              <a:gd name="connsiteX21" fmla="*/ 1233428 w 2466854"/>
              <a:gd name="connsiteY21" fmla="*/ 119811 h 1465251"/>
              <a:gd name="connsiteX22" fmla="*/ 2170688 w 2466854"/>
              <a:gd name="connsiteY22" fmla="*/ 404647 h 1465251"/>
              <a:gd name="connsiteX23" fmla="*/ 2170636 w 2466854"/>
              <a:gd name="connsiteY23" fmla="*/ 404803 h 1465251"/>
              <a:gd name="connsiteX24" fmla="*/ 2171990 w 2466854"/>
              <a:gd name="connsiteY24" fmla="*/ 404803 h 1465251"/>
              <a:gd name="connsiteX25" fmla="*/ 2155185 w 2466854"/>
              <a:gd name="connsiteY25" fmla="*/ 323812 h 1465251"/>
              <a:gd name="connsiteX26" fmla="*/ 2193294 w 2466854"/>
              <a:gd name="connsiteY26" fmla="*/ 497397 h 1465251"/>
              <a:gd name="connsiteX27" fmla="*/ 2281669 w 2466854"/>
              <a:gd name="connsiteY27" fmla="*/ 848402 h 1465251"/>
              <a:gd name="connsiteX28" fmla="*/ 2395445 w 2466854"/>
              <a:gd name="connsiteY28" fmla="*/ 1245406 h 1465251"/>
              <a:gd name="connsiteX29" fmla="*/ 2466854 w 2466854"/>
              <a:gd name="connsiteY29" fmla="*/ 1465251 h 1465251"/>
              <a:gd name="connsiteX0" fmla="*/ 2098385 w 2466854"/>
              <a:gd name="connsiteY0" fmla="*/ 50067 h 1465251"/>
              <a:gd name="connsiteX1" fmla="*/ 2087997 w 2466854"/>
              <a:gd name="connsiteY1" fmla="*/ 0 h 1465251"/>
              <a:gd name="connsiteX2" fmla="*/ 2089010 w 2466854"/>
              <a:gd name="connsiteY2" fmla="*/ 0 h 1465251"/>
              <a:gd name="connsiteX3" fmla="*/ 2098385 w 2466854"/>
              <a:gd name="connsiteY3" fmla="*/ 50067 h 1465251"/>
              <a:gd name="connsiteX4" fmla="*/ 2466854 w 2466854"/>
              <a:gd name="connsiteY4" fmla="*/ 1465251 h 1465251"/>
              <a:gd name="connsiteX5" fmla="*/ 2462874 w 2466854"/>
              <a:gd name="connsiteY5" fmla="*/ 1465251 h 1465251"/>
              <a:gd name="connsiteX6" fmla="*/ 2442788 w 2466854"/>
              <a:gd name="connsiteY6" fmla="*/ 1409427 h 1465251"/>
              <a:gd name="connsiteX7" fmla="*/ 1233428 w 2466854"/>
              <a:gd name="connsiteY7" fmla="*/ 1133260 h 1465251"/>
              <a:gd name="connsiteX8" fmla="*/ 24067 w 2466854"/>
              <a:gd name="connsiteY8" fmla="*/ 1409427 h 1465251"/>
              <a:gd name="connsiteX9" fmla="*/ 3982 w 2466854"/>
              <a:gd name="connsiteY9" fmla="*/ 1465251 h 1465251"/>
              <a:gd name="connsiteX10" fmla="*/ 0 w 2466854"/>
              <a:gd name="connsiteY10" fmla="*/ 1465251 h 1465251"/>
              <a:gd name="connsiteX11" fmla="*/ 71409 w 2466854"/>
              <a:gd name="connsiteY11" fmla="*/ 1245406 h 1465251"/>
              <a:gd name="connsiteX12" fmla="*/ 185185 w 2466854"/>
              <a:gd name="connsiteY12" fmla="*/ 848402 h 1465251"/>
              <a:gd name="connsiteX13" fmla="*/ 273560 w 2466854"/>
              <a:gd name="connsiteY13" fmla="*/ 497397 h 1465251"/>
              <a:gd name="connsiteX14" fmla="*/ 311669 w 2466854"/>
              <a:gd name="connsiteY14" fmla="*/ 323812 h 1465251"/>
              <a:gd name="connsiteX15" fmla="*/ 294864 w 2466854"/>
              <a:gd name="connsiteY15" fmla="*/ 404803 h 1465251"/>
              <a:gd name="connsiteX16" fmla="*/ 296220 w 2466854"/>
              <a:gd name="connsiteY16" fmla="*/ 404803 h 1465251"/>
              <a:gd name="connsiteX17" fmla="*/ 296168 w 2466854"/>
              <a:gd name="connsiteY17" fmla="*/ 404647 h 1465251"/>
              <a:gd name="connsiteX18" fmla="*/ 1233428 w 2466854"/>
              <a:gd name="connsiteY18" fmla="*/ 119811 h 1465251"/>
              <a:gd name="connsiteX19" fmla="*/ 2170688 w 2466854"/>
              <a:gd name="connsiteY19" fmla="*/ 404647 h 1465251"/>
              <a:gd name="connsiteX20" fmla="*/ 2170636 w 2466854"/>
              <a:gd name="connsiteY20" fmla="*/ 404803 h 1465251"/>
              <a:gd name="connsiteX21" fmla="*/ 2171990 w 2466854"/>
              <a:gd name="connsiteY21" fmla="*/ 404803 h 1465251"/>
              <a:gd name="connsiteX22" fmla="*/ 2155185 w 2466854"/>
              <a:gd name="connsiteY22" fmla="*/ 323812 h 1465251"/>
              <a:gd name="connsiteX23" fmla="*/ 2193294 w 2466854"/>
              <a:gd name="connsiteY23" fmla="*/ 497397 h 1465251"/>
              <a:gd name="connsiteX24" fmla="*/ 2281669 w 2466854"/>
              <a:gd name="connsiteY24" fmla="*/ 848402 h 1465251"/>
              <a:gd name="connsiteX25" fmla="*/ 2395445 w 2466854"/>
              <a:gd name="connsiteY25" fmla="*/ 1245406 h 1465251"/>
              <a:gd name="connsiteX26" fmla="*/ 2466854 w 2466854"/>
              <a:gd name="connsiteY26" fmla="*/ 1465251 h 1465251"/>
              <a:gd name="connsiteX0" fmla="*/ 2089010 w 2466854"/>
              <a:gd name="connsiteY0" fmla="*/ 0 h 1465251"/>
              <a:gd name="connsiteX1" fmla="*/ 2087997 w 2466854"/>
              <a:gd name="connsiteY1" fmla="*/ 0 h 1465251"/>
              <a:gd name="connsiteX2" fmla="*/ 2089010 w 2466854"/>
              <a:gd name="connsiteY2" fmla="*/ 0 h 1465251"/>
              <a:gd name="connsiteX3" fmla="*/ 2466854 w 2466854"/>
              <a:gd name="connsiteY3" fmla="*/ 1465251 h 1465251"/>
              <a:gd name="connsiteX4" fmla="*/ 2462874 w 2466854"/>
              <a:gd name="connsiteY4" fmla="*/ 1465251 h 1465251"/>
              <a:gd name="connsiteX5" fmla="*/ 2442788 w 2466854"/>
              <a:gd name="connsiteY5" fmla="*/ 1409427 h 1465251"/>
              <a:gd name="connsiteX6" fmla="*/ 1233428 w 2466854"/>
              <a:gd name="connsiteY6" fmla="*/ 1133260 h 1465251"/>
              <a:gd name="connsiteX7" fmla="*/ 24067 w 2466854"/>
              <a:gd name="connsiteY7" fmla="*/ 1409427 h 1465251"/>
              <a:gd name="connsiteX8" fmla="*/ 3982 w 2466854"/>
              <a:gd name="connsiteY8" fmla="*/ 1465251 h 1465251"/>
              <a:gd name="connsiteX9" fmla="*/ 0 w 2466854"/>
              <a:gd name="connsiteY9" fmla="*/ 1465251 h 1465251"/>
              <a:gd name="connsiteX10" fmla="*/ 71409 w 2466854"/>
              <a:gd name="connsiteY10" fmla="*/ 1245406 h 1465251"/>
              <a:gd name="connsiteX11" fmla="*/ 185185 w 2466854"/>
              <a:gd name="connsiteY11" fmla="*/ 848402 h 1465251"/>
              <a:gd name="connsiteX12" fmla="*/ 273560 w 2466854"/>
              <a:gd name="connsiteY12" fmla="*/ 497397 h 1465251"/>
              <a:gd name="connsiteX13" fmla="*/ 311669 w 2466854"/>
              <a:gd name="connsiteY13" fmla="*/ 323812 h 1465251"/>
              <a:gd name="connsiteX14" fmla="*/ 294864 w 2466854"/>
              <a:gd name="connsiteY14" fmla="*/ 404803 h 1465251"/>
              <a:gd name="connsiteX15" fmla="*/ 296220 w 2466854"/>
              <a:gd name="connsiteY15" fmla="*/ 404803 h 1465251"/>
              <a:gd name="connsiteX16" fmla="*/ 296168 w 2466854"/>
              <a:gd name="connsiteY16" fmla="*/ 404647 h 1465251"/>
              <a:gd name="connsiteX17" fmla="*/ 1233428 w 2466854"/>
              <a:gd name="connsiteY17" fmla="*/ 119811 h 1465251"/>
              <a:gd name="connsiteX18" fmla="*/ 2170688 w 2466854"/>
              <a:gd name="connsiteY18" fmla="*/ 404647 h 1465251"/>
              <a:gd name="connsiteX19" fmla="*/ 2170636 w 2466854"/>
              <a:gd name="connsiteY19" fmla="*/ 404803 h 1465251"/>
              <a:gd name="connsiteX20" fmla="*/ 2171990 w 2466854"/>
              <a:gd name="connsiteY20" fmla="*/ 404803 h 1465251"/>
              <a:gd name="connsiteX21" fmla="*/ 2155185 w 2466854"/>
              <a:gd name="connsiteY21" fmla="*/ 323812 h 1465251"/>
              <a:gd name="connsiteX22" fmla="*/ 2193294 w 2466854"/>
              <a:gd name="connsiteY22" fmla="*/ 497397 h 1465251"/>
              <a:gd name="connsiteX23" fmla="*/ 2281669 w 2466854"/>
              <a:gd name="connsiteY23" fmla="*/ 848402 h 1465251"/>
              <a:gd name="connsiteX24" fmla="*/ 2395445 w 2466854"/>
              <a:gd name="connsiteY24" fmla="*/ 1245406 h 1465251"/>
              <a:gd name="connsiteX25" fmla="*/ 2466854 w 2466854"/>
              <a:gd name="connsiteY25" fmla="*/ 1465251 h 1465251"/>
              <a:gd name="connsiteX0" fmla="*/ 2466854 w 2466854"/>
              <a:gd name="connsiteY0" fmla="*/ 1345440 h 1345440"/>
              <a:gd name="connsiteX1" fmla="*/ 2462874 w 2466854"/>
              <a:gd name="connsiteY1" fmla="*/ 1345440 h 1345440"/>
              <a:gd name="connsiteX2" fmla="*/ 2442788 w 2466854"/>
              <a:gd name="connsiteY2" fmla="*/ 1289616 h 1345440"/>
              <a:gd name="connsiteX3" fmla="*/ 1233428 w 2466854"/>
              <a:gd name="connsiteY3" fmla="*/ 1013449 h 1345440"/>
              <a:gd name="connsiteX4" fmla="*/ 24067 w 2466854"/>
              <a:gd name="connsiteY4" fmla="*/ 1289616 h 1345440"/>
              <a:gd name="connsiteX5" fmla="*/ 3982 w 2466854"/>
              <a:gd name="connsiteY5" fmla="*/ 1345440 h 1345440"/>
              <a:gd name="connsiteX6" fmla="*/ 0 w 2466854"/>
              <a:gd name="connsiteY6" fmla="*/ 1345440 h 1345440"/>
              <a:gd name="connsiteX7" fmla="*/ 71409 w 2466854"/>
              <a:gd name="connsiteY7" fmla="*/ 1125595 h 1345440"/>
              <a:gd name="connsiteX8" fmla="*/ 185185 w 2466854"/>
              <a:gd name="connsiteY8" fmla="*/ 728591 h 1345440"/>
              <a:gd name="connsiteX9" fmla="*/ 273560 w 2466854"/>
              <a:gd name="connsiteY9" fmla="*/ 377586 h 1345440"/>
              <a:gd name="connsiteX10" fmla="*/ 311669 w 2466854"/>
              <a:gd name="connsiteY10" fmla="*/ 204001 h 1345440"/>
              <a:gd name="connsiteX11" fmla="*/ 294864 w 2466854"/>
              <a:gd name="connsiteY11" fmla="*/ 284992 h 1345440"/>
              <a:gd name="connsiteX12" fmla="*/ 296220 w 2466854"/>
              <a:gd name="connsiteY12" fmla="*/ 284992 h 1345440"/>
              <a:gd name="connsiteX13" fmla="*/ 296168 w 2466854"/>
              <a:gd name="connsiteY13" fmla="*/ 284836 h 1345440"/>
              <a:gd name="connsiteX14" fmla="*/ 1233428 w 2466854"/>
              <a:gd name="connsiteY14" fmla="*/ 0 h 1345440"/>
              <a:gd name="connsiteX15" fmla="*/ 2170688 w 2466854"/>
              <a:gd name="connsiteY15" fmla="*/ 284836 h 1345440"/>
              <a:gd name="connsiteX16" fmla="*/ 2170636 w 2466854"/>
              <a:gd name="connsiteY16" fmla="*/ 284992 h 1345440"/>
              <a:gd name="connsiteX17" fmla="*/ 2171990 w 2466854"/>
              <a:gd name="connsiteY17" fmla="*/ 284992 h 1345440"/>
              <a:gd name="connsiteX18" fmla="*/ 2155185 w 2466854"/>
              <a:gd name="connsiteY18" fmla="*/ 204001 h 1345440"/>
              <a:gd name="connsiteX19" fmla="*/ 2193294 w 2466854"/>
              <a:gd name="connsiteY19" fmla="*/ 377586 h 1345440"/>
              <a:gd name="connsiteX20" fmla="*/ 2281669 w 2466854"/>
              <a:gd name="connsiteY20" fmla="*/ 728591 h 1345440"/>
              <a:gd name="connsiteX21" fmla="*/ 2395445 w 2466854"/>
              <a:gd name="connsiteY21" fmla="*/ 1125595 h 1345440"/>
              <a:gd name="connsiteX22" fmla="*/ 2466854 w 2466854"/>
              <a:gd name="connsiteY22" fmla="*/ 1345440 h 134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466854" h="1345440">
                <a:moveTo>
                  <a:pt x="2466854" y="1345440"/>
                </a:moveTo>
                <a:lnTo>
                  <a:pt x="2462874" y="1345440"/>
                </a:lnTo>
                <a:lnTo>
                  <a:pt x="2442788" y="1289616"/>
                </a:lnTo>
                <a:cubicBezTo>
                  <a:pt x="2327681" y="1132007"/>
                  <a:pt x="1829970" y="1013449"/>
                  <a:pt x="1233428" y="1013449"/>
                </a:cubicBezTo>
                <a:cubicBezTo>
                  <a:pt x="636886" y="1013449"/>
                  <a:pt x="139174" y="1132007"/>
                  <a:pt x="24067" y="1289616"/>
                </a:cubicBezTo>
                <a:lnTo>
                  <a:pt x="3982" y="1345440"/>
                </a:lnTo>
                <a:lnTo>
                  <a:pt x="0" y="1345440"/>
                </a:lnTo>
                <a:lnTo>
                  <a:pt x="71409" y="1125595"/>
                </a:lnTo>
                <a:cubicBezTo>
                  <a:pt x="111113" y="995678"/>
                  <a:pt x="149105" y="863245"/>
                  <a:pt x="185185" y="728591"/>
                </a:cubicBezTo>
                <a:cubicBezTo>
                  <a:pt x="216755" y="610769"/>
                  <a:pt x="246208" y="493688"/>
                  <a:pt x="273560" y="377586"/>
                </a:cubicBezTo>
                <a:lnTo>
                  <a:pt x="311669" y="204001"/>
                </a:lnTo>
                <a:lnTo>
                  <a:pt x="294864" y="284992"/>
                </a:lnTo>
                <a:lnTo>
                  <a:pt x="296220" y="284992"/>
                </a:lnTo>
                <a:cubicBezTo>
                  <a:pt x="296203" y="284940"/>
                  <a:pt x="296185" y="284888"/>
                  <a:pt x="296168" y="284836"/>
                </a:cubicBezTo>
                <a:cubicBezTo>
                  <a:pt x="296168" y="127525"/>
                  <a:pt x="715794" y="0"/>
                  <a:pt x="1233428" y="0"/>
                </a:cubicBezTo>
                <a:cubicBezTo>
                  <a:pt x="1751062" y="0"/>
                  <a:pt x="2170688" y="127525"/>
                  <a:pt x="2170688" y="284836"/>
                </a:cubicBezTo>
                <a:cubicBezTo>
                  <a:pt x="2170671" y="284888"/>
                  <a:pt x="2170653" y="284940"/>
                  <a:pt x="2170636" y="284992"/>
                </a:cubicBezTo>
                <a:lnTo>
                  <a:pt x="2171990" y="284992"/>
                </a:lnTo>
                <a:lnTo>
                  <a:pt x="2155185" y="204001"/>
                </a:lnTo>
                <a:lnTo>
                  <a:pt x="2193294" y="377586"/>
                </a:lnTo>
                <a:cubicBezTo>
                  <a:pt x="2220646" y="493688"/>
                  <a:pt x="2250099" y="610769"/>
                  <a:pt x="2281669" y="728591"/>
                </a:cubicBezTo>
                <a:cubicBezTo>
                  <a:pt x="2317749" y="863245"/>
                  <a:pt x="2355741" y="995678"/>
                  <a:pt x="2395445" y="1125595"/>
                </a:cubicBezTo>
                <a:lnTo>
                  <a:pt x="2466854" y="1345440"/>
                </a:lnTo>
                <a:close/>
              </a:path>
            </a:pathLst>
          </a:custGeom>
          <a:solidFill>
            <a:srgbClr val="009AA2"/>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 lastClr="FFFFFF"/>
              </a:solidFill>
              <a:effectLst/>
              <a:uLnTx/>
              <a:uFillTx/>
              <a:latin typeface="Calibri" panose="020F0502020204030204"/>
              <a:ea typeface="+mn-ea"/>
              <a:cs typeface="+mn-cs"/>
            </a:endParaRPr>
          </a:p>
        </p:txBody>
      </p:sp>
      <p:sp>
        <p:nvSpPr>
          <p:cNvPr id="27" name="Freeform 90">
            <a:extLst>
              <a:ext uri="{FF2B5EF4-FFF2-40B4-BE49-F238E27FC236}">
                <a16:creationId xmlns:a16="http://schemas.microsoft.com/office/drawing/2014/main" id="{5E36ED98-3F13-9C85-2434-854C929DED15}"/>
              </a:ext>
            </a:extLst>
          </p:cNvPr>
          <p:cNvSpPr/>
          <p:nvPr/>
        </p:nvSpPr>
        <p:spPr>
          <a:xfrm rot="10800000">
            <a:off x="4482225" y="3222444"/>
            <a:ext cx="2608105" cy="920114"/>
          </a:xfrm>
          <a:custGeom>
            <a:avLst/>
            <a:gdLst>
              <a:gd name="connsiteX0" fmla="*/ 3317727 w 3317727"/>
              <a:gd name="connsiteY0" fmla="*/ 1424642 h 1424642"/>
              <a:gd name="connsiteX1" fmla="*/ 3313856 w 3317727"/>
              <a:gd name="connsiteY1" fmla="*/ 1424642 h 1424642"/>
              <a:gd name="connsiteX2" fmla="*/ 3280303 w 3317727"/>
              <a:gd name="connsiteY2" fmla="*/ 1351086 h 1424642"/>
              <a:gd name="connsiteX3" fmla="*/ 1658864 w 3317727"/>
              <a:gd name="connsiteY3" fmla="*/ 1059040 h 1424642"/>
              <a:gd name="connsiteX4" fmla="*/ 37425 w 3317727"/>
              <a:gd name="connsiteY4" fmla="*/ 1351086 h 1424642"/>
              <a:gd name="connsiteX5" fmla="*/ 3872 w 3317727"/>
              <a:gd name="connsiteY5" fmla="*/ 1424642 h 1424642"/>
              <a:gd name="connsiteX6" fmla="*/ 0 w 3317727"/>
              <a:gd name="connsiteY6" fmla="*/ 1424642 h 1424642"/>
              <a:gd name="connsiteX7" fmla="*/ 62339 w 3317727"/>
              <a:gd name="connsiteY7" fmla="*/ 1288892 h 1424642"/>
              <a:gd name="connsiteX8" fmla="*/ 372798 w 3317727"/>
              <a:gd name="connsiteY8" fmla="*/ 494048 h 1424642"/>
              <a:gd name="connsiteX9" fmla="*/ 425436 w 3317727"/>
              <a:gd name="connsiteY9" fmla="*/ 331991 h 1424642"/>
              <a:gd name="connsiteX10" fmla="*/ 429418 w 3317727"/>
              <a:gd name="connsiteY10" fmla="*/ 331991 h 1424642"/>
              <a:gd name="connsiteX11" fmla="*/ 449503 w 3317727"/>
              <a:gd name="connsiteY11" fmla="*/ 276167 h 1424642"/>
              <a:gd name="connsiteX12" fmla="*/ 1658864 w 3317727"/>
              <a:gd name="connsiteY12" fmla="*/ 0 h 1424642"/>
              <a:gd name="connsiteX13" fmla="*/ 2868224 w 3317727"/>
              <a:gd name="connsiteY13" fmla="*/ 276167 h 1424642"/>
              <a:gd name="connsiteX14" fmla="*/ 2888310 w 3317727"/>
              <a:gd name="connsiteY14" fmla="*/ 331991 h 1424642"/>
              <a:gd name="connsiteX15" fmla="*/ 2892290 w 3317727"/>
              <a:gd name="connsiteY15" fmla="*/ 331991 h 1424642"/>
              <a:gd name="connsiteX16" fmla="*/ 2944928 w 3317727"/>
              <a:gd name="connsiteY16" fmla="*/ 494048 h 1424642"/>
              <a:gd name="connsiteX17" fmla="*/ 3255388 w 3317727"/>
              <a:gd name="connsiteY17" fmla="*/ 1288892 h 142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17727" h="1424642">
                <a:moveTo>
                  <a:pt x="3317727" y="1424642"/>
                </a:moveTo>
                <a:lnTo>
                  <a:pt x="3313856" y="1424642"/>
                </a:lnTo>
                <a:lnTo>
                  <a:pt x="3280303" y="1351086"/>
                </a:lnTo>
                <a:cubicBezTo>
                  <a:pt x="3125974" y="1184416"/>
                  <a:pt x="2458672" y="1059040"/>
                  <a:pt x="1658864" y="1059040"/>
                </a:cubicBezTo>
                <a:cubicBezTo>
                  <a:pt x="859055" y="1059040"/>
                  <a:pt x="191753" y="1184416"/>
                  <a:pt x="37425" y="1351086"/>
                </a:cubicBezTo>
                <a:lnTo>
                  <a:pt x="3872" y="1424642"/>
                </a:lnTo>
                <a:lnTo>
                  <a:pt x="0" y="1424642"/>
                </a:lnTo>
                <a:lnTo>
                  <a:pt x="62339" y="1288892"/>
                </a:lnTo>
                <a:cubicBezTo>
                  <a:pt x="171966" y="1040442"/>
                  <a:pt x="276210" y="774367"/>
                  <a:pt x="372798" y="494048"/>
                </a:cubicBezTo>
                <a:lnTo>
                  <a:pt x="425436" y="331991"/>
                </a:lnTo>
                <a:lnTo>
                  <a:pt x="429418" y="331991"/>
                </a:lnTo>
                <a:lnTo>
                  <a:pt x="449503" y="276167"/>
                </a:lnTo>
                <a:cubicBezTo>
                  <a:pt x="564610" y="118558"/>
                  <a:pt x="1062322" y="0"/>
                  <a:pt x="1658864" y="0"/>
                </a:cubicBezTo>
                <a:cubicBezTo>
                  <a:pt x="2255406" y="0"/>
                  <a:pt x="2753117" y="118558"/>
                  <a:pt x="2868224" y="276167"/>
                </a:cubicBezTo>
                <a:lnTo>
                  <a:pt x="2888310" y="331991"/>
                </a:lnTo>
                <a:lnTo>
                  <a:pt x="2892290" y="331991"/>
                </a:lnTo>
                <a:lnTo>
                  <a:pt x="2944928" y="494048"/>
                </a:lnTo>
                <a:cubicBezTo>
                  <a:pt x="3041516" y="774367"/>
                  <a:pt x="3145761" y="1040442"/>
                  <a:pt x="3255388" y="1288892"/>
                </a:cubicBezTo>
                <a:close/>
              </a:path>
            </a:pathLst>
          </a:custGeom>
          <a:solidFill>
            <a:srgbClr val="003B3E"/>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 lastClr="FFFFFF"/>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3F58526C-FCDB-AA56-A752-36E6BA4AF05C}"/>
              </a:ext>
            </a:extLst>
          </p:cNvPr>
          <p:cNvSpPr/>
          <p:nvPr/>
        </p:nvSpPr>
        <p:spPr>
          <a:xfrm>
            <a:off x="4003601" y="2267339"/>
            <a:ext cx="3565351" cy="524952"/>
          </a:xfrm>
          <a:prstGeom prst="ellipse">
            <a:avLst/>
          </a:prstGeom>
          <a:solidFill>
            <a:schemeClr val="bg1">
              <a:lumMod val="50000"/>
            </a:schemeClr>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 lastClr="FFFFFF"/>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400D7257-7A92-BD51-BBC9-75338F5ABE9D}"/>
              </a:ext>
            </a:extLst>
          </p:cNvPr>
          <p:cNvSpPr/>
          <p:nvPr/>
        </p:nvSpPr>
        <p:spPr>
          <a:xfrm>
            <a:off x="4525042" y="2584622"/>
            <a:ext cx="2522186" cy="440719"/>
          </a:xfrm>
          <a:prstGeom prst="ellipse">
            <a:avLst/>
          </a:prstGeom>
          <a:solidFill>
            <a:schemeClr val="bg1">
              <a:lumMod val="75000"/>
              <a:alpha val="35000"/>
            </a:schemeClr>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 lastClr="FFFFFF"/>
              </a:solidFill>
              <a:effectLst/>
              <a:uLnTx/>
              <a:uFillTx/>
              <a:latin typeface="Calibri" panose="020F0502020204030204"/>
              <a:ea typeface="+mn-ea"/>
              <a:cs typeface="+mn-cs"/>
            </a:endParaRPr>
          </a:p>
        </p:txBody>
      </p:sp>
      <p:sp>
        <p:nvSpPr>
          <p:cNvPr id="30" name="Freeform 93">
            <a:extLst>
              <a:ext uri="{FF2B5EF4-FFF2-40B4-BE49-F238E27FC236}">
                <a16:creationId xmlns:a16="http://schemas.microsoft.com/office/drawing/2014/main" id="{144F589E-5D22-4BF3-8B56-6BDDCFB871C2}"/>
              </a:ext>
            </a:extLst>
          </p:cNvPr>
          <p:cNvSpPr/>
          <p:nvPr/>
        </p:nvSpPr>
        <p:spPr>
          <a:xfrm rot="10800000">
            <a:off x="4053330" y="2596505"/>
            <a:ext cx="3469557" cy="870810"/>
          </a:xfrm>
          <a:custGeom>
            <a:avLst/>
            <a:gdLst>
              <a:gd name="connsiteX0" fmla="*/ 3685105 w 4413566"/>
              <a:gd name="connsiteY0" fmla="*/ 52497 h 1455510"/>
              <a:gd name="connsiteX1" fmla="*/ 3663298 w 4413566"/>
              <a:gd name="connsiteY1" fmla="*/ 0 h 1455510"/>
              <a:gd name="connsiteX2" fmla="*/ 3663734 w 4413566"/>
              <a:gd name="connsiteY2" fmla="*/ 0 h 1455510"/>
              <a:gd name="connsiteX3" fmla="*/ 728457 w 4413566"/>
              <a:gd name="connsiteY3" fmla="*/ 52508 h 1455510"/>
              <a:gd name="connsiteX4" fmla="*/ 749832 w 4413566"/>
              <a:gd name="connsiteY4" fmla="*/ 0 h 1455510"/>
              <a:gd name="connsiteX5" fmla="*/ 750268 w 4413566"/>
              <a:gd name="connsiteY5" fmla="*/ 0 h 1455510"/>
              <a:gd name="connsiteX6" fmla="*/ 0 w 4413566"/>
              <a:gd name="connsiteY6" fmla="*/ 1455510 h 1455510"/>
              <a:gd name="connsiteX7" fmla="*/ 27790 w 4413566"/>
              <a:gd name="connsiteY7" fmla="*/ 1416784 h 1455510"/>
              <a:gd name="connsiteX8" fmla="*/ 498921 w 4413566"/>
              <a:gd name="connsiteY8" fmla="*/ 579507 h 1455510"/>
              <a:gd name="connsiteX9" fmla="*/ 626561 w 4413566"/>
              <a:gd name="connsiteY9" fmla="*/ 297814 h 1455510"/>
              <a:gd name="connsiteX10" fmla="*/ 610259 w 4413566"/>
              <a:gd name="connsiteY10" fmla="*/ 337058 h 1455510"/>
              <a:gd name="connsiteX11" fmla="*/ 547920 w 4413566"/>
              <a:gd name="connsiteY11" fmla="*/ 472808 h 1455510"/>
              <a:gd name="connsiteX12" fmla="*/ 551792 w 4413566"/>
              <a:gd name="connsiteY12" fmla="*/ 472808 h 1455510"/>
              <a:gd name="connsiteX13" fmla="*/ 585345 w 4413566"/>
              <a:gd name="connsiteY13" fmla="*/ 399252 h 1455510"/>
              <a:gd name="connsiteX14" fmla="*/ 2206784 w 4413566"/>
              <a:gd name="connsiteY14" fmla="*/ 107206 h 1455510"/>
              <a:gd name="connsiteX15" fmla="*/ 3828223 w 4413566"/>
              <a:gd name="connsiteY15" fmla="*/ 399252 h 1455510"/>
              <a:gd name="connsiteX16" fmla="*/ 3861776 w 4413566"/>
              <a:gd name="connsiteY16" fmla="*/ 472808 h 1455510"/>
              <a:gd name="connsiteX17" fmla="*/ 3865647 w 4413566"/>
              <a:gd name="connsiteY17" fmla="*/ 472808 h 1455510"/>
              <a:gd name="connsiteX18" fmla="*/ 3803308 w 4413566"/>
              <a:gd name="connsiteY18" fmla="*/ 337058 h 1455510"/>
              <a:gd name="connsiteX19" fmla="*/ 3787016 w 4413566"/>
              <a:gd name="connsiteY19" fmla="*/ 297836 h 1455510"/>
              <a:gd name="connsiteX20" fmla="*/ 3914645 w 4413566"/>
              <a:gd name="connsiteY20" fmla="*/ 579507 h 1455510"/>
              <a:gd name="connsiteX21" fmla="*/ 4385777 w 4413566"/>
              <a:gd name="connsiteY21" fmla="*/ 1416784 h 1455510"/>
              <a:gd name="connsiteX22" fmla="*/ 4413566 w 4413566"/>
              <a:gd name="connsiteY22" fmla="*/ 1455508 h 1455510"/>
              <a:gd name="connsiteX23" fmla="*/ 4372544 w 4413566"/>
              <a:gd name="connsiteY23" fmla="*/ 1426917 h 1455510"/>
              <a:gd name="connsiteX24" fmla="*/ 2206784 w 4413566"/>
              <a:gd name="connsiteY24" fmla="*/ 1141368 h 1455510"/>
              <a:gd name="connsiteX25" fmla="*/ 41024 w 4413566"/>
              <a:gd name="connsiteY25" fmla="*/ 1426917 h 1455510"/>
              <a:gd name="connsiteX0" fmla="*/ 3685105 w 4413566"/>
              <a:gd name="connsiteY0" fmla="*/ 52497 h 1455510"/>
              <a:gd name="connsiteX1" fmla="*/ 3663298 w 4413566"/>
              <a:gd name="connsiteY1" fmla="*/ 0 h 1455510"/>
              <a:gd name="connsiteX2" fmla="*/ 3685105 w 4413566"/>
              <a:gd name="connsiteY2" fmla="*/ 52497 h 1455510"/>
              <a:gd name="connsiteX3" fmla="*/ 728457 w 4413566"/>
              <a:gd name="connsiteY3" fmla="*/ 52508 h 1455510"/>
              <a:gd name="connsiteX4" fmla="*/ 749832 w 4413566"/>
              <a:gd name="connsiteY4" fmla="*/ 0 h 1455510"/>
              <a:gd name="connsiteX5" fmla="*/ 750268 w 4413566"/>
              <a:gd name="connsiteY5" fmla="*/ 0 h 1455510"/>
              <a:gd name="connsiteX6" fmla="*/ 728457 w 4413566"/>
              <a:gd name="connsiteY6" fmla="*/ 52508 h 1455510"/>
              <a:gd name="connsiteX7" fmla="*/ 0 w 4413566"/>
              <a:gd name="connsiteY7" fmla="*/ 1455510 h 1455510"/>
              <a:gd name="connsiteX8" fmla="*/ 27790 w 4413566"/>
              <a:gd name="connsiteY8" fmla="*/ 1416784 h 1455510"/>
              <a:gd name="connsiteX9" fmla="*/ 498921 w 4413566"/>
              <a:gd name="connsiteY9" fmla="*/ 579507 h 1455510"/>
              <a:gd name="connsiteX10" fmla="*/ 626561 w 4413566"/>
              <a:gd name="connsiteY10" fmla="*/ 297814 h 1455510"/>
              <a:gd name="connsiteX11" fmla="*/ 610259 w 4413566"/>
              <a:gd name="connsiteY11" fmla="*/ 337058 h 1455510"/>
              <a:gd name="connsiteX12" fmla="*/ 547920 w 4413566"/>
              <a:gd name="connsiteY12" fmla="*/ 472808 h 1455510"/>
              <a:gd name="connsiteX13" fmla="*/ 551792 w 4413566"/>
              <a:gd name="connsiteY13" fmla="*/ 472808 h 1455510"/>
              <a:gd name="connsiteX14" fmla="*/ 585345 w 4413566"/>
              <a:gd name="connsiteY14" fmla="*/ 399252 h 1455510"/>
              <a:gd name="connsiteX15" fmla="*/ 2206784 w 4413566"/>
              <a:gd name="connsiteY15" fmla="*/ 107206 h 1455510"/>
              <a:gd name="connsiteX16" fmla="*/ 3828223 w 4413566"/>
              <a:gd name="connsiteY16" fmla="*/ 399252 h 1455510"/>
              <a:gd name="connsiteX17" fmla="*/ 3861776 w 4413566"/>
              <a:gd name="connsiteY17" fmla="*/ 472808 h 1455510"/>
              <a:gd name="connsiteX18" fmla="*/ 3865647 w 4413566"/>
              <a:gd name="connsiteY18" fmla="*/ 472808 h 1455510"/>
              <a:gd name="connsiteX19" fmla="*/ 3803308 w 4413566"/>
              <a:gd name="connsiteY19" fmla="*/ 337058 h 1455510"/>
              <a:gd name="connsiteX20" fmla="*/ 3787016 w 4413566"/>
              <a:gd name="connsiteY20" fmla="*/ 297836 h 1455510"/>
              <a:gd name="connsiteX21" fmla="*/ 3914645 w 4413566"/>
              <a:gd name="connsiteY21" fmla="*/ 579507 h 1455510"/>
              <a:gd name="connsiteX22" fmla="*/ 4385777 w 4413566"/>
              <a:gd name="connsiteY22" fmla="*/ 1416784 h 1455510"/>
              <a:gd name="connsiteX23" fmla="*/ 4413566 w 4413566"/>
              <a:gd name="connsiteY23" fmla="*/ 1455508 h 1455510"/>
              <a:gd name="connsiteX24" fmla="*/ 4372544 w 4413566"/>
              <a:gd name="connsiteY24" fmla="*/ 1426917 h 1455510"/>
              <a:gd name="connsiteX25" fmla="*/ 2206784 w 4413566"/>
              <a:gd name="connsiteY25" fmla="*/ 1141368 h 1455510"/>
              <a:gd name="connsiteX26" fmla="*/ 41024 w 4413566"/>
              <a:gd name="connsiteY26" fmla="*/ 1426917 h 1455510"/>
              <a:gd name="connsiteX27" fmla="*/ 0 w 4413566"/>
              <a:gd name="connsiteY27" fmla="*/ 1455510 h 1455510"/>
              <a:gd name="connsiteX0" fmla="*/ 728457 w 4413566"/>
              <a:gd name="connsiteY0" fmla="*/ 52508 h 1455510"/>
              <a:gd name="connsiteX1" fmla="*/ 749832 w 4413566"/>
              <a:gd name="connsiteY1" fmla="*/ 0 h 1455510"/>
              <a:gd name="connsiteX2" fmla="*/ 750268 w 4413566"/>
              <a:gd name="connsiteY2" fmla="*/ 0 h 1455510"/>
              <a:gd name="connsiteX3" fmla="*/ 728457 w 4413566"/>
              <a:gd name="connsiteY3" fmla="*/ 52508 h 1455510"/>
              <a:gd name="connsiteX4" fmla="*/ 0 w 4413566"/>
              <a:gd name="connsiteY4" fmla="*/ 1455510 h 1455510"/>
              <a:gd name="connsiteX5" fmla="*/ 27790 w 4413566"/>
              <a:gd name="connsiteY5" fmla="*/ 1416784 h 1455510"/>
              <a:gd name="connsiteX6" fmla="*/ 498921 w 4413566"/>
              <a:gd name="connsiteY6" fmla="*/ 579507 h 1455510"/>
              <a:gd name="connsiteX7" fmla="*/ 626561 w 4413566"/>
              <a:gd name="connsiteY7" fmla="*/ 297814 h 1455510"/>
              <a:gd name="connsiteX8" fmla="*/ 610259 w 4413566"/>
              <a:gd name="connsiteY8" fmla="*/ 337058 h 1455510"/>
              <a:gd name="connsiteX9" fmla="*/ 547920 w 4413566"/>
              <a:gd name="connsiteY9" fmla="*/ 472808 h 1455510"/>
              <a:gd name="connsiteX10" fmla="*/ 551792 w 4413566"/>
              <a:gd name="connsiteY10" fmla="*/ 472808 h 1455510"/>
              <a:gd name="connsiteX11" fmla="*/ 585345 w 4413566"/>
              <a:gd name="connsiteY11" fmla="*/ 399252 h 1455510"/>
              <a:gd name="connsiteX12" fmla="*/ 2206784 w 4413566"/>
              <a:gd name="connsiteY12" fmla="*/ 107206 h 1455510"/>
              <a:gd name="connsiteX13" fmla="*/ 3828223 w 4413566"/>
              <a:gd name="connsiteY13" fmla="*/ 399252 h 1455510"/>
              <a:gd name="connsiteX14" fmla="*/ 3861776 w 4413566"/>
              <a:gd name="connsiteY14" fmla="*/ 472808 h 1455510"/>
              <a:gd name="connsiteX15" fmla="*/ 3865647 w 4413566"/>
              <a:gd name="connsiteY15" fmla="*/ 472808 h 1455510"/>
              <a:gd name="connsiteX16" fmla="*/ 3803308 w 4413566"/>
              <a:gd name="connsiteY16" fmla="*/ 337058 h 1455510"/>
              <a:gd name="connsiteX17" fmla="*/ 3787016 w 4413566"/>
              <a:gd name="connsiteY17" fmla="*/ 297836 h 1455510"/>
              <a:gd name="connsiteX18" fmla="*/ 3914645 w 4413566"/>
              <a:gd name="connsiteY18" fmla="*/ 579507 h 1455510"/>
              <a:gd name="connsiteX19" fmla="*/ 4385777 w 4413566"/>
              <a:gd name="connsiteY19" fmla="*/ 1416784 h 1455510"/>
              <a:gd name="connsiteX20" fmla="*/ 4413566 w 4413566"/>
              <a:gd name="connsiteY20" fmla="*/ 1455508 h 1455510"/>
              <a:gd name="connsiteX21" fmla="*/ 4372544 w 4413566"/>
              <a:gd name="connsiteY21" fmla="*/ 1426917 h 1455510"/>
              <a:gd name="connsiteX22" fmla="*/ 2206784 w 4413566"/>
              <a:gd name="connsiteY22" fmla="*/ 1141368 h 1455510"/>
              <a:gd name="connsiteX23" fmla="*/ 41024 w 4413566"/>
              <a:gd name="connsiteY23" fmla="*/ 1426917 h 1455510"/>
              <a:gd name="connsiteX24" fmla="*/ 0 w 4413566"/>
              <a:gd name="connsiteY24" fmla="*/ 1455510 h 1455510"/>
              <a:gd name="connsiteX0" fmla="*/ 728457 w 4413566"/>
              <a:gd name="connsiteY0" fmla="*/ 52508 h 1455510"/>
              <a:gd name="connsiteX1" fmla="*/ 749832 w 4413566"/>
              <a:gd name="connsiteY1" fmla="*/ 0 h 1455510"/>
              <a:gd name="connsiteX2" fmla="*/ 728457 w 4413566"/>
              <a:gd name="connsiteY2" fmla="*/ 52508 h 1455510"/>
              <a:gd name="connsiteX3" fmla="*/ 0 w 4413566"/>
              <a:gd name="connsiteY3" fmla="*/ 1455510 h 1455510"/>
              <a:gd name="connsiteX4" fmla="*/ 27790 w 4413566"/>
              <a:gd name="connsiteY4" fmla="*/ 1416784 h 1455510"/>
              <a:gd name="connsiteX5" fmla="*/ 498921 w 4413566"/>
              <a:gd name="connsiteY5" fmla="*/ 579507 h 1455510"/>
              <a:gd name="connsiteX6" fmla="*/ 626561 w 4413566"/>
              <a:gd name="connsiteY6" fmla="*/ 297814 h 1455510"/>
              <a:gd name="connsiteX7" fmla="*/ 610259 w 4413566"/>
              <a:gd name="connsiteY7" fmla="*/ 337058 h 1455510"/>
              <a:gd name="connsiteX8" fmla="*/ 547920 w 4413566"/>
              <a:gd name="connsiteY8" fmla="*/ 472808 h 1455510"/>
              <a:gd name="connsiteX9" fmla="*/ 551792 w 4413566"/>
              <a:gd name="connsiteY9" fmla="*/ 472808 h 1455510"/>
              <a:gd name="connsiteX10" fmla="*/ 585345 w 4413566"/>
              <a:gd name="connsiteY10" fmla="*/ 399252 h 1455510"/>
              <a:gd name="connsiteX11" fmla="*/ 2206784 w 4413566"/>
              <a:gd name="connsiteY11" fmla="*/ 107206 h 1455510"/>
              <a:gd name="connsiteX12" fmla="*/ 3828223 w 4413566"/>
              <a:gd name="connsiteY12" fmla="*/ 399252 h 1455510"/>
              <a:gd name="connsiteX13" fmla="*/ 3861776 w 4413566"/>
              <a:gd name="connsiteY13" fmla="*/ 472808 h 1455510"/>
              <a:gd name="connsiteX14" fmla="*/ 3865647 w 4413566"/>
              <a:gd name="connsiteY14" fmla="*/ 472808 h 1455510"/>
              <a:gd name="connsiteX15" fmla="*/ 3803308 w 4413566"/>
              <a:gd name="connsiteY15" fmla="*/ 337058 h 1455510"/>
              <a:gd name="connsiteX16" fmla="*/ 3787016 w 4413566"/>
              <a:gd name="connsiteY16" fmla="*/ 297836 h 1455510"/>
              <a:gd name="connsiteX17" fmla="*/ 3914645 w 4413566"/>
              <a:gd name="connsiteY17" fmla="*/ 579507 h 1455510"/>
              <a:gd name="connsiteX18" fmla="*/ 4385777 w 4413566"/>
              <a:gd name="connsiteY18" fmla="*/ 1416784 h 1455510"/>
              <a:gd name="connsiteX19" fmla="*/ 4413566 w 4413566"/>
              <a:gd name="connsiteY19" fmla="*/ 1455508 h 1455510"/>
              <a:gd name="connsiteX20" fmla="*/ 4372544 w 4413566"/>
              <a:gd name="connsiteY20" fmla="*/ 1426917 h 1455510"/>
              <a:gd name="connsiteX21" fmla="*/ 2206784 w 4413566"/>
              <a:gd name="connsiteY21" fmla="*/ 1141368 h 1455510"/>
              <a:gd name="connsiteX22" fmla="*/ 41024 w 4413566"/>
              <a:gd name="connsiteY22" fmla="*/ 1426917 h 1455510"/>
              <a:gd name="connsiteX23" fmla="*/ 0 w 4413566"/>
              <a:gd name="connsiteY23" fmla="*/ 1455510 h 1455510"/>
              <a:gd name="connsiteX0" fmla="*/ 0 w 4413566"/>
              <a:gd name="connsiteY0" fmla="*/ 1348304 h 1348304"/>
              <a:gd name="connsiteX1" fmla="*/ 27790 w 4413566"/>
              <a:gd name="connsiteY1" fmla="*/ 1309578 h 1348304"/>
              <a:gd name="connsiteX2" fmla="*/ 498921 w 4413566"/>
              <a:gd name="connsiteY2" fmla="*/ 472301 h 1348304"/>
              <a:gd name="connsiteX3" fmla="*/ 626561 w 4413566"/>
              <a:gd name="connsiteY3" fmla="*/ 190608 h 1348304"/>
              <a:gd name="connsiteX4" fmla="*/ 610259 w 4413566"/>
              <a:gd name="connsiteY4" fmla="*/ 229852 h 1348304"/>
              <a:gd name="connsiteX5" fmla="*/ 547920 w 4413566"/>
              <a:gd name="connsiteY5" fmla="*/ 365602 h 1348304"/>
              <a:gd name="connsiteX6" fmla="*/ 551792 w 4413566"/>
              <a:gd name="connsiteY6" fmla="*/ 365602 h 1348304"/>
              <a:gd name="connsiteX7" fmla="*/ 585345 w 4413566"/>
              <a:gd name="connsiteY7" fmla="*/ 292046 h 1348304"/>
              <a:gd name="connsiteX8" fmla="*/ 2206784 w 4413566"/>
              <a:gd name="connsiteY8" fmla="*/ 0 h 1348304"/>
              <a:gd name="connsiteX9" fmla="*/ 3828223 w 4413566"/>
              <a:gd name="connsiteY9" fmla="*/ 292046 h 1348304"/>
              <a:gd name="connsiteX10" fmla="*/ 3861776 w 4413566"/>
              <a:gd name="connsiteY10" fmla="*/ 365602 h 1348304"/>
              <a:gd name="connsiteX11" fmla="*/ 3865647 w 4413566"/>
              <a:gd name="connsiteY11" fmla="*/ 365602 h 1348304"/>
              <a:gd name="connsiteX12" fmla="*/ 3803308 w 4413566"/>
              <a:gd name="connsiteY12" fmla="*/ 229852 h 1348304"/>
              <a:gd name="connsiteX13" fmla="*/ 3787016 w 4413566"/>
              <a:gd name="connsiteY13" fmla="*/ 190630 h 1348304"/>
              <a:gd name="connsiteX14" fmla="*/ 3914645 w 4413566"/>
              <a:gd name="connsiteY14" fmla="*/ 472301 h 1348304"/>
              <a:gd name="connsiteX15" fmla="*/ 4385777 w 4413566"/>
              <a:gd name="connsiteY15" fmla="*/ 1309578 h 1348304"/>
              <a:gd name="connsiteX16" fmla="*/ 4413566 w 4413566"/>
              <a:gd name="connsiteY16" fmla="*/ 1348302 h 1348304"/>
              <a:gd name="connsiteX17" fmla="*/ 4372544 w 4413566"/>
              <a:gd name="connsiteY17" fmla="*/ 1319711 h 1348304"/>
              <a:gd name="connsiteX18" fmla="*/ 2206784 w 4413566"/>
              <a:gd name="connsiteY18" fmla="*/ 1034162 h 1348304"/>
              <a:gd name="connsiteX19" fmla="*/ 41024 w 4413566"/>
              <a:gd name="connsiteY19" fmla="*/ 1319711 h 1348304"/>
              <a:gd name="connsiteX20" fmla="*/ 0 w 4413566"/>
              <a:gd name="connsiteY20"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610259 w 4413566"/>
              <a:gd name="connsiteY3" fmla="*/ 229852 h 1348304"/>
              <a:gd name="connsiteX4" fmla="*/ 547920 w 4413566"/>
              <a:gd name="connsiteY4" fmla="*/ 365602 h 1348304"/>
              <a:gd name="connsiteX5" fmla="*/ 551792 w 4413566"/>
              <a:gd name="connsiteY5" fmla="*/ 365602 h 1348304"/>
              <a:gd name="connsiteX6" fmla="*/ 585345 w 4413566"/>
              <a:gd name="connsiteY6" fmla="*/ 292046 h 1348304"/>
              <a:gd name="connsiteX7" fmla="*/ 2206784 w 4413566"/>
              <a:gd name="connsiteY7" fmla="*/ 0 h 1348304"/>
              <a:gd name="connsiteX8" fmla="*/ 3828223 w 4413566"/>
              <a:gd name="connsiteY8" fmla="*/ 292046 h 1348304"/>
              <a:gd name="connsiteX9" fmla="*/ 3861776 w 4413566"/>
              <a:gd name="connsiteY9" fmla="*/ 365602 h 1348304"/>
              <a:gd name="connsiteX10" fmla="*/ 3865647 w 4413566"/>
              <a:gd name="connsiteY10" fmla="*/ 365602 h 1348304"/>
              <a:gd name="connsiteX11" fmla="*/ 3803308 w 4413566"/>
              <a:gd name="connsiteY11" fmla="*/ 229852 h 1348304"/>
              <a:gd name="connsiteX12" fmla="*/ 3787016 w 4413566"/>
              <a:gd name="connsiteY12" fmla="*/ 190630 h 1348304"/>
              <a:gd name="connsiteX13" fmla="*/ 3914645 w 4413566"/>
              <a:gd name="connsiteY13" fmla="*/ 472301 h 1348304"/>
              <a:gd name="connsiteX14" fmla="*/ 4385777 w 4413566"/>
              <a:gd name="connsiteY14" fmla="*/ 1309578 h 1348304"/>
              <a:gd name="connsiteX15" fmla="*/ 4413566 w 4413566"/>
              <a:gd name="connsiteY15" fmla="*/ 1348302 h 1348304"/>
              <a:gd name="connsiteX16" fmla="*/ 4372544 w 4413566"/>
              <a:gd name="connsiteY16" fmla="*/ 1319711 h 1348304"/>
              <a:gd name="connsiteX17" fmla="*/ 2206784 w 4413566"/>
              <a:gd name="connsiteY17" fmla="*/ 1034162 h 1348304"/>
              <a:gd name="connsiteX18" fmla="*/ 41024 w 4413566"/>
              <a:gd name="connsiteY18" fmla="*/ 1319711 h 1348304"/>
              <a:gd name="connsiteX19" fmla="*/ 0 w 4413566"/>
              <a:gd name="connsiteY19"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51792 w 4413566"/>
              <a:gd name="connsiteY4" fmla="*/ 365602 h 1348304"/>
              <a:gd name="connsiteX5" fmla="*/ 585345 w 4413566"/>
              <a:gd name="connsiteY5" fmla="*/ 292046 h 1348304"/>
              <a:gd name="connsiteX6" fmla="*/ 2206784 w 4413566"/>
              <a:gd name="connsiteY6" fmla="*/ 0 h 1348304"/>
              <a:gd name="connsiteX7" fmla="*/ 3828223 w 4413566"/>
              <a:gd name="connsiteY7" fmla="*/ 292046 h 1348304"/>
              <a:gd name="connsiteX8" fmla="*/ 3861776 w 4413566"/>
              <a:gd name="connsiteY8" fmla="*/ 365602 h 1348304"/>
              <a:gd name="connsiteX9" fmla="*/ 3865647 w 4413566"/>
              <a:gd name="connsiteY9" fmla="*/ 365602 h 1348304"/>
              <a:gd name="connsiteX10" fmla="*/ 3803308 w 4413566"/>
              <a:gd name="connsiteY10" fmla="*/ 229852 h 1348304"/>
              <a:gd name="connsiteX11" fmla="*/ 3787016 w 4413566"/>
              <a:gd name="connsiteY11" fmla="*/ 190630 h 1348304"/>
              <a:gd name="connsiteX12" fmla="*/ 3914645 w 4413566"/>
              <a:gd name="connsiteY12" fmla="*/ 472301 h 1348304"/>
              <a:gd name="connsiteX13" fmla="*/ 4385777 w 4413566"/>
              <a:gd name="connsiteY13" fmla="*/ 1309578 h 1348304"/>
              <a:gd name="connsiteX14" fmla="*/ 4413566 w 4413566"/>
              <a:gd name="connsiteY14" fmla="*/ 1348302 h 1348304"/>
              <a:gd name="connsiteX15" fmla="*/ 4372544 w 4413566"/>
              <a:gd name="connsiteY15" fmla="*/ 1319711 h 1348304"/>
              <a:gd name="connsiteX16" fmla="*/ 2206784 w 4413566"/>
              <a:gd name="connsiteY16" fmla="*/ 1034162 h 1348304"/>
              <a:gd name="connsiteX17" fmla="*/ 41024 w 4413566"/>
              <a:gd name="connsiteY17" fmla="*/ 1319711 h 1348304"/>
              <a:gd name="connsiteX18" fmla="*/ 0 w 4413566"/>
              <a:gd name="connsiteY18"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803308 w 4413566"/>
              <a:gd name="connsiteY9" fmla="*/ 229852 h 1348304"/>
              <a:gd name="connsiteX10" fmla="*/ 3787016 w 4413566"/>
              <a:gd name="connsiteY10" fmla="*/ 190630 h 1348304"/>
              <a:gd name="connsiteX11" fmla="*/ 3914645 w 4413566"/>
              <a:gd name="connsiteY11" fmla="*/ 472301 h 1348304"/>
              <a:gd name="connsiteX12" fmla="*/ 4385777 w 4413566"/>
              <a:gd name="connsiteY12" fmla="*/ 1309578 h 1348304"/>
              <a:gd name="connsiteX13" fmla="*/ 4413566 w 4413566"/>
              <a:gd name="connsiteY13" fmla="*/ 1348302 h 1348304"/>
              <a:gd name="connsiteX14" fmla="*/ 4372544 w 4413566"/>
              <a:gd name="connsiteY14" fmla="*/ 1319711 h 1348304"/>
              <a:gd name="connsiteX15" fmla="*/ 2206784 w 4413566"/>
              <a:gd name="connsiteY15" fmla="*/ 1034162 h 1348304"/>
              <a:gd name="connsiteX16" fmla="*/ 41024 w 4413566"/>
              <a:gd name="connsiteY16" fmla="*/ 1319711 h 1348304"/>
              <a:gd name="connsiteX17" fmla="*/ 0 w 4413566"/>
              <a:gd name="connsiteY17"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803308 w 4413566"/>
              <a:gd name="connsiteY9" fmla="*/ 229852 h 1348304"/>
              <a:gd name="connsiteX10" fmla="*/ 3914645 w 4413566"/>
              <a:gd name="connsiteY10" fmla="*/ 472301 h 1348304"/>
              <a:gd name="connsiteX11" fmla="*/ 4385777 w 4413566"/>
              <a:gd name="connsiteY11" fmla="*/ 1309578 h 1348304"/>
              <a:gd name="connsiteX12" fmla="*/ 4413566 w 4413566"/>
              <a:gd name="connsiteY12" fmla="*/ 1348302 h 1348304"/>
              <a:gd name="connsiteX13" fmla="*/ 4372544 w 4413566"/>
              <a:gd name="connsiteY13" fmla="*/ 1319711 h 1348304"/>
              <a:gd name="connsiteX14" fmla="*/ 2206784 w 4413566"/>
              <a:gd name="connsiteY14" fmla="*/ 1034162 h 1348304"/>
              <a:gd name="connsiteX15" fmla="*/ 41024 w 4413566"/>
              <a:gd name="connsiteY15" fmla="*/ 1319711 h 1348304"/>
              <a:gd name="connsiteX16" fmla="*/ 0 w 4413566"/>
              <a:gd name="connsiteY16"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865647 w 4413566"/>
              <a:gd name="connsiteY8" fmla="*/ 365602 h 1348304"/>
              <a:gd name="connsiteX9" fmla="*/ 3914645 w 4413566"/>
              <a:gd name="connsiteY9" fmla="*/ 472301 h 1348304"/>
              <a:gd name="connsiteX10" fmla="*/ 4385777 w 4413566"/>
              <a:gd name="connsiteY10" fmla="*/ 1309578 h 1348304"/>
              <a:gd name="connsiteX11" fmla="*/ 4413566 w 4413566"/>
              <a:gd name="connsiteY11" fmla="*/ 1348302 h 1348304"/>
              <a:gd name="connsiteX12" fmla="*/ 4372544 w 4413566"/>
              <a:gd name="connsiteY12" fmla="*/ 1319711 h 1348304"/>
              <a:gd name="connsiteX13" fmla="*/ 2206784 w 4413566"/>
              <a:gd name="connsiteY13" fmla="*/ 1034162 h 1348304"/>
              <a:gd name="connsiteX14" fmla="*/ 41024 w 4413566"/>
              <a:gd name="connsiteY14" fmla="*/ 1319711 h 1348304"/>
              <a:gd name="connsiteX15" fmla="*/ 0 w 4413566"/>
              <a:gd name="connsiteY15" fmla="*/ 1348304 h 1348304"/>
              <a:gd name="connsiteX0" fmla="*/ 0 w 4413566"/>
              <a:gd name="connsiteY0" fmla="*/ 1348304 h 1348304"/>
              <a:gd name="connsiteX1" fmla="*/ 27790 w 4413566"/>
              <a:gd name="connsiteY1" fmla="*/ 1309578 h 1348304"/>
              <a:gd name="connsiteX2" fmla="*/ 498921 w 4413566"/>
              <a:gd name="connsiteY2" fmla="*/ 472301 h 1348304"/>
              <a:gd name="connsiteX3" fmla="*/ 547920 w 4413566"/>
              <a:gd name="connsiteY3" fmla="*/ 365602 h 1348304"/>
              <a:gd name="connsiteX4" fmla="*/ 585345 w 4413566"/>
              <a:gd name="connsiteY4" fmla="*/ 292046 h 1348304"/>
              <a:gd name="connsiteX5" fmla="*/ 2206784 w 4413566"/>
              <a:gd name="connsiteY5" fmla="*/ 0 h 1348304"/>
              <a:gd name="connsiteX6" fmla="*/ 3828223 w 4413566"/>
              <a:gd name="connsiteY6" fmla="*/ 292046 h 1348304"/>
              <a:gd name="connsiteX7" fmla="*/ 3861776 w 4413566"/>
              <a:gd name="connsiteY7" fmla="*/ 365602 h 1348304"/>
              <a:gd name="connsiteX8" fmla="*/ 3914645 w 4413566"/>
              <a:gd name="connsiteY8" fmla="*/ 472301 h 1348304"/>
              <a:gd name="connsiteX9" fmla="*/ 4385777 w 4413566"/>
              <a:gd name="connsiteY9" fmla="*/ 1309578 h 1348304"/>
              <a:gd name="connsiteX10" fmla="*/ 4413566 w 4413566"/>
              <a:gd name="connsiteY10" fmla="*/ 1348302 h 1348304"/>
              <a:gd name="connsiteX11" fmla="*/ 4372544 w 4413566"/>
              <a:gd name="connsiteY11" fmla="*/ 1319711 h 1348304"/>
              <a:gd name="connsiteX12" fmla="*/ 2206784 w 4413566"/>
              <a:gd name="connsiteY12" fmla="*/ 1034162 h 1348304"/>
              <a:gd name="connsiteX13" fmla="*/ 41024 w 4413566"/>
              <a:gd name="connsiteY13" fmla="*/ 1319711 h 1348304"/>
              <a:gd name="connsiteX14" fmla="*/ 0 w 4413566"/>
              <a:gd name="connsiteY14" fmla="*/ 1348304 h 134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413566" h="1348304">
                <a:moveTo>
                  <a:pt x="0" y="1348304"/>
                </a:moveTo>
                <a:lnTo>
                  <a:pt x="27790" y="1309578"/>
                </a:lnTo>
                <a:cubicBezTo>
                  <a:pt x="189464" y="1069164"/>
                  <a:pt x="348304" y="787401"/>
                  <a:pt x="498921" y="472301"/>
                </a:cubicBezTo>
                <a:lnTo>
                  <a:pt x="547920" y="365602"/>
                </a:lnTo>
                <a:lnTo>
                  <a:pt x="585345" y="292046"/>
                </a:lnTo>
                <a:cubicBezTo>
                  <a:pt x="739673" y="125376"/>
                  <a:pt x="1406975" y="0"/>
                  <a:pt x="2206784" y="0"/>
                </a:cubicBezTo>
                <a:cubicBezTo>
                  <a:pt x="3006592" y="0"/>
                  <a:pt x="3673894" y="125376"/>
                  <a:pt x="3828223" y="292046"/>
                </a:cubicBezTo>
                <a:lnTo>
                  <a:pt x="3861776" y="365602"/>
                </a:lnTo>
                <a:lnTo>
                  <a:pt x="3914645" y="472301"/>
                </a:lnTo>
                <a:cubicBezTo>
                  <a:pt x="4065263" y="787401"/>
                  <a:pt x="4224103" y="1069164"/>
                  <a:pt x="4385777" y="1309578"/>
                </a:cubicBezTo>
                <a:lnTo>
                  <a:pt x="4413566" y="1348302"/>
                </a:lnTo>
                <a:lnTo>
                  <a:pt x="4372544" y="1319711"/>
                </a:lnTo>
                <a:cubicBezTo>
                  <a:pt x="4085426" y="1154278"/>
                  <a:pt x="3224378" y="1034162"/>
                  <a:pt x="2206784" y="1034162"/>
                </a:cubicBezTo>
                <a:cubicBezTo>
                  <a:pt x="1189190" y="1034162"/>
                  <a:pt x="328142" y="1154278"/>
                  <a:pt x="41024" y="1319711"/>
                </a:cubicBezTo>
                <a:lnTo>
                  <a:pt x="0" y="1348304"/>
                </a:lnTo>
                <a:close/>
              </a:path>
            </a:pathLst>
          </a:custGeom>
          <a:solidFill>
            <a:srgbClr val="005F65"/>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 lastClr="FFFFFF"/>
              </a:solidFill>
              <a:effectLst/>
              <a:uLnTx/>
              <a:uFillTx/>
              <a:latin typeface="Calibri" panose="020F0502020204030204"/>
              <a:ea typeface="+mn-ea"/>
              <a:cs typeface="+mn-cs"/>
            </a:endParaRPr>
          </a:p>
        </p:txBody>
      </p:sp>
      <p:sp>
        <p:nvSpPr>
          <p:cNvPr id="31" name="Freeform 94">
            <a:extLst>
              <a:ext uri="{FF2B5EF4-FFF2-40B4-BE49-F238E27FC236}">
                <a16:creationId xmlns:a16="http://schemas.microsoft.com/office/drawing/2014/main" id="{9836AB11-4A3A-C57A-4658-7D21FFD6AFB5}"/>
              </a:ext>
            </a:extLst>
          </p:cNvPr>
          <p:cNvSpPr/>
          <p:nvPr/>
        </p:nvSpPr>
        <p:spPr>
          <a:xfrm rot="10800000">
            <a:off x="6103946" y="2692752"/>
            <a:ext cx="1083968" cy="3406241"/>
          </a:xfrm>
          <a:custGeom>
            <a:avLst/>
            <a:gdLst>
              <a:gd name="connsiteX0" fmla="*/ 0 w 1281597"/>
              <a:gd name="connsiteY0" fmla="*/ 3950208 h 3950208"/>
              <a:gd name="connsiteX1" fmla="*/ 23800 w 1281597"/>
              <a:gd name="connsiteY1" fmla="*/ 3915114 h 3950208"/>
              <a:gd name="connsiteX2" fmla="*/ 845709 w 1281597"/>
              <a:gd name="connsiteY2" fmla="*/ 2020018 h 3950208"/>
              <a:gd name="connsiteX3" fmla="*/ 1148433 w 1281597"/>
              <a:gd name="connsiteY3" fmla="*/ 216635 h 3950208"/>
              <a:gd name="connsiteX4" fmla="*/ 1150014 w 1281597"/>
              <a:gd name="connsiteY4" fmla="*/ 29285 h 3950208"/>
              <a:gd name="connsiteX5" fmla="*/ 1197630 w 1281597"/>
              <a:gd name="connsiteY5" fmla="*/ 15976 h 3950208"/>
              <a:gd name="connsiteX6" fmla="*/ 1281597 w 1281597"/>
              <a:gd name="connsiteY6" fmla="*/ 0 h 3950208"/>
              <a:gd name="connsiteX7" fmla="*/ 1280401 w 1281597"/>
              <a:gd name="connsiteY7" fmla="*/ 216638 h 3950208"/>
              <a:gd name="connsiteX8" fmla="*/ 1082251 w 1281597"/>
              <a:gd name="connsiteY8" fmla="*/ 2020020 h 3950208"/>
              <a:gd name="connsiteX9" fmla="*/ 620772 w 1281597"/>
              <a:gd name="connsiteY9" fmla="*/ 3722907 h 3950208"/>
              <a:gd name="connsiteX10" fmla="*/ 558334 w 1281597"/>
              <a:gd name="connsiteY10" fmla="*/ 3879775 h 3950208"/>
              <a:gd name="connsiteX11" fmla="*/ 478754 w 1281597"/>
              <a:gd name="connsiteY11" fmla="*/ 3886758 h 3950208"/>
              <a:gd name="connsiteX12" fmla="*/ 166821 w 1281597"/>
              <a:gd name="connsiteY12" fmla="*/ 3923927 h 3950208"/>
              <a:gd name="connsiteX13" fmla="*/ 51318 w 1281597"/>
              <a:gd name="connsiteY13" fmla="*/ 3942280 h 3950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81597" h="3950208">
                <a:moveTo>
                  <a:pt x="0" y="3950208"/>
                </a:moveTo>
                <a:lnTo>
                  <a:pt x="23800" y="3915114"/>
                </a:lnTo>
                <a:cubicBezTo>
                  <a:pt x="338454" y="3422927"/>
                  <a:pt x="631755" y="2764428"/>
                  <a:pt x="845709" y="2020018"/>
                </a:cubicBezTo>
                <a:cubicBezTo>
                  <a:pt x="1032919" y="1368659"/>
                  <a:pt x="1132240" y="745947"/>
                  <a:pt x="1148433" y="216635"/>
                </a:cubicBezTo>
                <a:lnTo>
                  <a:pt x="1150014" y="29285"/>
                </a:lnTo>
                <a:lnTo>
                  <a:pt x="1197630" y="15976"/>
                </a:lnTo>
                <a:lnTo>
                  <a:pt x="1281597" y="0"/>
                </a:lnTo>
                <a:lnTo>
                  <a:pt x="1280401" y="216638"/>
                </a:lnTo>
                <a:cubicBezTo>
                  <a:pt x="1269802" y="745949"/>
                  <a:pt x="1204791" y="1368662"/>
                  <a:pt x="1082251" y="2020020"/>
                </a:cubicBezTo>
                <a:cubicBezTo>
                  <a:pt x="959713" y="2671379"/>
                  <a:pt x="797410" y="3256962"/>
                  <a:pt x="620772" y="3722907"/>
                </a:cubicBezTo>
                <a:lnTo>
                  <a:pt x="558334" y="3879775"/>
                </a:lnTo>
                <a:lnTo>
                  <a:pt x="478754" y="3886758"/>
                </a:lnTo>
                <a:cubicBezTo>
                  <a:pt x="366624" y="3897698"/>
                  <a:pt x="262175" y="3910156"/>
                  <a:pt x="166821" y="3923927"/>
                </a:cubicBezTo>
                <a:lnTo>
                  <a:pt x="51318" y="3942280"/>
                </a:lnTo>
                <a:close/>
              </a:path>
            </a:pathLst>
          </a:custGeom>
          <a:solidFill>
            <a:sysClr val="window" lastClr="FFFFFF">
              <a:alpha val="28000"/>
            </a:sysClr>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ysClr val="window" lastClr="FFFFFF"/>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92C56CA0-CBB3-3846-7AEA-AEA1ADF5950F}"/>
              </a:ext>
            </a:extLst>
          </p:cNvPr>
          <p:cNvSpPr/>
          <p:nvPr/>
        </p:nvSpPr>
        <p:spPr>
          <a:xfrm flipH="1">
            <a:off x="7959294" y="2543903"/>
            <a:ext cx="406753" cy="406752"/>
          </a:xfrm>
          <a:prstGeom prst="ellipse">
            <a:avLst/>
          </a:prstGeom>
          <a:solidFill>
            <a:srgbClr val="478C90"/>
          </a:solidFill>
          <a:ln w="28575" cap="flat" cmpd="sng" algn="ctr">
            <a:solidFill>
              <a:sysClr val="window" lastClr="FFFFFF"/>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1">
                <a:ln>
                  <a:noFill/>
                </a:ln>
                <a:solidFill>
                  <a:sysClr val="window" lastClr="FFFFFF"/>
                </a:solidFill>
                <a:effectLst>
                  <a:outerShdw blurRad="38100" dist="38100" dir="2700000" algn="tl">
                    <a:srgbClr val="000000">
                      <a:alpha val="43137"/>
                    </a:srgbClr>
                  </a:outerShdw>
                </a:effectLst>
                <a:uLnTx/>
                <a:uFillTx/>
                <a:latin typeface="Calibri" panose="020F0502020204030204"/>
                <a:ea typeface="+mn-ea"/>
                <a:cs typeface="+mn-cs"/>
              </a:rPr>
              <a:t>1</a:t>
            </a:r>
          </a:p>
        </p:txBody>
      </p:sp>
      <p:sp>
        <p:nvSpPr>
          <p:cNvPr id="33" name="TextBox 96">
            <a:extLst>
              <a:ext uri="{FF2B5EF4-FFF2-40B4-BE49-F238E27FC236}">
                <a16:creationId xmlns:a16="http://schemas.microsoft.com/office/drawing/2014/main" id="{26531775-C774-0CBB-0C5C-FD650908FB85}"/>
              </a:ext>
            </a:extLst>
          </p:cNvPr>
          <p:cNvSpPr txBox="1"/>
          <p:nvPr/>
        </p:nvSpPr>
        <p:spPr>
          <a:xfrm>
            <a:off x="8364386" y="2570299"/>
            <a:ext cx="3251528" cy="60016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1200" b="1" dirty="0"/>
              <a:t>Domain problems &amp; use cases captured</a:t>
            </a:r>
          </a:p>
          <a:p>
            <a:pPr lvl="0">
              <a:defRPr/>
            </a:pPr>
            <a:r>
              <a:rPr lang="en-US" sz="1050" dirty="0"/>
              <a:t>Champions collect recurring client pain points and candidate use cases (problem-first)</a:t>
            </a:r>
            <a:endParaRPr lang="en-US" sz="1050" noProof="1">
              <a:latin typeface="+mj-lt"/>
            </a:endParaRPr>
          </a:p>
        </p:txBody>
      </p:sp>
      <p:sp>
        <p:nvSpPr>
          <p:cNvPr id="40" name="TextBox 39">
            <a:extLst>
              <a:ext uri="{FF2B5EF4-FFF2-40B4-BE49-F238E27FC236}">
                <a16:creationId xmlns:a16="http://schemas.microsoft.com/office/drawing/2014/main" id="{58121E9C-997C-5F0D-50D6-79A04ACC211F}"/>
              </a:ext>
            </a:extLst>
          </p:cNvPr>
          <p:cNvSpPr txBox="1"/>
          <p:nvPr/>
        </p:nvSpPr>
        <p:spPr>
          <a:xfrm>
            <a:off x="467446" y="1981304"/>
            <a:ext cx="3099748" cy="1261884"/>
          </a:xfrm>
          <a:prstGeom prst="rect">
            <a:avLst/>
          </a:prstGeom>
          <a:noFill/>
        </p:spPr>
        <p:txBody>
          <a:bodyPr wrap="square">
            <a:spAutoFit/>
          </a:bodyPr>
          <a:lstStyle/>
          <a:p>
            <a:pPr algn="ctr"/>
            <a:r>
              <a:rPr lang="en-US" sz="1600" b="1" dirty="0"/>
              <a:t>What enters the funnel</a:t>
            </a:r>
            <a:br>
              <a:rPr lang="en-US" sz="1200" dirty="0"/>
            </a:br>
            <a:r>
              <a:rPr lang="en-US" sz="1200" dirty="0"/>
              <a:t>Champions capture recurring domain pain points and buyer needs—then shape them into clear use cases that are industry-relevant and repeatable (2+ clients).</a:t>
            </a:r>
          </a:p>
        </p:txBody>
      </p:sp>
      <p:sp>
        <p:nvSpPr>
          <p:cNvPr id="42" name="TextBox 41">
            <a:extLst>
              <a:ext uri="{FF2B5EF4-FFF2-40B4-BE49-F238E27FC236}">
                <a16:creationId xmlns:a16="http://schemas.microsoft.com/office/drawing/2014/main" id="{6A1C7992-3454-49BF-399A-DE3C154786E8}"/>
              </a:ext>
            </a:extLst>
          </p:cNvPr>
          <p:cNvSpPr txBox="1"/>
          <p:nvPr/>
        </p:nvSpPr>
        <p:spPr>
          <a:xfrm>
            <a:off x="540410" y="3670050"/>
            <a:ext cx="3026784" cy="1446550"/>
          </a:xfrm>
          <a:prstGeom prst="rect">
            <a:avLst/>
          </a:prstGeom>
          <a:noFill/>
        </p:spPr>
        <p:txBody>
          <a:bodyPr wrap="square">
            <a:spAutoFit/>
          </a:bodyPr>
          <a:lstStyle/>
          <a:p>
            <a:pPr algn="ctr"/>
            <a:r>
              <a:rPr lang="en-US" sz="1600" b="1" dirty="0"/>
              <a:t>What we prioritize</a:t>
            </a:r>
          </a:p>
          <a:p>
            <a:pPr marL="171450" indent="-171450">
              <a:buFont typeface="Arial" panose="020B0604020202020204" pitchFamily="34" charset="0"/>
              <a:buChar char="•"/>
            </a:pPr>
            <a:r>
              <a:rPr lang="en-US" sz="1200" dirty="0"/>
              <a:t>Domain relevance (not generic AI)</a:t>
            </a:r>
          </a:p>
          <a:p>
            <a:pPr marL="171450" indent="-171450">
              <a:buFont typeface="Arial" panose="020B0604020202020204" pitchFamily="34" charset="0"/>
              <a:buChar char="•"/>
            </a:pPr>
            <a:r>
              <a:rPr lang="en-US" sz="1200" dirty="0"/>
              <a:t>Demo-able quickly (demo/video/walkthrough)</a:t>
            </a:r>
          </a:p>
          <a:p>
            <a:pPr marL="171450" indent="-171450">
              <a:buFont typeface="Arial" panose="020B0604020202020204" pitchFamily="34" charset="0"/>
              <a:buChar char="•"/>
            </a:pPr>
            <a:r>
              <a:rPr lang="en-US" sz="1200" dirty="0"/>
              <a:t>Clear buyer + where it fits</a:t>
            </a:r>
          </a:p>
          <a:p>
            <a:pPr marL="171450" indent="-171450">
              <a:buFont typeface="Arial" panose="020B0604020202020204" pitchFamily="34" charset="0"/>
              <a:buChar char="•"/>
            </a:pPr>
            <a:r>
              <a:rPr lang="en-US" sz="1200" dirty="0"/>
              <a:t>Strong value signal (time, cost, risk, experience)</a:t>
            </a:r>
          </a:p>
        </p:txBody>
      </p:sp>
      <p:sp>
        <p:nvSpPr>
          <p:cNvPr id="43" name="Oval 42">
            <a:extLst>
              <a:ext uri="{FF2B5EF4-FFF2-40B4-BE49-F238E27FC236}">
                <a16:creationId xmlns:a16="http://schemas.microsoft.com/office/drawing/2014/main" id="{BD255E60-9D25-D5BA-56C7-2EAF88840DF8}"/>
              </a:ext>
            </a:extLst>
          </p:cNvPr>
          <p:cNvSpPr/>
          <p:nvPr/>
        </p:nvSpPr>
        <p:spPr>
          <a:xfrm flipH="1">
            <a:off x="7959294" y="1793973"/>
            <a:ext cx="406753" cy="406752"/>
          </a:xfrm>
          <a:prstGeom prst="ellipse">
            <a:avLst/>
          </a:prstGeom>
          <a:solidFill>
            <a:srgbClr val="7F7F7F"/>
          </a:solidFill>
          <a:ln w="28575" cap="flat" cmpd="sng" algn="ctr">
            <a:solidFill>
              <a:sysClr val="window" lastClr="FFFFFF"/>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1">
                <a:ln>
                  <a:noFill/>
                </a:ln>
                <a:solidFill>
                  <a:sysClr val="window" lastClr="FFFFFF"/>
                </a:solidFill>
                <a:effectLst>
                  <a:outerShdw blurRad="38100" dist="38100" dir="2700000" algn="tl">
                    <a:srgbClr val="000000">
                      <a:alpha val="43137"/>
                    </a:srgbClr>
                  </a:outerShdw>
                </a:effectLst>
                <a:uLnTx/>
                <a:uFillTx/>
                <a:latin typeface="Calibri" panose="020F0502020204030204"/>
                <a:ea typeface="+mn-ea"/>
                <a:cs typeface="+mn-cs"/>
              </a:rPr>
              <a:t>0</a:t>
            </a:r>
          </a:p>
        </p:txBody>
      </p:sp>
      <p:sp>
        <p:nvSpPr>
          <p:cNvPr id="45" name="TextBox 96">
            <a:extLst>
              <a:ext uri="{FF2B5EF4-FFF2-40B4-BE49-F238E27FC236}">
                <a16:creationId xmlns:a16="http://schemas.microsoft.com/office/drawing/2014/main" id="{CDF67BB2-2918-7BA6-BD3D-F5BDB9D116AA}"/>
              </a:ext>
            </a:extLst>
          </p:cNvPr>
          <p:cNvSpPr txBox="1"/>
          <p:nvPr/>
        </p:nvSpPr>
        <p:spPr>
          <a:xfrm>
            <a:off x="8364386" y="3324534"/>
            <a:ext cx="3251528" cy="60016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1200" b="1" dirty="0"/>
              <a:t>Prioritize with domain leadership</a:t>
            </a:r>
          </a:p>
          <a:p>
            <a:pPr lvl="0">
              <a:defRPr/>
            </a:pPr>
            <a:r>
              <a:rPr lang="en-US" sz="1050" dirty="0"/>
              <a:t>Select top 1–2 items that are industry-relevant and repeatable (2+ clients)</a:t>
            </a:r>
            <a:endParaRPr lang="en-US" sz="1050" noProof="1">
              <a:latin typeface="+mj-lt"/>
            </a:endParaRPr>
          </a:p>
        </p:txBody>
      </p:sp>
      <p:sp>
        <p:nvSpPr>
          <p:cNvPr id="46" name="TextBox 96">
            <a:extLst>
              <a:ext uri="{FF2B5EF4-FFF2-40B4-BE49-F238E27FC236}">
                <a16:creationId xmlns:a16="http://schemas.microsoft.com/office/drawing/2014/main" id="{FC7CC159-DC12-66BF-E64B-5D32C0463622}"/>
              </a:ext>
            </a:extLst>
          </p:cNvPr>
          <p:cNvSpPr txBox="1"/>
          <p:nvPr/>
        </p:nvSpPr>
        <p:spPr>
          <a:xfrm>
            <a:off x="8364386" y="4078769"/>
            <a:ext cx="3251528" cy="60016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1200" b="1" dirty="0"/>
              <a:t>Develop with AI Lab + Sales Force</a:t>
            </a:r>
          </a:p>
          <a:p>
            <a:pPr lvl="0">
              <a:defRPr/>
            </a:pPr>
            <a:r>
              <a:rPr lang="en-US" sz="1050" dirty="0"/>
              <a:t>Work closely with AI build support and sales to shape scope, feasibility, and a credible MVP</a:t>
            </a:r>
            <a:endParaRPr lang="en-US" sz="1050" noProof="1">
              <a:latin typeface="+mj-lt"/>
            </a:endParaRPr>
          </a:p>
        </p:txBody>
      </p:sp>
      <p:sp>
        <p:nvSpPr>
          <p:cNvPr id="47" name="TextBox 96">
            <a:extLst>
              <a:ext uri="{FF2B5EF4-FFF2-40B4-BE49-F238E27FC236}">
                <a16:creationId xmlns:a16="http://schemas.microsoft.com/office/drawing/2014/main" id="{BCAC2398-35D3-A4B8-2E57-9D2DCBF5BDC6}"/>
              </a:ext>
            </a:extLst>
          </p:cNvPr>
          <p:cNvSpPr txBox="1"/>
          <p:nvPr/>
        </p:nvSpPr>
        <p:spPr>
          <a:xfrm>
            <a:off x="8364386" y="4833004"/>
            <a:ext cx="3251528" cy="76174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1200" b="1" dirty="0"/>
              <a:t>Demo / asset readiness</a:t>
            </a:r>
          </a:p>
          <a:p>
            <a:pPr lvl="0">
              <a:defRPr/>
            </a:pPr>
            <a:r>
              <a:rPr lang="en-US" sz="1050" dirty="0"/>
              <a:t>Create a demo/video/walkthrough + simple talk track (“where it fits,” “AI vs non-AI,” buyer, value)</a:t>
            </a:r>
            <a:endParaRPr lang="en-US" sz="1050" noProof="1">
              <a:latin typeface="+mj-lt"/>
            </a:endParaRPr>
          </a:p>
        </p:txBody>
      </p:sp>
      <p:sp>
        <p:nvSpPr>
          <p:cNvPr id="48" name="TextBox 96">
            <a:extLst>
              <a:ext uri="{FF2B5EF4-FFF2-40B4-BE49-F238E27FC236}">
                <a16:creationId xmlns:a16="http://schemas.microsoft.com/office/drawing/2014/main" id="{3AC0C1E8-BCD8-D474-106B-FC8A2858307D}"/>
              </a:ext>
            </a:extLst>
          </p:cNvPr>
          <p:cNvSpPr txBox="1"/>
          <p:nvPr/>
        </p:nvSpPr>
        <p:spPr>
          <a:xfrm>
            <a:off x="8364386" y="5587241"/>
            <a:ext cx="3251528" cy="76174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1200" b="1" dirty="0"/>
              <a:t>Bring to market</a:t>
            </a:r>
          </a:p>
          <a:p>
            <a:pPr lvl="0">
              <a:defRPr/>
            </a:pPr>
            <a:r>
              <a:rPr lang="en-US" sz="1050" dirty="0"/>
              <a:t>Showcase + activate in pursuits (target accounts, meetings, proposals) and reuse across clients</a:t>
            </a:r>
            <a:endParaRPr lang="en-US" sz="1050" noProof="1">
              <a:latin typeface="+mj-lt"/>
            </a:endParaRPr>
          </a:p>
        </p:txBody>
      </p:sp>
      <p:sp>
        <p:nvSpPr>
          <p:cNvPr id="49" name="TextBox 96">
            <a:extLst>
              <a:ext uri="{FF2B5EF4-FFF2-40B4-BE49-F238E27FC236}">
                <a16:creationId xmlns:a16="http://schemas.microsoft.com/office/drawing/2014/main" id="{705D63FC-7275-043B-537D-452642C12FCA}"/>
              </a:ext>
            </a:extLst>
          </p:cNvPr>
          <p:cNvSpPr txBox="1"/>
          <p:nvPr/>
        </p:nvSpPr>
        <p:spPr>
          <a:xfrm>
            <a:off x="8364386" y="1816064"/>
            <a:ext cx="3251528" cy="60016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sz="1200" b="1" dirty="0"/>
              <a:t>Champions identified</a:t>
            </a:r>
          </a:p>
          <a:p>
            <a:pPr lvl="0">
              <a:defRPr/>
            </a:pPr>
            <a:r>
              <a:rPr lang="en-US" sz="1050" dirty="0"/>
              <a:t>Owners named per domain/service group (Service Offering Champion(s))</a:t>
            </a:r>
            <a:endParaRPr lang="en-US" sz="1050" noProof="1">
              <a:latin typeface="+mj-lt"/>
            </a:endParaRPr>
          </a:p>
        </p:txBody>
      </p:sp>
    </p:spTree>
    <p:extLst>
      <p:ext uri="{BB962C8B-B14F-4D97-AF65-F5344CB8AC3E}">
        <p14:creationId xmlns:p14="http://schemas.microsoft.com/office/powerpoint/2010/main" val="870052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F9EB0-9B4F-575A-2B0C-D3C19A6E9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58996-D061-63E2-F6F4-818501A1EC06}"/>
              </a:ext>
            </a:extLst>
          </p:cNvPr>
          <p:cNvSpPr>
            <a:spLocks noGrp="1"/>
          </p:cNvSpPr>
          <p:nvPr>
            <p:ph type="title"/>
          </p:nvPr>
        </p:nvSpPr>
        <p:spPr/>
        <p:txBody>
          <a:bodyPr/>
          <a:lstStyle/>
          <a:p>
            <a:r>
              <a:rPr lang="en-US" b="1" dirty="0">
                <a:latin typeface="+mj-lt"/>
              </a:rPr>
              <a:t>You’ve Been Selected As An AI Champion — Here’s What It Means</a:t>
            </a:r>
          </a:p>
        </p:txBody>
      </p:sp>
      <p:sp>
        <p:nvSpPr>
          <p:cNvPr id="3" name="Text Placeholder 2">
            <a:extLst>
              <a:ext uri="{FF2B5EF4-FFF2-40B4-BE49-F238E27FC236}">
                <a16:creationId xmlns:a16="http://schemas.microsoft.com/office/drawing/2014/main" id="{A3FCF56F-3607-B5EF-423D-432BA8757F27}"/>
              </a:ext>
            </a:extLst>
          </p:cNvPr>
          <p:cNvSpPr>
            <a:spLocks noGrp="1"/>
          </p:cNvSpPr>
          <p:nvPr>
            <p:ph type="body" sz="quarter" idx="10"/>
          </p:nvPr>
        </p:nvSpPr>
        <p:spPr>
          <a:xfrm>
            <a:off x="542647" y="814367"/>
            <a:ext cx="11098999" cy="276999"/>
          </a:xfrm>
        </p:spPr>
        <p:txBody>
          <a:bodyPr/>
          <a:lstStyle/>
          <a:p>
            <a:r>
              <a:rPr lang="en-US" dirty="0">
                <a:latin typeface="+mj-lt"/>
              </a:rPr>
              <a:t>Purpose: scale US AI revenue and embed AI into how we deliver, operate, and compete</a:t>
            </a:r>
          </a:p>
        </p:txBody>
      </p:sp>
      <p:sp>
        <p:nvSpPr>
          <p:cNvPr id="5" name="Rectangle 4">
            <a:extLst>
              <a:ext uri="{FF2B5EF4-FFF2-40B4-BE49-F238E27FC236}">
                <a16:creationId xmlns:a16="http://schemas.microsoft.com/office/drawing/2014/main" id="{3B4CE16E-5780-81CA-847D-C7084DE39EB9}"/>
              </a:ext>
            </a:extLst>
          </p:cNvPr>
          <p:cNvSpPr/>
          <p:nvPr/>
        </p:nvSpPr>
        <p:spPr>
          <a:xfrm>
            <a:off x="550864" y="4134755"/>
            <a:ext cx="5961268" cy="2279901"/>
          </a:xfrm>
          <a:prstGeom prst="rect">
            <a:avLst/>
          </a:prstGeom>
          <a:solidFill>
            <a:srgbClr val="005F65"/>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err="1">
              <a:solidFill>
                <a:schemeClr val="bg1"/>
              </a:solidFill>
              <a:latin typeface="+mj-lt"/>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8CCD0C71-17C5-0945-3628-20C96A5FF9F5}"/>
              </a:ext>
            </a:extLst>
          </p:cNvPr>
          <p:cNvSpPr/>
          <p:nvPr/>
        </p:nvSpPr>
        <p:spPr>
          <a:xfrm>
            <a:off x="550864" y="4811133"/>
            <a:ext cx="2763836" cy="1503942"/>
          </a:xfrm>
          <a:prstGeom prst="rect">
            <a:avLst/>
          </a:prstGeom>
        </p:spPr>
        <p:txBody>
          <a:bodyPr wrap="square" numCol="2" spcCol="274320">
            <a:noAutofit/>
          </a:bodyPr>
          <a:lstStyle/>
          <a:p>
            <a:pPr marL="171450" indent="-171450">
              <a:spcBef>
                <a:spcPts val="900"/>
              </a:spcBef>
              <a:spcAft>
                <a:spcPts val="300"/>
              </a:spcAft>
              <a:buClr>
                <a:schemeClr val="tx1"/>
              </a:buClr>
              <a:buFont typeface="Wingdings" charset="2"/>
              <a:buChar char="§"/>
            </a:pPr>
            <a:endParaRPr lang="en-US" sz="1200" b="1" dirty="0">
              <a:solidFill>
                <a:schemeClr val="tx2"/>
              </a:solidFill>
              <a:latin typeface="+mj-lt"/>
              <a:ea typeface="Calibri" panose="020F0502020204030204" pitchFamily="34" charset="0"/>
              <a:cs typeface="Calibri" panose="020F0502020204030204" pitchFamily="34" charset="0"/>
            </a:endParaRPr>
          </a:p>
        </p:txBody>
      </p:sp>
      <p:sp>
        <p:nvSpPr>
          <p:cNvPr id="9" name="Rectangle 8">
            <a:extLst>
              <a:ext uri="{FF2B5EF4-FFF2-40B4-BE49-F238E27FC236}">
                <a16:creationId xmlns:a16="http://schemas.microsoft.com/office/drawing/2014/main" id="{217F3C68-79F2-FC69-730C-4BEA6A8FE3B1}"/>
              </a:ext>
            </a:extLst>
          </p:cNvPr>
          <p:cNvSpPr/>
          <p:nvPr/>
        </p:nvSpPr>
        <p:spPr>
          <a:xfrm flipH="1">
            <a:off x="1359762" y="1193272"/>
            <a:ext cx="4273208" cy="400110"/>
          </a:xfrm>
          <a:prstGeom prst="rect">
            <a:avLst/>
          </a:prstGeom>
          <a:solidFill>
            <a:schemeClr val="bg1"/>
          </a:solidFill>
          <a:ln w="12700">
            <a:solidFill>
              <a:schemeClr val="tx1"/>
            </a:solidFill>
          </a:ln>
        </p:spPr>
        <p:txBody>
          <a:bodyPr wrap="square">
            <a:spAutoFit/>
          </a:bodyPr>
          <a:lstStyle/>
          <a:p>
            <a:pPr lvl="0" algn="ctr"/>
            <a:r>
              <a:rPr lang="en-US" sz="2000" b="1" dirty="0">
                <a:latin typeface="+mj-lt"/>
                <a:ea typeface="Calibri" panose="020F0502020204030204" pitchFamily="34" charset="0"/>
                <a:cs typeface="Calibri" panose="020F0502020204030204" pitchFamily="34" charset="0"/>
              </a:rPr>
              <a:t>Why This Role Exists</a:t>
            </a:r>
          </a:p>
        </p:txBody>
      </p:sp>
      <p:sp>
        <p:nvSpPr>
          <p:cNvPr id="11" name="Rectangle 10">
            <a:extLst>
              <a:ext uri="{FF2B5EF4-FFF2-40B4-BE49-F238E27FC236}">
                <a16:creationId xmlns:a16="http://schemas.microsoft.com/office/drawing/2014/main" id="{7BB13216-A331-B8D2-2273-444391B602DA}"/>
              </a:ext>
            </a:extLst>
          </p:cNvPr>
          <p:cNvSpPr/>
          <p:nvPr/>
        </p:nvSpPr>
        <p:spPr>
          <a:xfrm>
            <a:off x="6629400" y="1688235"/>
            <a:ext cx="5018663" cy="4726420"/>
          </a:xfrm>
          <a:prstGeom prst="rect">
            <a:avLst/>
          </a:prstGeom>
          <a:noFill/>
          <a:ln w="127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err="1">
              <a:solidFill>
                <a:schemeClr val="bg1"/>
              </a:solidFill>
              <a:latin typeface="+mj-lt"/>
              <a:ea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967DBECF-133D-AB7D-4E49-D55045738FD4}"/>
              </a:ext>
            </a:extLst>
          </p:cNvPr>
          <p:cNvSpPr/>
          <p:nvPr/>
        </p:nvSpPr>
        <p:spPr>
          <a:xfrm>
            <a:off x="6670302" y="1193272"/>
            <a:ext cx="4936857" cy="400110"/>
          </a:xfrm>
          <a:prstGeom prst="rect">
            <a:avLst/>
          </a:prstGeom>
          <a:solidFill>
            <a:schemeClr val="bg1"/>
          </a:solidFill>
          <a:ln w="12700">
            <a:solidFill>
              <a:schemeClr val="tx1"/>
            </a:solidFill>
          </a:ln>
        </p:spPr>
        <p:txBody>
          <a:bodyPr wrap="square">
            <a:spAutoFit/>
          </a:bodyPr>
          <a:lstStyle/>
          <a:p>
            <a:pPr algn="ctr"/>
            <a:r>
              <a:rPr lang="en-US" sz="2000" b="1" dirty="0">
                <a:latin typeface="+mj-lt"/>
                <a:ea typeface="Calibri" panose="020F0502020204030204" pitchFamily="34" charset="0"/>
                <a:cs typeface="Calibri" panose="020F0502020204030204" pitchFamily="34" charset="0"/>
              </a:rPr>
              <a:t>What You Are Accountable For</a:t>
            </a:r>
            <a:endParaRPr lang="en-US" sz="2000" b="1" i="1" dirty="0">
              <a:latin typeface="+mj-lt"/>
              <a:ea typeface="Calibri" panose="020F0502020204030204" pitchFamily="34" charset="0"/>
              <a:cs typeface="Calibri" panose="020F0502020204030204" pitchFamily="34" charset="0"/>
            </a:endParaRPr>
          </a:p>
        </p:txBody>
      </p:sp>
      <p:sp>
        <p:nvSpPr>
          <p:cNvPr id="20" name="Rectangle 19">
            <a:extLst>
              <a:ext uri="{FF2B5EF4-FFF2-40B4-BE49-F238E27FC236}">
                <a16:creationId xmlns:a16="http://schemas.microsoft.com/office/drawing/2014/main" id="{40A51DCF-D386-B599-69CC-F6E3DAC6CFB7}"/>
              </a:ext>
            </a:extLst>
          </p:cNvPr>
          <p:cNvSpPr/>
          <p:nvPr/>
        </p:nvSpPr>
        <p:spPr>
          <a:xfrm flipH="1">
            <a:off x="1394894" y="3643320"/>
            <a:ext cx="4273208" cy="400110"/>
          </a:xfrm>
          <a:prstGeom prst="rect">
            <a:avLst/>
          </a:prstGeom>
          <a:solidFill>
            <a:schemeClr val="bg1"/>
          </a:solidFill>
          <a:ln w="12700">
            <a:solidFill>
              <a:schemeClr val="tx1"/>
            </a:solidFill>
          </a:ln>
        </p:spPr>
        <p:txBody>
          <a:bodyPr wrap="square">
            <a:spAutoFit/>
          </a:bodyPr>
          <a:lstStyle/>
          <a:p>
            <a:pPr lvl="0" algn="ctr"/>
            <a:r>
              <a:rPr lang="en-US" sz="2000" b="1" dirty="0">
                <a:latin typeface="+mj-lt"/>
                <a:ea typeface="Calibri" panose="020F0502020204030204" pitchFamily="34" charset="0"/>
                <a:cs typeface="Calibri" panose="020F0502020204030204" pitchFamily="34" charset="0"/>
              </a:rPr>
              <a:t>What Good Looks Like</a:t>
            </a:r>
          </a:p>
        </p:txBody>
      </p:sp>
      <p:sp>
        <p:nvSpPr>
          <p:cNvPr id="44" name="Rectangle 43">
            <a:extLst>
              <a:ext uri="{FF2B5EF4-FFF2-40B4-BE49-F238E27FC236}">
                <a16:creationId xmlns:a16="http://schemas.microsoft.com/office/drawing/2014/main" id="{7A575C35-A3B6-7961-FF76-3833E8FCBE90}"/>
              </a:ext>
            </a:extLst>
          </p:cNvPr>
          <p:cNvSpPr/>
          <p:nvPr/>
        </p:nvSpPr>
        <p:spPr>
          <a:xfrm>
            <a:off x="550864" y="1689948"/>
            <a:ext cx="5961268" cy="1862047"/>
          </a:xfrm>
          <a:prstGeom prst="rect">
            <a:avLst/>
          </a:prstGeom>
          <a:solidFill>
            <a:schemeClr val="bg1"/>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dirty="0">
              <a:solidFill>
                <a:schemeClr val="bg1"/>
              </a:solidFill>
              <a:latin typeface="+mj-lt"/>
              <a:ea typeface="Calibri" panose="020F0502020204030204" pitchFamily="34" charset="0"/>
              <a:cs typeface="Calibri" panose="020F0502020204030204" pitchFamily="34" charset="0"/>
            </a:endParaRPr>
          </a:p>
        </p:txBody>
      </p:sp>
      <p:sp>
        <p:nvSpPr>
          <p:cNvPr id="45" name="Rectangle 5">
            <a:extLst>
              <a:ext uri="{FF2B5EF4-FFF2-40B4-BE49-F238E27FC236}">
                <a16:creationId xmlns:a16="http://schemas.microsoft.com/office/drawing/2014/main" id="{FD95FAB1-87D2-929C-F44A-17B4DAAC9338}"/>
              </a:ext>
            </a:extLst>
          </p:cNvPr>
          <p:cNvSpPr>
            <a:spLocks noChangeArrowheads="1"/>
          </p:cNvSpPr>
          <p:nvPr/>
        </p:nvSpPr>
        <p:spPr bwMode="auto">
          <a:xfrm>
            <a:off x="550864" y="1834078"/>
            <a:ext cx="5961268"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ts val="600"/>
              </a:spcAft>
              <a:buClrTx/>
              <a:buSzTx/>
              <a:buFont typeface="+mj-lt"/>
              <a:buAutoNum type="arabicPeriod"/>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US ambition: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double AI revenue</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(FY27 target) while making AI part of delivery DNA</a:t>
            </a:r>
          </a:p>
          <a:p>
            <a:pPr marL="342900" marR="0" lvl="0" indent="-342900" algn="l" defTabSz="914400" rtl="0" eaLnBrk="0" fontAlgn="base" latinLnBrk="0" hangingPunct="0">
              <a:lnSpc>
                <a:spcPct val="100000"/>
              </a:lnSpc>
              <a:spcBef>
                <a:spcPct val="0"/>
              </a:spcBef>
              <a:spcAft>
                <a:spcPts val="600"/>
              </a:spcAft>
              <a:buClrTx/>
              <a:buSzTx/>
              <a:buFont typeface="+mj-lt"/>
              <a:buAutoNum type="arabicPeriod"/>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This only works with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practice ownership + AI interlock</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(not “AI team only”)</a:t>
            </a:r>
          </a:p>
          <a:p>
            <a:pPr marL="342900" marR="0" lvl="0" indent="-342900" algn="l" defTabSz="914400" rtl="0" eaLnBrk="0" fontAlgn="base" latinLnBrk="0" hangingPunct="0">
              <a:lnSpc>
                <a:spcPct val="100000"/>
              </a:lnSpc>
              <a:spcBef>
                <a:spcPct val="0"/>
              </a:spcBef>
              <a:spcAft>
                <a:spcPts val="600"/>
              </a:spcAft>
              <a:buClrTx/>
              <a:buSzTx/>
              <a:buFont typeface="+mj-lt"/>
              <a:buAutoNum type="arabicPeriod"/>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Champions ensure we focus on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domain-relevant problems</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and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sellable solutions</a:t>
            </a:r>
            <a:endPar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p:txBody>
      </p:sp>
      <p:sp>
        <p:nvSpPr>
          <p:cNvPr id="46" name="Rectangle 6">
            <a:extLst>
              <a:ext uri="{FF2B5EF4-FFF2-40B4-BE49-F238E27FC236}">
                <a16:creationId xmlns:a16="http://schemas.microsoft.com/office/drawing/2014/main" id="{3EA7116E-9A3B-4E98-47B6-817602D4ECAB}"/>
              </a:ext>
            </a:extLst>
          </p:cNvPr>
          <p:cNvSpPr>
            <a:spLocks noChangeArrowheads="1"/>
          </p:cNvSpPr>
          <p:nvPr/>
        </p:nvSpPr>
        <p:spPr bwMode="auto">
          <a:xfrm>
            <a:off x="562898" y="4383742"/>
            <a:ext cx="594923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A prioritized backlog in your domain (problem-first) </a:t>
            </a:r>
            <a:r>
              <a:rPr kumimoji="0" lang="en-US" altLang="en-US" sz="1400" b="1"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with 2–3 top items ready for action</a:t>
            </a:r>
            <a:endPar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At least one item per cycle moving toward </a:t>
            </a:r>
            <a:r>
              <a:rPr kumimoji="0" lang="en-US" altLang="en-US" sz="1400" b="1"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demo-ready / GTM-ready</a:t>
            </a:r>
            <a:endPar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Your domain can clearly answer:</a:t>
            </a:r>
            <a:b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br>
            <a:r>
              <a:rPr kumimoji="0" lang="en-US" altLang="en-US" sz="1400" b="1"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“What are we selling?”</a:t>
            </a:r>
            <a: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 and </a:t>
            </a:r>
            <a:r>
              <a:rPr kumimoji="0" lang="en-US" altLang="en-US" sz="1400" b="1"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“How does AI change delivery?”</a:t>
            </a:r>
            <a:endPar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buClrTx/>
              <a:buSzTx/>
              <a:buFont typeface="Arial" panose="020B0604020202020204" pitchFamily="34" charset="0"/>
              <a:buChar char="•"/>
              <a:tabLst/>
            </a:pPr>
            <a:r>
              <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You (and others) can confidently explain these to a client in </a:t>
            </a:r>
            <a:r>
              <a:rPr kumimoji="0" lang="en-US" altLang="en-US" sz="1400" b="1"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rPr>
              <a:t>non-technical language</a:t>
            </a:r>
            <a:endParaRPr kumimoji="0" lang="en-US" altLang="en-US" sz="1400" b="0" i="0" u="none" strike="noStrike" cap="none" normalizeH="0" baseline="0" dirty="0">
              <a:ln>
                <a:noFill/>
              </a:ln>
              <a:solidFill>
                <a:schemeClr val="bg1"/>
              </a:solidFill>
              <a:effectLst/>
              <a:latin typeface="+mj-lt"/>
              <a:ea typeface="Calibri" panose="020F0502020204030204" pitchFamily="34" charset="0"/>
              <a:cs typeface="Calibri" panose="020F0502020204030204" pitchFamily="34" charset="0"/>
            </a:endParaRPr>
          </a:p>
        </p:txBody>
      </p:sp>
      <p:sp>
        <p:nvSpPr>
          <p:cNvPr id="48" name="TextBox 47">
            <a:extLst>
              <a:ext uri="{FF2B5EF4-FFF2-40B4-BE49-F238E27FC236}">
                <a16:creationId xmlns:a16="http://schemas.microsoft.com/office/drawing/2014/main" id="{D56C4416-4100-017B-33DB-40F1B0002891}"/>
              </a:ext>
            </a:extLst>
          </p:cNvPr>
          <p:cNvSpPr txBox="1"/>
          <p:nvPr/>
        </p:nvSpPr>
        <p:spPr>
          <a:xfrm>
            <a:off x="6629400" y="1834078"/>
            <a:ext cx="5018663" cy="1862048"/>
          </a:xfrm>
          <a:prstGeom prst="rect">
            <a:avLst/>
          </a:prstGeom>
          <a:noFill/>
        </p:spPr>
        <p:txBody>
          <a:bodyPr wrap="square">
            <a:spAutoFit/>
          </a:bodyPr>
          <a:lstStyle/>
          <a:p>
            <a:pPr algn="ctr">
              <a:spcBef>
                <a:spcPts val="600"/>
              </a:spcBef>
            </a:pPr>
            <a:r>
              <a:rPr lang="en-US" sz="1400" b="1" dirty="0">
                <a:solidFill>
                  <a:schemeClr val="bg1"/>
                </a:solidFill>
                <a:latin typeface="+mj-lt"/>
                <a:ea typeface="Calibri" panose="020F0502020204030204" pitchFamily="34" charset="0"/>
                <a:cs typeface="Calibri" panose="020F0502020204030204" pitchFamily="34" charset="0"/>
              </a:rPr>
              <a:t>AI Service Offering Champion(s) — you own WHAT we build &amp; take to market</a:t>
            </a:r>
            <a:endParaRPr lang="en-US" sz="1400" dirty="0">
              <a:solidFill>
                <a:schemeClr val="bg1"/>
              </a:solidFill>
              <a:latin typeface="+mj-lt"/>
              <a:ea typeface="Calibri" panose="020F0502020204030204" pitchFamily="34" charset="0"/>
              <a:cs typeface="Calibri" panose="020F0502020204030204" pitchFamily="34" charset="0"/>
            </a:endParaRPr>
          </a:p>
          <a:p>
            <a:pPr marL="285750" indent="-285750">
              <a:spcBef>
                <a:spcPts val="600"/>
              </a:spcBef>
              <a:buFont typeface="Arial" panose="020B0604020202020204" pitchFamily="34" charset="0"/>
              <a:buChar char="•"/>
            </a:pPr>
            <a:r>
              <a:rPr lang="en-US" sz="1200" dirty="0">
                <a:solidFill>
                  <a:schemeClr val="bg1"/>
                </a:solidFill>
                <a:latin typeface="+mj-lt"/>
                <a:ea typeface="Calibri" panose="020F0502020204030204" pitchFamily="34" charset="0"/>
                <a:cs typeface="Calibri" panose="020F0502020204030204" pitchFamily="34" charset="0"/>
              </a:rPr>
              <a:t>Define and prioritize a </a:t>
            </a:r>
            <a:r>
              <a:rPr lang="en-US" sz="1200" b="1" dirty="0">
                <a:solidFill>
                  <a:schemeClr val="bg1"/>
                </a:solidFill>
                <a:latin typeface="+mj-lt"/>
                <a:ea typeface="Calibri" panose="020F0502020204030204" pitchFamily="34" charset="0"/>
                <a:cs typeface="Calibri" panose="020F0502020204030204" pitchFamily="34" charset="0"/>
              </a:rPr>
              <a:t>domain backlog</a:t>
            </a:r>
            <a:r>
              <a:rPr lang="en-US" sz="1200" dirty="0">
                <a:solidFill>
                  <a:schemeClr val="bg1"/>
                </a:solidFill>
                <a:latin typeface="+mj-lt"/>
                <a:ea typeface="Calibri" panose="020F0502020204030204" pitchFamily="34" charset="0"/>
                <a:cs typeface="Calibri" panose="020F0502020204030204" pitchFamily="34" charset="0"/>
              </a:rPr>
              <a:t> of AI-enabled service offerings/use cases</a:t>
            </a:r>
          </a:p>
          <a:p>
            <a:pPr marL="285750" indent="-285750">
              <a:spcBef>
                <a:spcPts val="600"/>
              </a:spcBef>
              <a:buFont typeface="Arial" panose="020B0604020202020204" pitchFamily="34" charset="0"/>
              <a:buChar char="•"/>
            </a:pPr>
            <a:r>
              <a:rPr lang="en-US" sz="1200" dirty="0">
                <a:solidFill>
                  <a:schemeClr val="bg1"/>
                </a:solidFill>
                <a:latin typeface="+mj-lt"/>
                <a:ea typeface="Calibri" panose="020F0502020204030204" pitchFamily="34" charset="0"/>
                <a:cs typeface="Calibri" panose="020F0502020204030204" pitchFamily="34" charset="0"/>
              </a:rPr>
              <a:t>Partner with </a:t>
            </a:r>
            <a:r>
              <a:rPr lang="en-US" sz="1200" b="1" dirty="0">
                <a:solidFill>
                  <a:schemeClr val="bg1"/>
                </a:solidFill>
                <a:latin typeface="+mj-lt"/>
                <a:ea typeface="Calibri" panose="020F0502020204030204" pitchFamily="34" charset="0"/>
                <a:cs typeface="Calibri" panose="020F0502020204030204" pitchFamily="34" charset="0"/>
              </a:rPr>
              <a:t>AI Forward Deployed Engineer + AI Lab</a:t>
            </a:r>
            <a:r>
              <a:rPr lang="en-US" sz="1200" dirty="0">
                <a:solidFill>
                  <a:schemeClr val="bg1"/>
                </a:solidFill>
                <a:latin typeface="+mj-lt"/>
                <a:ea typeface="Calibri" panose="020F0502020204030204" pitchFamily="34" charset="0"/>
                <a:cs typeface="Calibri" panose="020F0502020204030204" pitchFamily="34" charset="0"/>
              </a:rPr>
              <a:t> to turn top items into demos/solutions</a:t>
            </a:r>
          </a:p>
          <a:p>
            <a:pPr marL="285750" indent="-285750">
              <a:spcBef>
                <a:spcPts val="600"/>
              </a:spcBef>
              <a:buFont typeface="Arial" panose="020B0604020202020204" pitchFamily="34" charset="0"/>
              <a:buChar char="•"/>
            </a:pPr>
            <a:r>
              <a:rPr lang="en-US" sz="1200" dirty="0">
                <a:solidFill>
                  <a:schemeClr val="bg1"/>
                </a:solidFill>
                <a:latin typeface="+mj-lt"/>
                <a:ea typeface="Calibri" panose="020F0502020204030204" pitchFamily="34" charset="0"/>
                <a:cs typeface="Calibri" panose="020F0502020204030204" pitchFamily="34" charset="0"/>
              </a:rPr>
              <a:t>Drive </a:t>
            </a:r>
            <a:r>
              <a:rPr lang="en-US" sz="1200" b="1" dirty="0">
                <a:solidFill>
                  <a:schemeClr val="bg1"/>
                </a:solidFill>
                <a:latin typeface="+mj-lt"/>
                <a:ea typeface="Calibri" panose="020F0502020204030204" pitchFamily="34" charset="0"/>
                <a:cs typeface="Calibri" panose="020F0502020204030204" pitchFamily="34" charset="0"/>
              </a:rPr>
              <a:t>GTM readiness</a:t>
            </a:r>
            <a:r>
              <a:rPr lang="en-US" sz="1200" dirty="0">
                <a:solidFill>
                  <a:schemeClr val="bg1"/>
                </a:solidFill>
                <a:latin typeface="+mj-lt"/>
                <a:ea typeface="Calibri" panose="020F0502020204030204" pitchFamily="34" charset="0"/>
                <a:cs typeface="Calibri" panose="020F0502020204030204" pitchFamily="34" charset="0"/>
              </a:rPr>
              <a:t>: positioning, where it fits, target buyers, and “how to talk about it”</a:t>
            </a:r>
          </a:p>
        </p:txBody>
      </p:sp>
    </p:spTree>
    <p:extLst>
      <p:ext uri="{BB962C8B-B14F-4D97-AF65-F5344CB8AC3E}">
        <p14:creationId xmlns:p14="http://schemas.microsoft.com/office/powerpoint/2010/main" val="4129241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88EFA-C35E-96A0-2343-249193B41A2F}"/>
              </a:ext>
            </a:extLst>
          </p:cNvPr>
          <p:cNvSpPr>
            <a:spLocks noGrp="1"/>
          </p:cNvSpPr>
          <p:nvPr>
            <p:ph type="title"/>
          </p:nvPr>
        </p:nvSpPr>
        <p:spPr/>
        <p:txBody>
          <a:bodyPr/>
          <a:lstStyle/>
          <a:p>
            <a:r>
              <a:rPr lang="en-US" b="1" dirty="0">
                <a:latin typeface="+mj-lt"/>
              </a:rPr>
              <a:t>How We’ll Work</a:t>
            </a:r>
          </a:p>
        </p:txBody>
      </p:sp>
      <p:sp>
        <p:nvSpPr>
          <p:cNvPr id="3" name="Text Placeholder 2">
            <a:extLst>
              <a:ext uri="{FF2B5EF4-FFF2-40B4-BE49-F238E27FC236}">
                <a16:creationId xmlns:a16="http://schemas.microsoft.com/office/drawing/2014/main" id="{0F31D453-465A-2C2D-2CDA-0B8967B05CB0}"/>
              </a:ext>
            </a:extLst>
          </p:cNvPr>
          <p:cNvSpPr>
            <a:spLocks noGrp="1"/>
          </p:cNvSpPr>
          <p:nvPr>
            <p:ph type="body" sz="quarter" idx="10"/>
          </p:nvPr>
        </p:nvSpPr>
        <p:spPr>
          <a:xfrm>
            <a:off x="542647" y="814367"/>
            <a:ext cx="11098999" cy="276999"/>
          </a:xfrm>
        </p:spPr>
        <p:txBody>
          <a:bodyPr/>
          <a:lstStyle/>
          <a:p>
            <a:r>
              <a:rPr lang="en-US" dirty="0">
                <a:latin typeface="+mj-lt"/>
              </a:rPr>
              <a:t>A cadence and workflow to move from domain problems to GTM-ready solutions</a:t>
            </a:r>
          </a:p>
        </p:txBody>
      </p:sp>
      <p:sp>
        <p:nvSpPr>
          <p:cNvPr id="7" name="Rectangle 6">
            <a:extLst>
              <a:ext uri="{FF2B5EF4-FFF2-40B4-BE49-F238E27FC236}">
                <a16:creationId xmlns:a16="http://schemas.microsoft.com/office/drawing/2014/main" id="{DC591A2D-4328-A19A-F1FC-F38A3814393D}"/>
              </a:ext>
            </a:extLst>
          </p:cNvPr>
          <p:cNvSpPr/>
          <p:nvPr/>
        </p:nvSpPr>
        <p:spPr>
          <a:xfrm>
            <a:off x="8071791" y="5087582"/>
            <a:ext cx="3735778" cy="851987"/>
          </a:xfrm>
          <a:prstGeom prst="rect">
            <a:avLst/>
          </a:prstGeom>
          <a:solidFill>
            <a:srgbClr val="003B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1600">
              <a:solidFill>
                <a:srgbClr val="FFFFFF"/>
              </a:solidFill>
              <a:latin typeface="+mj-lt"/>
            </a:endParaRPr>
          </a:p>
        </p:txBody>
      </p:sp>
      <p:cxnSp>
        <p:nvCxnSpPr>
          <p:cNvPr id="8" name="Straight Connector 7">
            <a:extLst>
              <a:ext uri="{FF2B5EF4-FFF2-40B4-BE49-F238E27FC236}">
                <a16:creationId xmlns:a16="http://schemas.microsoft.com/office/drawing/2014/main" id="{8F78003E-E213-2E2A-DBF6-4A17927AB6AE}"/>
              </a:ext>
            </a:extLst>
          </p:cNvPr>
          <p:cNvCxnSpPr>
            <a:cxnSpLocks/>
          </p:cNvCxnSpPr>
          <p:nvPr/>
        </p:nvCxnSpPr>
        <p:spPr>
          <a:xfrm>
            <a:off x="1588" y="4347768"/>
            <a:ext cx="12192000" cy="0"/>
          </a:xfrm>
          <a:prstGeom prst="line">
            <a:avLst/>
          </a:prstGeom>
          <a:noFill/>
          <a:ln w="9525" cap="flat" cmpd="sng" algn="ctr">
            <a:solidFill>
              <a:schemeClr val="tx1"/>
            </a:solidFill>
            <a:prstDash val="solid"/>
          </a:ln>
          <a:effectLst/>
        </p:spPr>
      </p:cxnSp>
      <p:sp>
        <p:nvSpPr>
          <p:cNvPr id="9" name="Text Placeholder 3">
            <a:extLst>
              <a:ext uri="{FF2B5EF4-FFF2-40B4-BE49-F238E27FC236}">
                <a16:creationId xmlns:a16="http://schemas.microsoft.com/office/drawing/2014/main" id="{3F9D4746-53F9-C8F4-4425-78BCF28FE0E9}"/>
              </a:ext>
            </a:extLst>
          </p:cNvPr>
          <p:cNvSpPr txBox="1">
            <a:spLocks/>
          </p:cNvSpPr>
          <p:nvPr/>
        </p:nvSpPr>
        <p:spPr>
          <a:xfrm>
            <a:off x="7998073" y="4808357"/>
            <a:ext cx="3735778" cy="1231106"/>
          </a:xfrm>
          <a:prstGeom prst="rect">
            <a:avLst/>
          </a:prstGeom>
          <a:solidFill>
            <a:schemeClr val="bg1"/>
          </a:solidFill>
          <a:ln w="28575">
            <a:solidFill>
              <a:srgbClr val="3F3F3F"/>
            </a:solidFill>
          </a:ln>
        </p:spPr>
        <p:txBody>
          <a:bodyPr wrap="square" lIns="365760" tIns="76200" rIns="91440" bIns="76200" anchor="ctr">
            <a:spAutoFit/>
          </a:bodyPr>
          <a:lstStyle>
            <a:lvl1pPr marL="209550" indent="-209550" algn="l" defTabSz="914400" rtl="0" eaLnBrk="1" latinLnBrk="0" hangingPunct="1">
              <a:spcBef>
                <a:spcPct val="20000"/>
              </a:spcBef>
              <a:buClr>
                <a:schemeClr val="accent4"/>
              </a:buClr>
              <a:buSzPct val="125000"/>
              <a:buFont typeface="Arial" panose="020B0604020202020204" pitchFamily="34" charset="0"/>
              <a:buChar char="▪"/>
              <a:defRPr sz="1600" kern="1200">
                <a:solidFill>
                  <a:schemeClr val="tx1"/>
                </a:solidFill>
                <a:latin typeface="+mn-lt"/>
                <a:ea typeface="+mn-ea"/>
                <a:cs typeface="+mn-cs"/>
              </a:defRPr>
            </a:lvl1pPr>
            <a:lvl2pPr marL="447675" indent="-238125" algn="l" defTabSz="914400" rtl="0" eaLnBrk="1" latinLnBrk="0" hangingPunct="1">
              <a:spcBef>
                <a:spcPct val="20000"/>
              </a:spcBef>
              <a:buClr>
                <a:schemeClr val="accent4"/>
              </a:buClr>
              <a:buSzPct val="115000"/>
              <a:buFont typeface="Century Gothic" panose="020B0502020202020204" pitchFamily="34" charset="0"/>
              <a:buChar char="−"/>
              <a:defRPr sz="1600" kern="1200">
                <a:solidFill>
                  <a:schemeClr val="tx1"/>
                </a:solidFill>
                <a:latin typeface="+mn-lt"/>
                <a:ea typeface="+mn-ea"/>
                <a:cs typeface="+mn-cs"/>
              </a:defRPr>
            </a:lvl2pPr>
            <a:lvl3pPr marL="647700" indent="-200025" algn="l" defTabSz="914400" rtl="0" eaLnBrk="1" latinLnBrk="0" hangingPunct="1">
              <a:spcBef>
                <a:spcPct val="20000"/>
              </a:spcBef>
              <a:buClr>
                <a:schemeClr val="accent4"/>
              </a:buClr>
              <a:buSzPct val="110000"/>
              <a:buFont typeface="Arial" pitchFamily="34" charset="0"/>
              <a:buChar char="•"/>
              <a:defRPr sz="1600" kern="1200">
                <a:solidFill>
                  <a:schemeClr val="tx1"/>
                </a:solidFill>
                <a:latin typeface="+mn-lt"/>
                <a:ea typeface="+mn-ea"/>
                <a:cs typeface="+mn-cs"/>
              </a:defRPr>
            </a:lvl3pPr>
            <a:lvl4pPr marL="809625" indent="-180975" algn="l" defTabSz="914400" rtl="0" eaLnBrk="1" latinLnBrk="0" hangingPunct="1">
              <a:spcBef>
                <a:spcPct val="20000"/>
              </a:spcBef>
              <a:buClr>
                <a:schemeClr val="accent4"/>
              </a:buClr>
              <a:buFont typeface="Calibri" panose="020F050202020403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0070C0"/>
              </a:buClr>
              <a:buNone/>
              <a:defRPr/>
            </a:pPr>
            <a:r>
              <a:rPr lang="en-US" sz="1400" b="1" dirty="0">
                <a:latin typeface="+mj-lt"/>
              </a:rPr>
              <a:t>System of record:</a:t>
            </a:r>
            <a:r>
              <a:rPr lang="en-US" sz="1400" dirty="0">
                <a:latin typeface="+mj-lt"/>
              </a:rPr>
              <a:t> the US AI Interlock workbook tracks owners, backlogs, and follow-ups — so anyone can find what’s ready, what’s next, and who to contact.</a:t>
            </a:r>
            <a:endParaRPr lang="en-US" sz="1400" b="1" dirty="0">
              <a:solidFill>
                <a:srgbClr val="000000"/>
              </a:solidFill>
              <a:latin typeface="+mj-lt"/>
              <a:cs typeface="Arial" panose="020B0604020202020204" pitchFamily="34" charset="0"/>
            </a:endParaRPr>
          </a:p>
        </p:txBody>
      </p:sp>
      <p:cxnSp>
        <p:nvCxnSpPr>
          <p:cNvPr id="11" name="Straight Connector 10">
            <a:extLst>
              <a:ext uri="{FF2B5EF4-FFF2-40B4-BE49-F238E27FC236}">
                <a16:creationId xmlns:a16="http://schemas.microsoft.com/office/drawing/2014/main" id="{4FC2654D-1760-65F3-6C54-D7118DD85377}"/>
              </a:ext>
            </a:extLst>
          </p:cNvPr>
          <p:cNvCxnSpPr>
            <a:cxnSpLocks/>
          </p:cNvCxnSpPr>
          <p:nvPr/>
        </p:nvCxnSpPr>
        <p:spPr>
          <a:xfrm>
            <a:off x="7209867" y="1201314"/>
            <a:ext cx="0" cy="3108960"/>
          </a:xfrm>
          <a:prstGeom prst="line">
            <a:avLst/>
          </a:prstGeom>
          <a:noFill/>
          <a:ln w="9525" cap="flat" cmpd="sng" algn="ctr">
            <a:solidFill>
              <a:schemeClr val="tx1"/>
            </a:solidFill>
            <a:prstDash val="sysDot"/>
          </a:ln>
          <a:effectLst/>
        </p:spPr>
      </p:cxnSp>
      <p:sp>
        <p:nvSpPr>
          <p:cNvPr id="13" name="Text Placeholder 3">
            <a:extLst>
              <a:ext uri="{FF2B5EF4-FFF2-40B4-BE49-F238E27FC236}">
                <a16:creationId xmlns:a16="http://schemas.microsoft.com/office/drawing/2014/main" id="{BB8968C5-7E39-856A-CCCB-F64C8110F092}"/>
              </a:ext>
            </a:extLst>
          </p:cNvPr>
          <p:cNvSpPr txBox="1">
            <a:spLocks/>
          </p:cNvSpPr>
          <p:nvPr/>
        </p:nvSpPr>
        <p:spPr>
          <a:xfrm>
            <a:off x="747604" y="4448368"/>
            <a:ext cx="6036289" cy="215444"/>
          </a:xfrm>
          <a:prstGeom prst="rect">
            <a:avLst/>
          </a:prstGeom>
          <a:noFill/>
        </p:spPr>
        <p:txBody>
          <a:bodyPr wrap="square" lIns="0" tIns="0" rIns="0" bIns="0">
            <a:spAutoFit/>
          </a:bodyPr>
          <a:lstStyle>
            <a:lvl1pPr marL="209550" indent="-209550" algn="l" defTabSz="914400" rtl="0" eaLnBrk="1" latinLnBrk="0" hangingPunct="1">
              <a:spcBef>
                <a:spcPct val="20000"/>
              </a:spcBef>
              <a:buClr>
                <a:schemeClr val="accent4"/>
              </a:buClr>
              <a:buSzPct val="125000"/>
              <a:buFont typeface="Arial" panose="020B0604020202020204" pitchFamily="34" charset="0"/>
              <a:buChar char="▪"/>
              <a:defRPr sz="1600" kern="1200">
                <a:solidFill>
                  <a:schemeClr val="tx1"/>
                </a:solidFill>
                <a:latin typeface="+mn-lt"/>
                <a:ea typeface="+mn-ea"/>
                <a:cs typeface="+mn-cs"/>
              </a:defRPr>
            </a:lvl1pPr>
            <a:lvl2pPr marL="447675" indent="-238125" algn="l" defTabSz="914400" rtl="0" eaLnBrk="1" latinLnBrk="0" hangingPunct="1">
              <a:spcBef>
                <a:spcPct val="20000"/>
              </a:spcBef>
              <a:buClr>
                <a:schemeClr val="accent4"/>
              </a:buClr>
              <a:buSzPct val="115000"/>
              <a:buFont typeface="Century Gothic" panose="020B0502020202020204" pitchFamily="34" charset="0"/>
              <a:buChar char="−"/>
              <a:defRPr sz="1600" kern="1200">
                <a:solidFill>
                  <a:schemeClr val="tx1"/>
                </a:solidFill>
                <a:latin typeface="+mn-lt"/>
                <a:ea typeface="+mn-ea"/>
                <a:cs typeface="+mn-cs"/>
              </a:defRPr>
            </a:lvl2pPr>
            <a:lvl3pPr marL="647700" indent="-200025" algn="l" defTabSz="914400" rtl="0" eaLnBrk="1" latinLnBrk="0" hangingPunct="1">
              <a:spcBef>
                <a:spcPct val="20000"/>
              </a:spcBef>
              <a:buClr>
                <a:schemeClr val="accent4"/>
              </a:buClr>
              <a:buSzPct val="110000"/>
              <a:buFont typeface="Arial" pitchFamily="34" charset="0"/>
              <a:buChar char="•"/>
              <a:defRPr sz="1600" kern="1200">
                <a:solidFill>
                  <a:schemeClr val="tx1"/>
                </a:solidFill>
                <a:latin typeface="+mn-lt"/>
                <a:ea typeface="+mn-ea"/>
                <a:cs typeface="+mn-cs"/>
              </a:defRPr>
            </a:lvl3pPr>
            <a:lvl4pPr marL="809625" indent="-180975" algn="l" defTabSz="914400" rtl="0" eaLnBrk="1" latinLnBrk="0" hangingPunct="1">
              <a:spcBef>
                <a:spcPct val="20000"/>
              </a:spcBef>
              <a:buClr>
                <a:schemeClr val="accent4"/>
              </a:buClr>
              <a:buFont typeface="Calibri" panose="020F050202020403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Clr>
                <a:srgbClr val="0070C0"/>
              </a:buClr>
              <a:buNone/>
              <a:defRPr/>
            </a:pPr>
            <a:r>
              <a:rPr lang="en-US" sz="1400" dirty="0">
                <a:latin typeface="+mj-lt"/>
              </a:rPr>
              <a:t>We follow a consistent path to turn ideas into market-ready solutions</a:t>
            </a:r>
            <a:endParaRPr lang="en-US" sz="1400" dirty="0">
              <a:solidFill>
                <a:srgbClr val="3F3F3F"/>
              </a:solidFill>
              <a:latin typeface="+mj-lt"/>
            </a:endParaRPr>
          </a:p>
        </p:txBody>
      </p:sp>
      <p:sp>
        <p:nvSpPr>
          <p:cNvPr id="14" name="TextBox 13">
            <a:extLst>
              <a:ext uri="{FF2B5EF4-FFF2-40B4-BE49-F238E27FC236}">
                <a16:creationId xmlns:a16="http://schemas.microsoft.com/office/drawing/2014/main" id="{4ABCDF03-55E2-24E1-99BC-855261B76759}"/>
              </a:ext>
            </a:extLst>
          </p:cNvPr>
          <p:cNvSpPr txBox="1"/>
          <p:nvPr/>
        </p:nvSpPr>
        <p:spPr>
          <a:xfrm>
            <a:off x="614194" y="5594978"/>
            <a:ext cx="949188" cy="738664"/>
          </a:xfrm>
          <a:prstGeom prst="rect">
            <a:avLst/>
          </a:prstGeom>
          <a:noFill/>
        </p:spPr>
        <p:txBody>
          <a:bodyPr wrap="square" lIns="0" tIns="0" rIns="0" bIns="0">
            <a:spAutoFit/>
          </a:bodyPr>
          <a:lstStyle>
            <a:defPPr>
              <a:defRPr lang="en-US"/>
            </a:defPPr>
            <a:lvl1pPr indent="0">
              <a:spcBef>
                <a:spcPct val="20000"/>
              </a:spcBef>
              <a:buClr>
                <a:schemeClr val="accent4"/>
              </a:buClr>
              <a:buSzPct val="125000"/>
              <a:buFont typeface="Arial" panose="020B0604020202020204" pitchFamily="34" charset="0"/>
              <a:buNone/>
              <a:defRPr sz="1200"/>
            </a:lvl1pPr>
            <a:lvl2pPr marL="447675" indent="-238125">
              <a:spcBef>
                <a:spcPct val="20000"/>
              </a:spcBef>
              <a:buClr>
                <a:schemeClr val="accent4"/>
              </a:buClr>
              <a:buSzPct val="115000"/>
              <a:buFont typeface="Century Gothic" panose="020B0502020202020204" pitchFamily="34" charset="0"/>
              <a:buChar char="−"/>
              <a:defRPr sz="1600"/>
            </a:lvl2pPr>
            <a:lvl3pPr marL="647700" indent="-200025">
              <a:spcBef>
                <a:spcPct val="20000"/>
              </a:spcBef>
              <a:buClr>
                <a:schemeClr val="accent4"/>
              </a:buClr>
              <a:buSzPct val="110000"/>
              <a:buFont typeface="Arial" pitchFamily="34" charset="0"/>
              <a:buChar char="•"/>
              <a:defRPr sz="1600"/>
            </a:lvl3pPr>
            <a:lvl4pPr marL="809625" indent="-180975">
              <a:spcBef>
                <a:spcPct val="20000"/>
              </a:spcBef>
              <a:buClr>
                <a:schemeClr val="accent4"/>
              </a:buClr>
              <a:buFont typeface="Calibri" panose="020F0502020204030204" pitchFamily="34" charset="0"/>
              <a:buChar char="▫"/>
              <a:defRPr sz="1600"/>
            </a:lvl4pPr>
            <a:lvl5pPr marL="2057400" indent="-228600">
              <a:spcBef>
                <a:spcPct val="20000"/>
              </a:spcBef>
              <a:buFont typeface="Arial" pitchFamily="34" charset="0"/>
              <a:buChar cha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ctr">
              <a:spcBef>
                <a:spcPts val="0"/>
              </a:spcBef>
              <a:buClrTx/>
              <a:buSzTx/>
              <a:defRPr/>
            </a:pPr>
            <a:r>
              <a:rPr lang="en-US" dirty="0">
                <a:latin typeface="+mj-lt"/>
              </a:rPr>
              <a:t>Champion Intake (Problem First)</a:t>
            </a:r>
            <a:endParaRPr lang="en-US" b="1" dirty="0">
              <a:solidFill>
                <a:srgbClr val="0070C0"/>
              </a:solidFill>
              <a:latin typeface="+mj-lt"/>
            </a:endParaRPr>
          </a:p>
        </p:txBody>
      </p:sp>
      <p:sp>
        <p:nvSpPr>
          <p:cNvPr id="15" name="TextBox 14">
            <a:extLst>
              <a:ext uri="{FF2B5EF4-FFF2-40B4-BE49-F238E27FC236}">
                <a16:creationId xmlns:a16="http://schemas.microsoft.com/office/drawing/2014/main" id="{8D8B85C9-D0B2-3657-FACC-D849E8CDF2B0}"/>
              </a:ext>
            </a:extLst>
          </p:cNvPr>
          <p:cNvSpPr txBox="1"/>
          <p:nvPr/>
        </p:nvSpPr>
        <p:spPr>
          <a:xfrm>
            <a:off x="1676238" y="5662114"/>
            <a:ext cx="1067436" cy="553998"/>
          </a:xfrm>
          <a:prstGeom prst="rect">
            <a:avLst/>
          </a:prstGeom>
          <a:noFill/>
        </p:spPr>
        <p:txBody>
          <a:bodyPr wrap="square" lIns="0" tIns="0" rIns="0" bIns="0">
            <a:spAutoFit/>
          </a:bodyPr>
          <a:lstStyle>
            <a:defPPr>
              <a:defRPr lang="en-US"/>
            </a:defPPr>
            <a:lvl1pPr indent="0">
              <a:spcBef>
                <a:spcPct val="20000"/>
              </a:spcBef>
              <a:buClr>
                <a:schemeClr val="accent4"/>
              </a:buClr>
              <a:buSzPct val="125000"/>
              <a:buFont typeface="Arial" panose="020B0604020202020204" pitchFamily="34" charset="0"/>
              <a:buNone/>
              <a:defRPr sz="1200"/>
            </a:lvl1pPr>
            <a:lvl2pPr marL="447675" indent="-238125">
              <a:spcBef>
                <a:spcPct val="20000"/>
              </a:spcBef>
              <a:buClr>
                <a:schemeClr val="accent4"/>
              </a:buClr>
              <a:buSzPct val="115000"/>
              <a:buFont typeface="Century Gothic" panose="020B0502020202020204" pitchFamily="34" charset="0"/>
              <a:buChar char="−"/>
              <a:defRPr sz="1600"/>
            </a:lvl2pPr>
            <a:lvl3pPr marL="647700" indent="-200025">
              <a:spcBef>
                <a:spcPct val="20000"/>
              </a:spcBef>
              <a:buClr>
                <a:schemeClr val="accent4"/>
              </a:buClr>
              <a:buSzPct val="110000"/>
              <a:buFont typeface="Arial" pitchFamily="34" charset="0"/>
              <a:buChar char="•"/>
              <a:defRPr sz="1600"/>
            </a:lvl3pPr>
            <a:lvl4pPr marL="809625" indent="-180975">
              <a:spcBef>
                <a:spcPct val="20000"/>
              </a:spcBef>
              <a:buClr>
                <a:schemeClr val="accent4"/>
              </a:buClr>
              <a:buFont typeface="Calibri" panose="020F0502020204030204" pitchFamily="34" charset="0"/>
              <a:buChar char="▫"/>
              <a:defRPr sz="1600"/>
            </a:lvl4pPr>
            <a:lvl5pPr marL="2057400" indent="-228600">
              <a:spcBef>
                <a:spcPct val="20000"/>
              </a:spcBef>
              <a:buFont typeface="Arial" pitchFamily="34" charset="0"/>
              <a:buChar cha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ctr">
              <a:spcBef>
                <a:spcPts val="0"/>
              </a:spcBef>
              <a:buClrTx/>
              <a:buSzTx/>
              <a:defRPr/>
            </a:pPr>
            <a:r>
              <a:rPr lang="en-US" dirty="0">
                <a:latin typeface="+mj-lt"/>
              </a:rPr>
              <a:t>Prioritize With Domain Leadership</a:t>
            </a:r>
            <a:endParaRPr lang="en-US" sz="500" b="1" dirty="0">
              <a:solidFill>
                <a:srgbClr val="0070C0"/>
              </a:solidFill>
              <a:latin typeface="+mj-lt"/>
            </a:endParaRPr>
          </a:p>
        </p:txBody>
      </p:sp>
      <p:sp>
        <p:nvSpPr>
          <p:cNvPr id="16" name="TextBox 15">
            <a:extLst>
              <a:ext uri="{FF2B5EF4-FFF2-40B4-BE49-F238E27FC236}">
                <a16:creationId xmlns:a16="http://schemas.microsoft.com/office/drawing/2014/main" id="{5B27BC35-D28D-9CF5-3FED-B64F964FD685}"/>
              </a:ext>
            </a:extLst>
          </p:cNvPr>
          <p:cNvSpPr txBox="1"/>
          <p:nvPr/>
        </p:nvSpPr>
        <p:spPr>
          <a:xfrm>
            <a:off x="2812100" y="5754447"/>
            <a:ext cx="1063520" cy="184666"/>
          </a:xfrm>
          <a:prstGeom prst="rect">
            <a:avLst/>
          </a:prstGeom>
          <a:noFill/>
        </p:spPr>
        <p:txBody>
          <a:bodyPr wrap="square" lIns="0" tIns="0" rIns="0" bIns="0">
            <a:spAutoFit/>
          </a:bodyPr>
          <a:lstStyle>
            <a:defPPr>
              <a:defRPr lang="en-US"/>
            </a:defPPr>
            <a:lvl1pPr indent="0">
              <a:spcBef>
                <a:spcPct val="20000"/>
              </a:spcBef>
              <a:buClr>
                <a:schemeClr val="accent4"/>
              </a:buClr>
              <a:buSzPct val="125000"/>
              <a:buFont typeface="Arial" panose="020B0604020202020204" pitchFamily="34" charset="0"/>
              <a:buNone/>
              <a:defRPr sz="1200"/>
            </a:lvl1pPr>
            <a:lvl2pPr marL="447675" indent="-238125">
              <a:spcBef>
                <a:spcPct val="20000"/>
              </a:spcBef>
              <a:buClr>
                <a:schemeClr val="accent4"/>
              </a:buClr>
              <a:buSzPct val="115000"/>
              <a:buFont typeface="Century Gothic" panose="020B0502020202020204" pitchFamily="34" charset="0"/>
              <a:buChar char="−"/>
              <a:defRPr sz="1600"/>
            </a:lvl2pPr>
            <a:lvl3pPr marL="647700" indent="-200025">
              <a:spcBef>
                <a:spcPct val="20000"/>
              </a:spcBef>
              <a:buClr>
                <a:schemeClr val="accent4"/>
              </a:buClr>
              <a:buSzPct val="110000"/>
              <a:buFont typeface="Arial" pitchFamily="34" charset="0"/>
              <a:buChar char="•"/>
              <a:defRPr sz="1600"/>
            </a:lvl3pPr>
            <a:lvl4pPr marL="809625" indent="-180975">
              <a:spcBef>
                <a:spcPct val="20000"/>
              </a:spcBef>
              <a:buClr>
                <a:schemeClr val="accent4"/>
              </a:buClr>
              <a:buFont typeface="Calibri" panose="020F0502020204030204" pitchFamily="34" charset="0"/>
              <a:buChar char="▫"/>
              <a:defRPr sz="1600"/>
            </a:lvl4pPr>
            <a:lvl5pPr marL="2057400" indent="-228600">
              <a:spcBef>
                <a:spcPct val="20000"/>
              </a:spcBef>
              <a:buFont typeface="Arial" pitchFamily="34" charset="0"/>
              <a:buChar cha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ctr">
              <a:spcBef>
                <a:spcPts val="0"/>
              </a:spcBef>
              <a:buClrTx/>
              <a:buSzTx/>
              <a:defRPr/>
            </a:pPr>
            <a:endParaRPr lang="en-US">
              <a:solidFill>
                <a:srgbClr val="3F3F3F"/>
              </a:solidFill>
              <a:latin typeface="+mj-lt"/>
            </a:endParaRPr>
          </a:p>
        </p:txBody>
      </p:sp>
      <p:sp>
        <p:nvSpPr>
          <p:cNvPr id="17" name="TextBox 16">
            <a:extLst>
              <a:ext uri="{FF2B5EF4-FFF2-40B4-BE49-F238E27FC236}">
                <a16:creationId xmlns:a16="http://schemas.microsoft.com/office/drawing/2014/main" id="{C54C9A3E-DD11-23B4-98BE-F65E20BD9B59}"/>
              </a:ext>
            </a:extLst>
          </p:cNvPr>
          <p:cNvSpPr txBox="1"/>
          <p:nvPr/>
        </p:nvSpPr>
        <p:spPr>
          <a:xfrm>
            <a:off x="4009117" y="5754447"/>
            <a:ext cx="940573" cy="553998"/>
          </a:xfrm>
          <a:prstGeom prst="rect">
            <a:avLst/>
          </a:prstGeom>
          <a:noFill/>
        </p:spPr>
        <p:txBody>
          <a:bodyPr wrap="square" lIns="0" tIns="0" rIns="0" bIns="0">
            <a:spAutoFit/>
          </a:bodyPr>
          <a:lstStyle>
            <a:defPPr>
              <a:defRPr lang="en-US"/>
            </a:defPPr>
            <a:lvl1pPr indent="0">
              <a:spcBef>
                <a:spcPct val="20000"/>
              </a:spcBef>
              <a:buClr>
                <a:schemeClr val="accent4"/>
              </a:buClr>
              <a:buSzPct val="125000"/>
              <a:buFont typeface="Arial" panose="020B0604020202020204" pitchFamily="34" charset="0"/>
              <a:buNone/>
              <a:defRPr sz="1200"/>
            </a:lvl1pPr>
            <a:lvl2pPr marL="447675" indent="-238125">
              <a:spcBef>
                <a:spcPct val="20000"/>
              </a:spcBef>
              <a:buClr>
                <a:schemeClr val="accent4"/>
              </a:buClr>
              <a:buSzPct val="115000"/>
              <a:buFont typeface="Century Gothic" panose="020B0502020202020204" pitchFamily="34" charset="0"/>
              <a:buChar char="−"/>
              <a:defRPr sz="1600"/>
            </a:lvl2pPr>
            <a:lvl3pPr marL="647700" indent="-200025">
              <a:spcBef>
                <a:spcPct val="20000"/>
              </a:spcBef>
              <a:buClr>
                <a:schemeClr val="accent4"/>
              </a:buClr>
              <a:buSzPct val="110000"/>
              <a:buFont typeface="Arial" pitchFamily="34" charset="0"/>
              <a:buChar char="•"/>
              <a:defRPr sz="1600"/>
            </a:lvl3pPr>
            <a:lvl4pPr marL="809625" indent="-180975">
              <a:spcBef>
                <a:spcPct val="20000"/>
              </a:spcBef>
              <a:buClr>
                <a:schemeClr val="accent4"/>
              </a:buClr>
              <a:buFont typeface="Calibri" panose="020F0502020204030204" pitchFamily="34" charset="0"/>
              <a:buChar char="▫"/>
              <a:defRPr sz="1600"/>
            </a:lvl4pPr>
            <a:lvl5pPr marL="2057400" indent="-228600">
              <a:spcBef>
                <a:spcPct val="20000"/>
              </a:spcBef>
              <a:buFont typeface="Arial" pitchFamily="34" charset="0"/>
              <a:buChar cha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ctr">
              <a:spcBef>
                <a:spcPts val="0"/>
              </a:spcBef>
              <a:buClrTx/>
              <a:buSzTx/>
              <a:defRPr/>
            </a:pPr>
            <a:r>
              <a:rPr lang="en-US" dirty="0">
                <a:latin typeface="+mj-lt"/>
              </a:rPr>
              <a:t>Demo / Asset Readiness</a:t>
            </a:r>
            <a:endParaRPr lang="en-US" b="1" dirty="0">
              <a:solidFill>
                <a:srgbClr val="0070C0"/>
              </a:solidFill>
              <a:latin typeface="+mj-lt"/>
            </a:endParaRPr>
          </a:p>
        </p:txBody>
      </p:sp>
      <p:sp>
        <p:nvSpPr>
          <p:cNvPr id="18" name="TextBox 17">
            <a:extLst>
              <a:ext uri="{FF2B5EF4-FFF2-40B4-BE49-F238E27FC236}">
                <a16:creationId xmlns:a16="http://schemas.microsoft.com/office/drawing/2014/main" id="{FF242A43-3928-DDD7-7CC0-DDC047246DD3}"/>
              </a:ext>
            </a:extLst>
          </p:cNvPr>
          <p:cNvSpPr txBox="1"/>
          <p:nvPr/>
        </p:nvSpPr>
        <p:spPr>
          <a:xfrm>
            <a:off x="5063033" y="5724081"/>
            <a:ext cx="1071272" cy="553998"/>
          </a:xfrm>
          <a:prstGeom prst="rect">
            <a:avLst/>
          </a:prstGeom>
          <a:noFill/>
        </p:spPr>
        <p:txBody>
          <a:bodyPr wrap="square" lIns="0" tIns="0" rIns="0" bIns="0">
            <a:spAutoFit/>
          </a:bodyPr>
          <a:lstStyle>
            <a:defPPr>
              <a:defRPr lang="en-US"/>
            </a:defPPr>
            <a:lvl1pPr indent="0">
              <a:spcBef>
                <a:spcPct val="20000"/>
              </a:spcBef>
              <a:buClr>
                <a:schemeClr val="accent4"/>
              </a:buClr>
              <a:buSzPct val="125000"/>
              <a:buFont typeface="Arial" panose="020B0604020202020204" pitchFamily="34" charset="0"/>
              <a:buNone/>
              <a:defRPr sz="1200"/>
            </a:lvl1pPr>
            <a:lvl2pPr marL="447675" indent="-238125">
              <a:spcBef>
                <a:spcPct val="20000"/>
              </a:spcBef>
              <a:buClr>
                <a:schemeClr val="accent4"/>
              </a:buClr>
              <a:buSzPct val="115000"/>
              <a:buFont typeface="Century Gothic" panose="020B0502020202020204" pitchFamily="34" charset="0"/>
              <a:buChar char="−"/>
              <a:defRPr sz="1600"/>
            </a:lvl2pPr>
            <a:lvl3pPr marL="647700" indent="-200025">
              <a:spcBef>
                <a:spcPct val="20000"/>
              </a:spcBef>
              <a:buClr>
                <a:schemeClr val="accent4"/>
              </a:buClr>
              <a:buSzPct val="110000"/>
              <a:buFont typeface="Arial" pitchFamily="34" charset="0"/>
              <a:buChar char="•"/>
              <a:defRPr sz="1600"/>
            </a:lvl3pPr>
            <a:lvl4pPr marL="809625" indent="-180975">
              <a:spcBef>
                <a:spcPct val="20000"/>
              </a:spcBef>
              <a:buClr>
                <a:schemeClr val="accent4"/>
              </a:buClr>
              <a:buFont typeface="Calibri" panose="020F0502020204030204" pitchFamily="34" charset="0"/>
              <a:buChar char="▫"/>
              <a:defRPr sz="1600"/>
            </a:lvl4pPr>
            <a:lvl5pPr marL="2057400" indent="-228600">
              <a:spcBef>
                <a:spcPct val="20000"/>
              </a:spcBef>
              <a:buFont typeface="Arial" pitchFamily="34" charset="0"/>
              <a:buChar cha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ctr">
              <a:spcBef>
                <a:spcPts val="0"/>
              </a:spcBef>
              <a:buClrTx/>
              <a:buSzTx/>
              <a:defRPr/>
            </a:pPr>
            <a:r>
              <a:rPr lang="en-US" dirty="0">
                <a:latin typeface="+mj-lt"/>
              </a:rPr>
              <a:t>Capability Showcase (Bi-Weekly)</a:t>
            </a:r>
            <a:endParaRPr lang="en-US" b="1" dirty="0">
              <a:solidFill>
                <a:srgbClr val="0070C0"/>
              </a:solidFill>
              <a:latin typeface="+mj-lt"/>
            </a:endParaRPr>
          </a:p>
        </p:txBody>
      </p:sp>
      <p:sp>
        <p:nvSpPr>
          <p:cNvPr id="19" name="Right Arrow 54">
            <a:extLst>
              <a:ext uri="{FF2B5EF4-FFF2-40B4-BE49-F238E27FC236}">
                <a16:creationId xmlns:a16="http://schemas.microsoft.com/office/drawing/2014/main" id="{DDE21789-5BB8-AD94-E20B-AD771B7D85DA}"/>
              </a:ext>
            </a:extLst>
          </p:cNvPr>
          <p:cNvSpPr/>
          <p:nvPr/>
        </p:nvSpPr>
        <p:spPr>
          <a:xfrm>
            <a:off x="5287174" y="4755121"/>
            <a:ext cx="2308802" cy="744183"/>
          </a:xfrm>
          <a:prstGeom prst="rightArrow">
            <a:avLst>
              <a:gd name="adj1" fmla="val 54929"/>
              <a:gd name="adj2" fmla="val 74493"/>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ctr" defTabSz="584200" eaLnBrk="0" hangingPunct="0">
              <a:defRPr/>
            </a:pPr>
            <a:endParaRPr lang="en-US" sz="2400">
              <a:solidFill>
                <a:srgbClr val="FFFFFF"/>
              </a:solidFill>
              <a:latin typeface="+mj-lt"/>
              <a:ea typeface="Helvetica Neue Medium"/>
              <a:cs typeface="Helvetica Neue Medium"/>
              <a:sym typeface="Helvetica Neue Medium"/>
            </a:endParaRPr>
          </a:p>
        </p:txBody>
      </p:sp>
      <p:sp>
        <p:nvSpPr>
          <p:cNvPr id="20" name="Rectangle 19">
            <a:extLst>
              <a:ext uri="{FF2B5EF4-FFF2-40B4-BE49-F238E27FC236}">
                <a16:creationId xmlns:a16="http://schemas.microsoft.com/office/drawing/2014/main" id="{65B45235-4DE3-4B4E-0C55-7494CBC44AF4}"/>
              </a:ext>
            </a:extLst>
          </p:cNvPr>
          <p:cNvSpPr/>
          <p:nvPr/>
        </p:nvSpPr>
        <p:spPr>
          <a:xfrm>
            <a:off x="906915" y="4964243"/>
            <a:ext cx="4903878" cy="383080"/>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ctr" defTabSz="584200" eaLnBrk="0" hangingPunct="0">
              <a:defRPr/>
            </a:pPr>
            <a:r>
              <a:rPr lang="en-US" sz="1600">
                <a:solidFill>
                  <a:srgbClr val="FFFFFF"/>
                </a:solidFill>
                <a:latin typeface="+mj-lt"/>
                <a:ea typeface="Helvetica Neue Medium"/>
                <a:cs typeface="Helvetica Neue Medium"/>
                <a:sym typeface="Helvetica Neue Medium"/>
              </a:rPr>
              <a:t> </a:t>
            </a:r>
          </a:p>
        </p:txBody>
      </p:sp>
      <p:sp>
        <p:nvSpPr>
          <p:cNvPr id="46" name="Oval 45">
            <a:extLst>
              <a:ext uri="{FF2B5EF4-FFF2-40B4-BE49-F238E27FC236}">
                <a16:creationId xmlns:a16="http://schemas.microsoft.com/office/drawing/2014/main" id="{028C3705-2D59-D113-416A-886C82BBA59C}"/>
              </a:ext>
            </a:extLst>
          </p:cNvPr>
          <p:cNvSpPr/>
          <p:nvPr/>
        </p:nvSpPr>
        <p:spPr>
          <a:xfrm>
            <a:off x="1853291" y="4792616"/>
            <a:ext cx="726331" cy="726329"/>
          </a:xfrm>
          <a:prstGeom prst="ellipse">
            <a:avLst/>
          </a:prstGeom>
          <a:solidFill>
            <a:srgbClr val="005F65"/>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ctr" defTabSz="584200" eaLnBrk="0" hangingPunct="0">
              <a:defRPr/>
            </a:pPr>
            <a:endParaRPr lang="en-US" sz="1600">
              <a:solidFill>
                <a:srgbClr val="FFFFFF"/>
              </a:solidFill>
              <a:latin typeface="+mj-lt"/>
              <a:ea typeface="Helvetica Neue Medium"/>
              <a:cs typeface="Helvetica Neue Medium"/>
              <a:sym typeface="Helvetica Neue Medium"/>
            </a:endParaRPr>
          </a:p>
        </p:txBody>
      </p:sp>
      <p:grpSp>
        <p:nvGrpSpPr>
          <p:cNvPr id="47" name="Group 46">
            <a:extLst>
              <a:ext uri="{FF2B5EF4-FFF2-40B4-BE49-F238E27FC236}">
                <a16:creationId xmlns:a16="http://schemas.microsoft.com/office/drawing/2014/main" id="{CB2ED82B-D196-C645-093E-F3BC70E3A7B8}"/>
              </a:ext>
            </a:extLst>
          </p:cNvPr>
          <p:cNvGrpSpPr/>
          <p:nvPr/>
        </p:nvGrpSpPr>
        <p:grpSpPr>
          <a:xfrm>
            <a:off x="1985005" y="4953164"/>
            <a:ext cx="462673" cy="352846"/>
            <a:chOff x="2076549" y="4915741"/>
            <a:chExt cx="462673" cy="352846"/>
          </a:xfrm>
        </p:grpSpPr>
        <p:sp>
          <p:nvSpPr>
            <p:cNvPr id="48" name="Freeform 21">
              <a:extLst>
                <a:ext uri="{FF2B5EF4-FFF2-40B4-BE49-F238E27FC236}">
                  <a16:creationId xmlns:a16="http://schemas.microsoft.com/office/drawing/2014/main" id="{22A690C6-E44D-7CC6-F1D3-520F8FE904DF}"/>
                </a:ext>
              </a:extLst>
            </p:cNvPr>
            <p:cNvSpPr>
              <a:spLocks noEditPoints="1"/>
            </p:cNvSpPr>
            <p:nvPr/>
          </p:nvSpPr>
          <p:spPr bwMode="auto">
            <a:xfrm>
              <a:off x="2149694" y="5147779"/>
              <a:ext cx="92883" cy="61203"/>
            </a:xfrm>
            <a:custGeom>
              <a:avLst/>
              <a:gdLst>
                <a:gd name="T0" fmla="*/ 232 w 799"/>
                <a:gd name="T1" fmla="*/ 138 h 572"/>
                <a:gd name="T2" fmla="*/ 169 w 799"/>
                <a:gd name="T3" fmla="*/ 436 h 572"/>
                <a:gd name="T4" fmla="*/ 588 w 799"/>
                <a:gd name="T5" fmla="*/ 436 h 572"/>
                <a:gd name="T6" fmla="*/ 637 w 799"/>
                <a:gd name="T7" fmla="*/ 138 h 572"/>
                <a:gd name="T8" fmla="*/ 232 w 799"/>
                <a:gd name="T9" fmla="*/ 138 h 572"/>
                <a:gd name="T10" fmla="*/ 121 w 799"/>
                <a:gd name="T11" fmla="*/ 0 h 572"/>
                <a:gd name="T12" fmla="*/ 799 w 799"/>
                <a:gd name="T13" fmla="*/ 0 h 572"/>
                <a:gd name="T14" fmla="*/ 704 w 799"/>
                <a:gd name="T15" fmla="*/ 572 h 572"/>
                <a:gd name="T16" fmla="*/ 0 w 799"/>
                <a:gd name="T17" fmla="*/ 572 h 572"/>
                <a:gd name="T18" fmla="*/ 121 w 799"/>
                <a:gd name="T19" fmla="*/ 0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9" h="572">
                  <a:moveTo>
                    <a:pt x="232" y="138"/>
                  </a:moveTo>
                  <a:lnTo>
                    <a:pt x="169" y="436"/>
                  </a:lnTo>
                  <a:lnTo>
                    <a:pt x="588" y="436"/>
                  </a:lnTo>
                  <a:lnTo>
                    <a:pt x="637" y="138"/>
                  </a:lnTo>
                  <a:lnTo>
                    <a:pt x="232" y="138"/>
                  </a:lnTo>
                  <a:close/>
                  <a:moveTo>
                    <a:pt x="121" y="0"/>
                  </a:moveTo>
                  <a:lnTo>
                    <a:pt x="799" y="0"/>
                  </a:lnTo>
                  <a:lnTo>
                    <a:pt x="704" y="572"/>
                  </a:lnTo>
                  <a:lnTo>
                    <a:pt x="0" y="572"/>
                  </a:lnTo>
                  <a:lnTo>
                    <a:pt x="121"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49" name="Freeform 22">
              <a:extLst>
                <a:ext uri="{FF2B5EF4-FFF2-40B4-BE49-F238E27FC236}">
                  <a16:creationId xmlns:a16="http://schemas.microsoft.com/office/drawing/2014/main" id="{A4806E1B-55D2-372E-C6F8-CB91650F598B}"/>
                </a:ext>
              </a:extLst>
            </p:cNvPr>
            <p:cNvSpPr>
              <a:spLocks/>
            </p:cNvSpPr>
            <p:nvPr/>
          </p:nvSpPr>
          <p:spPr bwMode="auto">
            <a:xfrm>
              <a:off x="2170012" y="5062627"/>
              <a:ext cx="87658" cy="57477"/>
            </a:xfrm>
            <a:custGeom>
              <a:avLst/>
              <a:gdLst>
                <a:gd name="T0" fmla="*/ 114 w 755"/>
                <a:gd name="T1" fmla="*/ 0 h 539"/>
                <a:gd name="T2" fmla="*/ 755 w 755"/>
                <a:gd name="T3" fmla="*/ 0 h 539"/>
                <a:gd name="T4" fmla="*/ 752 w 755"/>
                <a:gd name="T5" fmla="*/ 11 h 539"/>
                <a:gd name="T6" fmla="*/ 548 w 755"/>
                <a:gd name="T7" fmla="*/ 129 h 539"/>
                <a:gd name="T8" fmla="*/ 219 w 755"/>
                <a:gd name="T9" fmla="*/ 129 h 539"/>
                <a:gd name="T10" fmla="*/ 160 w 755"/>
                <a:gd name="T11" fmla="*/ 410 h 539"/>
                <a:gd name="T12" fmla="*/ 554 w 755"/>
                <a:gd name="T13" fmla="*/ 410 h 539"/>
                <a:gd name="T14" fmla="*/ 567 w 755"/>
                <a:gd name="T15" fmla="*/ 328 h 539"/>
                <a:gd name="T16" fmla="*/ 714 w 755"/>
                <a:gd name="T17" fmla="*/ 242 h 539"/>
                <a:gd name="T18" fmla="*/ 664 w 755"/>
                <a:gd name="T19" fmla="*/ 539 h 539"/>
                <a:gd name="T20" fmla="*/ 0 w 755"/>
                <a:gd name="T21" fmla="*/ 539 h 539"/>
                <a:gd name="T22" fmla="*/ 114 w 755"/>
                <a:gd name="T23" fmla="*/ 0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55" h="539">
                  <a:moveTo>
                    <a:pt x="114" y="0"/>
                  </a:moveTo>
                  <a:lnTo>
                    <a:pt x="755" y="0"/>
                  </a:lnTo>
                  <a:lnTo>
                    <a:pt x="752" y="11"/>
                  </a:lnTo>
                  <a:lnTo>
                    <a:pt x="548" y="129"/>
                  </a:lnTo>
                  <a:lnTo>
                    <a:pt x="219" y="129"/>
                  </a:lnTo>
                  <a:lnTo>
                    <a:pt x="160" y="410"/>
                  </a:lnTo>
                  <a:lnTo>
                    <a:pt x="554" y="410"/>
                  </a:lnTo>
                  <a:lnTo>
                    <a:pt x="567" y="328"/>
                  </a:lnTo>
                  <a:lnTo>
                    <a:pt x="714" y="242"/>
                  </a:lnTo>
                  <a:lnTo>
                    <a:pt x="664" y="539"/>
                  </a:lnTo>
                  <a:lnTo>
                    <a:pt x="0" y="539"/>
                  </a:lnTo>
                  <a:lnTo>
                    <a:pt x="11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50" name="Freeform 23">
              <a:extLst>
                <a:ext uri="{FF2B5EF4-FFF2-40B4-BE49-F238E27FC236}">
                  <a16:creationId xmlns:a16="http://schemas.microsoft.com/office/drawing/2014/main" id="{FA0D9547-6D4E-A774-D4B8-3BBC6066F8CC}"/>
                </a:ext>
              </a:extLst>
            </p:cNvPr>
            <p:cNvSpPr>
              <a:spLocks/>
            </p:cNvSpPr>
            <p:nvPr/>
          </p:nvSpPr>
          <p:spPr bwMode="auto">
            <a:xfrm>
              <a:off x="2199619" y="5065820"/>
              <a:ext cx="71404" cy="36189"/>
            </a:xfrm>
            <a:custGeom>
              <a:avLst/>
              <a:gdLst>
                <a:gd name="T0" fmla="*/ 530 w 615"/>
                <a:gd name="T1" fmla="*/ 0 h 338"/>
                <a:gd name="T2" fmla="*/ 615 w 615"/>
                <a:gd name="T3" fmla="*/ 71 h 338"/>
                <a:gd name="T4" fmla="*/ 159 w 615"/>
                <a:gd name="T5" fmla="*/ 338 h 338"/>
                <a:gd name="T6" fmla="*/ 0 w 615"/>
                <a:gd name="T7" fmla="*/ 170 h 338"/>
                <a:gd name="T8" fmla="*/ 90 w 615"/>
                <a:gd name="T9" fmla="*/ 114 h 338"/>
                <a:gd name="T10" fmla="*/ 182 w 615"/>
                <a:gd name="T11" fmla="*/ 203 h 338"/>
                <a:gd name="T12" fmla="*/ 530 w 615"/>
                <a:gd name="T13" fmla="*/ 0 h 338"/>
              </a:gdLst>
              <a:ahLst/>
              <a:cxnLst>
                <a:cxn ang="0">
                  <a:pos x="T0" y="T1"/>
                </a:cxn>
                <a:cxn ang="0">
                  <a:pos x="T2" y="T3"/>
                </a:cxn>
                <a:cxn ang="0">
                  <a:pos x="T4" y="T5"/>
                </a:cxn>
                <a:cxn ang="0">
                  <a:pos x="T6" y="T7"/>
                </a:cxn>
                <a:cxn ang="0">
                  <a:pos x="T8" y="T9"/>
                </a:cxn>
                <a:cxn ang="0">
                  <a:pos x="T10" y="T11"/>
                </a:cxn>
                <a:cxn ang="0">
                  <a:pos x="T12" y="T13"/>
                </a:cxn>
              </a:cxnLst>
              <a:rect l="0" t="0" r="r" b="b"/>
              <a:pathLst>
                <a:path w="615" h="338">
                  <a:moveTo>
                    <a:pt x="530" y="0"/>
                  </a:moveTo>
                  <a:lnTo>
                    <a:pt x="615" y="71"/>
                  </a:lnTo>
                  <a:lnTo>
                    <a:pt x="159" y="338"/>
                  </a:lnTo>
                  <a:lnTo>
                    <a:pt x="0" y="170"/>
                  </a:lnTo>
                  <a:lnTo>
                    <a:pt x="90" y="114"/>
                  </a:lnTo>
                  <a:lnTo>
                    <a:pt x="182" y="203"/>
                  </a:lnTo>
                  <a:lnTo>
                    <a:pt x="53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51" name="Freeform 24">
              <a:extLst>
                <a:ext uri="{FF2B5EF4-FFF2-40B4-BE49-F238E27FC236}">
                  <a16:creationId xmlns:a16="http://schemas.microsoft.com/office/drawing/2014/main" id="{94E96506-BDD2-C269-8934-96E3A2DA7B80}"/>
                </a:ext>
              </a:extLst>
            </p:cNvPr>
            <p:cNvSpPr>
              <a:spLocks/>
            </p:cNvSpPr>
            <p:nvPr/>
          </p:nvSpPr>
          <p:spPr bwMode="auto">
            <a:xfrm>
              <a:off x="2478267" y="4915741"/>
              <a:ext cx="60955" cy="58542"/>
            </a:xfrm>
            <a:custGeom>
              <a:avLst/>
              <a:gdLst>
                <a:gd name="T0" fmla="*/ 241 w 527"/>
                <a:gd name="T1" fmla="*/ 0 h 550"/>
                <a:gd name="T2" fmla="*/ 264 w 527"/>
                <a:gd name="T3" fmla="*/ 5 h 550"/>
                <a:gd name="T4" fmla="*/ 287 w 527"/>
                <a:gd name="T5" fmla="*/ 14 h 550"/>
                <a:gd name="T6" fmla="*/ 309 w 527"/>
                <a:gd name="T7" fmla="*/ 27 h 550"/>
                <a:gd name="T8" fmla="*/ 327 w 527"/>
                <a:gd name="T9" fmla="*/ 45 h 550"/>
                <a:gd name="T10" fmla="*/ 497 w 527"/>
                <a:gd name="T11" fmla="*/ 248 h 550"/>
                <a:gd name="T12" fmla="*/ 512 w 527"/>
                <a:gd name="T13" fmla="*/ 269 h 550"/>
                <a:gd name="T14" fmla="*/ 521 w 527"/>
                <a:gd name="T15" fmla="*/ 292 h 550"/>
                <a:gd name="T16" fmla="*/ 526 w 527"/>
                <a:gd name="T17" fmla="*/ 316 h 550"/>
                <a:gd name="T18" fmla="*/ 527 w 527"/>
                <a:gd name="T19" fmla="*/ 340 h 550"/>
                <a:gd name="T20" fmla="*/ 523 w 527"/>
                <a:gd name="T21" fmla="*/ 364 h 550"/>
                <a:gd name="T22" fmla="*/ 514 w 527"/>
                <a:gd name="T23" fmla="*/ 386 h 550"/>
                <a:gd name="T24" fmla="*/ 501 w 527"/>
                <a:gd name="T25" fmla="*/ 408 h 550"/>
                <a:gd name="T26" fmla="*/ 483 w 527"/>
                <a:gd name="T27" fmla="*/ 426 h 550"/>
                <a:gd name="T28" fmla="*/ 335 w 527"/>
                <a:gd name="T29" fmla="*/ 550 h 550"/>
                <a:gd name="T30" fmla="*/ 0 w 527"/>
                <a:gd name="T31" fmla="*/ 155 h 550"/>
                <a:gd name="T32" fmla="*/ 149 w 527"/>
                <a:gd name="T33" fmla="*/ 30 h 550"/>
                <a:gd name="T34" fmla="*/ 169 w 527"/>
                <a:gd name="T35" fmla="*/ 16 h 550"/>
                <a:gd name="T36" fmla="*/ 192 w 527"/>
                <a:gd name="T37" fmla="*/ 6 h 550"/>
                <a:gd name="T38" fmla="*/ 217 w 527"/>
                <a:gd name="T39" fmla="*/ 1 h 550"/>
                <a:gd name="T40" fmla="*/ 241 w 527"/>
                <a:gd name="T4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7" h="550">
                  <a:moveTo>
                    <a:pt x="241" y="0"/>
                  </a:moveTo>
                  <a:lnTo>
                    <a:pt x="264" y="5"/>
                  </a:lnTo>
                  <a:lnTo>
                    <a:pt x="287" y="14"/>
                  </a:lnTo>
                  <a:lnTo>
                    <a:pt x="309" y="27"/>
                  </a:lnTo>
                  <a:lnTo>
                    <a:pt x="327" y="45"/>
                  </a:lnTo>
                  <a:lnTo>
                    <a:pt x="497" y="248"/>
                  </a:lnTo>
                  <a:lnTo>
                    <a:pt x="512" y="269"/>
                  </a:lnTo>
                  <a:lnTo>
                    <a:pt x="521" y="292"/>
                  </a:lnTo>
                  <a:lnTo>
                    <a:pt x="526" y="316"/>
                  </a:lnTo>
                  <a:lnTo>
                    <a:pt x="527" y="340"/>
                  </a:lnTo>
                  <a:lnTo>
                    <a:pt x="523" y="364"/>
                  </a:lnTo>
                  <a:lnTo>
                    <a:pt x="514" y="386"/>
                  </a:lnTo>
                  <a:lnTo>
                    <a:pt x="501" y="408"/>
                  </a:lnTo>
                  <a:lnTo>
                    <a:pt x="483" y="426"/>
                  </a:lnTo>
                  <a:lnTo>
                    <a:pt x="335" y="550"/>
                  </a:lnTo>
                  <a:lnTo>
                    <a:pt x="0" y="155"/>
                  </a:lnTo>
                  <a:lnTo>
                    <a:pt x="149" y="30"/>
                  </a:lnTo>
                  <a:lnTo>
                    <a:pt x="169" y="16"/>
                  </a:lnTo>
                  <a:lnTo>
                    <a:pt x="192" y="6"/>
                  </a:lnTo>
                  <a:lnTo>
                    <a:pt x="217" y="1"/>
                  </a:lnTo>
                  <a:lnTo>
                    <a:pt x="241"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52" name="Freeform 25">
              <a:extLst>
                <a:ext uri="{FF2B5EF4-FFF2-40B4-BE49-F238E27FC236}">
                  <a16:creationId xmlns:a16="http://schemas.microsoft.com/office/drawing/2014/main" id="{88FC8674-1CD7-E5B1-5E23-6483D2A83F50}"/>
                </a:ext>
              </a:extLst>
            </p:cNvPr>
            <p:cNvSpPr>
              <a:spLocks/>
            </p:cNvSpPr>
            <p:nvPr/>
          </p:nvSpPr>
          <p:spPr bwMode="auto">
            <a:xfrm>
              <a:off x="2076549" y="5008875"/>
              <a:ext cx="449902" cy="259712"/>
            </a:xfrm>
            <a:custGeom>
              <a:avLst/>
              <a:gdLst>
                <a:gd name="T0" fmla="*/ 591 w 3874"/>
                <a:gd name="T1" fmla="*/ 0 h 2437"/>
                <a:gd name="T2" fmla="*/ 2493 w 3874"/>
                <a:gd name="T3" fmla="*/ 0 h 2437"/>
                <a:gd name="T4" fmla="*/ 2280 w 3874"/>
                <a:gd name="T5" fmla="*/ 173 h 2437"/>
                <a:gd name="T6" fmla="*/ 727 w 3874"/>
                <a:gd name="T7" fmla="*/ 173 h 2437"/>
                <a:gd name="T8" fmla="*/ 220 w 3874"/>
                <a:gd name="T9" fmla="*/ 2265 h 2437"/>
                <a:gd name="T10" fmla="*/ 3655 w 3874"/>
                <a:gd name="T11" fmla="*/ 2265 h 2437"/>
                <a:gd name="T12" fmla="*/ 3176 w 3874"/>
                <a:gd name="T13" fmla="*/ 289 h 2437"/>
                <a:gd name="T14" fmla="*/ 3324 w 3874"/>
                <a:gd name="T15" fmla="*/ 166 h 2437"/>
                <a:gd name="T16" fmla="*/ 3874 w 3874"/>
                <a:gd name="T17" fmla="*/ 2437 h 2437"/>
                <a:gd name="T18" fmla="*/ 0 w 3874"/>
                <a:gd name="T19" fmla="*/ 2437 h 2437"/>
                <a:gd name="T20" fmla="*/ 591 w 3874"/>
                <a:gd name="T21" fmla="*/ 0 h 2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74" h="2437">
                  <a:moveTo>
                    <a:pt x="591" y="0"/>
                  </a:moveTo>
                  <a:lnTo>
                    <a:pt x="2493" y="0"/>
                  </a:lnTo>
                  <a:lnTo>
                    <a:pt x="2280" y="173"/>
                  </a:lnTo>
                  <a:lnTo>
                    <a:pt x="727" y="173"/>
                  </a:lnTo>
                  <a:lnTo>
                    <a:pt x="220" y="2265"/>
                  </a:lnTo>
                  <a:lnTo>
                    <a:pt x="3655" y="2265"/>
                  </a:lnTo>
                  <a:lnTo>
                    <a:pt x="3176" y="289"/>
                  </a:lnTo>
                  <a:lnTo>
                    <a:pt x="3324" y="166"/>
                  </a:lnTo>
                  <a:lnTo>
                    <a:pt x="3874" y="2437"/>
                  </a:lnTo>
                  <a:lnTo>
                    <a:pt x="0" y="2437"/>
                  </a:lnTo>
                  <a:lnTo>
                    <a:pt x="591"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53" name="Freeform 26">
              <a:extLst>
                <a:ext uri="{FF2B5EF4-FFF2-40B4-BE49-F238E27FC236}">
                  <a16:creationId xmlns:a16="http://schemas.microsoft.com/office/drawing/2014/main" id="{C67002F8-62FD-BF44-E75C-4101EDE75BDE}"/>
                </a:ext>
              </a:extLst>
            </p:cNvPr>
            <p:cNvSpPr>
              <a:spLocks/>
            </p:cNvSpPr>
            <p:nvPr/>
          </p:nvSpPr>
          <p:spPr bwMode="auto">
            <a:xfrm>
              <a:off x="2313981" y="4938093"/>
              <a:ext cx="195635" cy="163384"/>
            </a:xfrm>
            <a:custGeom>
              <a:avLst/>
              <a:gdLst>
                <a:gd name="T0" fmla="*/ 1350 w 1684"/>
                <a:gd name="T1" fmla="*/ 0 h 1536"/>
                <a:gd name="T2" fmla="*/ 1684 w 1684"/>
                <a:gd name="T3" fmla="*/ 396 h 1536"/>
                <a:gd name="T4" fmla="*/ 1259 w 1684"/>
                <a:gd name="T5" fmla="*/ 754 h 1536"/>
                <a:gd name="T6" fmla="*/ 1093 w 1684"/>
                <a:gd name="T7" fmla="*/ 896 h 1536"/>
                <a:gd name="T8" fmla="*/ 1093 w 1684"/>
                <a:gd name="T9" fmla="*/ 896 h 1536"/>
                <a:gd name="T10" fmla="*/ 334 w 1684"/>
                <a:gd name="T11" fmla="*/ 1536 h 1536"/>
                <a:gd name="T12" fmla="*/ 0 w 1684"/>
                <a:gd name="T13" fmla="*/ 1140 h 1536"/>
                <a:gd name="T14" fmla="*/ 1350 w 1684"/>
                <a:gd name="T15" fmla="*/ 0 h 15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4" h="1536">
                  <a:moveTo>
                    <a:pt x="1350" y="0"/>
                  </a:moveTo>
                  <a:lnTo>
                    <a:pt x="1684" y="396"/>
                  </a:lnTo>
                  <a:lnTo>
                    <a:pt x="1259" y="754"/>
                  </a:lnTo>
                  <a:lnTo>
                    <a:pt x="1093" y="896"/>
                  </a:lnTo>
                  <a:lnTo>
                    <a:pt x="1093" y="896"/>
                  </a:lnTo>
                  <a:lnTo>
                    <a:pt x="334" y="1536"/>
                  </a:lnTo>
                  <a:lnTo>
                    <a:pt x="0" y="1140"/>
                  </a:lnTo>
                  <a:lnTo>
                    <a:pt x="135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54" name="Freeform 27">
              <a:extLst>
                <a:ext uri="{FF2B5EF4-FFF2-40B4-BE49-F238E27FC236}">
                  <a16:creationId xmlns:a16="http://schemas.microsoft.com/office/drawing/2014/main" id="{8589ADB0-64E0-78F0-C735-F88DDF64DC0B}"/>
                </a:ext>
              </a:extLst>
            </p:cNvPr>
            <p:cNvSpPr>
              <a:spLocks/>
            </p:cNvSpPr>
            <p:nvPr/>
          </p:nvSpPr>
          <p:spPr bwMode="auto">
            <a:xfrm>
              <a:off x="2282052" y="5067417"/>
              <a:ext cx="60374" cy="53220"/>
            </a:xfrm>
            <a:custGeom>
              <a:avLst/>
              <a:gdLst>
                <a:gd name="T0" fmla="*/ 209 w 523"/>
                <a:gd name="T1" fmla="*/ 0 h 499"/>
                <a:gd name="T2" fmla="*/ 523 w 523"/>
                <a:gd name="T3" fmla="*/ 371 h 499"/>
                <a:gd name="T4" fmla="*/ 0 w 523"/>
                <a:gd name="T5" fmla="*/ 499 h 499"/>
                <a:gd name="T6" fmla="*/ 209 w 523"/>
                <a:gd name="T7" fmla="*/ 0 h 499"/>
              </a:gdLst>
              <a:ahLst/>
              <a:cxnLst>
                <a:cxn ang="0">
                  <a:pos x="T0" y="T1"/>
                </a:cxn>
                <a:cxn ang="0">
                  <a:pos x="T2" y="T3"/>
                </a:cxn>
                <a:cxn ang="0">
                  <a:pos x="T4" y="T5"/>
                </a:cxn>
                <a:cxn ang="0">
                  <a:pos x="T6" y="T7"/>
                </a:cxn>
              </a:cxnLst>
              <a:rect l="0" t="0" r="r" b="b"/>
              <a:pathLst>
                <a:path w="523" h="499">
                  <a:moveTo>
                    <a:pt x="209" y="0"/>
                  </a:moveTo>
                  <a:lnTo>
                    <a:pt x="523" y="371"/>
                  </a:lnTo>
                  <a:lnTo>
                    <a:pt x="0" y="499"/>
                  </a:lnTo>
                  <a:lnTo>
                    <a:pt x="20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grpSp>
      <p:sp>
        <p:nvSpPr>
          <p:cNvPr id="42" name="Oval 41">
            <a:extLst>
              <a:ext uri="{FF2B5EF4-FFF2-40B4-BE49-F238E27FC236}">
                <a16:creationId xmlns:a16="http://schemas.microsoft.com/office/drawing/2014/main" id="{4C91E835-1093-4569-E0C3-24DF5E2854D3}"/>
              </a:ext>
            </a:extLst>
          </p:cNvPr>
          <p:cNvSpPr/>
          <p:nvPr/>
        </p:nvSpPr>
        <p:spPr>
          <a:xfrm>
            <a:off x="2980695" y="4792616"/>
            <a:ext cx="726331" cy="726329"/>
          </a:xfrm>
          <a:prstGeom prst="ellipse">
            <a:avLst/>
          </a:prstGeom>
          <a:solidFill>
            <a:srgbClr val="005F65"/>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ctr" defTabSz="584200" eaLnBrk="0" hangingPunct="0">
              <a:defRPr/>
            </a:pPr>
            <a:endParaRPr lang="en-US" sz="1600">
              <a:solidFill>
                <a:srgbClr val="FFFFFF"/>
              </a:solidFill>
              <a:latin typeface="+mj-lt"/>
              <a:ea typeface="Helvetica Neue Medium"/>
              <a:cs typeface="Helvetica Neue Medium"/>
              <a:sym typeface="Helvetica Neue Medium"/>
            </a:endParaRPr>
          </a:p>
        </p:txBody>
      </p:sp>
      <p:grpSp>
        <p:nvGrpSpPr>
          <p:cNvPr id="43" name="Group 42">
            <a:extLst>
              <a:ext uri="{FF2B5EF4-FFF2-40B4-BE49-F238E27FC236}">
                <a16:creationId xmlns:a16="http://schemas.microsoft.com/office/drawing/2014/main" id="{915B29E3-500F-6044-0A8E-B3DC5B968A51}"/>
              </a:ext>
            </a:extLst>
          </p:cNvPr>
          <p:cNvGrpSpPr/>
          <p:nvPr/>
        </p:nvGrpSpPr>
        <p:grpSpPr>
          <a:xfrm>
            <a:off x="3120292" y="4954644"/>
            <a:ext cx="447136" cy="402273"/>
            <a:chOff x="-2147888" y="5765800"/>
            <a:chExt cx="681038" cy="668338"/>
          </a:xfrm>
          <a:solidFill>
            <a:schemeClr val="bg1"/>
          </a:solidFill>
        </p:grpSpPr>
        <p:sp>
          <p:nvSpPr>
            <p:cNvPr id="44" name="Freeform 32">
              <a:extLst>
                <a:ext uri="{FF2B5EF4-FFF2-40B4-BE49-F238E27FC236}">
                  <a16:creationId xmlns:a16="http://schemas.microsoft.com/office/drawing/2014/main" id="{87AFFE8E-0D59-7A1A-20ED-659925E9C393}"/>
                </a:ext>
              </a:extLst>
            </p:cNvPr>
            <p:cNvSpPr>
              <a:spLocks/>
            </p:cNvSpPr>
            <p:nvPr/>
          </p:nvSpPr>
          <p:spPr bwMode="auto">
            <a:xfrm>
              <a:off x="-2147888" y="5765800"/>
              <a:ext cx="681038" cy="668338"/>
            </a:xfrm>
            <a:custGeom>
              <a:avLst/>
              <a:gdLst>
                <a:gd name="T0" fmla="*/ 213 w 3433"/>
                <a:gd name="T1" fmla="*/ 0 h 3368"/>
                <a:gd name="T2" fmla="*/ 426 w 3433"/>
                <a:gd name="T3" fmla="*/ 342 h 3368"/>
                <a:gd name="T4" fmla="*/ 281 w 3433"/>
                <a:gd name="T5" fmla="*/ 342 h 3368"/>
                <a:gd name="T6" fmla="*/ 281 w 3433"/>
                <a:gd name="T7" fmla="*/ 3085 h 3368"/>
                <a:gd name="T8" fmla="*/ 3094 w 3433"/>
                <a:gd name="T9" fmla="*/ 3085 h 3368"/>
                <a:gd name="T10" fmla="*/ 3094 w 3433"/>
                <a:gd name="T11" fmla="*/ 2942 h 3368"/>
                <a:gd name="T12" fmla="*/ 3433 w 3433"/>
                <a:gd name="T13" fmla="*/ 3155 h 3368"/>
                <a:gd name="T14" fmla="*/ 3094 w 3433"/>
                <a:gd name="T15" fmla="*/ 3368 h 3368"/>
                <a:gd name="T16" fmla="*/ 3094 w 3433"/>
                <a:gd name="T17" fmla="*/ 3224 h 3368"/>
                <a:gd name="T18" fmla="*/ 144 w 3433"/>
                <a:gd name="T19" fmla="*/ 3224 h 3368"/>
                <a:gd name="T20" fmla="*/ 144 w 3433"/>
                <a:gd name="T21" fmla="*/ 342 h 3368"/>
                <a:gd name="T22" fmla="*/ 0 w 3433"/>
                <a:gd name="T23" fmla="*/ 342 h 3368"/>
                <a:gd name="T24" fmla="*/ 213 w 3433"/>
                <a:gd name="T25" fmla="*/ 0 h 3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33" h="3368">
                  <a:moveTo>
                    <a:pt x="213" y="0"/>
                  </a:moveTo>
                  <a:lnTo>
                    <a:pt x="426" y="342"/>
                  </a:lnTo>
                  <a:lnTo>
                    <a:pt x="281" y="342"/>
                  </a:lnTo>
                  <a:lnTo>
                    <a:pt x="281" y="3085"/>
                  </a:lnTo>
                  <a:lnTo>
                    <a:pt x="3094" y="3085"/>
                  </a:lnTo>
                  <a:lnTo>
                    <a:pt x="3094" y="2942"/>
                  </a:lnTo>
                  <a:lnTo>
                    <a:pt x="3433" y="3155"/>
                  </a:lnTo>
                  <a:lnTo>
                    <a:pt x="3094" y="3368"/>
                  </a:lnTo>
                  <a:lnTo>
                    <a:pt x="3094" y="3224"/>
                  </a:lnTo>
                  <a:lnTo>
                    <a:pt x="144" y="3224"/>
                  </a:lnTo>
                  <a:lnTo>
                    <a:pt x="144" y="342"/>
                  </a:lnTo>
                  <a:lnTo>
                    <a:pt x="0" y="342"/>
                  </a:lnTo>
                  <a:lnTo>
                    <a:pt x="2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45" name="Freeform 33">
              <a:extLst>
                <a:ext uri="{FF2B5EF4-FFF2-40B4-BE49-F238E27FC236}">
                  <a16:creationId xmlns:a16="http://schemas.microsoft.com/office/drawing/2014/main" id="{23AE0A4A-369F-2E03-DD27-F0D7BA622456}"/>
                </a:ext>
              </a:extLst>
            </p:cNvPr>
            <p:cNvSpPr>
              <a:spLocks/>
            </p:cNvSpPr>
            <p:nvPr/>
          </p:nvSpPr>
          <p:spPr bwMode="auto">
            <a:xfrm>
              <a:off x="-2065338" y="5946775"/>
              <a:ext cx="544513" cy="354013"/>
            </a:xfrm>
            <a:custGeom>
              <a:avLst/>
              <a:gdLst>
                <a:gd name="T0" fmla="*/ 2430 w 2739"/>
                <a:gd name="T1" fmla="*/ 0 h 1785"/>
                <a:gd name="T2" fmla="*/ 2739 w 2739"/>
                <a:gd name="T3" fmla="*/ 0 h 1785"/>
                <a:gd name="T4" fmla="*/ 2739 w 2739"/>
                <a:gd name="T5" fmla="*/ 310 h 1785"/>
                <a:gd name="T6" fmla="*/ 2604 w 2739"/>
                <a:gd name="T7" fmla="*/ 310 h 1785"/>
                <a:gd name="T8" fmla="*/ 2488 w 2739"/>
                <a:gd name="T9" fmla="*/ 1474 h 1785"/>
                <a:gd name="T10" fmla="*/ 2593 w 2739"/>
                <a:gd name="T11" fmla="*/ 1474 h 1785"/>
                <a:gd name="T12" fmla="*/ 2593 w 2739"/>
                <a:gd name="T13" fmla="*/ 1785 h 1785"/>
                <a:gd name="T14" fmla="*/ 2284 w 2739"/>
                <a:gd name="T15" fmla="*/ 1785 h 1785"/>
                <a:gd name="T16" fmla="*/ 2284 w 2739"/>
                <a:gd name="T17" fmla="*/ 1474 h 1785"/>
                <a:gd name="T18" fmla="*/ 2313 w 2739"/>
                <a:gd name="T19" fmla="*/ 1474 h 1785"/>
                <a:gd name="T20" fmla="*/ 2124 w 2739"/>
                <a:gd name="T21" fmla="*/ 1134 h 1785"/>
                <a:gd name="T22" fmla="*/ 1901 w 2739"/>
                <a:gd name="T23" fmla="*/ 1134 h 1785"/>
                <a:gd name="T24" fmla="*/ 1901 w 2739"/>
                <a:gd name="T25" fmla="*/ 1118 h 1785"/>
                <a:gd name="T26" fmla="*/ 1681 w 2739"/>
                <a:gd name="T27" fmla="*/ 1278 h 1785"/>
                <a:gd name="T28" fmla="*/ 1681 w 2739"/>
                <a:gd name="T29" fmla="*/ 1509 h 1785"/>
                <a:gd name="T30" fmla="*/ 1371 w 2739"/>
                <a:gd name="T31" fmla="*/ 1509 h 1785"/>
                <a:gd name="T32" fmla="*/ 1371 w 2739"/>
                <a:gd name="T33" fmla="*/ 1198 h 1785"/>
                <a:gd name="T34" fmla="*/ 1439 w 2739"/>
                <a:gd name="T35" fmla="*/ 1198 h 1785"/>
                <a:gd name="T36" fmla="*/ 1233 w 2739"/>
                <a:gd name="T37" fmla="*/ 590 h 1785"/>
                <a:gd name="T38" fmla="*/ 1219 w 2739"/>
                <a:gd name="T39" fmla="*/ 590 h 1785"/>
                <a:gd name="T40" fmla="*/ 992 w 2739"/>
                <a:gd name="T41" fmla="*/ 1414 h 1785"/>
                <a:gd name="T42" fmla="*/ 1062 w 2739"/>
                <a:gd name="T43" fmla="*/ 1414 h 1785"/>
                <a:gd name="T44" fmla="*/ 1062 w 2739"/>
                <a:gd name="T45" fmla="*/ 1725 h 1785"/>
                <a:gd name="T46" fmla="*/ 753 w 2739"/>
                <a:gd name="T47" fmla="*/ 1725 h 1785"/>
                <a:gd name="T48" fmla="*/ 753 w 2739"/>
                <a:gd name="T49" fmla="*/ 1496 h 1785"/>
                <a:gd name="T50" fmla="*/ 498 w 2739"/>
                <a:gd name="T51" fmla="*/ 1259 h 1785"/>
                <a:gd name="T52" fmla="*/ 498 w 2739"/>
                <a:gd name="T53" fmla="*/ 1289 h 1785"/>
                <a:gd name="T54" fmla="*/ 255 w 2739"/>
                <a:gd name="T55" fmla="*/ 1289 h 1785"/>
                <a:gd name="T56" fmla="*/ 59 w 2739"/>
                <a:gd name="T57" fmla="*/ 1613 h 1785"/>
                <a:gd name="T58" fmla="*/ 0 w 2739"/>
                <a:gd name="T59" fmla="*/ 1577 h 1785"/>
                <a:gd name="T60" fmla="*/ 189 w 2739"/>
                <a:gd name="T61" fmla="*/ 1266 h 1785"/>
                <a:gd name="T62" fmla="*/ 189 w 2739"/>
                <a:gd name="T63" fmla="*/ 979 h 1785"/>
                <a:gd name="T64" fmla="*/ 498 w 2739"/>
                <a:gd name="T65" fmla="*/ 979 h 1785"/>
                <a:gd name="T66" fmla="*/ 498 w 2739"/>
                <a:gd name="T67" fmla="*/ 1163 h 1785"/>
                <a:gd name="T68" fmla="*/ 765 w 2739"/>
                <a:gd name="T69" fmla="*/ 1414 h 1785"/>
                <a:gd name="T70" fmla="*/ 921 w 2739"/>
                <a:gd name="T71" fmla="*/ 1414 h 1785"/>
                <a:gd name="T72" fmla="*/ 1148 w 2739"/>
                <a:gd name="T73" fmla="*/ 590 h 1785"/>
                <a:gd name="T74" fmla="*/ 1062 w 2739"/>
                <a:gd name="T75" fmla="*/ 590 h 1785"/>
                <a:gd name="T76" fmla="*/ 1062 w 2739"/>
                <a:gd name="T77" fmla="*/ 280 h 1785"/>
                <a:gd name="T78" fmla="*/ 1371 w 2739"/>
                <a:gd name="T79" fmla="*/ 280 h 1785"/>
                <a:gd name="T80" fmla="*/ 1371 w 2739"/>
                <a:gd name="T81" fmla="*/ 590 h 1785"/>
                <a:gd name="T82" fmla="*/ 1305 w 2739"/>
                <a:gd name="T83" fmla="*/ 590 h 1785"/>
                <a:gd name="T84" fmla="*/ 1512 w 2739"/>
                <a:gd name="T85" fmla="*/ 1198 h 1785"/>
                <a:gd name="T86" fmla="*/ 1674 w 2739"/>
                <a:gd name="T87" fmla="*/ 1198 h 1785"/>
                <a:gd name="T88" fmla="*/ 1901 w 2739"/>
                <a:gd name="T89" fmla="*/ 1033 h 1785"/>
                <a:gd name="T90" fmla="*/ 1901 w 2739"/>
                <a:gd name="T91" fmla="*/ 824 h 1785"/>
                <a:gd name="T92" fmla="*/ 2211 w 2739"/>
                <a:gd name="T93" fmla="*/ 824 h 1785"/>
                <a:gd name="T94" fmla="*/ 2211 w 2739"/>
                <a:gd name="T95" fmla="*/ 1134 h 1785"/>
                <a:gd name="T96" fmla="*/ 2203 w 2739"/>
                <a:gd name="T97" fmla="*/ 1134 h 1785"/>
                <a:gd name="T98" fmla="*/ 2391 w 2739"/>
                <a:gd name="T99" fmla="*/ 1474 h 1785"/>
                <a:gd name="T100" fmla="*/ 2419 w 2739"/>
                <a:gd name="T101" fmla="*/ 1474 h 1785"/>
                <a:gd name="T102" fmla="*/ 2534 w 2739"/>
                <a:gd name="T103" fmla="*/ 310 h 1785"/>
                <a:gd name="T104" fmla="*/ 2430 w 2739"/>
                <a:gd name="T105" fmla="*/ 310 h 1785"/>
                <a:gd name="T106" fmla="*/ 2430 w 2739"/>
                <a:gd name="T107" fmla="*/ 0 h 17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739" h="1785">
                  <a:moveTo>
                    <a:pt x="2430" y="0"/>
                  </a:moveTo>
                  <a:lnTo>
                    <a:pt x="2739" y="0"/>
                  </a:lnTo>
                  <a:lnTo>
                    <a:pt x="2739" y="310"/>
                  </a:lnTo>
                  <a:lnTo>
                    <a:pt x="2604" y="310"/>
                  </a:lnTo>
                  <a:lnTo>
                    <a:pt x="2488" y="1474"/>
                  </a:lnTo>
                  <a:lnTo>
                    <a:pt x="2593" y="1474"/>
                  </a:lnTo>
                  <a:lnTo>
                    <a:pt x="2593" y="1785"/>
                  </a:lnTo>
                  <a:lnTo>
                    <a:pt x="2284" y="1785"/>
                  </a:lnTo>
                  <a:lnTo>
                    <a:pt x="2284" y="1474"/>
                  </a:lnTo>
                  <a:lnTo>
                    <a:pt x="2313" y="1474"/>
                  </a:lnTo>
                  <a:lnTo>
                    <a:pt x="2124" y="1134"/>
                  </a:lnTo>
                  <a:lnTo>
                    <a:pt x="1901" y="1134"/>
                  </a:lnTo>
                  <a:lnTo>
                    <a:pt x="1901" y="1118"/>
                  </a:lnTo>
                  <a:lnTo>
                    <a:pt x="1681" y="1278"/>
                  </a:lnTo>
                  <a:lnTo>
                    <a:pt x="1681" y="1509"/>
                  </a:lnTo>
                  <a:lnTo>
                    <a:pt x="1371" y="1509"/>
                  </a:lnTo>
                  <a:lnTo>
                    <a:pt x="1371" y="1198"/>
                  </a:lnTo>
                  <a:lnTo>
                    <a:pt x="1439" y="1198"/>
                  </a:lnTo>
                  <a:lnTo>
                    <a:pt x="1233" y="590"/>
                  </a:lnTo>
                  <a:lnTo>
                    <a:pt x="1219" y="590"/>
                  </a:lnTo>
                  <a:lnTo>
                    <a:pt x="992" y="1414"/>
                  </a:lnTo>
                  <a:lnTo>
                    <a:pt x="1062" y="1414"/>
                  </a:lnTo>
                  <a:lnTo>
                    <a:pt x="1062" y="1725"/>
                  </a:lnTo>
                  <a:lnTo>
                    <a:pt x="753" y="1725"/>
                  </a:lnTo>
                  <a:lnTo>
                    <a:pt x="753" y="1496"/>
                  </a:lnTo>
                  <a:lnTo>
                    <a:pt x="498" y="1259"/>
                  </a:lnTo>
                  <a:lnTo>
                    <a:pt x="498" y="1289"/>
                  </a:lnTo>
                  <a:lnTo>
                    <a:pt x="255" y="1289"/>
                  </a:lnTo>
                  <a:lnTo>
                    <a:pt x="59" y="1613"/>
                  </a:lnTo>
                  <a:lnTo>
                    <a:pt x="0" y="1577"/>
                  </a:lnTo>
                  <a:lnTo>
                    <a:pt x="189" y="1266"/>
                  </a:lnTo>
                  <a:lnTo>
                    <a:pt x="189" y="979"/>
                  </a:lnTo>
                  <a:lnTo>
                    <a:pt x="498" y="979"/>
                  </a:lnTo>
                  <a:lnTo>
                    <a:pt x="498" y="1163"/>
                  </a:lnTo>
                  <a:lnTo>
                    <a:pt x="765" y="1414"/>
                  </a:lnTo>
                  <a:lnTo>
                    <a:pt x="921" y="1414"/>
                  </a:lnTo>
                  <a:lnTo>
                    <a:pt x="1148" y="590"/>
                  </a:lnTo>
                  <a:lnTo>
                    <a:pt x="1062" y="590"/>
                  </a:lnTo>
                  <a:lnTo>
                    <a:pt x="1062" y="280"/>
                  </a:lnTo>
                  <a:lnTo>
                    <a:pt x="1371" y="280"/>
                  </a:lnTo>
                  <a:lnTo>
                    <a:pt x="1371" y="590"/>
                  </a:lnTo>
                  <a:lnTo>
                    <a:pt x="1305" y="590"/>
                  </a:lnTo>
                  <a:lnTo>
                    <a:pt x="1512" y="1198"/>
                  </a:lnTo>
                  <a:lnTo>
                    <a:pt x="1674" y="1198"/>
                  </a:lnTo>
                  <a:lnTo>
                    <a:pt x="1901" y="1033"/>
                  </a:lnTo>
                  <a:lnTo>
                    <a:pt x="1901" y="824"/>
                  </a:lnTo>
                  <a:lnTo>
                    <a:pt x="2211" y="824"/>
                  </a:lnTo>
                  <a:lnTo>
                    <a:pt x="2211" y="1134"/>
                  </a:lnTo>
                  <a:lnTo>
                    <a:pt x="2203" y="1134"/>
                  </a:lnTo>
                  <a:lnTo>
                    <a:pt x="2391" y="1474"/>
                  </a:lnTo>
                  <a:lnTo>
                    <a:pt x="2419" y="1474"/>
                  </a:lnTo>
                  <a:lnTo>
                    <a:pt x="2534" y="310"/>
                  </a:lnTo>
                  <a:lnTo>
                    <a:pt x="2430" y="310"/>
                  </a:lnTo>
                  <a:lnTo>
                    <a:pt x="24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grpSp>
      <p:sp>
        <p:nvSpPr>
          <p:cNvPr id="40" name="Oval 39">
            <a:extLst>
              <a:ext uri="{FF2B5EF4-FFF2-40B4-BE49-F238E27FC236}">
                <a16:creationId xmlns:a16="http://schemas.microsoft.com/office/drawing/2014/main" id="{6391708B-DE4D-7448-1727-C5CF6DD4AFF7}"/>
              </a:ext>
            </a:extLst>
          </p:cNvPr>
          <p:cNvSpPr/>
          <p:nvPr/>
        </p:nvSpPr>
        <p:spPr>
          <a:xfrm>
            <a:off x="5235504" y="4792616"/>
            <a:ext cx="726331" cy="726329"/>
          </a:xfrm>
          <a:prstGeom prst="ellipse">
            <a:avLst/>
          </a:prstGeom>
          <a:solidFill>
            <a:srgbClr val="005F65"/>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ctr" defTabSz="584200" eaLnBrk="0" hangingPunct="0">
              <a:defRPr/>
            </a:pPr>
            <a:endParaRPr lang="en-US" sz="1600">
              <a:solidFill>
                <a:srgbClr val="FFFFFF"/>
              </a:solidFill>
              <a:latin typeface="+mj-lt"/>
              <a:ea typeface="Helvetica Neue Medium"/>
              <a:cs typeface="Helvetica Neue Medium"/>
              <a:sym typeface="Helvetica Neue Medium"/>
            </a:endParaRPr>
          </a:p>
        </p:txBody>
      </p:sp>
      <p:sp>
        <p:nvSpPr>
          <p:cNvPr id="32" name="Oval 31">
            <a:extLst>
              <a:ext uri="{FF2B5EF4-FFF2-40B4-BE49-F238E27FC236}">
                <a16:creationId xmlns:a16="http://schemas.microsoft.com/office/drawing/2014/main" id="{6B57787B-811C-80E5-EE92-F44B11CB00E7}"/>
              </a:ext>
            </a:extLst>
          </p:cNvPr>
          <p:cNvSpPr/>
          <p:nvPr/>
        </p:nvSpPr>
        <p:spPr>
          <a:xfrm>
            <a:off x="4108098" y="4792616"/>
            <a:ext cx="726331" cy="726329"/>
          </a:xfrm>
          <a:prstGeom prst="ellipse">
            <a:avLst/>
          </a:prstGeom>
          <a:solidFill>
            <a:srgbClr val="005F65"/>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ctr" defTabSz="584200" eaLnBrk="0" hangingPunct="0">
              <a:defRPr/>
            </a:pPr>
            <a:endParaRPr lang="en-US" sz="1600">
              <a:solidFill>
                <a:srgbClr val="FFFFFF"/>
              </a:solidFill>
              <a:latin typeface="+mj-lt"/>
              <a:ea typeface="Helvetica Neue Medium"/>
              <a:cs typeface="Helvetica Neue Medium"/>
              <a:sym typeface="Helvetica Neue Medium"/>
            </a:endParaRPr>
          </a:p>
        </p:txBody>
      </p:sp>
      <p:grpSp>
        <p:nvGrpSpPr>
          <p:cNvPr id="33" name="Group 32">
            <a:extLst>
              <a:ext uri="{FF2B5EF4-FFF2-40B4-BE49-F238E27FC236}">
                <a16:creationId xmlns:a16="http://schemas.microsoft.com/office/drawing/2014/main" id="{B55D1AA2-59E1-EE06-5559-8BDEF4A836E1}"/>
              </a:ext>
            </a:extLst>
          </p:cNvPr>
          <p:cNvGrpSpPr/>
          <p:nvPr/>
        </p:nvGrpSpPr>
        <p:grpSpPr>
          <a:xfrm>
            <a:off x="4286598" y="4963756"/>
            <a:ext cx="380109" cy="384048"/>
            <a:chOff x="-2119313" y="4281488"/>
            <a:chExt cx="493713" cy="490538"/>
          </a:xfrm>
          <a:solidFill>
            <a:schemeClr val="bg1"/>
          </a:solidFill>
        </p:grpSpPr>
        <p:sp>
          <p:nvSpPr>
            <p:cNvPr id="34" name="Freeform 11">
              <a:extLst>
                <a:ext uri="{FF2B5EF4-FFF2-40B4-BE49-F238E27FC236}">
                  <a16:creationId xmlns:a16="http://schemas.microsoft.com/office/drawing/2014/main" id="{6BD9E6DD-2C5C-309A-D9D6-069883B54931}"/>
                </a:ext>
              </a:extLst>
            </p:cNvPr>
            <p:cNvSpPr>
              <a:spLocks/>
            </p:cNvSpPr>
            <p:nvPr/>
          </p:nvSpPr>
          <p:spPr bwMode="auto">
            <a:xfrm>
              <a:off x="-1768476" y="4376738"/>
              <a:ext cx="23813" cy="25400"/>
            </a:xfrm>
            <a:custGeom>
              <a:avLst/>
              <a:gdLst>
                <a:gd name="T0" fmla="*/ 67 w 158"/>
                <a:gd name="T1" fmla="*/ 0 h 182"/>
                <a:gd name="T2" fmla="*/ 79 w 158"/>
                <a:gd name="T3" fmla="*/ 61 h 182"/>
                <a:gd name="T4" fmla="*/ 107 w 158"/>
                <a:gd name="T5" fmla="*/ 106 h 182"/>
                <a:gd name="T6" fmla="*/ 125 w 158"/>
                <a:gd name="T7" fmla="*/ 126 h 182"/>
                <a:gd name="T8" fmla="*/ 158 w 158"/>
                <a:gd name="T9" fmla="*/ 140 h 182"/>
                <a:gd name="T10" fmla="*/ 127 w 158"/>
                <a:gd name="T11" fmla="*/ 176 h 182"/>
                <a:gd name="T12" fmla="*/ 67 w 158"/>
                <a:gd name="T13" fmla="*/ 182 h 182"/>
                <a:gd name="T14" fmla="*/ 21 w 158"/>
                <a:gd name="T15" fmla="*/ 182 h 182"/>
                <a:gd name="T16" fmla="*/ 26 w 158"/>
                <a:gd name="T17" fmla="*/ 128 h 182"/>
                <a:gd name="T18" fmla="*/ 64 w 158"/>
                <a:gd name="T19" fmla="*/ 121 h 182"/>
                <a:gd name="T20" fmla="*/ 61 w 158"/>
                <a:gd name="T21" fmla="*/ 95 h 182"/>
                <a:gd name="T22" fmla="*/ 25 w 158"/>
                <a:gd name="T23" fmla="*/ 73 h 182"/>
                <a:gd name="T24" fmla="*/ 0 w 158"/>
                <a:gd name="T25" fmla="*/ 56 h 182"/>
                <a:gd name="T26" fmla="*/ 0 w 158"/>
                <a:gd name="T27" fmla="*/ 32 h 182"/>
                <a:gd name="T28" fmla="*/ 15 w 158"/>
                <a:gd name="T29" fmla="*/ 9 h 182"/>
                <a:gd name="T30" fmla="*/ 67 w 158"/>
                <a:gd name="T3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8" h="182">
                  <a:moveTo>
                    <a:pt x="67" y="0"/>
                  </a:moveTo>
                  <a:lnTo>
                    <a:pt x="79" y="61"/>
                  </a:lnTo>
                  <a:lnTo>
                    <a:pt x="107" y="106"/>
                  </a:lnTo>
                  <a:lnTo>
                    <a:pt x="125" y="126"/>
                  </a:lnTo>
                  <a:lnTo>
                    <a:pt x="158" y="140"/>
                  </a:lnTo>
                  <a:lnTo>
                    <a:pt x="127" y="176"/>
                  </a:lnTo>
                  <a:lnTo>
                    <a:pt x="67" y="182"/>
                  </a:lnTo>
                  <a:lnTo>
                    <a:pt x="21" y="182"/>
                  </a:lnTo>
                  <a:lnTo>
                    <a:pt x="26" y="128"/>
                  </a:lnTo>
                  <a:lnTo>
                    <a:pt x="64" y="121"/>
                  </a:lnTo>
                  <a:lnTo>
                    <a:pt x="61" y="95"/>
                  </a:lnTo>
                  <a:lnTo>
                    <a:pt x="25" y="73"/>
                  </a:lnTo>
                  <a:lnTo>
                    <a:pt x="0" y="56"/>
                  </a:lnTo>
                  <a:lnTo>
                    <a:pt x="0" y="32"/>
                  </a:lnTo>
                  <a:lnTo>
                    <a:pt x="15" y="9"/>
                  </a:lnTo>
                  <a:lnTo>
                    <a:pt x="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35" name="Freeform 12">
              <a:extLst>
                <a:ext uri="{FF2B5EF4-FFF2-40B4-BE49-F238E27FC236}">
                  <a16:creationId xmlns:a16="http://schemas.microsoft.com/office/drawing/2014/main" id="{52D8E59B-72B3-85E7-0AB9-844239129D25}"/>
                </a:ext>
              </a:extLst>
            </p:cNvPr>
            <p:cNvSpPr>
              <a:spLocks/>
            </p:cNvSpPr>
            <p:nvPr/>
          </p:nvSpPr>
          <p:spPr bwMode="auto">
            <a:xfrm>
              <a:off x="-1779588" y="4386263"/>
              <a:ext cx="14288" cy="14288"/>
            </a:xfrm>
            <a:custGeom>
              <a:avLst/>
              <a:gdLst>
                <a:gd name="T0" fmla="*/ 74 w 104"/>
                <a:gd name="T1" fmla="*/ 0 h 91"/>
                <a:gd name="T2" fmla="*/ 104 w 104"/>
                <a:gd name="T3" fmla="*/ 13 h 91"/>
                <a:gd name="T4" fmla="*/ 102 w 104"/>
                <a:gd name="T5" fmla="*/ 47 h 91"/>
                <a:gd name="T6" fmla="*/ 36 w 104"/>
                <a:gd name="T7" fmla="*/ 91 h 91"/>
                <a:gd name="T8" fmla="*/ 0 w 104"/>
                <a:gd name="T9" fmla="*/ 91 h 91"/>
                <a:gd name="T10" fmla="*/ 0 w 104"/>
                <a:gd name="T11" fmla="*/ 59 h 91"/>
                <a:gd name="T12" fmla="*/ 31 w 104"/>
                <a:gd name="T13" fmla="*/ 9 h 91"/>
                <a:gd name="T14" fmla="*/ 74 w 104"/>
                <a:gd name="T15" fmla="*/ 0 h 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91">
                  <a:moveTo>
                    <a:pt x="74" y="0"/>
                  </a:moveTo>
                  <a:lnTo>
                    <a:pt x="104" y="13"/>
                  </a:lnTo>
                  <a:lnTo>
                    <a:pt x="102" y="47"/>
                  </a:lnTo>
                  <a:lnTo>
                    <a:pt x="36" y="91"/>
                  </a:lnTo>
                  <a:lnTo>
                    <a:pt x="0" y="91"/>
                  </a:lnTo>
                  <a:lnTo>
                    <a:pt x="0" y="59"/>
                  </a:lnTo>
                  <a:lnTo>
                    <a:pt x="31" y="9"/>
                  </a:lnTo>
                  <a:lnTo>
                    <a:pt x="7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36" name="Freeform 13">
              <a:extLst>
                <a:ext uri="{FF2B5EF4-FFF2-40B4-BE49-F238E27FC236}">
                  <a16:creationId xmlns:a16="http://schemas.microsoft.com/office/drawing/2014/main" id="{B77F942A-AC6A-3462-6B57-670EACFD4230}"/>
                </a:ext>
              </a:extLst>
            </p:cNvPr>
            <p:cNvSpPr>
              <a:spLocks/>
            </p:cNvSpPr>
            <p:nvPr/>
          </p:nvSpPr>
          <p:spPr bwMode="auto">
            <a:xfrm>
              <a:off x="-1898651" y="4413250"/>
              <a:ext cx="12700" cy="9525"/>
            </a:xfrm>
            <a:custGeom>
              <a:avLst/>
              <a:gdLst>
                <a:gd name="T0" fmla="*/ 71 w 91"/>
                <a:gd name="T1" fmla="*/ 0 h 59"/>
                <a:gd name="T2" fmla="*/ 91 w 91"/>
                <a:gd name="T3" fmla="*/ 4 h 59"/>
                <a:gd name="T4" fmla="*/ 83 w 91"/>
                <a:gd name="T5" fmla="*/ 22 h 59"/>
                <a:gd name="T6" fmla="*/ 60 w 91"/>
                <a:gd name="T7" fmla="*/ 24 h 59"/>
                <a:gd name="T8" fmla="*/ 56 w 91"/>
                <a:gd name="T9" fmla="*/ 45 h 59"/>
                <a:gd name="T10" fmla="*/ 39 w 91"/>
                <a:gd name="T11" fmla="*/ 56 h 59"/>
                <a:gd name="T12" fmla="*/ 11 w 91"/>
                <a:gd name="T13" fmla="*/ 59 h 59"/>
                <a:gd name="T14" fmla="*/ 11 w 91"/>
                <a:gd name="T15" fmla="*/ 54 h 59"/>
                <a:gd name="T16" fmla="*/ 10 w 91"/>
                <a:gd name="T17" fmla="*/ 50 h 59"/>
                <a:gd name="T18" fmla="*/ 10 w 91"/>
                <a:gd name="T19" fmla="*/ 48 h 59"/>
                <a:gd name="T20" fmla="*/ 10 w 91"/>
                <a:gd name="T21" fmla="*/ 47 h 59"/>
                <a:gd name="T22" fmla="*/ 0 w 91"/>
                <a:gd name="T23" fmla="*/ 47 h 59"/>
                <a:gd name="T24" fmla="*/ 0 w 91"/>
                <a:gd name="T25" fmla="*/ 24 h 59"/>
                <a:gd name="T26" fmla="*/ 44 w 91"/>
                <a:gd name="T27" fmla="*/ 24 h 59"/>
                <a:gd name="T28" fmla="*/ 54 w 91"/>
                <a:gd name="T29" fmla="*/ 1 h 59"/>
                <a:gd name="T30" fmla="*/ 71 w 91"/>
                <a:gd name="T31"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1" h="59">
                  <a:moveTo>
                    <a:pt x="71" y="0"/>
                  </a:moveTo>
                  <a:lnTo>
                    <a:pt x="91" y="4"/>
                  </a:lnTo>
                  <a:lnTo>
                    <a:pt x="83" y="22"/>
                  </a:lnTo>
                  <a:lnTo>
                    <a:pt x="60" y="24"/>
                  </a:lnTo>
                  <a:lnTo>
                    <a:pt x="56" y="45"/>
                  </a:lnTo>
                  <a:lnTo>
                    <a:pt x="39" y="56"/>
                  </a:lnTo>
                  <a:lnTo>
                    <a:pt x="11" y="59"/>
                  </a:lnTo>
                  <a:lnTo>
                    <a:pt x="11" y="54"/>
                  </a:lnTo>
                  <a:lnTo>
                    <a:pt x="10" y="50"/>
                  </a:lnTo>
                  <a:lnTo>
                    <a:pt x="10" y="48"/>
                  </a:lnTo>
                  <a:lnTo>
                    <a:pt x="10" y="47"/>
                  </a:lnTo>
                  <a:lnTo>
                    <a:pt x="0" y="47"/>
                  </a:lnTo>
                  <a:lnTo>
                    <a:pt x="0" y="24"/>
                  </a:lnTo>
                  <a:lnTo>
                    <a:pt x="44" y="24"/>
                  </a:lnTo>
                  <a:lnTo>
                    <a:pt x="54" y="1"/>
                  </a:lnTo>
                  <a:lnTo>
                    <a:pt x="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37" name="Freeform 14">
              <a:extLst>
                <a:ext uri="{FF2B5EF4-FFF2-40B4-BE49-F238E27FC236}">
                  <a16:creationId xmlns:a16="http://schemas.microsoft.com/office/drawing/2014/main" id="{27637794-3982-2201-13A9-DB7587F21F91}"/>
                </a:ext>
              </a:extLst>
            </p:cNvPr>
            <p:cNvSpPr>
              <a:spLocks/>
            </p:cNvSpPr>
            <p:nvPr/>
          </p:nvSpPr>
          <p:spPr bwMode="auto">
            <a:xfrm>
              <a:off x="-1908176" y="4418013"/>
              <a:ext cx="4763" cy="4763"/>
            </a:xfrm>
            <a:custGeom>
              <a:avLst/>
              <a:gdLst>
                <a:gd name="T0" fmla="*/ 17 w 36"/>
                <a:gd name="T1" fmla="*/ 0 h 41"/>
                <a:gd name="T2" fmla="*/ 36 w 36"/>
                <a:gd name="T3" fmla="*/ 16 h 41"/>
                <a:gd name="T4" fmla="*/ 33 w 36"/>
                <a:gd name="T5" fmla="*/ 38 h 41"/>
                <a:gd name="T6" fmla="*/ 0 w 36"/>
                <a:gd name="T7" fmla="*/ 41 h 41"/>
                <a:gd name="T8" fmla="*/ 2 w 36"/>
                <a:gd name="T9" fmla="*/ 18 h 41"/>
                <a:gd name="T10" fmla="*/ 17 w 36"/>
                <a:gd name="T11" fmla="*/ 0 h 41"/>
              </a:gdLst>
              <a:ahLst/>
              <a:cxnLst>
                <a:cxn ang="0">
                  <a:pos x="T0" y="T1"/>
                </a:cxn>
                <a:cxn ang="0">
                  <a:pos x="T2" y="T3"/>
                </a:cxn>
                <a:cxn ang="0">
                  <a:pos x="T4" y="T5"/>
                </a:cxn>
                <a:cxn ang="0">
                  <a:pos x="T6" y="T7"/>
                </a:cxn>
                <a:cxn ang="0">
                  <a:pos x="T8" y="T9"/>
                </a:cxn>
                <a:cxn ang="0">
                  <a:pos x="T10" y="T11"/>
                </a:cxn>
              </a:cxnLst>
              <a:rect l="0" t="0" r="r" b="b"/>
              <a:pathLst>
                <a:path w="36" h="41">
                  <a:moveTo>
                    <a:pt x="17" y="0"/>
                  </a:moveTo>
                  <a:lnTo>
                    <a:pt x="36" y="16"/>
                  </a:lnTo>
                  <a:lnTo>
                    <a:pt x="33" y="38"/>
                  </a:lnTo>
                  <a:lnTo>
                    <a:pt x="0" y="41"/>
                  </a:lnTo>
                  <a:lnTo>
                    <a:pt x="2" y="18"/>
                  </a:lnTo>
                  <a:lnTo>
                    <a:pt x="1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38" name="Freeform 15">
              <a:extLst>
                <a:ext uri="{FF2B5EF4-FFF2-40B4-BE49-F238E27FC236}">
                  <a16:creationId xmlns:a16="http://schemas.microsoft.com/office/drawing/2014/main" id="{DB80A0A2-80E7-74D9-791F-0E86016ADC9F}"/>
                </a:ext>
              </a:extLst>
            </p:cNvPr>
            <p:cNvSpPr>
              <a:spLocks noEditPoints="1"/>
            </p:cNvSpPr>
            <p:nvPr/>
          </p:nvSpPr>
          <p:spPr bwMode="auto">
            <a:xfrm>
              <a:off x="-2119313" y="4281488"/>
              <a:ext cx="493713" cy="490538"/>
            </a:xfrm>
            <a:custGeom>
              <a:avLst/>
              <a:gdLst>
                <a:gd name="T0" fmla="*/ 1162 w 3423"/>
                <a:gd name="T1" fmla="*/ 1050 h 3402"/>
                <a:gd name="T2" fmla="*/ 1208 w 3423"/>
                <a:gd name="T3" fmla="*/ 997 h 3402"/>
                <a:gd name="T4" fmla="*/ 1195 w 3423"/>
                <a:gd name="T5" fmla="*/ 935 h 3402"/>
                <a:gd name="T6" fmla="*/ 1245 w 3423"/>
                <a:gd name="T7" fmla="*/ 961 h 3402"/>
                <a:gd name="T8" fmla="*/ 1058 w 3423"/>
                <a:gd name="T9" fmla="*/ 923 h 3402"/>
                <a:gd name="T10" fmla="*/ 1012 w 3423"/>
                <a:gd name="T11" fmla="*/ 763 h 3402"/>
                <a:gd name="T12" fmla="*/ 881 w 3423"/>
                <a:gd name="T13" fmla="*/ 589 h 3402"/>
                <a:gd name="T14" fmla="*/ 881 w 3423"/>
                <a:gd name="T15" fmla="*/ 621 h 3402"/>
                <a:gd name="T16" fmla="*/ 866 w 3423"/>
                <a:gd name="T17" fmla="*/ 550 h 3402"/>
                <a:gd name="T18" fmla="*/ 1127 w 3423"/>
                <a:gd name="T19" fmla="*/ 253 h 3402"/>
                <a:gd name="T20" fmla="*/ 1067 w 3423"/>
                <a:gd name="T21" fmla="*/ 469 h 3402"/>
                <a:gd name="T22" fmla="*/ 1267 w 3423"/>
                <a:gd name="T23" fmla="*/ 388 h 3402"/>
                <a:gd name="T24" fmla="*/ 1136 w 3423"/>
                <a:gd name="T25" fmla="*/ 449 h 3402"/>
                <a:gd name="T26" fmla="*/ 1323 w 3423"/>
                <a:gd name="T27" fmla="*/ 429 h 3402"/>
                <a:gd name="T28" fmla="*/ 1598 w 3423"/>
                <a:gd name="T29" fmla="*/ 370 h 3402"/>
                <a:gd name="T30" fmla="*/ 1501 w 3423"/>
                <a:gd name="T31" fmla="*/ 473 h 3402"/>
                <a:gd name="T32" fmla="*/ 1389 w 3423"/>
                <a:gd name="T33" fmla="*/ 588 h 3402"/>
                <a:gd name="T34" fmla="*/ 1338 w 3423"/>
                <a:gd name="T35" fmla="*/ 752 h 3402"/>
                <a:gd name="T36" fmla="*/ 1745 w 3423"/>
                <a:gd name="T37" fmla="*/ 824 h 3402"/>
                <a:gd name="T38" fmla="*/ 1674 w 3423"/>
                <a:gd name="T39" fmla="*/ 834 h 3402"/>
                <a:gd name="T40" fmla="*/ 1491 w 3423"/>
                <a:gd name="T41" fmla="*/ 840 h 3402"/>
                <a:gd name="T42" fmla="*/ 1316 w 3423"/>
                <a:gd name="T43" fmla="*/ 1021 h 3402"/>
                <a:gd name="T44" fmla="*/ 684 w 3423"/>
                <a:gd name="T45" fmla="*/ 1410 h 3402"/>
                <a:gd name="T46" fmla="*/ 1170 w 3423"/>
                <a:gd name="T47" fmla="*/ 1653 h 3402"/>
                <a:gd name="T48" fmla="*/ 1755 w 3423"/>
                <a:gd name="T49" fmla="*/ 1985 h 3402"/>
                <a:gd name="T50" fmla="*/ 1738 w 3423"/>
                <a:gd name="T51" fmla="*/ 2593 h 3402"/>
                <a:gd name="T52" fmla="*/ 1520 w 3423"/>
                <a:gd name="T53" fmla="*/ 2962 h 3402"/>
                <a:gd name="T54" fmla="*/ 1257 w 3423"/>
                <a:gd name="T55" fmla="*/ 2745 h 3402"/>
                <a:gd name="T56" fmla="*/ 1182 w 3423"/>
                <a:gd name="T57" fmla="*/ 2298 h 3402"/>
                <a:gd name="T58" fmla="*/ 1104 w 3423"/>
                <a:gd name="T59" fmla="*/ 2266 h 3402"/>
                <a:gd name="T60" fmla="*/ 780 w 3423"/>
                <a:gd name="T61" fmla="*/ 1638 h 3402"/>
                <a:gd name="T62" fmla="*/ 380 w 3423"/>
                <a:gd name="T63" fmla="*/ 1230 h 3402"/>
                <a:gd name="T64" fmla="*/ 323 w 3423"/>
                <a:gd name="T65" fmla="*/ 975 h 3402"/>
                <a:gd name="T66" fmla="*/ 165 w 3423"/>
                <a:gd name="T67" fmla="*/ 1429 h 3402"/>
                <a:gd name="T68" fmla="*/ 295 w 3423"/>
                <a:gd name="T69" fmla="*/ 2375 h 3402"/>
                <a:gd name="T70" fmla="*/ 947 w 3423"/>
                <a:gd name="T71" fmla="*/ 3065 h 3402"/>
                <a:gd name="T72" fmla="*/ 1905 w 3423"/>
                <a:gd name="T73" fmla="*/ 3250 h 3402"/>
                <a:gd name="T74" fmla="*/ 2741 w 3423"/>
                <a:gd name="T75" fmla="*/ 2881 h 3402"/>
                <a:gd name="T76" fmla="*/ 2827 w 3423"/>
                <a:gd name="T77" fmla="*/ 2169 h 3402"/>
                <a:gd name="T78" fmla="*/ 2157 w 3423"/>
                <a:gd name="T79" fmla="*/ 1670 h 3402"/>
                <a:gd name="T80" fmla="*/ 2506 w 3423"/>
                <a:gd name="T81" fmla="*/ 1169 h 3402"/>
                <a:gd name="T82" fmla="*/ 3210 w 3423"/>
                <a:gd name="T83" fmla="*/ 1269 h 3402"/>
                <a:gd name="T84" fmla="*/ 2918 w 3423"/>
                <a:gd name="T85" fmla="*/ 1009 h 3402"/>
                <a:gd name="T86" fmla="*/ 2796 w 3423"/>
                <a:gd name="T87" fmla="*/ 1123 h 3402"/>
                <a:gd name="T88" fmla="*/ 2472 w 3423"/>
                <a:gd name="T89" fmla="*/ 1136 h 3402"/>
                <a:gd name="T90" fmla="*/ 2582 w 3423"/>
                <a:gd name="T91" fmla="*/ 856 h 3402"/>
                <a:gd name="T92" fmla="*/ 2658 w 3423"/>
                <a:gd name="T93" fmla="*/ 592 h 3402"/>
                <a:gd name="T94" fmla="*/ 2096 w 3423"/>
                <a:gd name="T95" fmla="*/ 188 h 3402"/>
                <a:gd name="T96" fmla="*/ 2202 w 3423"/>
                <a:gd name="T97" fmla="*/ 72 h 3402"/>
                <a:gd name="T98" fmla="*/ 2942 w 3423"/>
                <a:gd name="T99" fmla="*/ 520 h 3402"/>
                <a:gd name="T100" fmla="*/ 3363 w 3423"/>
                <a:gd name="T101" fmla="*/ 1252 h 3402"/>
                <a:gd name="T102" fmla="*/ 3376 w 3423"/>
                <a:gd name="T103" fmla="*/ 2100 h 3402"/>
                <a:gd name="T104" fmla="*/ 2887 w 3423"/>
                <a:gd name="T105" fmla="*/ 2938 h 3402"/>
                <a:gd name="T106" fmla="*/ 2019 w 3423"/>
                <a:gd name="T107" fmla="*/ 3374 h 3402"/>
                <a:gd name="T108" fmla="*/ 1000 w 3423"/>
                <a:gd name="T109" fmla="*/ 3248 h 3402"/>
                <a:gd name="T110" fmla="*/ 252 w 3423"/>
                <a:gd name="T111" fmla="*/ 2588 h 3402"/>
                <a:gd name="T112" fmla="*/ 3 w 3423"/>
                <a:gd name="T113" fmla="*/ 1596 h 3402"/>
                <a:gd name="T114" fmla="*/ 357 w 3423"/>
                <a:gd name="T115" fmla="*/ 663 h 3402"/>
                <a:gd name="T116" fmla="*/ 1124 w 3423"/>
                <a:gd name="T117" fmla="*/ 104 h 3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3" h="3402">
                  <a:moveTo>
                    <a:pt x="3241" y="1342"/>
                  </a:moveTo>
                  <a:lnTo>
                    <a:pt x="3236" y="1349"/>
                  </a:lnTo>
                  <a:lnTo>
                    <a:pt x="3247" y="1370"/>
                  </a:lnTo>
                  <a:lnTo>
                    <a:pt x="3241" y="1342"/>
                  </a:lnTo>
                  <a:close/>
                  <a:moveTo>
                    <a:pt x="1183" y="997"/>
                  </a:moveTo>
                  <a:lnTo>
                    <a:pt x="1148" y="1002"/>
                  </a:lnTo>
                  <a:lnTo>
                    <a:pt x="1143" y="1014"/>
                  </a:lnTo>
                  <a:lnTo>
                    <a:pt x="1119" y="1016"/>
                  </a:lnTo>
                  <a:lnTo>
                    <a:pt x="1111" y="1050"/>
                  </a:lnTo>
                  <a:lnTo>
                    <a:pt x="1162" y="1050"/>
                  </a:lnTo>
                  <a:lnTo>
                    <a:pt x="1183" y="1028"/>
                  </a:lnTo>
                  <a:lnTo>
                    <a:pt x="1183" y="997"/>
                  </a:lnTo>
                  <a:close/>
                  <a:moveTo>
                    <a:pt x="3111" y="993"/>
                  </a:moveTo>
                  <a:lnTo>
                    <a:pt x="3101" y="1004"/>
                  </a:lnTo>
                  <a:lnTo>
                    <a:pt x="3101" y="1073"/>
                  </a:lnTo>
                  <a:lnTo>
                    <a:pt x="3132" y="1069"/>
                  </a:lnTo>
                  <a:lnTo>
                    <a:pt x="3148" y="1070"/>
                  </a:lnTo>
                  <a:lnTo>
                    <a:pt x="3111" y="993"/>
                  </a:lnTo>
                  <a:close/>
                  <a:moveTo>
                    <a:pt x="1208" y="969"/>
                  </a:moveTo>
                  <a:lnTo>
                    <a:pt x="1208" y="997"/>
                  </a:lnTo>
                  <a:lnTo>
                    <a:pt x="1221" y="1017"/>
                  </a:lnTo>
                  <a:lnTo>
                    <a:pt x="1272" y="1017"/>
                  </a:lnTo>
                  <a:lnTo>
                    <a:pt x="1272" y="986"/>
                  </a:lnTo>
                  <a:lnTo>
                    <a:pt x="1212" y="969"/>
                  </a:lnTo>
                  <a:lnTo>
                    <a:pt x="1208" y="969"/>
                  </a:lnTo>
                  <a:close/>
                  <a:moveTo>
                    <a:pt x="1143" y="935"/>
                  </a:moveTo>
                  <a:lnTo>
                    <a:pt x="1143" y="986"/>
                  </a:lnTo>
                  <a:lnTo>
                    <a:pt x="1171" y="981"/>
                  </a:lnTo>
                  <a:lnTo>
                    <a:pt x="1195" y="966"/>
                  </a:lnTo>
                  <a:lnTo>
                    <a:pt x="1195" y="935"/>
                  </a:lnTo>
                  <a:lnTo>
                    <a:pt x="1143" y="935"/>
                  </a:lnTo>
                  <a:close/>
                  <a:moveTo>
                    <a:pt x="1059" y="935"/>
                  </a:moveTo>
                  <a:lnTo>
                    <a:pt x="1023" y="974"/>
                  </a:lnTo>
                  <a:lnTo>
                    <a:pt x="1018" y="1013"/>
                  </a:lnTo>
                  <a:lnTo>
                    <a:pt x="1044" y="1028"/>
                  </a:lnTo>
                  <a:lnTo>
                    <a:pt x="1111" y="935"/>
                  </a:lnTo>
                  <a:lnTo>
                    <a:pt x="1059" y="935"/>
                  </a:lnTo>
                  <a:close/>
                  <a:moveTo>
                    <a:pt x="1240" y="930"/>
                  </a:moveTo>
                  <a:lnTo>
                    <a:pt x="1226" y="945"/>
                  </a:lnTo>
                  <a:lnTo>
                    <a:pt x="1245" y="961"/>
                  </a:lnTo>
                  <a:lnTo>
                    <a:pt x="1264" y="945"/>
                  </a:lnTo>
                  <a:lnTo>
                    <a:pt x="1240" y="930"/>
                  </a:lnTo>
                  <a:close/>
                  <a:moveTo>
                    <a:pt x="1169" y="886"/>
                  </a:moveTo>
                  <a:lnTo>
                    <a:pt x="1169" y="923"/>
                  </a:lnTo>
                  <a:lnTo>
                    <a:pt x="1201" y="914"/>
                  </a:lnTo>
                  <a:lnTo>
                    <a:pt x="1169" y="886"/>
                  </a:lnTo>
                  <a:close/>
                  <a:moveTo>
                    <a:pt x="1077" y="872"/>
                  </a:moveTo>
                  <a:lnTo>
                    <a:pt x="1032" y="890"/>
                  </a:lnTo>
                  <a:lnTo>
                    <a:pt x="1023" y="913"/>
                  </a:lnTo>
                  <a:lnTo>
                    <a:pt x="1058" y="923"/>
                  </a:lnTo>
                  <a:lnTo>
                    <a:pt x="1152" y="923"/>
                  </a:lnTo>
                  <a:lnTo>
                    <a:pt x="1152" y="890"/>
                  </a:lnTo>
                  <a:lnTo>
                    <a:pt x="1138" y="890"/>
                  </a:lnTo>
                  <a:lnTo>
                    <a:pt x="1138" y="872"/>
                  </a:lnTo>
                  <a:lnTo>
                    <a:pt x="1077" y="872"/>
                  </a:lnTo>
                  <a:close/>
                  <a:moveTo>
                    <a:pt x="975" y="754"/>
                  </a:moveTo>
                  <a:lnTo>
                    <a:pt x="933" y="773"/>
                  </a:lnTo>
                  <a:lnTo>
                    <a:pt x="959" y="825"/>
                  </a:lnTo>
                  <a:lnTo>
                    <a:pt x="1000" y="812"/>
                  </a:lnTo>
                  <a:lnTo>
                    <a:pt x="1012" y="763"/>
                  </a:lnTo>
                  <a:lnTo>
                    <a:pt x="975" y="754"/>
                  </a:lnTo>
                  <a:close/>
                  <a:moveTo>
                    <a:pt x="2854" y="631"/>
                  </a:moveTo>
                  <a:lnTo>
                    <a:pt x="2854" y="708"/>
                  </a:lnTo>
                  <a:lnTo>
                    <a:pt x="2786" y="741"/>
                  </a:lnTo>
                  <a:lnTo>
                    <a:pt x="2793" y="764"/>
                  </a:lnTo>
                  <a:lnTo>
                    <a:pt x="2901" y="765"/>
                  </a:lnTo>
                  <a:lnTo>
                    <a:pt x="2932" y="719"/>
                  </a:lnTo>
                  <a:lnTo>
                    <a:pt x="2893" y="675"/>
                  </a:lnTo>
                  <a:lnTo>
                    <a:pt x="2854" y="631"/>
                  </a:lnTo>
                  <a:close/>
                  <a:moveTo>
                    <a:pt x="881" y="589"/>
                  </a:moveTo>
                  <a:lnTo>
                    <a:pt x="877" y="589"/>
                  </a:lnTo>
                  <a:lnTo>
                    <a:pt x="870" y="590"/>
                  </a:lnTo>
                  <a:lnTo>
                    <a:pt x="861" y="592"/>
                  </a:lnTo>
                  <a:lnTo>
                    <a:pt x="852" y="593"/>
                  </a:lnTo>
                  <a:lnTo>
                    <a:pt x="846" y="594"/>
                  </a:lnTo>
                  <a:lnTo>
                    <a:pt x="844" y="594"/>
                  </a:lnTo>
                  <a:lnTo>
                    <a:pt x="789" y="610"/>
                  </a:lnTo>
                  <a:lnTo>
                    <a:pt x="803" y="628"/>
                  </a:lnTo>
                  <a:lnTo>
                    <a:pt x="881" y="623"/>
                  </a:lnTo>
                  <a:lnTo>
                    <a:pt x="881" y="621"/>
                  </a:lnTo>
                  <a:lnTo>
                    <a:pt x="881" y="614"/>
                  </a:lnTo>
                  <a:lnTo>
                    <a:pt x="882" y="606"/>
                  </a:lnTo>
                  <a:lnTo>
                    <a:pt x="882" y="597"/>
                  </a:lnTo>
                  <a:lnTo>
                    <a:pt x="882" y="591"/>
                  </a:lnTo>
                  <a:lnTo>
                    <a:pt x="881" y="589"/>
                  </a:lnTo>
                  <a:close/>
                  <a:moveTo>
                    <a:pt x="826" y="504"/>
                  </a:moveTo>
                  <a:lnTo>
                    <a:pt x="824" y="516"/>
                  </a:lnTo>
                  <a:lnTo>
                    <a:pt x="789" y="516"/>
                  </a:lnTo>
                  <a:lnTo>
                    <a:pt x="789" y="550"/>
                  </a:lnTo>
                  <a:lnTo>
                    <a:pt x="866" y="550"/>
                  </a:lnTo>
                  <a:lnTo>
                    <a:pt x="882" y="528"/>
                  </a:lnTo>
                  <a:lnTo>
                    <a:pt x="882" y="504"/>
                  </a:lnTo>
                  <a:lnTo>
                    <a:pt x="826" y="504"/>
                  </a:lnTo>
                  <a:close/>
                  <a:moveTo>
                    <a:pt x="1712" y="140"/>
                  </a:moveTo>
                  <a:lnTo>
                    <a:pt x="1610" y="145"/>
                  </a:lnTo>
                  <a:lnTo>
                    <a:pt x="1508" y="154"/>
                  </a:lnTo>
                  <a:lnTo>
                    <a:pt x="1409" y="170"/>
                  </a:lnTo>
                  <a:lnTo>
                    <a:pt x="1313" y="192"/>
                  </a:lnTo>
                  <a:lnTo>
                    <a:pt x="1218" y="220"/>
                  </a:lnTo>
                  <a:lnTo>
                    <a:pt x="1127" y="253"/>
                  </a:lnTo>
                  <a:lnTo>
                    <a:pt x="1038" y="292"/>
                  </a:lnTo>
                  <a:lnTo>
                    <a:pt x="952" y="337"/>
                  </a:lnTo>
                  <a:lnTo>
                    <a:pt x="868" y="385"/>
                  </a:lnTo>
                  <a:lnTo>
                    <a:pt x="789" y="439"/>
                  </a:lnTo>
                  <a:lnTo>
                    <a:pt x="868" y="438"/>
                  </a:lnTo>
                  <a:lnTo>
                    <a:pt x="904" y="458"/>
                  </a:lnTo>
                  <a:lnTo>
                    <a:pt x="970" y="472"/>
                  </a:lnTo>
                  <a:lnTo>
                    <a:pt x="975" y="499"/>
                  </a:lnTo>
                  <a:lnTo>
                    <a:pt x="1081" y="503"/>
                  </a:lnTo>
                  <a:lnTo>
                    <a:pt x="1067" y="469"/>
                  </a:lnTo>
                  <a:lnTo>
                    <a:pt x="973" y="466"/>
                  </a:lnTo>
                  <a:lnTo>
                    <a:pt x="995" y="446"/>
                  </a:lnTo>
                  <a:lnTo>
                    <a:pt x="987" y="421"/>
                  </a:lnTo>
                  <a:lnTo>
                    <a:pt x="902" y="421"/>
                  </a:lnTo>
                  <a:lnTo>
                    <a:pt x="995" y="352"/>
                  </a:lnTo>
                  <a:lnTo>
                    <a:pt x="1084" y="352"/>
                  </a:lnTo>
                  <a:lnTo>
                    <a:pt x="1125" y="410"/>
                  </a:lnTo>
                  <a:lnTo>
                    <a:pt x="1195" y="414"/>
                  </a:lnTo>
                  <a:lnTo>
                    <a:pt x="1236" y="374"/>
                  </a:lnTo>
                  <a:lnTo>
                    <a:pt x="1267" y="388"/>
                  </a:lnTo>
                  <a:lnTo>
                    <a:pt x="1210" y="445"/>
                  </a:lnTo>
                  <a:lnTo>
                    <a:pt x="1207" y="445"/>
                  </a:lnTo>
                  <a:lnTo>
                    <a:pt x="1198" y="445"/>
                  </a:lnTo>
                  <a:lnTo>
                    <a:pt x="1185" y="445"/>
                  </a:lnTo>
                  <a:lnTo>
                    <a:pt x="1171" y="446"/>
                  </a:lnTo>
                  <a:lnTo>
                    <a:pt x="1156" y="446"/>
                  </a:lnTo>
                  <a:lnTo>
                    <a:pt x="1145" y="446"/>
                  </a:lnTo>
                  <a:lnTo>
                    <a:pt x="1136" y="446"/>
                  </a:lnTo>
                  <a:lnTo>
                    <a:pt x="1134" y="446"/>
                  </a:lnTo>
                  <a:lnTo>
                    <a:pt x="1136" y="449"/>
                  </a:lnTo>
                  <a:lnTo>
                    <a:pt x="1137" y="456"/>
                  </a:lnTo>
                  <a:lnTo>
                    <a:pt x="1138" y="467"/>
                  </a:lnTo>
                  <a:lnTo>
                    <a:pt x="1139" y="479"/>
                  </a:lnTo>
                  <a:lnTo>
                    <a:pt x="1140" y="489"/>
                  </a:lnTo>
                  <a:lnTo>
                    <a:pt x="1140" y="498"/>
                  </a:lnTo>
                  <a:lnTo>
                    <a:pt x="1141" y="500"/>
                  </a:lnTo>
                  <a:lnTo>
                    <a:pt x="1237" y="498"/>
                  </a:lnTo>
                  <a:lnTo>
                    <a:pt x="1248" y="472"/>
                  </a:lnTo>
                  <a:lnTo>
                    <a:pt x="1314" y="468"/>
                  </a:lnTo>
                  <a:lnTo>
                    <a:pt x="1323" y="429"/>
                  </a:lnTo>
                  <a:lnTo>
                    <a:pt x="1283" y="422"/>
                  </a:lnTo>
                  <a:lnTo>
                    <a:pt x="1296" y="387"/>
                  </a:lnTo>
                  <a:lnTo>
                    <a:pt x="1326" y="378"/>
                  </a:lnTo>
                  <a:lnTo>
                    <a:pt x="1431" y="383"/>
                  </a:lnTo>
                  <a:lnTo>
                    <a:pt x="1373" y="435"/>
                  </a:lnTo>
                  <a:lnTo>
                    <a:pt x="1383" y="475"/>
                  </a:lnTo>
                  <a:lnTo>
                    <a:pt x="1442" y="485"/>
                  </a:lnTo>
                  <a:lnTo>
                    <a:pt x="1439" y="412"/>
                  </a:lnTo>
                  <a:lnTo>
                    <a:pt x="1496" y="382"/>
                  </a:lnTo>
                  <a:lnTo>
                    <a:pt x="1598" y="370"/>
                  </a:lnTo>
                  <a:lnTo>
                    <a:pt x="1745" y="435"/>
                  </a:lnTo>
                  <a:lnTo>
                    <a:pt x="1745" y="491"/>
                  </a:lnTo>
                  <a:lnTo>
                    <a:pt x="1792" y="503"/>
                  </a:lnTo>
                  <a:lnTo>
                    <a:pt x="1769" y="547"/>
                  </a:lnTo>
                  <a:lnTo>
                    <a:pt x="1703" y="547"/>
                  </a:lnTo>
                  <a:lnTo>
                    <a:pt x="1682" y="597"/>
                  </a:lnTo>
                  <a:lnTo>
                    <a:pt x="1531" y="561"/>
                  </a:lnTo>
                  <a:lnTo>
                    <a:pt x="1650" y="499"/>
                  </a:lnTo>
                  <a:lnTo>
                    <a:pt x="1604" y="459"/>
                  </a:lnTo>
                  <a:lnTo>
                    <a:pt x="1501" y="473"/>
                  </a:lnTo>
                  <a:lnTo>
                    <a:pt x="1492" y="482"/>
                  </a:lnTo>
                  <a:lnTo>
                    <a:pt x="1492" y="482"/>
                  </a:lnTo>
                  <a:lnTo>
                    <a:pt x="1490" y="484"/>
                  </a:lnTo>
                  <a:lnTo>
                    <a:pt x="1460" y="515"/>
                  </a:lnTo>
                  <a:lnTo>
                    <a:pt x="1411" y="519"/>
                  </a:lnTo>
                  <a:lnTo>
                    <a:pt x="1416" y="543"/>
                  </a:lnTo>
                  <a:lnTo>
                    <a:pt x="1433" y="551"/>
                  </a:lnTo>
                  <a:lnTo>
                    <a:pt x="1432" y="559"/>
                  </a:lnTo>
                  <a:lnTo>
                    <a:pt x="1392" y="564"/>
                  </a:lnTo>
                  <a:lnTo>
                    <a:pt x="1389" y="588"/>
                  </a:lnTo>
                  <a:lnTo>
                    <a:pt x="1351" y="589"/>
                  </a:lnTo>
                  <a:lnTo>
                    <a:pt x="1344" y="543"/>
                  </a:lnTo>
                  <a:lnTo>
                    <a:pt x="1276" y="564"/>
                  </a:lnTo>
                  <a:lnTo>
                    <a:pt x="1135" y="645"/>
                  </a:lnTo>
                  <a:lnTo>
                    <a:pt x="1151" y="702"/>
                  </a:lnTo>
                  <a:lnTo>
                    <a:pt x="1191" y="728"/>
                  </a:lnTo>
                  <a:lnTo>
                    <a:pt x="1268" y="739"/>
                  </a:lnTo>
                  <a:lnTo>
                    <a:pt x="1268" y="827"/>
                  </a:lnTo>
                  <a:lnTo>
                    <a:pt x="1305" y="822"/>
                  </a:lnTo>
                  <a:lnTo>
                    <a:pt x="1338" y="752"/>
                  </a:lnTo>
                  <a:lnTo>
                    <a:pt x="1421" y="727"/>
                  </a:lnTo>
                  <a:lnTo>
                    <a:pt x="1421" y="621"/>
                  </a:lnTo>
                  <a:lnTo>
                    <a:pt x="1468" y="586"/>
                  </a:lnTo>
                  <a:lnTo>
                    <a:pt x="1580" y="611"/>
                  </a:lnTo>
                  <a:lnTo>
                    <a:pt x="1572" y="682"/>
                  </a:lnTo>
                  <a:lnTo>
                    <a:pt x="1602" y="682"/>
                  </a:lnTo>
                  <a:lnTo>
                    <a:pt x="1684" y="642"/>
                  </a:lnTo>
                  <a:lnTo>
                    <a:pt x="1688" y="734"/>
                  </a:lnTo>
                  <a:lnTo>
                    <a:pt x="1748" y="770"/>
                  </a:lnTo>
                  <a:lnTo>
                    <a:pt x="1745" y="824"/>
                  </a:lnTo>
                  <a:lnTo>
                    <a:pt x="1689" y="844"/>
                  </a:lnTo>
                  <a:lnTo>
                    <a:pt x="1692" y="862"/>
                  </a:lnTo>
                  <a:lnTo>
                    <a:pt x="1761" y="893"/>
                  </a:lnTo>
                  <a:lnTo>
                    <a:pt x="1760" y="930"/>
                  </a:lnTo>
                  <a:lnTo>
                    <a:pt x="1740" y="932"/>
                  </a:lnTo>
                  <a:lnTo>
                    <a:pt x="1740" y="931"/>
                  </a:lnTo>
                  <a:lnTo>
                    <a:pt x="1652" y="905"/>
                  </a:lnTo>
                  <a:lnTo>
                    <a:pt x="1648" y="877"/>
                  </a:lnTo>
                  <a:lnTo>
                    <a:pt x="1674" y="859"/>
                  </a:lnTo>
                  <a:lnTo>
                    <a:pt x="1674" y="834"/>
                  </a:lnTo>
                  <a:lnTo>
                    <a:pt x="1647" y="827"/>
                  </a:lnTo>
                  <a:lnTo>
                    <a:pt x="1640" y="851"/>
                  </a:lnTo>
                  <a:lnTo>
                    <a:pt x="1592" y="858"/>
                  </a:lnTo>
                  <a:lnTo>
                    <a:pt x="1586" y="856"/>
                  </a:lnTo>
                  <a:lnTo>
                    <a:pt x="1586" y="858"/>
                  </a:lnTo>
                  <a:lnTo>
                    <a:pt x="1570" y="861"/>
                  </a:lnTo>
                  <a:lnTo>
                    <a:pt x="1556" y="834"/>
                  </a:lnTo>
                  <a:lnTo>
                    <a:pt x="1540" y="827"/>
                  </a:lnTo>
                  <a:lnTo>
                    <a:pt x="1506" y="827"/>
                  </a:lnTo>
                  <a:lnTo>
                    <a:pt x="1491" y="840"/>
                  </a:lnTo>
                  <a:lnTo>
                    <a:pt x="1491" y="868"/>
                  </a:lnTo>
                  <a:lnTo>
                    <a:pt x="1520" y="877"/>
                  </a:lnTo>
                  <a:lnTo>
                    <a:pt x="1549" y="881"/>
                  </a:lnTo>
                  <a:lnTo>
                    <a:pt x="1543" y="885"/>
                  </a:lnTo>
                  <a:lnTo>
                    <a:pt x="1516" y="913"/>
                  </a:lnTo>
                  <a:lnTo>
                    <a:pt x="1505" y="899"/>
                  </a:lnTo>
                  <a:lnTo>
                    <a:pt x="1480" y="892"/>
                  </a:lnTo>
                  <a:lnTo>
                    <a:pt x="1410" y="958"/>
                  </a:lnTo>
                  <a:lnTo>
                    <a:pt x="1419" y="965"/>
                  </a:lnTo>
                  <a:lnTo>
                    <a:pt x="1316" y="1021"/>
                  </a:lnTo>
                  <a:lnTo>
                    <a:pt x="1219" y="1121"/>
                  </a:lnTo>
                  <a:lnTo>
                    <a:pt x="1213" y="1165"/>
                  </a:lnTo>
                  <a:lnTo>
                    <a:pt x="1116" y="1229"/>
                  </a:lnTo>
                  <a:lnTo>
                    <a:pt x="1068" y="1277"/>
                  </a:lnTo>
                  <a:lnTo>
                    <a:pt x="1073" y="1373"/>
                  </a:lnTo>
                  <a:lnTo>
                    <a:pt x="1007" y="1341"/>
                  </a:lnTo>
                  <a:lnTo>
                    <a:pt x="1007" y="1286"/>
                  </a:lnTo>
                  <a:lnTo>
                    <a:pt x="821" y="1286"/>
                  </a:lnTo>
                  <a:lnTo>
                    <a:pt x="726" y="1334"/>
                  </a:lnTo>
                  <a:lnTo>
                    <a:pt x="684" y="1410"/>
                  </a:lnTo>
                  <a:lnTo>
                    <a:pt x="668" y="1471"/>
                  </a:lnTo>
                  <a:lnTo>
                    <a:pt x="694" y="1530"/>
                  </a:lnTo>
                  <a:lnTo>
                    <a:pt x="770" y="1539"/>
                  </a:lnTo>
                  <a:lnTo>
                    <a:pt x="891" y="1459"/>
                  </a:lnTo>
                  <a:lnTo>
                    <a:pt x="901" y="1498"/>
                  </a:lnTo>
                  <a:lnTo>
                    <a:pt x="864" y="1567"/>
                  </a:lnTo>
                  <a:lnTo>
                    <a:pt x="956" y="1583"/>
                  </a:lnTo>
                  <a:lnTo>
                    <a:pt x="965" y="1723"/>
                  </a:lnTo>
                  <a:lnTo>
                    <a:pt x="1090" y="1744"/>
                  </a:lnTo>
                  <a:lnTo>
                    <a:pt x="1170" y="1653"/>
                  </a:lnTo>
                  <a:lnTo>
                    <a:pt x="1266" y="1672"/>
                  </a:lnTo>
                  <a:lnTo>
                    <a:pt x="1300" y="1720"/>
                  </a:lnTo>
                  <a:lnTo>
                    <a:pt x="1393" y="1713"/>
                  </a:lnTo>
                  <a:lnTo>
                    <a:pt x="1395" y="1687"/>
                  </a:lnTo>
                  <a:lnTo>
                    <a:pt x="1447" y="1711"/>
                  </a:lnTo>
                  <a:lnTo>
                    <a:pt x="1504" y="1801"/>
                  </a:lnTo>
                  <a:lnTo>
                    <a:pt x="1603" y="1802"/>
                  </a:lnTo>
                  <a:lnTo>
                    <a:pt x="1640" y="1866"/>
                  </a:lnTo>
                  <a:lnTo>
                    <a:pt x="1645" y="1943"/>
                  </a:lnTo>
                  <a:lnTo>
                    <a:pt x="1755" y="1985"/>
                  </a:lnTo>
                  <a:lnTo>
                    <a:pt x="1892" y="1987"/>
                  </a:lnTo>
                  <a:lnTo>
                    <a:pt x="1933" y="2053"/>
                  </a:lnTo>
                  <a:lnTo>
                    <a:pt x="1995" y="2072"/>
                  </a:lnTo>
                  <a:lnTo>
                    <a:pt x="1983" y="2127"/>
                  </a:lnTo>
                  <a:lnTo>
                    <a:pt x="1916" y="2212"/>
                  </a:lnTo>
                  <a:lnTo>
                    <a:pt x="1897" y="2399"/>
                  </a:lnTo>
                  <a:lnTo>
                    <a:pt x="1836" y="2447"/>
                  </a:lnTo>
                  <a:lnTo>
                    <a:pt x="1745" y="2444"/>
                  </a:lnTo>
                  <a:lnTo>
                    <a:pt x="1715" y="2496"/>
                  </a:lnTo>
                  <a:lnTo>
                    <a:pt x="1738" y="2593"/>
                  </a:lnTo>
                  <a:lnTo>
                    <a:pt x="1640" y="2718"/>
                  </a:lnTo>
                  <a:lnTo>
                    <a:pt x="1609" y="2776"/>
                  </a:lnTo>
                  <a:lnTo>
                    <a:pt x="1515" y="2820"/>
                  </a:lnTo>
                  <a:lnTo>
                    <a:pt x="1453" y="2829"/>
                  </a:lnTo>
                  <a:lnTo>
                    <a:pt x="1451" y="2855"/>
                  </a:lnTo>
                  <a:lnTo>
                    <a:pt x="1495" y="2867"/>
                  </a:lnTo>
                  <a:lnTo>
                    <a:pt x="1489" y="2895"/>
                  </a:lnTo>
                  <a:lnTo>
                    <a:pt x="1451" y="2932"/>
                  </a:lnTo>
                  <a:lnTo>
                    <a:pt x="1473" y="2961"/>
                  </a:lnTo>
                  <a:lnTo>
                    <a:pt x="1520" y="2962"/>
                  </a:lnTo>
                  <a:lnTo>
                    <a:pt x="1518" y="2998"/>
                  </a:lnTo>
                  <a:lnTo>
                    <a:pt x="1505" y="3033"/>
                  </a:lnTo>
                  <a:lnTo>
                    <a:pt x="1502" y="3062"/>
                  </a:lnTo>
                  <a:lnTo>
                    <a:pt x="1570" y="3119"/>
                  </a:lnTo>
                  <a:lnTo>
                    <a:pt x="1561" y="3149"/>
                  </a:lnTo>
                  <a:lnTo>
                    <a:pt x="1468" y="3148"/>
                  </a:lnTo>
                  <a:lnTo>
                    <a:pt x="1374" y="3067"/>
                  </a:lnTo>
                  <a:lnTo>
                    <a:pt x="1303" y="2940"/>
                  </a:lnTo>
                  <a:lnTo>
                    <a:pt x="1312" y="2818"/>
                  </a:lnTo>
                  <a:lnTo>
                    <a:pt x="1257" y="2745"/>
                  </a:lnTo>
                  <a:lnTo>
                    <a:pt x="1279" y="2622"/>
                  </a:lnTo>
                  <a:lnTo>
                    <a:pt x="1247" y="2613"/>
                  </a:lnTo>
                  <a:lnTo>
                    <a:pt x="1247" y="2345"/>
                  </a:lnTo>
                  <a:lnTo>
                    <a:pt x="1245" y="2344"/>
                  </a:lnTo>
                  <a:lnTo>
                    <a:pt x="1239" y="2340"/>
                  </a:lnTo>
                  <a:lnTo>
                    <a:pt x="1230" y="2332"/>
                  </a:lnTo>
                  <a:lnTo>
                    <a:pt x="1219" y="2325"/>
                  </a:lnTo>
                  <a:lnTo>
                    <a:pt x="1207" y="2316"/>
                  </a:lnTo>
                  <a:lnTo>
                    <a:pt x="1194" y="2306"/>
                  </a:lnTo>
                  <a:lnTo>
                    <a:pt x="1182" y="2298"/>
                  </a:lnTo>
                  <a:lnTo>
                    <a:pt x="1170" y="2289"/>
                  </a:lnTo>
                  <a:lnTo>
                    <a:pt x="1161" y="2283"/>
                  </a:lnTo>
                  <a:lnTo>
                    <a:pt x="1153" y="2278"/>
                  </a:lnTo>
                  <a:lnTo>
                    <a:pt x="1150" y="2276"/>
                  </a:lnTo>
                  <a:lnTo>
                    <a:pt x="1146" y="2276"/>
                  </a:lnTo>
                  <a:lnTo>
                    <a:pt x="1138" y="2274"/>
                  </a:lnTo>
                  <a:lnTo>
                    <a:pt x="1129" y="2272"/>
                  </a:lnTo>
                  <a:lnTo>
                    <a:pt x="1119" y="2270"/>
                  </a:lnTo>
                  <a:lnTo>
                    <a:pt x="1111" y="2268"/>
                  </a:lnTo>
                  <a:lnTo>
                    <a:pt x="1104" y="2266"/>
                  </a:lnTo>
                  <a:lnTo>
                    <a:pt x="1102" y="2266"/>
                  </a:lnTo>
                  <a:lnTo>
                    <a:pt x="1092" y="2215"/>
                  </a:lnTo>
                  <a:lnTo>
                    <a:pt x="974" y="2066"/>
                  </a:lnTo>
                  <a:lnTo>
                    <a:pt x="986" y="2013"/>
                  </a:lnTo>
                  <a:lnTo>
                    <a:pt x="990" y="1927"/>
                  </a:lnTo>
                  <a:lnTo>
                    <a:pt x="1072" y="1869"/>
                  </a:lnTo>
                  <a:lnTo>
                    <a:pt x="1060" y="1773"/>
                  </a:lnTo>
                  <a:lnTo>
                    <a:pt x="940" y="1763"/>
                  </a:lnTo>
                  <a:lnTo>
                    <a:pt x="846" y="1657"/>
                  </a:lnTo>
                  <a:lnTo>
                    <a:pt x="780" y="1638"/>
                  </a:lnTo>
                  <a:lnTo>
                    <a:pt x="736" y="1631"/>
                  </a:lnTo>
                  <a:lnTo>
                    <a:pt x="741" y="1593"/>
                  </a:lnTo>
                  <a:lnTo>
                    <a:pt x="687" y="1584"/>
                  </a:lnTo>
                  <a:lnTo>
                    <a:pt x="687" y="1606"/>
                  </a:lnTo>
                  <a:lnTo>
                    <a:pt x="549" y="1572"/>
                  </a:lnTo>
                  <a:lnTo>
                    <a:pt x="494" y="1489"/>
                  </a:lnTo>
                  <a:lnTo>
                    <a:pt x="517" y="1448"/>
                  </a:lnTo>
                  <a:lnTo>
                    <a:pt x="430" y="1322"/>
                  </a:lnTo>
                  <a:lnTo>
                    <a:pt x="415" y="1230"/>
                  </a:lnTo>
                  <a:lnTo>
                    <a:pt x="380" y="1230"/>
                  </a:lnTo>
                  <a:lnTo>
                    <a:pt x="391" y="1320"/>
                  </a:lnTo>
                  <a:lnTo>
                    <a:pt x="452" y="1412"/>
                  </a:lnTo>
                  <a:lnTo>
                    <a:pt x="446" y="1448"/>
                  </a:lnTo>
                  <a:lnTo>
                    <a:pt x="395" y="1440"/>
                  </a:lnTo>
                  <a:lnTo>
                    <a:pt x="332" y="1334"/>
                  </a:lnTo>
                  <a:lnTo>
                    <a:pt x="332" y="1211"/>
                  </a:lnTo>
                  <a:lnTo>
                    <a:pt x="267" y="1179"/>
                  </a:lnTo>
                  <a:lnTo>
                    <a:pt x="267" y="1091"/>
                  </a:lnTo>
                  <a:lnTo>
                    <a:pt x="293" y="1032"/>
                  </a:lnTo>
                  <a:lnTo>
                    <a:pt x="323" y="975"/>
                  </a:lnTo>
                  <a:lnTo>
                    <a:pt x="388" y="895"/>
                  </a:lnTo>
                  <a:lnTo>
                    <a:pt x="385" y="867"/>
                  </a:lnTo>
                  <a:lnTo>
                    <a:pt x="353" y="921"/>
                  </a:lnTo>
                  <a:lnTo>
                    <a:pt x="323" y="975"/>
                  </a:lnTo>
                  <a:lnTo>
                    <a:pt x="267" y="1041"/>
                  </a:lnTo>
                  <a:lnTo>
                    <a:pt x="267" y="1091"/>
                  </a:lnTo>
                  <a:lnTo>
                    <a:pt x="234" y="1173"/>
                  </a:lnTo>
                  <a:lnTo>
                    <a:pt x="206" y="1256"/>
                  </a:lnTo>
                  <a:lnTo>
                    <a:pt x="183" y="1341"/>
                  </a:lnTo>
                  <a:lnTo>
                    <a:pt x="165" y="1429"/>
                  </a:lnTo>
                  <a:lnTo>
                    <a:pt x="151" y="1518"/>
                  </a:lnTo>
                  <a:lnTo>
                    <a:pt x="144" y="1610"/>
                  </a:lnTo>
                  <a:lnTo>
                    <a:pt x="141" y="1702"/>
                  </a:lnTo>
                  <a:lnTo>
                    <a:pt x="145" y="1804"/>
                  </a:lnTo>
                  <a:lnTo>
                    <a:pt x="155" y="1905"/>
                  </a:lnTo>
                  <a:lnTo>
                    <a:pt x="171" y="2004"/>
                  </a:lnTo>
                  <a:lnTo>
                    <a:pt x="193" y="2100"/>
                  </a:lnTo>
                  <a:lnTo>
                    <a:pt x="222" y="2195"/>
                  </a:lnTo>
                  <a:lnTo>
                    <a:pt x="255" y="2286"/>
                  </a:lnTo>
                  <a:lnTo>
                    <a:pt x="295" y="2375"/>
                  </a:lnTo>
                  <a:lnTo>
                    <a:pt x="340" y="2461"/>
                  </a:lnTo>
                  <a:lnTo>
                    <a:pt x="389" y="2543"/>
                  </a:lnTo>
                  <a:lnTo>
                    <a:pt x="445" y="2623"/>
                  </a:lnTo>
                  <a:lnTo>
                    <a:pt x="505" y="2698"/>
                  </a:lnTo>
                  <a:lnTo>
                    <a:pt x="569" y="2770"/>
                  </a:lnTo>
                  <a:lnTo>
                    <a:pt x="637" y="2838"/>
                  </a:lnTo>
                  <a:lnTo>
                    <a:pt x="708" y="2902"/>
                  </a:lnTo>
                  <a:lnTo>
                    <a:pt x="785" y="2961"/>
                  </a:lnTo>
                  <a:lnTo>
                    <a:pt x="864" y="3015"/>
                  </a:lnTo>
                  <a:lnTo>
                    <a:pt x="947" y="3065"/>
                  </a:lnTo>
                  <a:lnTo>
                    <a:pt x="1034" y="3109"/>
                  </a:lnTo>
                  <a:lnTo>
                    <a:pt x="1123" y="3149"/>
                  </a:lnTo>
                  <a:lnTo>
                    <a:pt x="1216" y="3183"/>
                  </a:lnTo>
                  <a:lnTo>
                    <a:pt x="1311" y="3211"/>
                  </a:lnTo>
                  <a:lnTo>
                    <a:pt x="1408" y="3233"/>
                  </a:lnTo>
                  <a:lnTo>
                    <a:pt x="1507" y="3249"/>
                  </a:lnTo>
                  <a:lnTo>
                    <a:pt x="1609" y="3259"/>
                  </a:lnTo>
                  <a:lnTo>
                    <a:pt x="1712" y="3263"/>
                  </a:lnTo>
                  <a:lnTo>
                    <a:pt x="1809" y="3260"/>
                  </a:lnTo>
                  <a:lnTo>
                    <a:pt x="1905" y="3250"/>
                  </a:lnTo>
                  <a:lnTo>
                    <a:pt x="1999" y="3237"/>
                  </a:lnTo>
                  <a:lnTo>
                    <a:pt x="2092" y="3217"/>
                  </a:lnTo>
                  <a:lnTo>
                    <a:pt x="2183" y="3191"/>
                  </a:lnTo>
                  <a:lnTo>
                    <a:pt x="2270" y="3160"/>
                  </a:lnTo>
                  <a:lnTo>
                    <a:pt x="2355" y="3125"/>
                  </a:lnTo>
                  <a:lnTo>
                    <a:pt x="2439" y="3085"/>
                  </a:lnTo>
                  <a:lnTo>
                    <a:pt x="2519" y="3041"/>
                  </a:lnTo>
                  <a:lnTo>
                    <a:pt x="2596" y="2992"/>
                  </a:lnTo>
                  <a:lnTo>
                    <a:pt x="2669" y="2938"/>
                  </a:lnTo>
                  <a:lnTo>
                    <a:pt x="2741" y="2881"/>
                  </a:lnTo>
                  <a:lnTo>
                    <a:pt x="2808" y="2819"/>
                  </a:lnTo>
                  <a:lnTo>
                    <a:pt x="2871" y="2754"/>
                  </a:lnTo>
                  <a:lnTo>
                    <a:pt x="2931" y="2685"/>
                  </a:lnTo>
                  <a:lnTo>
                    <a:pt x="2878" y="2685"/>
                  </a:lnTo>
                  <a:lnTo>
                    <a:pt x="2878" y="2582"/>
                  </a:lnTo>
                  <a:lnTo>
                    <a:pt x="2819" y="2502"/>
                  </a:lnTo>
                  <a:lnTo>
                    <a:pt x="2819" y="2377"/>
                  </a:lnTo>
                  <a:lnTo>
                    <a:pt x="2773" y="2331"/>
                  </a:lnTo>
                  <a:lnTo>
                    <a:pt x="2769" y="2279"/>
                  </a:lnTo>
                  <a:lnTo>
                    <a:pt x="2827" y="2169"/>
                  </a:lnTo>
                  <a:lnTo>
                    <a:pt x="2717" y="1976"/>
                  </a:lnTo>
                  <a:lnTo>
                    <a:pt x="2730" y="1845"/>
                  </a:lnTo>
                  <a:lnTo>
                    <a:pt x="2631" y="1834"/>
                  </a:lnTo>
                  <a:lnTo>
                    <a:pt x="2594" y="1798"/>
                  </a:lnTo>
                  <a:lnTo>
                    <a:pt x="2527" y="1798"/>
                  </a:lnTo>
                  <a:lnTo>
                    <a:pt x="2494" y="1829"/>
                  </a:lnTo>
                  <a:lnTo>
                    <a:pt x="2376" y="1829"/>
                  </a:lnTo>
                  <a:lnTo>
                    <a:pt x="2373" y="1840"/>
                  </a:lnTo>
                  <a:lnTo>
                    <a:pt x="2306" y="1840"/>
                  </a:lnTo>
                  <a:lnTo>
                    <a:pt x="2157" y="1670"/>
                  </a:lnTo>
                  <a:lnTo>
                    <a:pt x="2158" y="1537"/>
                  </a:lnTo>
                  <a:lnTo>
                    <a:pt x="2183" y="1528"/>
                  </a:lnTo>
                  <a:lnTo>
                    <a:pt x="2192" y="1478"/>
                  </a:lnTo>
                  <a:lnTo>
                    <a:pt x="2157" y="1478"/>
                  </a:lnTo>
                  <a:lnTo>
                    <a:pt x="2142" y="1424"/>
                  </a:lnTo>
                  <a:lnTo>
                    <a:pt x="2316" y="1300"/>
                  </a:lnTo>
                  <a:lnTo>
                    <a:pt x="2316" y="1212"/>
                  </a:lnTo>
                  <a:lnTo>
                    <a:pt x="2401" y="1164"/>
                  </a:lnTo>
                  <a:lnTo>
                    <a:pt x="2436" y="1169"/>
                  </a:lnTo>
                  <a:lnTo>
                    <a:pt x="2506" y="1169"/>
                  </a:lnTo>
                  <a:lnTo>
                    <a:pt x="2560" y="1139"/>
                  </a:lnTo>
                  <a:lnTo>
                    <a:pt x="2736" y="1125"/>
                  </a:lnTo>
                  <a:lnTo>
                    <a:pt x="2736" y="1215"/>
                  </a:lnTo>
                  <a:lnTo>
                    <a:pt x="2875" y="1250"/>
                  </a:lnTo>
                  <a:lnTo>
                    <a:pt x="2903" y="1269"/>
                  </a:lnTo>
                  <a:lnTo>
                    <a:pt x="2928" y="1269"/>
                  </a:lnTo>
                  <a:lnTo>
                    <a:pt x="2928" y="1221"/>
                  </a:lnTo>
                  <a:lnTo>
                    <a:pt x="3008" y="1213"/>
                  </a:lnTo>
                  <a:lnTo>
                    <a:pt x="3085" y="1269"/>
                  </a:lnTo>
                  <a:lnTo>
                    <a:pt x="3210" y="1269"/>
                  </a:lnTo>
                  <a:lnTo>
                    <a:pt x="3219" y="1262"/>
                  </a:lnTo>
                  <a:lnTo>
                    <a:pt x="3199" y="1199"/>
                  </a:lnTo>
                  <a:lnTo>
                    <a:pt x="3177" y="1138"/>
                  </a:lnTo>
                  <a:lnTo>
                    <a:pt x="3095" y="1140"/>
                  </a:lnTo>
                  <a:lnTo>
                    <a:pt x="3053" y="1094"/>
                  </a:lnTo>
                  <a:lnTo>
                    <a:pt x="3046" y="1022"/>
                  </a:lnTo>
                  <a:lnTo>
                    <a:pt x="3004" y="1046"/>
                  </a:lnTo>
                  <a:lnTo>
                    <a:pt x="2981" y="1134"/>
                  </a:lnTo>
                  <a:lnTo>
                    <a:pt x="2921" y="1069"/>
                  </a:lnTo>
                  <a:lnTo>
                    <a:pt x="2918" y="1009"/>
                  </a:lnTo>
                  <a:lnTo>
                    <a:pt x="2859" y="959"/>
                  </a:lnTo>
                  <a:lnTo>
                    <a:pt x="2838" y="938"/>
                  </a:lnTo>
                  <a:lnTo>
                    <a:pt x="2769" y="938"/>
                  </a:lnTo>
                  <a:lnTo>
                    <a:pt x="2791" y="998"/>
                  </a:lnTo>
                  <a:lnTo>
                    <a:pt x="2873" y="1042"/>
                  </a:lnTo>
                  <a:lnTo>
                    <a:pt x="2887" y="1057"/>
                  </a:lnTo>
                  <a:lnTo>
                    <a:pt x="2870" y="1067"/>
                  </a:lnTo>
                  <a:lnTo>
                    <a:pt x="2870" y="1115"/>
                  </a:lnTo>
                  <a:lnTo>
                    <a:pt x="2830" y="1130"/>
                  </a:lnTo>
                  <a:lnTo>
                    <a:pt x="2796" y="1123"/>
                  </a:lnTo>
                  <a:lnTo>
                    <a:pt x="2775" y="1093"/>
                  </a:lnTo>
                  <a:lnTo>
                    <a:pt x="2830" y="1097"/>
                  </a:lnTo>
                  <a:lnTo>
                    <a:pt x="2845" y="1076"/>
                  </a:lnTo>
                  <a:lnTo>
                    <a:pt x="2722" y="994"/>
                  </a:lnTo>
                  <a:lnTo>
                    <a:pt x="2714" y="960"/>
                  </a:lnTo>
                  <a:lnTo>
                    <a:pt x="2664" y="1004"/>
                  </a:lnTo>
                  <a:lnTo>
                    <a:pt x="2614" y="994"/>
                  </a:lnTo>
                  <a:lnTo>
                    <a:pt x="2536" y="1093"/>
                  </a:lnTo>
                  <a:lnTo>
                    <a:pt x="2521" y="1132"/>
                  </a:lnTo>
                  <a:lnTo>
                    <a:pt x="2472" y="1136"/>
                  </a:lnTo>
                  <a:lnTo>
                    <a:pt x="2399" y="1137"/>
                  </a:lnTo>
                  <a:lnTo>
                    <a:pt x="2355" y="1117"/>
                  </a:lnTo>
                  <a:lnTo>
                    <a:pt x="2343" y="1031"/>
                  </a:lnTo>
                  <a:lnTo>
                    <a:pt x="2359" y="989"/>
                  </a:lnTo>
                  <a:lnTo>
                    <a:pt x="2432" y="974"/>
                  </a:lnTo>
                  <a:lnTo>
                    <a:pt x="2513" y="989"/>
                  </a:lnTo>
                  <a:lnTo>
                    <a:pt x="2523" y="945"/>
                  </a:lnTo>
                  <a:lnTo>
                    <a:pt x="2489" y="938"/>
                  </a:lnTo>
                  <a:lnTo>
                    <a:pt x="2501" y="868"/>
                  </a:lnTo>
                  <a:lnTo>
                    <a:pt x="2582" y="856"/>
                  </a:lnTo>
                  <a:lnTo>
                    <a:pt x="2638" y="775"/>
                  </a:lnTo>
                  <a:lnTo>
                    <a:pt x="2697" y="766"/>
                  </a:lnTo>
                  <a:lnTo>
                    <a:pt x="2750" y="773"/>
                  </a:lnTo>
                  <a:lnTo>
                    <a:pt x="2769" y="773"/>
                  </a:lnTo>
                  <a:lnTo>
                    <a:pt x="2759" y="699"/>
                  </a:lnTo>
                  <a:lnTo>
                    <a:pt x="2695" y="724"/>
                  </a:lnTo>
                  <a:lnTo>
                    <a:pt x="2672" y="668"/>
                  </a:lnTo>
                  <a:lnTo>
                    <a:pt x="2634" y="663"/>
                  </a:lnTo>
                  <a:lnTo>
                    <a:pt x="2628" y="625"/>
                  </a:lnTo>
                  <a:lnTo>
                    <a:pt x="2658" y="592"/>
                  </a:lnTo>
                  <a:lnTo>
                    <a:pt x="2731" y="563"/>
                  </a:lnTo>
                  <a:lnTo>
                    <a:pt x="2749" y="530"/>
                  </a:lnTo>
                  <a:lnTo>
                    <a:pt x="2678" y="472"/>
                  </a:lnTo>
                  <a:lnTo>
                    <a:pt x="2604" y="418"/>
                  </a:lnTo>
                  <a:lnTo>
                    <a:pt x="2526" y="367"/>
                  </a:lnTo>
                  <a:lnTo>
                    <a:pt x="2445" y="322"/>
                  </a:lnTo>
                  <a:lnTo>
                    <a:pt x="2362" y="281"/>
                  </a:lnTo>
                  <a:lnTo>
                    <a:pt x="2275" y="245"/>
                  </a:lnTo>
                  <a:lnTo>
                    <a:pt x="2187" y="214"/>
                  </a:lnTo>
                  <a:lnTo>
                    <a:pt x="2096" y="188"/>
                  </a:lnTo>
                  <a:lnTo>
                    <a:pt x="2002" y="168"/>
                  </a:lnTo>
                  <a:lnTo>
                    <a:pt x="1907" y="153"/>
                  </a:lnTo>
                  <a:lnTo>
                    <a:pt x="1810" y="144"/>
                  </a:lnTo>
                  <a:lnTo>
                    <a:pt x="1712" y="140"/>
                  </a:lnTo>
                  <a:close/>
                  <a:moveTo>
                    <a:pt x="1712" y="0"/>
                  </a:moveTo>
                  <a:lnTo>
                    <a:pt x="1814" y="4"/>
                  </a:lnTo>
                  <a:lnTo>
                    <a:pt x="1914" y="12"/>
                  </a:lnTo>
                  <a:lnTo>
                    <a:pt x="2012" y="27"/>
                  </a:lnTo>
                  <a:lnTo>
                    <a:pt x="2108" y="47"/>
                  </a:lnTo>
                  <a:lnTo>
                    <a:pt x="2202" y="72"/>
                  </a:lnTo>
                  <a:lnTo>
                    <a:pt x="2295" y="102"/>
                  </a:lnTo>
                  <a:lnTo>
                    <a:pt x="2384" y="137"/>
                  </a:lnTo>
                  <a:lnTo>
                    <a:pt x="2472" y="178"/>
                  </a:lnTo>
                  <a:lnTo>
                    <a:pt x="2556" y="222"/>
                  </a:lnTo>
                  <a:lnTo>
                    <a:pt x="2637" y="272"/>
                  </a:lnTo>
                  <a:lnTo>
                    <a:pt x="2716" y="325"/>
                  </a:lnTo>
                  <a:lnTo>
                    <a:pt x="2792" y="382"/>
                  </a:lnTo>
                  <a:lnTo>
                    <a:pt x="2863" y="445"/>
                  </a:lnTo>
                  <a:lnTo>
                    <a:pt x="2903" y="482"/>
                  </a:lnTo>
                  <a:lnTo>
                    <a:pt x="2942" y="520"/>
                  </a:lnTo>
                  <a:lnTo>
                    <a:pt x="2968" y="547"/>
                  </a:lnTo>
                  <a:lnTo>
                    <a:pt x="3033" y="622"/>
                  </a:lnTo>
                  <a:lnTo>
                    <a:pt x="3094" y="699"/>
                  </a:lnTo>
                  <a:lnTo>
                    <a:pt x="3150" y="780"/>
                  </a:lnTo>
                  <a:lnTo>
                    <a:pt x="3201" y="863"/>
                  </a:lnTo>
                  <a:lnTo>
                    <a:pt x="3247" y="950"/>
                  </a:lnTo>
                  <a:lnTo>
                    <a:pt x="3289" y="1040"/>
                  </a:lnTo>
                  <a:lnTo>
                    <a:pt x="3303" y="1073"/>
                  </a:lnTo>
                  <a:lnTo>
                    <a:pt x="3335" y="1161"/>
                  </a:lnTo>
                  <a:lnTo>
                    <a:pt x="3363" y="1252"/>
                  </a:lnTo>
                  <a:lnTo>
                    <a:pt x="3386" y="1346"/>
                  </a:lnTo>
                  <a:lnTo>
                    <a:pt x="3403" y="1440"/>
                  </a:lnTo>
                  <a:lnTo>
                    <a:pt x="3416" y="1536"/>
                  </a:lnTo>
                  <a:lnTo>
                    <a:pt x="3421" y="1610"/>
                  </a:lnTo>
                  <a:lnTo>
                    <a:pt x="3423" y="1684"/>
                  </a:lnTo>
                  <a:lnTo>
                    <a:pt x="3423" y="1702"/>
                  </a:lnTo>
                  <a:lnTo>
                    <a:pt x="3420" y="1802"/>
                  </a:lnTo>
                  <a:lnTo>
                    <a:pt x="3412" y="1901"/>
                  </a:lnTo>
                  <a:lnTo>
                    <a:pt x="3398" y="1999"/>
                  </a:lnTo>
                  <a:lnTo>
                    <a:pt x="3376" y="2100"/>
                  </a:lnTo>
                  <a:lnTo>
                    <a:pt x="3350" y="2198"/>
                  </a:lnTo>
                  <a:lnTo>
                    <a:pt x="3317" y="2292"/>
                  </a:lnTo>
                  <a:lnTo>
                    <a:pt x="3279" y="2384"/>
                  </a:lnTo>
                  <a:lnTo>
                    <a:pt x="3237" y="2475"/>
                  </a:lnTo>
                  <a:lnTo>
                    <a:pt x="3189" y="2559"/>
                  </a:lnTo>
                  <a:lnTo>
                    <a:pt x="3137" y="2642"/>
                  </a:lnTo>
                  <a:lnTo>
                    <a:pt x="3081" y="2722"/>
                  </a:lnTo>
                  <a:lnTo>
                    <a:pt x="3020" y="2797"/>
                  </a:lnTo>
                  <a:lnTo>
                    <a:pt x="2955" y="2869"/>
                  </a:lnTo>
                  <a:lnTo>
                    <a:pt x="2887" y="2938"/>
                  </a:lnTo>
                  <a:lnTo>
                    <a:pt x="2814" y="3002"/>
                  </a:lnTo>
                  <a:lnTo>
                    <a:pt x="2737" y="3063"/>
                  </a:lnTo>
                  <a:lnTo>
                    <a:pt x="2657" y="3118"/>
                  </a:lnTo>
                  <a:lnTo>
                    <a:pt x="2575" y="3170"/>
                  </a:lnTo>
                  <a:lnTo>
                    <a:pt x="2489" y="3217"/>
                  </a:lnTo>
                  <a:lnTo>
                    <a:pt x="2400" y="3259"/>
                  </a:lnTo>
                  <a:lnTo>
                    <a:pt x="2309" y="3296"/>
                  </a:lnTo>
                  <a:lnTo>
                    <a:pt x="2215" y="3328"/>
                  </a:lnTo>
                  <a:lnTo>
                    <a:pt x="2118" y="3354"/>
                  </a:lnTo>
                  <a:lnTo>
                    <a:pt x="2019" y="3374"/>
                  </a:lnTo>
                  <a:lnTo>
                    <a:pt x="1918" y="3390"/>
                  </a:lnTo>
                  <a:lnTo>
                    <a:pt x="1816" y="3399"/>
                  </a:lnTo>
                  <a:lnTo>
                    <a:pt x="1712" y="3402"/>
                  </a:lnTo>
                  <a:lnTo>
                    <a:pt x="1603" y="3399"/>
                  </a:lnTo>
                  <a:lnTo>
                    <a:pt x="1498" y="3389"/>
                  </a:lnTo>
                  <a:lnTo>
                    <a:pt x="1393" y="3372"/>
                  </a:lnTo>
                  <a:lnTo>
                    <a:pt x="1291" y="3350"/>
                  </a:lnTo>
                  <a:lnTo>
                    <a:pt x="1192" y="3321"/>
                  </a:lnTo>
                  <a:lnTo>
                    <a:pt x="1095" y="3288"/>
                  </a:lnTo>
                  <a:lnTo>
                    <a:pt x="1000" y="3248"/>
                  </a:lnTo>
                  <a:lnTo>
                    <a:pt x="908" y="3203"/>
                  </a:lnTo>
                  <a:lnTo>
                    <a:pt x="819" y="3153"/>
                  </a:lnTo>
                  <a:lnTo>
                    <a:pt x="735" y="3098"/>
                  </a:lnTo>
                  <a:lnTo>
                    <a:pt x="654" y="3037"/>
                  </a:lnTo>
                  <a:lnTo>
                    <a:pt x="576" y="2973"/>
                  </a:lnTo>
                  <a:lnTo>
                    <a:pt x="502" y="2904"/>
                  </a:lnTo>
                  <a:lnTo>
                    <a:pt x="433" y="2831"/>
                  </a:lnTo>
                  <a:lnTo>
                    <a:pt x="368" y="2753"/>
                  </a:lnTo>
                  <a:lnTo>
                    <a:pt x="307" y="2673"/>
                  </a:lnTo>
                  <a:lnTo>
                    <a:pt x="252" y="2588"/>
                  </a:lnTo>
                  <a:lnTo>
                    <a:pt x="202" y="2501"/>
                  </a:lnTo>
                  <a:lnTo>
                    <a:pt x="156" y="2410"/>
                  </a:lnTo>
                  <a:lnTo>
                    <a:pt x="115" y="2316"/>
                  </a:lnTo>
                  <a:lnTo>
                    <a:pt x="81" y="2219"/>
                  </a:lnTo>
                  <a:lnTo>
                    <a:pt x="52" y="2119"/>
                  </a:lnTo>
                  <a:lnTo>
                    <a:pt x="30" y="2019"/>
                  </a:lnTo>
                  <a:lnTo>
                    <a:pt x="14" y="1915"/>
                  </a:lnTo>
                  <a:lnTo>
                    <a:pt x="3" y="1809"/>
                  </a:lnTo>
                  <a:lnTo>
                    <a:pt x="0" y="1702"/>
                  </a:lnTo>
                  <a:lnTo>
                    <a:pt x="3" y="1596"/>
                  </a:lnTo>
                  <a:lnTo>
                    <a:pt x="13" y="1492"/>
                  </a:lnTo>
                  <a:lnTo>
                    <a:pt x="29" y="1390"/>
                  </a:lnTo>
                  <a:lnTo>
                    <a:pt x="51" y="1289"/>
                  </a:lnTo>
                  <a:lnTo>
                    <a:pt x="79" y="1192"/>
                  </a:lnTo>
                  <a:lnTo>
                    <a:pt x="112" y="1097"/>
                  </a:lnTo>
                  <a:lnTo>
                    <a:pt x="151" y="1004"/>
                  </a:lnTo>
                  <a:lnTo>
                    <a:pt x="195" y="914"/>
                  </a:lnTo>
                  <a:lnTo>
                    <a:pt x="244" y="827"/>
                  </a:lnTo>
                  <a:lnTo>
                    <a:pt x="299" y="744"/>
                  </a:lnTo>
                  <a:lnTo>
                    <a:pt x="357" y="663"/>
                  </a:lnTo>
                  <a:lnTo>
                    <a:pt x="418" y="589"/>
                  </a:lnTo>
                  <a:lnTo>
                    <a:pt x="484" y="519"/>
                  </a:lnTo>
                  <a:lnTo>
                    <a:pt x="553" y="451"/>
                  </a:lnTo>
                  <a:lnTo>
                    <a:pt x="625" y="388"/>
                  </a:lnTo>
                  <a:lnTo>
                    <a:pt x="701" y="330"/>
                  </a:lnTo>
                  <a:lnTo>
                    <a:pt x="780" y="276"/>
                  </a:lnTo>
                  <a:lnTo>
                    <a:pt x="862" y="226"/>
                  </a:lnTo>
                  <a:lnTo>
                    <a:pt x="947" y="181"/>
                  </a:lnTo>
                  <a:lnTo>
                    <a:pt x="1035" y="139"/>
                  </a:lnTo>
                  <a:lnTo>
                    <a:pt x="1124" y="104"/>
                  </a:lnTo>
                  <a:lnTo>
                    <a:pt x="1217" y="74"/>
                  </a:lnTo>
                  <a:lnTo>
                    <a:pt x="1313" y="47"/>
                  </a:lnTo>
                  <a:lnTo>
                    <a:pt x="1410" y="27"/>
                  </a:lnTo>
                  <a:lnTo>
                    <a:pt x="1508" y="12"/>
                  </a:lnTo>
                  <a:lnTo>
                    <a:pt x="1610" y="4"/>
                  </a:lnTo>
                  <a:lnTo>
                    <a:pt x="1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sp>
          <p:nvSpPr>
            <p:cNvPr id="39" name="Freeform 16">
              <a:extLst>
                <a:ext uri="{FF2B5EF4-FFF2-40B4-BE49-F238E27FC236}">
                  <a16:creationId xmlns:a16="http://schemas.microsoft.com/office/drawing/2014/main" id="{FF0256ED-1FF1-E05E-6AEA-C4D792022901}"/>
                </a:ext>
              </a:extLst>
            </p:cNvPr>
            <p:cNvSpPr>
              <a:spLocks/>
            </p:cNvSpPr>
            <p:nvPr/>
          </p:nvSpPr>
          <p:spPr bwMode="auto">
            <a:xfrm>
              <a:off x="-2081213" y="4421188"/>
              <a:ext cx="7938" cy="17463"/>
            </a:xfrm>
            <a:custGeom>
              <a:avLst/>
              <a:gdLst>
                <a:gd name="T0" fmla="*/ 56 w 56"/>
                <a:gd name="T1" fmla="*/ 0 h 116"/>
                <a:gd name="T2" fmla="*/ 26 w 56"/>
                <a:gd name="T3" fmla="*/ 57 h 116"/>
                <a:gd name="T4" fmla="*/ 0 w 56"/>
                <a:gd name="T5" fmla="*/ 116 h 116"/>
                <a:gd name="T6" fmla="*/ 0 w 56"/>
                <a:gd name="T7" fmla="*/ 66 h 116"/>
                <a:gd name="T8" fmla="*/ 56 w 56"/>
                <a:gd name="T9" fmla="*/ 0 h 116"/>
              </a:gdLst>
              <a:ahLst/>
              <a:cxnLst>
                <a:cxn ang="0">
                  <a:pos x="T0" y="T1"/>
                </a:cxn>
                <a:cxn ang="0">
                  <a:pos x="T2" y="T3"/>
                </a:cxn>
                <a:cxn ang="0">
                  <a:pos x="T4" y="T5"/>
                </a:cxn>
                <a:cxn ang="0">
                  <a:pos x="T6" y="T7"/>
                </a:cxn>
                <a:cxn ang="0">
                  <a:pos x="T8" y="T9"/>
                </a:cxn>
              </a:cxnLst>
              <a:rect l="0" t="0" r="r" b="b"/>
              <a:pathLst>
                <a:path w="56" h="116">
                  <a:moveTo>
                    <a:pt x="56" y="0"/>
                  </a:moveTo>
                  <a:lnTo>
                    <a:pt x="26" y="57"/>
                  </a:lnTo>
                  <a:lnTo>
                    <a:pt x="0" y="116"/>
                  </a:lnTo>
                  <a:lnTo>
                    <a:pt x="0" y="66"/>
                  </a:lnTo>
                  <a:lnTo>
                    <a:pt x="5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grpSp>
      <p:sp>
        <p:nvSpPr>
          <p:cNvPr id="30" name="Oval 29">
            <a:extLst>
              <a:ext uri="{FF2B5EF4-FFF2-40B4-BE49-F238E27FC236}">
                <a16:creationId xmlns:a16="http://schemas.microsoft.com/office/drawing/2014/main" id="{21466E00-BCF5-9D7C-73E8-0927658EF668}"/>
              </a:ext>
            </a:extLst>
          </p:cNvPr>
          <p:cNvSpPr/>
          <p:nvPr/>
        </p:nvSpPr>
        <p:spPr>
          <a:xfrm>
            <a:off x="755468" y="4783028"/>
            <a:ext cx="726331" cy="726329"/>
          </a:xfrm>
          <a:prstGeom prst="ellipse">
            <a:avLst/>
          </a:prstGeom>
          <a:solidFill>
            <a:srgbClr val="005F65"/>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ctr" defTabSz="584200" eaLnBrk="0" hangingPunct="0">
              <a:defRPr/>
            </a:pPr>
            <a:endParaRPr lang="en-US" sz="1600">
              <a:solidFill>
                <a:srgbClr val="FFFFFF"/>
              </a:solidFill>
              <a:latin typeface="+mj-lt"/>
              <a:ea typeface="Helvetica Neue Medium"/>
              <a:cs typeface="Helvetica Neue Medium"/>
              <a:sym typeface="Helvetica Neue Medium"/>
            </a:endParaRPr>
          </a:p>
        </p:txBody>
      </p:sp>
      <p:sp>
        <p:nvSpPr>
          <p:cNvPr id="31" name="Freeform 38">
            <a:extLst>
              <a:ext uri="{FF2B5EF4-FFF2-40B4-BE49-F238E27FC236}">
                <a16:creationId xmlns:a16="http://schemas.microsoft.com/office/drawing/2014/main" id="{1480CFA0-911D-C671-7AD9-190B2CDEF65D}"/>
              </a:ext>
            </a:extLst>
          </p:cNvPr>
          <p:cNvSpPr>
            <a:spLocks noEditPoints="1"/>
          </p:cNvSpPr>
          <p:nvPr/>
        </p:nvSpPr>
        <p:spPr bwMode="auto">
          <a:xfrm>
            <a:off x="882167" y="5014715"/>
            <a:ext cx="472930" cy="313754"/>
          </a:xfrm>
          <a:custGeom>
            <a:avLst/>
            <a:gdLst>
              <a:gd name="T0" fmla="*/ 1348 w 6340"/>
              <a:gd name="T1" fmla="*/ 2881 h 4589"/>
              <a:gd name="T2" fmla="*/ 1762 w 6340"/>
              <a:gd name="T3" fmla="*/ 3204 h 4589"/>
              <a:gd name="T4" fmla="*/ 2145 w 6340"/>
              <a:gd name="T5" fmla="*/ 3530 h 4589"/>
              <a:gd name="T6" fmla="*/ 2476 w 6340"/>
              <a:gd name="T7" fmla="*/ 3866 h 4589"/>
              <a:gd name="T8" fmla="*/ 2445 w 6340"/>
              <a:gd name="T9" fmla="*/ 4467 h 4589"/>
              <a:gd name="T10" fmla="*/ 1866 w 6340"/>
              <a:gd name="T11" fmla="*/ 4498 h 4589"/>
              <a:gd name="T12" fmla="*/ 1849 w 6340"/>
              <a:gd name="T13" fmla="*/ 4082 h 4589"/>
              <a:gd name="T14" fmla="*/ 1385 w 6340"/>
              <a:gd name="T15" fmla="*/ 3955 h 4589"/>
              <a:gd name="T16" fmla="*/ 1295 w 6340"/>
              <a:gd name="T17" fmla="*/ 3691 h 4589"/>
              <a:gd name="T18" fmla="*/ 966 w 6340"/>
              <a:gd name="T19" fmla="*/ 3422 h 4589"/>
              <a:gd name="T20" fmla="*/ 810 w 6340"/>
              <a:gd name="T21" fmla="*/ 3277 h 4589"/>
              <a:gd name="T22" fmla="*/ 575 w 6340"/>
              <a:gd name="T23" fmla="*/ 2840 h 4589"/>
              <a:gd name="T24" fmla="*/ 2468 w 6340"/>
              <a:gd name="T25" fmla="*/ 33 h 4589"/>
              <a:gd name="T26" fmla="*/ 2951 w 6340"/>
              <a:gd name="T27" fmla="*/ 250 h 4589"/>
              <a:gd name="T28" fmla="*/ 2545 w 6340"/>
              <a:gd name="T29" fmla="*/ 479 h 4589"/>
              <a:gd name="T30" fmla="*/ 1902 w 6340"/>
              <a:gd name="T31" fmla="*/ 963 h 4589"/>
              <a:gd name="T32" fmla="*/ 2133 w 6340"/>
              <a:gd name="T33" fmla="*/ 1821 h 4589"/>
              <a:gd name="T34" fmla="*/ 2912 w 6340"/>
              <a:gd name="T35" fmla="*/ 1744 h 4589"/>
              <a:gd name="T36" fmla="*/ 3718 w 6340"/>
              <a:gd name="T37" fmla="*/ 1546 h 4589"/>
              <a:gd name="T38" fmla="*/ 4049 w 6340"/>
              <a:gd name="T39" fmla="*/ 1852 h 4589"/>
              <a:gd name="T40" fmla="*/ 4222 w 6340"/>
              <a:gd name="T41" fmla="*/ 2028 h 4589"/>
              <a:gd name="T42" fmla="*/ 4586 w 6340"/>
              <a:gd name="T43" fmla="*/ 2391 h 4589"/>
              <a:gd name="T44" fmla="*/ 5105 w 6340"/>
              <a:gd name="T45" fmla="*/ 3048 h 4589"/>
              <a:gd name="T46" fmla="*/ 4669 w 6340"/>
              <a:gd name="T47" fmla="*/ 3254 h 4589"/>
              <a:gd name="T48" fmla="*/ 4363 w 6340"/>
              <a:gd name="T49" fmla="*/ 2958 h 4589"/>
              <a:gd name="T50" fmla="*/ 4151 w 6340"/>
              <a:gd name="T51" fmla="*/ 2831 h 4589"/>
              <a:gd name="T52" fmla="*/ 4492 w 6340"/>
              <a:gd name="T53" fmla="*/ 3233 h 4589"/>
              <a:gd name="T54" fmla="*/ 4584 w 6340"/>
              <a:gd name="T55" fmla="*/ 3645 h 4589"/>
              <a:gd name="T56" fmla="*/ 4153 w 6340"/>
              <a:gd name="T57" fmla="*/ 3680 h 4589"/>
              <a:gd name="T58" fmla="*/ 3732 w 6340"/>
              <a:gd name="T59" fmla="*/ 3306 h 4589"/>
              <a:gd name="T60" fmla="*/ 3559 w 6340"/>
              <a:gd name="T61" fmla="*/ 3231 h 4589"/>
              <a:gd name="T62" fmla="*/ 3942 w 6340"/>
              <a:gd name="T63" fmla="*/ 3607 h 4589"/>
              <a:gd name="T64" fmla="*/ 4090 w 6340"/>
              <a:gd name="T65" fmla="*/ 3892 h 4589"/>
              <a:gd name="T66" fmla="*/ 3655 w 6340"/>
              <a:gd name="T67" fmla="*/ 4098 h 4589"/>
              <a:gd name="T68" fmla="*/ 3318 w 6340"/>
              <a:gd name="T69" fmla="*/ 3766 h 4589"/>
              <a:gd name="T70" fmla="*/ 3097 w 6340"/>
              <a:gd name="T71" fmla="*/ 3616 h 4589"/>
              <a:gd name="T72" fmla="*/ 3413 w 6340"/>
              <a:gd name="T73" fmla="*/ 3982 h 4589"/>
              <a:gd name="T74" fmla="*/ 3441 w 6340"/>
              <a:gd name="T75" fmla="*/ 4408 h 4589"/>
              <a:gd name="T76" fmla="*/ 2985 w 6340"/>
              <a:gd name="T77" fmla="*/ 4344 h 4589"/>
              <a:gd name="T78" fmla="*/ 2859 w 6340"/>
              <a:gd name="T79" fmla="*/ 3886 h 4589"/>
              <a:gd name="T80" fmla="*/ 2303 w 6340"/>
              <a:gd name="T81" fmla="*/ 3239 h 4589"/>
              <a:gd name="T82" fmla="*/ 1631 w 6340"/>
              <a:gd name="T83" fmla="*/ 2653 h 4589"/>
              <a:gd name="T84" fmla="*/ 933 w 6340"/>
              <a:gd name="T85" fmla="*/ 2201 h 4589"/>
              <a:gd name="T86" fmla="*/ 244 w 6340"/>
              <a:gd name="T87" fmla="*/ 2634 h 4589"/>
              <a:gd name="T88" fmla="*/ 775 w 6340"/>
              <a:gd name="T89" fmla="*/ 618 h 4589"/>
              <a:gd name="T90" fmla="*/ 1195 w 6340"/>
              <a:gd name="T91" fmla="*/ 558 h 4589"/>
              <a:gd name="T92" fmla="*/ 1743 w 6340"/>
              <a:gd name="T93" fmla="*/ 242 h 4589"/>
              <a:gd name="T94" fmla="*/ 4082 w 6340"/>
              <a:gd name="T95" fmla="*/ 0 h 4589"/>
              <a:gd name="T96" fmla="*/ 4763 w 6340"/>
              <a:gd name="T97" fmla="*/ 458 h 4589"/>
              <a:gd name="T98" fmla="*/ 5103 w 6340"/>
              <a:gd name="T99" fmla="*/ 747 h 4589"/>
              <a:gd name="T100" fmla="*/ 5702 w 6340"/>
              <a:gd name="T101" fmla="*/ 710 h 4589"/>
              <a:gd name="T102" fmla="*/ 6335 w 6340"/>
              <a:gd name="T103" fmla="*/ 570 h 4589"/>
              <a:gd name="T104" fmla="*/ 5981 w 6340"/>
              <a:gd name="T105" fmla="*/ 2559 h 4589"/>
              <a:gd name="T106" fmla="*/ 5509 w 6340"/>
              <a:gd name="T107" fmla="*/ 2601 h 4589"/>
              <a:gd name="T108" fmla="*/ 4923 w 6340"/>
              <a:gd name="T109" fmla="*/ 2122 h 4589"/>
              <a:gd name="T110" fmla="*/ 4205 w 6340"/>
              <a:gd name="T111" fmla="*/ 1409 h 4589"/>
              <a:gd name="T112" fmla="*/ 3930 w 6340"/>
              <a:gd name="T113" fmla="*/ 1142 h 4589"/>
              <a:gd name="T114" fmla="*/ 3413 w 6340"/>
              <a:gd name="T115" fmla="*/ 1173 h 4589"/>
              <a:gd name="T116" fmla="*/ 2585 w 6340"/>
              <a:gd name="T117" fmla="*/ 1594 h 4589"/>
              <a:gd name="T118" fmla="*/ 2083 w 6340"/>
              <a:gd name="T119" fmla="*/ 1309 h 4589"/>
              <a:gd name="T120" fmla="*/ 2551 w 6340"/>
              <a:gd name="T121" fmla="*/ 786 h 4589"/>
              <a:gd name="T122" fmla="*/ 3686 w 6340"/>
              <a:gd name="T123" fmla="*/ 144 h 4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340" h="4589">
                <a:moveTo>
                  <a:pt x="1004" y="2490"/>
                </a:moveTo>
                <a:lnTo>
                  <a:pt x="1062" y="2492"/>
                </a:lnTo>
                <a:lnTo>
                  <a:pt x="1118" y="2503"/>
                </a:lnTo>
                <a:lnTo>
                  <a:pt x="1170" y="2524"/>
                </a:lnTo>
                <a:lnTo>
                  <a:pt x="1220" y="2553"/>
                </a:lnTo>
                <a:lnTo>
                  <a:pt x="1264" y="2592"/>
                </a:lnTo>
                <a:lnTo>
                  <a:pt x="1297" y="2632"/>
                </a:lnTo>
                <a:lnTo>
                  <a:pt x="1323" y="2678"/>
                </a:lnTo>
                <a:lnTo>
                  <a:pt x="1341" y="2727"/>
                </a:lnTo>
                <a:lnTo>
                  <a:pt x="1350" y="2777"/>
                </a:lnTo>
                <a:lnTo>
                  <a:pt x="1352" y="2829"/>
                </a:lnTo>
                <a:lnTo>
                  <a:pt x="1348" y="2881"/>
                </a:lnTo>
                <a:lnTo>
                  <a:pt x="1337" y="2933"/>
                </a:lnTo>
                <a:lnTo>
                  <a:pt x="1389" y="2923"/>
                </a:lnTo>
                <a:lnTo>
                  <a:pt x="1443" y="2921"/>
                </a:lnTo>
                <a:lnTo>
                  <a:pt x="1495" y="2927"/>
                </a:lnTo>
                <a:lnTo>
                  <a:pt x="1543" y="2938"/>
                </a:lnTo>
                <a:lnTo>
                  <a:pt x="1591" y="2958"/>
                </a:lnTo>
                <a:lnTo>
                  <a:pt x="1635" y="2985"/>
                </a:lnTo>
                <a:lnTo>
                  <a:pt x="1675" y="3017"/>
                </a:lnTo>
                <a:lnTo>
                  <a:pt x="1708" y="3060"/>
                </a:lnTo>
                <a:lnTo>
                  <a:pt x="1735" y="3104"/>
                </a:lnTo>
                <a:lnTo>
                  <a:pt x="1752" y="3152"/>
                </a:lnTo>
                <a:lnTo>
                  <a:pt x="1762" y="3204"/>
                </a:lnTo>
                <a:lnTo>
                  <a:pt x="1764" y="3254"/>
                </a:lnTo>
                <a:lnTo>
                  <a:pt x="1760" y="3308"/>
                </a:lnTo>
                <a:lnTo>
                  <a:pt x="1749" y="3360"/>
                </a:lnTo>
                <a:lnTo>
                  <a:pt x="1801" y="3350"/>
                </a:lnTo>
                <a:lnTo>
                  <a:pt x="1852" y="3348"/>
                </a:lnTo>
                <a:lnTo>
                  <a:pt x="1904" y="3354"/>
                </a:lnTo>
                <a:lnTo>
                  <a:pt x="1954" y="3366"/>
                </a:lnTo>
                <a:lnTo>
                  <a:pt x="2003" y="3385"/>
                </a:lnTo>
                <a:lnTo>
                  <a:pt x="2047" y="3410"/>
                </a:lnTo>
                <a:lnTo>
                  <a:pt x="2087" y="3445"/>
                </a:lnTo>
                <a:lnTo>
                  <a:pt x="2120" y="3485"/>
                </a:lnTo>
                <a:lnTo>
                  <a:pt x="2145" y="3530"/>
                </a:lnTo>
                <a:lnTo>
                  <a:pt x="2162" y="3576"/>
                </a:lnTo>
                <a:lnTo>
                  <a:pt x="2174" y="3624"/>
                </a:lnTo>
                <a:lnTo>
                  <a:pt x="2178" y="3674"/>
                </a:lnTo>
                <a:lnTo>
                  <a:pt x="2176" y="3724"/>
                </a:lnTo>
                <a:lnTo>
                  <a:pt x="2166" y="3774"/>
                </a:lnTo>
                <a:lnTo>
                  <a:pt x="2151" y="3824"/>
                </a:lnTo>
                <a:lnTo>
                  <a:pt x="2206" y="3811"/>
                </a:lnTo>
                <a:lnTo>
                  <a:pt x="2264" y="3805"/>
                </a:lnTo>
                <a:lnTo>
                  <a:pt x="2320" y="3807"/>
                </a:lnTo>
                <a:lnTo>
                  <a:pt x="2376" y="3818"/>
                </a:lnTo>
                <a:lnTo>
                  <a:pt x="2428" y="3838"/>
                </a:lnTo>
                <a:lnTo>
                  <a:pt x="2476" y="3866"/>
                </a:lnTo>
                <a:lnTo>
                  <a:pt x="2518" y="3903"/>
                </a:lnTo>
                <a:lnTo>
                  <a:pt x="2555" y="3949"/>
                </a:lnTo>
                <a:lnTo>
                  <a:pt x="2583" y="3999"/>
                </a:lnTo>
                <a:lnTo>
                  <a:pt x="2601" y="4053"/>
                </a:lnTo>
                <a:lnTo>
                  <a:pt x="2610" y="4109"/>
                </a:lnTo>
                <a:lnTo>
                  <a:pt x="2612" y="4165"/>
                </a:lnTo>
                <a:lnTo>
                  <a:pt x="2605" y="4223"/>
                </a:lnTo>
                <a:lnTo>
                  <a:pt x="2587" y="4280"/>
                </a:lnTo>
                <a:lnTo>
                  <a:pt x="2562" y="4334"/>
                </a:lnTo>
                <a:lnTo>
                  <a:pt x="2528" y="4386"/>
                </a:lnTo>
                <a:lnTo>
                  <a:pt x="2485" y="4435"/>
                </a:lnTo>
                <a:lnTo>
                  <a:pt x="2445" y="4467"/>
                </a:lnTo>
                <a:lnTo>
                  <a:pt x="2401" y="4498"/>
                </a:lnTo>
                <a:lnTo>
                  <a:pt x="2355" y="4523"/>
                </a:lnTo>
                <a:lnTo>
                  <a:pt x="2303" y="4546"/>
                </a:lnTo>
                <a:lnTo>
                  <a:pt x="2251" y="4564"/>
                </a:lnTo>
                <a:lnTo>
                  <a:pt x="2195" y="4577"/>
                </a:lnTo>
                <a:lnTo>
                  <a:pt x="2141" y="4585"/>
                </a:lnTo>
                <a:lnTo>
                  <a:pt x="2087" y="4589"/>
                </a:lnTo>
                <a:lnTo>
                  <a:pt x="2037" y="4585"/>
                </a:lnTo>
                <a:lnTo>
                  <a:pt x="1987" y="4573"/>
                </a:lnTo>
                <a:lnTo>
                  <a:pt x="1943" y="4556"/>
                </a:lnTo>
                <a:lnTo>
                  <a:pt x="1901" y="4531"/>
                </a:lnTo>
                <a:lnTo>
                  <a:pt x="1866" y="4498"/>
                </a:lnTo>
                <a:lnTo>
                  <a:pt x="1833" y="4456"/>
                </a:lnTo>
                <a:lnTo>
                  <a:pt x="1812" y="4415"/>
                </a:lnTo>
                <a:lnTo>
                  <a:pt x="1801" y="4373"/>
                </a:lnTo>
                <a:lnTo>
                  <a:pt x="1797" y="4332"/>
                </a:lnTo>
                <a:lnTo>
                  <a:pt x="1801" y="4294"/>
                </a:lnTo>
                <a:lnTo>
                  <a:pt x="1810" y="4255"/>
                </a:lnTo>
                <a:lnTo>
                  <a:pt x="1822" y="4217"/>
                </a:lnTo>
                <a:lnTo>
                  <a:pt x="1837" y="4178"/>
                </a:lnTo>
                <a:lnTo>
                  <a:pt x="1854" y="4142"/>
                </a:lnTo>
                <a:lnTo>
                  <a:pt x="1870" y="4105"/>
                </a:lnTo>
                <a:lnTo>
                  <a:pt x="1885" y="4071"/>
                </a:lnTo>
                <a:lnTo>
                  <a:pt x="1849" y="4082"/>
                </a:lnTo>
                <a:lnTo>
                  <a:pt x="1808" y="4094"/>
                </a:lnTo>
                <a:lnTo>
                  <a:pt x="1766" y="4105"/>
                </a:lnTo>
                <a:lnTo>
                  <a:pt x="1722" y="4117"/>
                </a:lnTo>
                <a:lnTo>
                  <a:pt x="1677" y="4125"/>
                </a:lnTo>
                <a:lnTo>
                  <a:pt x="1633" y="4128"/>
                </a:lnTo>
                <a:lnTo>
                  <a:pt x="1591" y="4126"/>
                </a:lnTo>
                <a:lnTo>
                  <a:pt x="1547" y="4117"/>
                </a:lnTo>
                <a:lnTo>
                  <a:pt x="1506" y="4101"/>
                </a:lnTo>
                <a:lnTo>
                  <a:pt x="1468" y="4076"/>
                </a:lnTo>
                <a:lnTo>
                  <a:pt x="1433" y="4042"/>
                </a:lnTo>
                <a:lnTo>
                  <a:pt x="1404" y="3997"/>
                </a:lnTo>
                <a:lnTo>
                  <a:pt x="1385" y="3955"/>
                </a:lnTo>
                <a:lnTo>
                  <a:pt x="1377" y="3915"/>
                </a:lnTo>
                <a:lnTo>
                  <a:pt x="1375" y="3874"/>
                </a:lnTo>
                <a:lnTo>
                  <a:pt x="1381" y="3836"/>
                </a:lnTo>
                <a:lnTo>
                  <a:pt x="1391" y="3797"/>
                </a:lnTo>
                <a:lnTo>
                  <a:pt x="1404" y="3761"/>
                </a:lnTo>
                <a:lnTo>
                  <a:pt x="1420" y="3722"/>
                </a:lnTo>
                <a:lnTo>
                  <a:pt x="1433" y="3685"/>
                </a:lnTo>
                <a:lnTo>
                  <a:pt x="1445" y="3649"/>
                </a:lnTo>
                <a:lnTo>
                  <a:pt x="1410" y="3659"/>
                </a:lnTo>
                <a:lnTo>
                  <a:pt x="1373" y="3670"/>
                </a:lnTo>
                <a:lnTo>
                  <a:pt x="1335" y="3682"/>
                </a:lnTo>
                <a:lnTo>
                  <a:pt x="1295" y="3691"/>
                </a:lnTo>
                <a:lnTo>
                  <a:pt x="1254" y="3699"/>
                </a:lnTo>
                <a:lnTo>
                  <a:pt x="1214" y="3703"/>
                </a:lnTo>
                <a:lnTo>
                  <a:pt x="1173" y="3703"/>
                </a:lnTo>
                <a:lnTo>
                  <a:pt x="1135" y="3695"/>
                </a:lnTo>
                <a:lnTo>
                  <a:pt x="1096" y="3678"/>
                </a:lnTo>
                <a:lnTo>
                  <a:pt x="1058" y="3653"/>
                </a:lnTo>
                <a:lnTo>
                  <a:pt x="1023" y="3614"/>
                </a:lnTo>
                <a:lnTo>
                  <a:pt x="995" y="3572"/>
                </a:lnTo>
                <a:lnTo>
                  <a:pt x="975" y="3533"/>
                </a:lnTo>
                <a:lnTo>
                  <a:pt x="966" y="3495"/>
                </a:lnTo>
                <a:lnTo>
                  <a:pt x="962" y="3458"/>
                </a:lnTo>
                <a:lnTo>
                  <a:pt x="966" y="3422"/>
                </a:lnTo>
                <a:lnTo>
                  <a:pt x="973" y="3387"/>
                </a:lnTo>
                <a:lnTo>
                  <a:pt x="983" y="3354"/>
                </a:lnTo>
                <a:lnTo>
                  <a:pt x="996" y="3322"/>
                </a:lnTo>
                <a:lnTo>
                  <a:pt x="1010" y="3289"/>
                </a:lnTo>
                <a:lnTo>
                  <a:pt x="1023" y="3256"/>
                </a:lnTo>
                <a:lnTo>
                  <a:pt x="1033" y="3221"/>
                </a:lnTo>
                <a:lnTo>
                  <a:pt x="998" y="3231"/>
                </a:lnTo>
                <a:lnTo>
                  <a:pt x="964" y="3243"/>
                </a:lnTo>
                <a:lnTo>
                  <a:pt x="927" y="3254"/>
                </a:lnTo>
                <a:lnTo>
                  <a:pt x="889" y="3264"/>
                </a:lnTo>
                <a:lnTo>
                  <a:pt x="848" y="3273"/>
                </a:lnTo>
                <a:lnTo>
                  <a:pt x="810" y="3277"/>
                </a:lnTo>
                <a:lnTo>
                  <a:pt x="769" y="3275"/>
                </a:lnTo>
                <a:lnTo>
                  <a:pt x="729" y="3268"/>
                </a:lnTo>
                <a:lnTo>
                  <a:pt x="691" y="3252"/>
                </a:lnTo>
                <a:lnTo>
                  <a:pt x="650" y="3225"/>
                </a:lnTo>
                <a:lnTo>
                  <a:pt x="612" y="3189"/>
                </a:lnTo>
                <a:lnTo>
                  <a:pt x="583" y="3146"/>
                </a:lnTo>
                <a:lnTo>
                  <a:pt x="562" y="3100"/>
                </a:lnTo>
                <a:lnTo>
                  <a:pt x="550" y="3050"/>
                </a:lnTo>
                <a:lnTo>
                  <a:pt x="546" y="2998"/>
                </a:lnTo>
                <a:lnTo>
                  <a:pt x="548" y="2946"/>
                </a:lnTo>
                <a:lnTo>
                  <a:pt x="560" y="2892"/>
                </a:lnTo>
                <a:lnTo>
                  <a:pt x="575" y="2840"/>
                </a:lnTo>
                <a:lnTo>
                  <a:pt x="598" y="2788"/>
                </a:lnTo>
                <a:lnTo>
                  <a:pt x="625" y="2738"/>
                </a:lnTo>
                <a:lnTo>
                  <a:pt x="656" y="2690"/>
                </a:lnTo>
                <a:lnTo>
                  <a:pt x="691" y="2646"/>
                </a:lnTo>
                <a:lnTo>
                  <a:pt x="729" y="2605"/>
                </a:lnTo>
                <a:lnTo>
                  <a:pt x="779" y="2565"/>
                </a:lnTo>
                <a:lnTo>
                  <a:pt x="831" y="2532"/>
                </a:lnTo>
                <a:lnTo>
                  <a:pt x="887" y="2509"/>
                </a:lnTo>
                <a:lnTo>
                  <a:pt x="945" y="2495"/>
                </a:lnTo>
                <a:lnTo>
                  <a:pt x="1004" y="2490"/>
                </a:lnTo>
                <a:close/>
                <a:moveTo>
                  <a:pt x="2387" y="29"/>
                </a:moveTo>
                <a:lnTo>
                  <a:pt x="2468" y="33"/>
                </a:lnTo>
                <a:lnTo>
                  <a:pt x="2541" y="40"/>
                </a:lnTo>
                <a:lnTo>
                  <a:pt x="2608" y="56"/>
                </a:lnTo>
                <a:lnTo>
                  <a:pt x="2670" y="73"/>
                </a:lnTo>
                <a:lnTo>
                  <a:pt x="2724" y="94"/>
                </a:lnTo>
                <a:lnTo>
                  <a:pt x="2774" y="117"/>
                </a:lnTo>
                <a:lnTo>
                  <a:pt x="2816" y="140"/>
                </a:lnTo>
                <a:lnTo>
                  <a:pt x="2853" y="165"/>
                </a:lnTo>
                <a:lnTo>
                  <a:pt x="2884" y="189"/>
                </a:lnTo>
                <a:lnTo>
                  <a:pt x="2909" y="210"/>
                </a:lnTo>
                <a:lnTo>
                  <a:pt x="2928" y="227"/>
                </a:lnTo>
                <a:lnTo>
                  <a:pt x="2943" y="241"/>
                </a:lnTo>
                <a:lnTo>
                  <a:pt x="2951" y="250"/>
                </a:lnTo>
                <a:lnTo>
                  <a:pt x="2953" y="254"/>
                </a:lnTo>
                <a:lnTo>
                  <a:pt x="2949" y="256"/>
                </a:lnTo>
                <a:lnTo>
                  <a:pt x="2935" y="264"/>
                </a:lnTo>
                <a:lnTo>
                  <a:pt x="2914" y="275"/>
                </a:lnTo>
                <a:lnTo>
                  <a:pt x="2885" y="291"/>
                </a:lnTo>
                <a:lnTo>
                  <a:pt x="2849" y="310"/>
                </a:lnTo>
                <a:lnTo>
                  <a:pt x="2809" y="333"/>
                </a:lnTo>
                <a:lnTo>
                  <a:pt x="2762" y="358"/>
                </a:lnTo>
                <a:lnTo>
                  <a:pt x="2712" y="385"/>
                </a:lnTo>
                <a:lnTo>
                  <a:pt x="2658" y="414"/>
                </a:lnTo>
                <a:lnTo>
                  <a:pt x="2603" y="447"/>
                </a:lnTo>
                <a:lnTo>
                  <a:pt x="2545" y="479"/>
                </a:lnTo>
                <a:lnTo>
                  <a:pt x="2487" y="512"/>
                </a:lnTo>
                <a:lnTo>
                  <a:pt x="2428" y="547"/>
                </a:lnTo>
                <a:lnTo>
                  <a:pt x="2370" y="579"/>
                </a:lnTo>
                <a:lnTo>
                  <a:pt x="2314" y="614"/>
                </a:lnTo>
                <a:lnTo>
                  <a:pt x="2260" y="647"/>
                </a:lnTo>
                <a:lnTo>
                  <a:pt x="2208" y="680"/>
                </a:lnTo>
                <a:lnTo>
                  <a:pt x="2162" y="708"/>
                </a:lnTo>
                <a:lnTo>
                  <a:pt x="2120" y="737"/>
                </a:lnTo>
                <a:lnTo>
                  <a:pt x="2054" y="784"/>
                </a:lnTo>
                <a:lnTo>
                  <a:pt x="1997" y="837"/>
                </a:lnTo>
                <a:lnTo>
                  <a:pt x="1945" y="897"/>
                </a:lnTo>
                <a:lnTo>
                  <a:pt x="1902" y="963"/>
                </a:lnTo>
                <a:lnTo>
                  <a:pt x="1866" y="1036"/>
                </a:lnTo>
                <a:lnTo>
                  <a:pt x="1841" y="1111"/>
                </a:lnTo>
                <a:lnTo>
                  <a:pt x="1826" y="1192"/>
                </a:lnTo>
                <a:lnTo>
                  <a:pt x="1820" y="1275"/>
                </a:lnTo>
                <a:lnTo>
                  <a:pt x="1826" y="1361"/>
                </a:lnTo>
                <a:lnTo>
                  <a:pt x="1841" y="1444"/>
                </a:lnTo>
                <a:lnTo>
                  <a:pt x="1870" y="1521"/>
                </a:lnTo>
                <a:lnTo>
                  <a:pt x="1906" y="1594"/>
                </a:lnTo>
                <a:lnTo>
                  <a:pt x="1951" y="1662"/>
                </a:lnTo>
                <a:lnTo>
                  <a:pt x="2004" y="1723"/>
                </a:lnTo>
                <a:lnTo>
                  <a:pt x="2066" y="1775"/>
                </a:lnTo>
                <a:lnTo>
                  <a:pt x="2133" y="1821"/>
                </a:lnTo>
                <a:lnTo>
                  <a:pt x="2206" y="1858"/>
                </a:lnTo>
                <a:lnTo>
                  <a:pt x="2285" y="1885"/>
                </a:lnTo>
                <a:lnTo>
                  <a:pt x="2368" y="1902"/>
                </a:lnTo>
                <a:lnTo>
                  <a:pt x="2453" y="1910"/>
                </a:lnTo>
                <a:lnTo>
                  <a:pt x="2483" y="1908"/>
                </a:lnTo>
                <a:lnTo>
                  <a:pt x="2522" y="1902"/>
                </a:lnTo>
                <a:lnTo>
                  <a:pt x="2568" y="1891"/>
                </a:lnTo>
                <a:lnTo>
                  <a:pt x="2622" y="1873"/>
                </a:lnTo>
                <a:lnTo>
                  <a:pt x="2683" y="1852"/>
                </a:lnTo>
                <a:lnTo>
                  <a:pt x="2751" y="1821"/>
                </a:lnTo>
                <a:lnTo>
                  <a:pt x="2826" y="1785"/>
                </a:lnTo>
                <a:lnTo>
                  <a:pt x="2912" y="1744"/>
                </a:lnTo>
                <a:lnTo>
                  <a:pt x="3005" y="1702"/>
                </a:lnTo>
                <a:lnTo>
                  <a:pt x="3101" y="1658"/>
                </a:lnTo>
                <a:lnTo>
                  <a:pt x="3197" y="1614"/>
                </a:lnTo>
                <a:lnTo>
                  <a:pt x="3291" y="1571"/>
                </a:lnTo>
                <a:lnTo>
                  <a:pt x="3380" y="1531"/>
                </a:lnTo>
                <a:lnTo>
                  <a:pt x="3439" y="1510"/>
                </a:lnTo>
                <a:lnTo>
                  <a:pt x="3495" y="1500"/>
                </a:lnTo>
                <a:lnTo>
                  <a:pt x="3549" y="1498"/>
                </a:lnTo>
                <a:lnTo>
                  <a:pt x="3597" y="1504"/>
                </a:lnTo>
                <a:lnTo>
                  <a:pt x="3643" y="1515"/>
                </a:lnTo>
                <a:lnTo>
                  <a:pt x="3684" y="1529"/>
                </a:lnTo>
                <a:lnTo>
                  <a:pt x="3718" y="1546"/>
                </a:lnTo>
                <a:lnTo>
                  <a:pt x="3749" y="1565"/>
                </a:lnTo>
                <a:lnTo>
                  <a:pt x="3774" y="1581"/>
                </a:lnTo>
                <a:lnTo>
                  <a:pt x="3791" y="1594"/>
                </a:lnTo>
                <a:lnTo>
                  <a:pt x="3803" y="1604"/>
                </a:lnTo>
                <a:lnTo>
                  <a:pt x="3807" y="1608"/>
                </a:lnTo>
                <a:lnTo>
                  <a:pt x="3853" y="1656"/>
                </a:lnTo>
                <a:lnTo>
                  <a:pt x="3895" y="1698"/>
                </a:lnTo>
                <a:lnTo>
                  <a:pt x="3934" y="1737"/>
                </a:lnTo>
                <a:lnTo>
                  <a:pt x="3968" y="1769"/>
                </a:lnTo>
                <a:lnTo>
                  <a:pt x="3997" y="1800"/>
                </a:lnTo>
                <a:lnTo>
                  <a:pt x="4026" y="1827"/>
                </a:lnTo>
                <a:lnTo>
                  <a:pt x="4049" y="1852"/>
                </a:lnTo>
                <a:lnTo>
                  <a:pt x="4070" y="1873"/>
                </a:lnTo>
                <a:lnTo>
                  <a:pt x="4090" y="1893"/>
                </a:lnTo>
                <a:lnTo>
                  <a:pt x="4107" y="1910"/>
                </a:lnTo>
                <a:lnTo>
                  <a:pt x="4122" y="1925"/>
                </a:lnTo>
                <a:lnTo>
                  <a:pt x="4136" y="1939"/>
                </a:lnTo>
                <a:lnTo>
                  <a:pt x="4149" y="1952"/>
                </a:lnTo>
                <a:lnTo>
                  <a:pt x="4161" y="1964"/>
                </a:lnTo>
                <a:lnTo>
                  <a:pt x="4172" y="1976"/>
                </a:lnTo>
                <a:lnTo>
                  <a:pt x="4184" y="1987"/>
                </a:lnTo>
                <a:lnTo>
                  <a:pt x="4197" y="2001"/>
                </a:lnTo>
                <a:lnTo>
                  <a:pt x="4209" y="2012"/>
                </a:lnTo>
                <a:lnTo>
                  <a:pt x="4222" y="2028"/>
                </a:lnTo>
                <a:lnTo>
                  <a:pt x="4238" y="2041"/>
                </a:lnTo>
                <a:lnTo>
                  <a:pt x="4255" y="2058"/>
                </a:lnTo>
                <a:lnTo>
                  <a:pt x="4274" y="2078"/>
                </a:lnTo>
                <a:lnTo>
                  <a:pt x="4295" y="2099"/>
                </a:lnTo>
                <a:lnTo>
                  <a:pt x="4319" y="2122"/>
                </a:lnTo>
                <a:lnTo>
                  <a:pt x="4345" y="2149"/>
                </a:lnTo>
                <a:lnTo>
                  <a:pt x="4374" y="2180"/>
                </a:lnTo>
                <a:lnTo>
                  <a:pt x="4409" y="2212"/>
                </a:lnTo>
                <a:lnTo>
                  <a:pt x="4447" y="2251"/>
                </a:lnTo>
                <a:lnTo>
                  <a:pt x="4488" y="2293"/>
                </a:lnTo>
                <a:lnTo>
                  <a:pt x="4536" y="2339"/>
                </a:lnTo>
                <a:lnTo>
                  <a:pt x="4586" y="2391"/>
                </a:lnTo>
                <a:lnTo>
                  <a:pt x="4644" y="2447"/>
                </a:lnTo>
                <a:lnTo>
                  <a:pt x="4707" y="2511"/>
                </a:lnTo>
                <a:lnTo>
                  <a:pt x="4774" y="2578"/>
                </a:lnTo>
                <a:lnTo>
                  <a:pt x="4849" y="2653"/>
                </a:lnTo>
                <a:lnTo>
                  <a:pt x="4932" y="2736"/>
                </a:lnTo>
                <a:lnTo>
                  <a:pt x="5021" y="2825"/>
                </a:lnTo>
                <a:lnTo>
                  <a:pt x="5025" y="2827"/>
                </a:lnTo>
                <a:lnTo>
                  <a:pt x="5057" y="2865"/>
                </a:lnTo>
                <a:lnTo>
                  <a:pt x="5080" y="2909"/>
                </a:lnTo>
                <a:lnTo>
                  <a:pt x="5098" y="2954"/>
                </a:lnTo>
                <a:lnTo>
                  <a:pt x="5105" y="3002"/>
                </a:lnTo>
                <a:lnTo>
                  <a:pt x="5105" y="3048"/>
                </a:lnTo>
                <a:lnTo>
                  <a:pt x="5098" y="3096"/>
                </a:lnTo>
                <a:lnTo>
                  <a:pt x="5080" y="3141"/>
                </a:lnTo>
                <a:lnTo>
                  <a:pt x="5057" y="3183"/>
                </a:lnTo>
                <a:lnTo>
                  <a:pt x="5025" y="3221"/>
                </a:lnTo>
                <a:lnTo>
                  <a:pt x="4986" y="3254"/>
                </a:lnTo>
                <a:lnTo>
                  <a:pt x="4944" y="3279"/>
                </a:lnTo>
                <a:lnTo>
                  <a:pt x="4898" y="3295"/>
                </a:lnTo>
                <a:lnTo>
                  <a:pt x="4851" y="3302"/>
                </a:lnTo>
                <a:lnTo>
                  <a:pt x="4803" y="3302"/>
                </a:lnTo>
                <a:lnTo>
                  <a:pt x="4757" y="3295"/>
                </a:lnTo>
                <a:lnTo>
                  <a:pt x="4711" y="3279"/>
                </a:lnTo>
                <a:lnTo>
                  <a:pt x="4669" y="3254"/>
                </a:lnTo>
                <a:lnTo>
                  <a:pt x="4630" y="3221"/>
                </a:lnTo>
                <a:lnTo>
                  <a:pt x="4628" y="3218"/>
                </a:lnTo>
                <a:lnTo>
                  <a:pt x="4619" y="3208"/>
                </a:lnTo>
                <a:lnTo>
                  <a:pt x="4603" y="3193"/>
                </a:lnTo>
                <a:lnTo>
                  <a:pt x="4582" y="3173"/>
                </a:lnTo>
                <a:lnTo>
                  <a:pt x="4559" y="3148"/>
                </a:lnTo>
                <a:lnTo>
                  <a:pt x="4530" y="3121"/>
                </a:lnTo>
                <a:lnTo>
                  <a:pt x="4499" y="3090"/>
                </a:lnTo>
                <a:lnTo>
                  <a:pt x="4467" y="3058"/>
                </a:lnTo>
                <a:lnTo>
                  <a:pt x="4432" y="3025"/>
                </a:lnTo>
                <a:lnTo>
                  <a:pt x="4397" y="2990"/>
                </a:lnTo>
                <a:lnTo>
                  <a:pt x="4363" y="2958"/>
                </a:lnTo>
                <a:lnTo>
                  <a:pt x="4326" y="2925"/>
                </a:lnTo>
                <a:lnTo>
                  <a:pt x="4292" y="2894"/>
                </a:lnTo>
                <a:lnTo>
                  <a:pt x="4261" y="2865"/>
                </a:lnTo>
                <a:lnTo>
                  <a:pt x="4230" y="2840"/>
                </a:lnTo>
                <a:lnTo>
                  <a:pt x="4203" y="2819"/>
                </a:lnTo>
                <a:lnTo>
                  <a:pt x="4180" y="2802"/>
                </a:lnTo>
                <a:lnTo>
                  <a:pt x="4161" y="2790"/>
                </a:lnTo>
                <a:lnTo>
                  <a:pt x="4145" y="2786"/>
                </a:lnTo>
                <a:lnTo>
                  <a:pt x="4138" y="2788"/>
                </a:lnTo>
                <a:lnTo>
                  <a:pt x="4136" y="2796"/>
                </a:lnTo>
                <a:lnTo>
                  <a:pt x="4140" y="2811"/>
                </a:lnTo>
                <a:lnTo>
                  <a:pt x="4151" y="2831"/>
                </a:lnTo>
                <a:lnTo>
                  <a:pt x="4169" y="2856"/>
                </a:lnTo>
                <a:lnTo>
                  <a:pt x="4188" y="2884"/>
                </a:lnTo>
                <a:lnTo>
                  <a:pt x="4213" y="2915"/>
                </a:lnTo>
                <a:lnTo>
                  <a:pt x="4242" y="2950"/>
                </a:lnTo>
                <a:lnTo>
                  <a:pt x="4272" y="2986"/>
                </a:lnTo>
                <a:lnTo>
                  <a:pt x="4303" y="3023"/>
                </a:lnTo>
                <a:lnTo>
                  <a:pt x="4336" y="3062"/>
                </a:lnTo>
                <a:lnTo>
                  <a:pt x="4371" y="3098"/>
                </a:lnTo>
                <a:lnTo>
                  <a:pt x="4403" y="3135"/>
                </a:lnTo>
                <a:lnTo>
                  <a:pt x="4434" y="3169"/>
                </a:lnTo>
                <a:lnTo>
                  <a:pt x="4465" y="3202"/>
                </a:lnTo>
                <a:lnTo>
                  <a:pt x="4492" y="3233"/>
                </a:lnTo>
                <a:lnTo>
                  <a:pt x="4517" y="3258"/>
                </a:lnTo>
                <a:lnTo>
                  <a:pt x="4536" y="3281"/>
                </a:lnTo>
                <a:lnTo>
                  <a:pt x="4551" y="3297"/>
                </a:lnTo>
                <a:lnTo>
                  <a:pt x="4561" y="3308"/>
                </a:lnTo>
                <a:lnTo>
                  <a:pt x="4565" y="3312"/>
                </a:lnTo>
                <a:lnTo>
                  <a:pt x="4594" y="3354"/>
                </a:lnTo>
                <a:lnTo>
                  <a:pt x="4615" y="3402"/>
                </a:lnTo>
                <a:lnTo>
                  <a:pt x="4626" y="3451"/>
                </a:lnTo>
                <a:lnTo>
                  <a:pt x="4630" y="3501"/>
                </a:lnTo>
                <a:lnTo>
                  <a:pt x="4624" y="3551"/>
                </a:lnTo>
                <a:lnTo>
                  <a:pt x="4609" y="3599"/>
                </a:lnTo>
                <a:lnTo>
                  <a:pt x="4584" y="3645"/>
                </a:lnTo>
                <a:lnTo>
                  <a:pt x="4551" y="3685"/>
                </a:lnTo>
                <a:lnTo>
                  <a:pt x="4513" y="3716"/>
                </a:lnTo>
                <a:lnTo>
                  <a:pt x="4472" y="3739"/>
                </a:lnTo>
                <a:lnTo>
                  <a:pt x="4428" y="3757"/>
                </a:lnTo>
                <a:lnTo>
                  <a:pt x="4384" y="3764"/>
                </a:lnTo>
                <a:lnTo>
                  <a:pt x="4338" y="3764"/>
                </a:lnTo>
                <a:lnTo>
                  <a:pt x="4292" y="3759"/>
                </a:lnTo>
                <a:lnTo>
                  <a:pt x="4247" y="3743"/>
                </a:lnTo>
                <a:lnTo>
                  <a:pt x="4207" y="3722"/>
                </a:lnTo>
                <a:lnTo>
                  <a:pt x="4169" y="3693"/>
                </a:lnTo>
                <a:lnTo>
                  <a:pt x="4165" y="3689"/>
                </a:lnTo>
                <a:lnTo>
                  <a:pt x="4153" y="3680"/>
                </a:lnTo>
                <a:lnTo>
                  <a:pt x="4138" y="3664"/>
                </a:lnTo>
                <a:lnTo>
                  <a:pt x="4115" y="3643"/>
                </a:lnTo>
                <a:lnTo>
                  <a:pt x="4088" y="3618"/>
                </a:lnTo>
                <a:lnTo>
                  <a:pt x="4055" y="3589"/>
                </a:lnTo>
                <a:lnTo>
                  <a:pt x="4020" y="3558"/>
                </a:lnTo>
                <a:lnTo>
                  <a:pt x="3984" y="3524"/>
                </a:lnTo>
                <a:lnTo>
                  <a:pt x="3943" y="3487"/>
                </a:lnTo>
                <a:lnTo>
                  <a:pt x="3901" y="3451"/>
                </a:lnTo>
                <a:lnTo>
                  <a:pt x="3859" y="3414"/>
                </a:lnTo>
                <a:lnTo>
                  <a:pt x="3816" y="3377"/>
                </a:lnTo>
                <a:lnTo>
                  <a:pt x="3774" y="3341"/>
                </a:lnTo>
                <a:lnTo>
                  <a:pt x="3732" y="3306"/>
                </a:lnTo>
                <a:lnTo>
                  <a:pt x="3693" y="3273"/>
                </a:lnTo>
                <a:lnTo>
                  <a:pt x="3657" y="3243"/>
                </a:lnTo>
                <a:lnTo>
                  <a:pt x="3622" y="3218"/>
                </a:lnTo>
                <a:lnTo>
                  <a:pt x="3591" y="3194"/>
                </a:lnTo>
                <a:lnTo>
                  <a:pt x="3566" y="3179"/>
                </a:lnTo>
                <a:lnTo>
                  <a:pt x="3545" y="3167"/>
                </a:lnTo>
                <a:lnTo>
                  <a:pt x="3530" y="3162"/>
                </a:lnTo>
                <a:lnTo>
                  <a:pt x="3522" y="3164"/>
                </a:lnTo>
                <a:lnTo>
                  <a:pt x="3520" y="3171"/>
                </a:lnTo>
                <a:lnTo>
                  <a:pt x="3526" y="3187"/>
                </a:lnTo>
                <a:lnTo>
                  <a:pt x="3539" y="3206"/>
                </a:lnTo>
                <a:lnTo>
                  <a:pt x="3559" y="3231"/>
                </a:lnTo>
                <a:lnTo>
                  <a:pt x="3584" y="3260"/>
                </a:lnTo>
                <a:lnTo>
                  <a:pt x="3613" y="3291"/>
                </a:lnTo>
                <a:lnTo>
                  <a:pt x="3643" y="3325"/>
                </a:lnTo>
                <a:lnTo>
                  <a:pt x="3680" y="3360"/>
                </a:lnTo>
                <a:lnTo>
                  <a:pt x="3715" y="3395"/>
                </a:lnTo>
                <a:lnTo>
                  <a:pt x="3753" y="3431"/>
                </a:lnTo>
                <a:lnTo>
                  <a:pt x="3790" y="3466"/>
                </a:lnTo>
                <a:lnTo>
                  <a:pt x="3826" y="3501"/>
                </a:lnTo>
                <a:lnTo>
                  <a:pt x="3859" y="3531"/>
                </a:lnTo>
                <a:lnTo>
                  <a:pt x="3892" y="3560"/>
                </a:lnTo>
                <a:lnTo>
                  <a:pt x="3918" y="3585"/>
                </a:lnTo>
                <a:lnTo>
                  <a:pt x="3942" y="3607"/>
                </a:lnTo>
                <a:lnTo>
                  <a:pt x="3959" y="3622"/>
                </a:lnTo>
                <a:lnTo>
                  <a:pt x="3970" y="3633"/>
                </a:lnTo>
                <a:lnTo>
                  <a:pt x="3974" y="3635"/>
                </a:lnTo>
                <a:lnTo>
                  <a:pt x="3982" y="3645"/>
                </a:lnTo>
                <a:lnTo>
                  <a:pt x="3993" y="3655"/>
                </a:lnTo>
                <a:lnTo>
                  <a:pt x="4003" y="3664"/>
                </a:lnTo>
                <a:lnTo>
                  <a:pt x="4009" y="3670"/>
                </a:lnTo>
                <a:lnTo>
                  <a:pt x="4042" y="3711"/>
                </a:lnTo>
                <a:lnTo>
                  <a:pt x="4067" y="3753"/>
                </a:lnTo>
                <a:lnTo>
                  <a:pt x="4082" y="3797"/>
                </a:lnTo>
                <a:lnTo>
                  <a:pt x="4090" y="3845"/>
                </a:lnTo>
                <a:lnTo>
                  <a:pt x="4090" y="3892"/>
                </a:lnTo>
                <a:lnTo>
                  <a:pt x="4082" y="3940"/>
                </a:lnTo>
                <a:lnTo>
                  <a:pt x="4067" y="3984"/>
                </a:lnTo>
                <a:lnTo>
                  <a:pt x="4042" y="4026"/>
                </a:lnTo>
                <a:lnTo>
                  <a:pt x="4009" y="4065"/>
                </a:lnTo>
                <a:lnTo>
                  <a:pt x="3970" y="4098"/>
                </a:lnTo>
                <a:lnTo>
                  <a:pt x="3928" y="4121"/>
                </a:lnTo>
                <a:lnTo>
                  <a:pt x="3884" y="4138"/>
                </a:lnTo>
                <a:lnTo>
                  <a:pt x="3836" y="4146"/>
                </a:lnTo>
                <a:lnTo>
                  <a:pt x="3790" y="4146"/>
                </a:lnTo>
                <a:lnTo>
                  <a:pt x="3741" y="4138"/>
                </a:lnTo>
                <a:lnTo>
                  <a:pt x="3697" y="4121"/>
                </a:lnTo>
                <a:lnTo>
                  <a:pt x="3655" y="4098"/>
                </a:lnTo>
                <a:lnTo>
                  <a:pt x="3616" y="4065"/>
                </a:lnTo>
                <a:lnTo>
                  <a:pt x="3611" y="4061"/>
                </a:lnTo>
                <a:lnTo>
                  <a:pt x="3599" y="4047"/>
                </a:lnTo>
                <a:lnTo>
                  <a:pt x="3582" y="4030"/>
                </a:lnTo>
                <a:lnTo>
                  <a:pt x="3559" y="4007"/>
                </a:lnTo>
                <a:lnTo>
                  <a:pt x="3534" y="3980"/>
                </a:lnTo>
                <a:lnTo>
                  <a:pt x="3503" y="3949"/>
                </a:lnTo>
                <a:lnTo>
                  <a:pt x="3468" y="3915"/>
                </a:lnTo>
                <a:lnTo>
                  <a:pt x="3434" y="3880"/>
                </a:lnTo>
                <a:lnTo>
                  <a:pt x="3395" y="3841"/>
                </a:lnTo>
                <a:lnTo>
                  <a:pt x="3357" y="3805"/>
                </a:lnTo>
                <a:lnTo>
                  <a:pt x="3318" y="3766"/>
                </a:lnTo>
                <a:lnTo>
                  <a:pt x="3280" y="3730"/>
                </a:lnTo>
                <a:lnTo>
                  <a:pt x="3243" y="3695"/>
                </a:lnTo>
                <a:lnTo>
                  <a:pt x="3209" y="3664"/>
                </a:lnTo>
                <a:lnTo>
                  <a:pt x="3178" y="3635"/>
                </a:lnTo>
                <a:lnTo>
                  <a:pt x="3149" y="3612"/>
                </a:lnTo>
                <a:lnTo>
                  <a:pt x="3124" y="3593"/>
                </a:lnTo>
                <a:lnTo>
                  <a:pt x="3105" y="3580"/>
                </a:lnTo>
                <a:lnTo>
                  <a:pt x="3089" y="3572"/>
                </a:lnTo>
                <a:lnTo>
                  <a:pt x="3082" y="3574"/>
                </a:lnTo>
                <a:lnTo>
                  <a:pt x="3082" y="3581"/>
                </a:lnTo>
                <a:lnTo>
                  <a:pt x="3086" y="3597"/>
                </a:lnTo>
                <a:lnTo>
                  <a:pt x="3097" y="3616"/>
                </a:lnTo>
                <a:lnTo>
                  <a:pt x="3114" y="3641"/>
                </a:lnTo>
                <a:lnTo>
                  <a:pt x="3136" y="3670"/>
                </a:lnTo>
                <a:lnTo>
                  <a:pt x="3161" y="3701"/>
                </a:lnTo>
                <a:lnTo>
                  <a:pt x="3189" y="3734"/>
                </a:lnTo>
                <a:lnTo>
                  <a:pt x="3218" y="3768"/>
                </a:lnTo>
                <a:lnTo>
                  <a:pt x="3249" y="3805"/>
                </a:lnTo>
                <a:lnTo>
                  <a:pt x="3280" y="3840"/>
                </a:lnTo>
                <a:lnTo>
                  <a:pt x="3311" y="3872"/>
                </a:lnTo>
                <a:lnTo>
                  <a:pt x="3339" y="3905"/>
                </a:lnTo>
                <a:lnTo>
                  <a:pt x="3368" y="3934"/>
                </a:lnTo>
                <a:lnTo>
                  <a:pt x="3391" y="3961"/>
                </a:lnTo>
                <a:lnTo>
                  <a:pt x="3413" y="3982"/>
                </a:lnTo>
                <a:lnTo>
                  <a:pt x="3428" y="3999"/>
                </a:lnTo>
                <a:lnTo>
                  <a:pt x="3438" y="4009"/>
                </a:lnTo>
                <a:lnTo>
                  <a:pt x="3441" y="4015"/>
                </a:lnTo>
                <a:lnTo>
                  <a:pt x="3474" y="4053"/>
                </a:lnTo>
                <a:lnTo>
                  <a:pt x="3499" y="4096"/>
                </a:lnTo>
                <a:lnTo>
                  <a:pt x="3514" y="4140"/>
                </a:lnTo>
                <a:lnTo>
                  <a:pt x="3522" y="4188"/>
                </a:lnTo>
                <a:lnTo>
                  <a:pt x="3522" y="4234"/>
                </a:lnTo>
                <a:lnTo>
                  <a:pt x="3514" y="4282"/>
                </a:lnTo>
                <a:lnTo>
                  <a:pt x="3499" y="4327"/>
                </a:lnTo>
                <a:lnTo>
                  <a:pt x="3474" y="4369"/>
                </a:lnTo>
                <a:lnTo>
                  <a:pt x="3441" y="4408"/>
                </a:lnTo>
                <a:lnTo>
                  <a:pt x="3403" y="4440"/>
                </a:lnTo>
                <a:lnTo>
                  <a:pt x="3361" y="4465"/>
                </a:lnTo>
                <a:lnTo>
                  <a:pt x="3316" y="4481"/>
                </a:lnTo>
                <a:lnTo>
                  <a:pt x="3268" y="4488"/>
                </a:lnTo>
                <a:lnTo>
                  <a:pt x="3222" y="4488"/>
                </a:lnTo>
                <a:lnTo>
                  <a:pt x="3174" y="4481"/>
                </a:lnTo>
                <a:lnTo>
                  <a:pt x="3130" y="4465"/>
                </a:lnTo>
                <a:lnTo>
                  <a:pt x="3087" y="4440"/>
                </a:lnTo>
                <a:lnTo>
                  <a:pt x="3049" y="4408"/>
                </a:lnTo>
                <a:lnTo>
                  <a:pt x="3028" y="4388"/>
                </a:lnTo>
                <a:lnTo>
                  <a:pt x="3007" y="4367"/>
                </a:lnTo>
                <a:lnTo>
                  <a:pt x="2985" y="4344"/>
                </a:lnTo>
                <a:lnTo>
                  <a:pt x="2964" y="4321"/>
                </a:lnTo>
                <a:lnTo>
                  <a:pt x="2945" y="4300"/>
                </a:lnTo>
                <a:lnTo>
                  <a:pt x="2928" y="4280"/>
                </a:lnTo>
                <a:lnTo>
                  <a:pt x="2914" y="4265"/>
                </a:lnTo>
                <a:lnTo>
                  <a:pt x="2905" y="4255"/>
                </a:lnTo>
                <a:lnTo>
                  <a:pt x="2901" y="4250"/>
                </a:lnTo>
                <a:lnTo>
                  <a:pt x="2901" y="4250"/>
                </a:lnTo>
                <a:lnTo>
                  <a:pt x="2909" y="4177"/>
                </a:lnTo>
                <a:lnTo>
                  <a:pt x="2909" y="4101"/>
                </a:lnTo>
                <a:lnTo>
                  <a:pt x="2901" y="4028"/>
                </a:lnTo>
                <a:lnTo>
                  <a:pt x="2884" y="3955"/>
                </a:lnTo>
                <a:lnTo>
                  <a:pt x="2859" y="3886"/>
                </a:lnTo>
                <a:lnTo>
                  <a:pt x="2826" y="3818"/>
                </a:lnTo>
                <a:lnTo>
                  <a:pt x="2784" y="3755"/>
                </a:lnTo>
                <a:lnTo>
                  <a:pt x="2733" y="3695"/>
                </a:lnTo>
                <a:lnTo>
                  <a:pt x="2674" y="3643"/>
                </a:lnTo>
                <a:lnTo>
                  <a:pt x="2608" y="3597"/>
                </a:lnTo>
                <a:lnTo>
                  <a:pt x="2537" y="3560"/>
                </a:lnTo>
                <a:lnTo>
                  <a:pt x="2462" y="3533"/>
                </a:lnTo>
                <a:lnTo>
                  <a:pt x="2443" y="3468"/>
                </a:lnTo>
                <a:lnTo>
                  <a:pt x="2418" y="3406"/>
                </a:lnTo>
                <a:lnTo>
                  <a:pt x="2385" y="3347"/>
                </a:lnTo>
                <a:lnTo>
                  <a:pt x="2347" y="3291"/>
                </a:lnTo>
                <a:lnTo>
                  <a:pt x="2303" y="3239"/>
                </a:lnTo>
                <a:lnTo>
                  <a:pt x="2245" y="3187"/>
                </a:lnTo>
                <a:lnTo>
                  <a:pt x="2181" y="3142"/>
                </a:lnTo>
                <a:lnTo>
                  <a:pt x="2114" y="3108"/>
                </a:lnTo>
                <a:lnTo>
                  <a:pt x="2043" y="3081"/>
                </a:lnTo>
                <a:lnTo>
                  <a:pt x="2018" y="3006"/>
                </a:lnTo>
                <a:lnTo>
                  <a:pt x="1983" y="2936"/>
                </a:lnTo>
                <a:lnTo>
                  <a:pt x="1941" y="2871"/>
                </a:lnTo>
                <a:lnTo>
                  <a:pt x="1891" y="2811"/>
                </a:lnTo>
                <a:lnTo>
                  <a:pt x="1833" y="2759"/>
                </a:lnTo>
                <a:lnTo>
                  <a:pt x="1772" y="2717"/>
                </a:lnTo>
                <a:lnTo>
                  <a:pt x="1702" y="2680"/>
                </a:lnTo>
                <a:lnTo>
                  <a:pt x="1631" y="2653"/>
                </a:lnTo>
                <a:lnTo>
                  <a:pt x="1606" y="2580"/>
                </a:lnTo>
                <a:lnTo>
                  <a:pt x="1574" y="2509"/>
                </a:lnTo>
                <a:lnTo>
                  <a:pt x="1531" y="2443"/>
                </a:lnTo>
                <a:lnTo>
                  <a:pt x="1479" y="2384"/>
                </a:lnTo>
                <a:lnTo>
                  <a:pt x="1423" y="2334"/>
                </a:lnTo>
                <a:lnTo>
                  <a:pt x="1364" y="2291"/>
                </a:lnTo>
                <a:lnTo>
                  <a:pt x="1298" y="2257"/>
                </a:lnTo>
                <a:lnTo>
                  <a:pt x="1229" y="2230"/>
                </a:lnTo>
                <a:lnTo>
                  <a:pt x="1158" y="2210"/>
                </a:lnTo>
                <a:lnTo>
                  <a:pt x="1083" y="2201"/>
                </a:lnTo>
                <a:lnTo>
                  <a:pt x="1008" y="2197"/>
                </a:lnTo>
                <a:lnTo>
                  <a:pt x="933" y="2201"/>
                </a:lnTo>
                <a:lnTo>
                  <a:pt x="858" y="2212"/>
                </a:lnTo>
                <a:lnTo>
                  <a:pt x="785" y="2234"/>
                </a:lnTo>
                <a:lnTo>
                  <a:pt x="714" y="2261"/>
                </a:lnTo>
                <a:lnTo>
                  <a:pt x="644" y="2297"/>
                </a:lnTo>
                <a:lnTo>
                  <a:pt x="581" y="2339"/>
                </a:lnTo>
                <a:lnTo>
                  <a:pt x="519" y="2391"/>
                </a:lnTo>
                <a:lnTo>
                  <a:pt x="464" y="2453"/>
                </a:lnTo>
                <a:lnTo>
                  <a:pt x="414" y="2522"/>
                </a:lnTo>
                <a:lnTo>
                  <a:pt x="375" y="2596"/>
                </a:lnTo>
                <a:lnTo>
                  <a:pt x="342" y="2671"/>
                </a:lnTo>
                <a:lnTo>
                  <a:pt x="294" y="2651"/>
                </a:lnTo>
                <a:lnTo>
                  <a:pt x="244" y="2634"/>
                </a:lnTo>
                <a:lnTo>
                  <a:pt x="196" y="2617"/>
                </a:lnTo>
                <a:lnTo>
                  <a:pt x="152" y="2601"/>
                </a:lnTo>
                <a:lnTo>
                  <a:pt x="110" y="2588"/>
                </a:lnTo>
                <a:lnTo>
                  <a:pt x="73" y="2576"/>
                </a:lnTo>
                <a:lnTo>
                  <a:pt x="44" y="2567"/>
                </a:lnTo>
                <a:lnTo>
                  <a:pt x="19" y="2559"/>
                </a:lnTo>
                <a:lnTo>
                  <a:pt x="6" y="2555"/>
                </a:lnTo>
                <a:lnTo>
                  <a:pt x="0" y="2553"/>
                </a:lnTo>
                <a:lnTo>
                  <a:pt x="0" y="354"/>
                </a:lnTo>
                <a:lnTo>
                  <a:pt x="631" y="576"/>
                </a:lnTo>
                <a:lnTo>
                  <a:pt x="706" y="601"/>
                </a:lnTo>
                <a:lnTo>
                  <a:pt x="775" y="618"/>
                </a:lnTo>
                <a:lnTo>
                  <a:pt x="841" y="628"/>
                </a:lnTo>
                <a:lnTo>
                  <a:pt x="902" y="630"/>
                </a:lnTo>
                <a:lnTo>
                  <a:pt x="960" y="628"/>
                </a:lnTo>
                <a:lnTo>
                  <a:pt x="1010" y="622"/>
                </a:lnTo>
                <a:lnTo>
                  <a:pt x="1056" y="612"/>
                </a:lnTo>
                <a:lnTo>
                  <a:pt x="1095" y="601"/>
                </a:lnTo>
                <a:lnTo>
                  <a:pt x="1127" y="589"/>
                </a:lnTo>
                <a:lnTo>
                  <a:pt x="1154" y="579"/>
                </a:lnTo>
                <a:lnTo>
                  <a:pt x="1173" y="570"/>
                </a:lnTo>
                <a:lnTo>
                  <a:pt x="1185" y="562"/>
                </a:lnTo>
                <a:lnTo>
                  <a:pt x="1189" y="560"/>
                </a:lnTo>
                <a:lnTo>
                  <a:pt x="1195" y="558"/>
                </a:lnTo>
                <a:lnTo>
                  <a:pt x="1208" y="549"/>
                </a:lnTo>
                <a:lnTo>
                  <a:pt x="1227" y="535"/>
                </a:lnTo>
                <a:lnTo>
                  <a:pt x="1256" y="518"/>
                </a:lnTo>
                <a:lnTo>
                  <a:pt x="1293" y="497"/>
                </a:lnTo>
                <a:lnTo>
                  <a:pt x="1333" y="470"/>
                </a:lnTo>
                <a:lnTo>
                  <a:pt x="1379" y="443"/>
                </a:lnTo>
                <a:lnTo>
                  <a:pt x="1431" y="412"/>
                </a:lnTo>
                <a:lnTo>
                  <a:pt x="1489" y="379"/>
                </a:lnTo>
                <a:lnTo>
                  <a:pt x="1549" y="346"/>
                </a:lnTo>
                <a:lnTo>
                  <a:pt x="1610" y="312"/>
                </a:lnTo>
                <a:lnTo>
                  <a:pt x="1675" y="277"/>
                </a:lnTo>
                <a:lnTo>
                  <a:pt x="1743" y="242"/>
                </a:lnTo>
                <a:lnTo>
                  <a:pt x="1812" y="210"/>
                </a:lnTo>
                <a:lnTo>
                  <a:pt x="1881" y="177"/>
                </a:lnTo>
                <a:lnTo>
                  <a:pt x="1951" y="146"/>
                </a:lnTo>
                <a:lnTo>
                  <a:pt x="2020" y="119"/>
                </a:lnTo>
                <a:lnTo>
                  <a:pt x="2087" y="92"/>
                </a:lnTo>
                <a:lnTo>
                  <a:pt x="2154" y="71"/>
                </a:lnTo>
                <a:lnTo>
                  <a:pt x="2218" y="54"/>
                </a:lnTo>
                <a:lnTo>
                  <a:pt x="2278" y="40"/>
                </a:lnTo>
                <a:lnTo>
                  <a:pt x="2335" y="33"/>
                </a:lnTo>
                <a:lnTo>
                  <a:pt x="2387" y="29"/>
                </a:lnTo>
                <a:close/>
                <a:moveTo>
                  <a:pt x="4040" y="0"/>
                </a:moveTo>
                <a:lnTo>
                  <a:pt x="4082" y="0"/>
                </a:lnTo>
                <a:lnTo>
                  <a:pt x="4126" y="8"/>
                </a:lnTo>
                <a:lnTo>
                  <a:pt x="4172" y="19"/>
                </a:lnTo>
                <a:lnTo>
                  <a:pt x="4220" y="38"/>
                </a:lnTo>
                <a:lnTo>
                  <a:pt x="4272" y="65"/>
                </a:lnTo>
                <a:lnTo>
                  <a:pt x="4326" y="98"/>
                </a:lnTo>
                <a:lnTo>
                  <a:pt x="4382" y="140"/>
                </a:lnTo>
                <a:lnTo>
                  <a:pt x="4444" y="189"/>
                </a:lnTo>
                <a:lnTo>
                  <a:pt x="4513" y="246"/>
                </a:lnTo>
                <a:lnTo>
                  <a:pt x="4578" y="302"/>
                </a:lnTo>
                <a:lnTo>
                  <a:pt x="4642" y="356"/>
                </a:lnTo>
                <a:lnTo>
                  <a:pt x="4703" y="408"/>
                </a:lnTo>
                <a:lnTo>
                  <a:pt x="4763" y="458"/>
                </a:lnTo>
                <a:lnTo>
                  <a:pt x="4819" y="506"/>
                </a:lnTo>
                <a:lnTo>
                  <a:pt x="4871" y="551"/>
                </a:lnTo>
                <a:lnTo>
                  <a:pt x="4917" y="591"/>
                </a:lnTo>
                <a:lnTo>
                  <a:pt x="4959" y="628"/>
                </a:lnTo>
                <a:lnTo>
                  <a:pt x="4998" y="658"/>
                </a:lnTo>
                <a:lnTo>
                  <a:pt x="5028" y="685"/>
                </a:lnTo>
                <a:lnTo>
                  <a:pt x="5053" y="708"/>
                </a:lnTo>
                <a:lnTo>
                  <a:pt x="5073" y="724"/>
                </a:lnTo>
                <a:lnTo>
                  <a:pt x="5084" y="734"/>
                </a:lnTo>
                <a:lnTo>
                  <a:pt x="5088" y="737"/>
                </a:lnTo>
                <a:lnTo>
                  <a:pt x="5092" y="741"/>
                </a:lnTo>
                <a:lnTo>
                  <a:pt x="5103" y="747"/>
                </a:lnTo>
                <a:lnTo>
                  <a:pt x="5121" y="759"/>
                </a:lnTo>
                <a:lnTo>
                  <a:pt x="5144" y="768"/>
                </a:lnTo>
                <a:lnTo>
                  <a:pt x="5173" y="780"/>
                </a:lnTo>
                <a:lnTo>
                  <a:pt x="5209" y="789"/>
                </a:lnTo>
                <a:lnTo>
                  <a:pt x="5250" y="793"/>
                </a:lnTo>
                <a:lnTo>
                  <a:pt x="5294" y="793"/>
                </a:lnTo>
                <a:lnTo>
                  <a:pt x="5346" y="787"/>
                </a:lnTo>
                <a:lnTo>
                  <a:pt x="5411" y="772"/>
                </a:lnTo>
                <a:lnTo>
                  <a:pt x="5480" y="759"/>
                </a:lnTo>
                <a:lnTo>
                  <a:pt x="5554" y="743"/>
                </a:lnTo>
                <a:lnTo>
                  <a:pt x="5627" y="726"/>
                </a:lnTo>
                <a:lnTo>
                  <a:pt x="5702" y="710"/>
                </a:lnTo>
                <a:lnTo>
                  <a:pt x="5775" y="693"/>
                </a:lnTo>
                <a:lnTo>
                  <a:pt x="5848" y="678"/>
                </a:lnTo>
                <a:lnTo>
                  <a:pt x="5919" y="662"/>
                </a:lnTo>
                <a:lnTo>
                  <a:pt x="5988" y="647"/>
                </a:lnTo>
                <a:lnTo>
                  <a:pt x="6052" y="633"/>
                </a:lnTo>
                <a:lnTo>
                  <a:pt x="6113" y="620"/>
                </a:lnTo>
                <a:lnTo>
                  <a:pt x="6167" y="606"/>
                </a:lnTo>
                <a:lnTo>
                  <a:pt x="6217" y="597"/>
                </a:lnTo>
                <a:lnTo>
                  <a:pt x="6260" y="587"/>
                </a:lnTo>
                <a:lnTo>
                  <a:pt x="6292" y="579"/>
                </a:lnTo>
                <a:lnTo>
                  <a:pt x="6319" y="574"/>
                </a:lnTo>
                <a:lnTo>
                  <a:pt x="6335" y="570"/>
                </a:lnTo>
                <a:lnTo>
                  <a:pt x="6340" y="568"/>
                </a:lnTo>
                <a:lnTo>
                  <a:pt x="6340" y="2490"/>
                </a:lnTo>
                <a:lnTo>
                  <a:pt x="6335" y="2492"/>
                </a:lnTo>
                <a:lnTo>
                  <a:pt x="6317" y="2494"/>
                </a:lnTo>
                <a:lnTo>
                  <a:pt x="6290" y="2499"/>
                </a:lnTo>
                <a:lnTo>
                  <a:pt x="6256" y="2507"/>
                </a:lnTo>
                <a:lnTo>
                  <a:pt x="6217" y="2515"/>
                </a:lnTo>
                <a:lnTo>
                  <a:pt x="6171" y="2522"/>
                </a:lnTo>
                <a:lnTo>
                  <a:pt x="6125" y="2532"/>
                </a:lnTo>
                <a:lnTo>
                  <a:pt x="6075" y="2542"/>
                </a:lnTo>
                <a:lnTo>
                  <a:pt x="6027" y="2549"/>
                </a:lnTo>
                <a:lnTo>
                  <a:pt x="5981" y="2559"/>
                </a:lnTo>
                <a:lnTo>
                  <a:pt x="5936" y="2567"/>
                </a:lnTo>
                <a:lnTo>
                  <a:pt x="5898" y="2572"/>
                </a:lnTo>
                <a:lnTo>
                  <a:pt x="5867" y="2578"/>
                </a:lnTo>
                <a:lnTo>
                  <a:pt x="5844" y="2582"/>
                </a:lnTo>
                <a:lnTo>
                  <a:pt x="5819" y="2586"/>
                </a:lnTo>
                <a:lnTo>
                  <a:pt x="5788" y="2592"/>
                </a:lnTo>
                <a:lnTo>
                  <a:pt x="5752" y="2598"/>
                </a:lnTo>
                <a:lnTo>
                  <a:pt x="5709" y="2605"/>
                </a:lnTo>
                <a:lnTo>
                  <a:pt x="5663" y="2609"/>
                </a:lnTo>
                <a:lnTo>
                  <a:pt x="5615" y="2611"/>
                </a:lnTo>
                <a:lnTo>
                  <a:pt x="5563" y="2609"/>
                </a:lnTo>
                <a:lnTo>
                  <a:pt x="5509" y="2601"/>
                </a:lnTo>
                <a:lnTo>
                  <a:pt x="5457" y="2586"/>
                </a:lnTo>
                <a:lnTo>
                  <a:pt x="5403" y="2565"/>
                </a:lnTo>
                <a:lnTo>
                  <a:pt x="5352" y="2534"/>
                </a:lnTo>
                <a:lnTo>
                  <a:pt x="5303" y="2494"/>
                </a:lnTo>
                <a:lnTo>
                  <a:pt x="5271" y="2461"/>
                </a:lnTo>
                <a:lnTo>
                  <a:pt x="5232" y="2424"/>
                </a:lnTo>
                <a:lnTo>
                  <a:pt x="5188" y="2382"/>
                </a:lnTo>
                <a:lnTo>
                  <a:pt x="5142" y="2336"/>
                </a:lnTo>
                <a:lnTo>
                  <a:pt x="5092" y="2287"/>
                </a:lnTo>
                <a:lnTo>
                  <a:pt x="5038" y="2235"/>
                </a:lnTo>
                <a:lnTo>
                  <a:pt x="4982" y="2180"/>
                </a:lnTo>
                <a:lnTo>
                  <a:pt x="4923" y="2122"/>
                </a:lnTo>
                <a:lnTo>
                  <a:pt x="4863" y="2062"/>
                </a:lnTo>
                <a:lnTo>
                  <a:pt x="4801" y="2001"/>
                </a:lnTo>
                <a:lnTo>
                  <a:pt x="4738" y="1939"/>
                </a:lnTo>
                <a:lnTo>
                  <a:pt x="4674" y="1875"/>
                </a:lnTo>
                <a:lnTo>
                  <a:pt x="4611" y="1814"/>
                </a:lnTo>
                <a:lnTo>
                  <a:pt x="4549" y="1752"/>
                </a:lnTo>
                <a:lnTo>
                  <a:pt x="4486" y="1691"/>
                </a:lnTo>
                <a:lnTo>
                  <a:pt x="4426" y="1629"/>
                </a:lnTo>
                <a:lnTo>
                  <a:pt x="4367" y="1571"/>
                </a:lnTo>
                <a:lnTo>
                  <a:pt x="4309" y="1513"/>
                </a:lnTo>
                <a:lnTo>
                  <a:pt x="4255" y="1459"/>
                </a:lnTo>
                <a:lnTo>
                  <a:pt x="4205" y="1409"/>
                </a:lnTo>
                <a:lnTo>
                  <a:pt x="4157" y="1361"/>
                </a:lnTo>
                <a:lnTo>
                  <a:pt x="4113" y="1319"/>
                </a:lnTo>
                <a:lnTo>
                  <a:pt x="4074" y="1278"/>
                </a:lnTo>
                <a:lnTo>
                  <a:pt x="4040" y="1246"/>
                </a:lnTo>
                <a:lnTo>
                  <a:pt x="4009" y="1217"/>
                </a:lnTo>
                <a:lnTo>
                  <a:pt x="3986" y="1192"/>
                </a:lnTo>
                <a:lnTo>
                  <a:pt x="3968" y="1174"/>
                </a:lnTo>
                <a:lnTo>
                  <a:pt x="3957" y="1165"/>
                </a:lnTo>
                <a:lnTo>
                  <a:pt x="3955" y="1161"/>
                </a:lnTo>
                <a:lnTo>
                  <a:pt x="3951" y="1159"/>
                </a:lnTo>
                <a:lnTo>
                  <a:pt x="3943" y="1151"/>
                </a:lnTo>
                <a:lnTo>
                  <a:pt x="3930" y="1142"/>
                </a:lnTo>
                <a:lnTo>
                  <a:pt x="3911" y="1128"/>
                </a:lnTo>
                <a:lnTo>
                  <a:pt x="3888" y="1117"/>
                </a:lnTo>
                <a:lnTo>
                  <a:pt x="3861" y="1103"/>
                </a:lnTo>
                <a:lnTo>
                  <a:pt x="3826" y="1092"/>
                </a:lnTo>
                <a:lnTo>
                  <a:pt x="3790" y="1082"/>
                </a:lnTo>
                <a:lnTo>
                  <a:pt x="3747" y="1076"/>
                </a:lnTo>
                <a:lnTo>
                  <a:pt x="3703" y="1074"/>
                </a:lnTo>
                <a:lnTo>
                  <a:pt x="3653" y="1078"/>
                </a:lnTo>
                <a:lnTo>
                  <a:pt x="3599" y="1090"/>
                </a:lnTo>
                <a:lnTo>
                  <a:pt x="3541" y="1109"/>
                </a:lnTo>
                <a:lnTo>
                  <a:pt x="3482" y="1136"/>
                </a:lnTo>
                <a:lnTo>
                  <a:pt x="3413" y="1173"/>
                </a:lnTo>
                <a:lnTo>
                  <a:pt x="3338" y="1211"/>
                </a:lnTo>
                <a:lnTo>
                  <a:pt x="3262" y="1252"/>
                </a:lnTo>
                <a:lnTo>
                  <a:pt x="3184" y="1292"/>
                </a:lnTo>
                <a:lnTo>
                  <a:pt x="3107" y="1334"/>
                </a:lnTo>
                <a:lnTo>
                  <a:pt x="3028" y="1373"/>
                </a:lnTo>
                <a:lnTo>
                  <a:pt x="2953" y="1413"/>
                </a:lnTo>
                <a:lnTo>
                  <a:pt x="2882" y="1450"/>
                </a:lnTo>
                <a:lnTo>
                  <a:pt x="2814" y="1485"/>
                </a:lnTo>
                <a:lnTo>
                  <a:pt x="2753" y="1515"/>
                </a:lnTo>
                <a:lnTo>
                  <a:pt x="2697" y="1542"/>
                </a:lnTo>
                <a:lnTo>
                  <a:pt x="2651" y="1565"/>
                </a:lnTo>
                <a:lnTo>
                  <a:pt x="2585" y="1594"/>
                </a:lnTo>
                <a:lnTo>
                  <a:pt x="2522" y="1612"/>
                </a:lnTo>
                <a:lnTo>
                  <a:pt x="2460" y="1617"/>
                </a:lnTo>
                <a:lnTo>
                  <a:pt x="2401" y="1614"/>
                </a:lnTo>
                <a:lnTo>
                  <a:pt x="2347" y="1602"/>
                </a:lnTo>
                <a:lnTo>
                  <a:pt x="2295" y="1581"/>
                </a:lnTo>
                <a:lnTo>
                  <a:pt x="2249" y="1554"/>
                </a:lnTo>
                <a:lnTo>
                  <a:pt x="2206" y="1521"/>
                </a:lnTo>
                <a:lnTo>
                  <a:pt x="2170" y="1483"/>
                </a:lnTo>
                <a:lnTo>
                  <a:pt x="2137" y="1442"/>
                </a:lnTo>
                <a:lnTo>
                  <a:pt x="2112" y="1400"/>
                </a:lnTo>
                <a:lnTo>
                  <a:pt x="2095" y="1355"/>
                </a:lnTo>
                <a:lnTo>
                  <a:pt x="2083" y="1309"/>
                </a:lnTo>
                <a:lnTo>
                  <a:pt x="2079" y="1265"/>
                </a:lnTo>
                <a:lnTo>
                  <a:pt x="2083" y="1209"/>
                </a:lnTo>
                <a:lnTo>
                  <a:pt x="2097" y="1157"/>
                </a:lnTo>
                <a:lnTo>
                  <a:pt x="2118" y="1109"/>
                </a:lnTo>
                <a:lnTo>
                  <a:pt x="2145" y="1067"/>
                </a:lnTo>
                <a:lnTo>
                  <a:pt x="2179" y="1026"/>
                </a:lnTo>
                <a:lnTo>
                  <a:pt x="2220" y="990"/>
                </a:lnTo>
                <a:lnTo>
                  <a:pt x="2266" y="955"/>
                </a:lnTo>
                <a:lnTo>
                  <a:pt x="2316" y="926"/>
                </a:lnTo>
                <a:lnTo>
                  <a:pt x="2387" y="882"/>
                </a:lnTo>
                <a:lnTo>
                  <a:pt x="2464" y="836"/>
                </a:lnTo>
                <a:lnTo>
                  <a:pt x="2551" y="786"/>
                </a:lnTo>
                <a:lnTo>
                  <a:pt x="2641" y="734"/>
                </a:lnTo>
                <a:lnTo>
                  <a:pt x="2735" y="680"/>
                </a:lnTo>
                <a:lnTo>
                  <a:pt x="2834" y="622"/>
                </a:lnTo>
                <a:lnTo>
                  <a:pt x="2934" y="566"/>
                </a:lnTo>
                <a:lnTo>
                  <a:pt x="3035" y="508"/>
                </a:lnTo>
                <a:lnTo>
                  <a:pt x="3136" y="450"/>
                </a:lnTo>
                <a:lnTo>
                  <a:pt x="3237" y="395"/>
                </a:lnTo>
                <a:lnTo>
                  <a:pt x="3336" y="339"/>
                </a:lnTo>
                <a:lnTo>
                  <a:pt x="3430" y="287"/>
                </a:lnTo>
                <a:lnTo>
                  <a:pt x="3522" y="235"/>
                </a:lnTo>
                <a:lnTo>
                  <a:pt x="3607" y="189"/>
                </a:lnTo>
                <a:lnTo>
                  <a:pt x="3686" y="144"/>
                </a:lnTo>
                <a:lnTo>
                  <a:pt x="3759" y="106"/>
                </a:lnTo>
                <a:lnTo>
                  <a:pt x="3820" y="73"/>
                </a:lnTo>
                <a:lnTo>
                  <a:pt x="3867" y="50"/>
                </a:lnTo>
                <a:lnTo>
                  <a:pt x="3911" y="31"/>
                </a:lnTo>
                <a:lnTo>
                  <a:pt x="3953" y="15"/>
                </a:lnTo>
                <a:lnTo>
                  <a:pt x="3997" y="6"/>
                </a:lnTo>
                <a:lnTo>
                  <a:pt x="404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cxnSp>
        <p:nvCxnSpPr>
          <p:cNvPr id="26" name="Straight Connector 25">
            <a:extLst>
              <a:ext uri="{FF2B5EF4-FFF2-40B4-BE49-F238E27FC236}">
                <a16:creationId xmlns:a16="http://schemas.microsoft.com/office/drawing/2014/main" id="{BD13F3A9-B824-B1B3-B3E6-B255D9A2FE81}"/>
              </a:ext>
            </a:extLst>
          </p:cNvPr>
          <p:cNvCxnSpPr/>
          <p:nvPr/>
        </p:nvCxnSpPr>
        <p:spPr>
          <a:xfrm>
            <a:off x="1667545" y="4817545"/>
            <a:ext cx="0" cy="1280160"/>
          </a:xfrm>
          <a:prstGeom prst="line">
            <a:avLst/>
          </a:prstGeom>
          <a:noFill/>
          <a:ln w="9525" cap="flat" cmpd="sng" algn="ctr">
            <a:solidFill>
              <a:srgbClr val="FFFFFF">
                <a:lumMod val="75000"/>
              </a:srgbClr>
            </a:solidFill>
            <a:prstDash val="sysDot"/>
          </a:ln>
          <a:effectLst/>
        </p:spPr>
      </p:cxnSp>
      <p:cxnSp>
        <p:nvCxnSpPr>
          <p:cNvPr id="27" name="Straight Connector 26">
            <a:extLst>
              <a:ext uri="{FF2B5EF4-FFF2-40B4-BE49-F238E27FC236}">
                <a16:creationId xmlns:a16="http://schemas.microsoft.com/office/drawing/2014/main" id="{82D6E7C0-B4BB-94D3-37C2-A3D16ADCED20}"/>
              </a:ext>
            </a:extLst>
          </p:cNvPr>
          <p:cNvCxnSpPr/>
          <p:nvPr/>
        </p:nvCxnSpPr>
        <p:spPr>
          <a:xfrm>
            <a:off x="2780159" y="4817545"/>
            <a:ext cx="0" cy="1280160"/>
          </a:xfrm>
          <a:prstGeom prst="line">
            <a:avLst/>
          </a:prstGeom>
          <a:noFill/>
          <a:ln w="9525" cap="flat" cmpd="sng" algn="ctr">
            <a:solidFill>
              <a:srgbClr val="FFFFFF">
                <a:lumMod val="75000"/>
              </a:srgbClr>
            </a:solidFill>
            <a:prstDash val="sysDot"/>
          </a:ln>
          <a:effectLst/>
        </p:spPr>
      </p:cxnSp>
      <p:cxnSp>
        <p:nvCxnSpPr>
          <p:cNvPr id="28" name="Straight Connector 27">
            <a:extLst>
              <a:ext uri="{FF2B5EF4-FFF2-40B4-BE49-F238E27FC236}">
                <a16:creationId xmlns:a16="http://schemas.microsoft.com/office/drawing/2014/main" id="{3C440356-8DA3-5422-7F0C-97B14489615C}"/>
              </a:ext>
            </a:extLst>
          </p:cNvPr>
          <p:cNvCxnSpPr/>
          <p:nvPr/>
        </p:nvCxnSpPr>
        <p:spPr>
          <a:xfrm>
            <a:off x="3907562" y="4817545"/>
            <a:ext cx="0" cy="1280160"/>
          </a:xfrm>
          <a:prstGeom prst="line">
            <a:avLst/>
          </a:prstGeom>
          <a:noFill/>
          <a:ln w="9525" cap="flat" cmpd="sng" algn="ctr">
            <a:solidFill>
              <a:srgbClr val="FFFFFF">
                <a:lumMod val="75000"/>
              </a:srgbClr>
            </a:solidFill>
            <a:prstDash val="sysDot"/>
          </a:ln>
          <a:effectLst/>
        </p:spPr>
      </p:cxnSp>
      <p:cxnSp>
        <p:nvCxnSpPr>
          <p:cNvPr id="29" name="Straight Connector 28">
            <a:extLst>
              <a:ext uri="{FF2B5EF4-FFF2-40B4-BE49-F238E27FC236}">
                <a16:creationId xmlns:a16="http://schemas.microsoft.com/office/drawing/2014/main" id="{C304EC63-43B2-9475-C0FE-355658CDEA43}"/>
              </a:ext>
            </a:extLst>
          </p:cNvPr>
          <p:cNvCxnSpPr/>
          <p:nvPr/>
        </p:nvCxnSpPr>
        <p:spPr>
          <a:xfrm>
            <a:off x="5034966" y="4817545"/>
            <a:ext cx="0" cy="1280160"/>
          </a:xfrm>
          <a:prstGeom prst="line">
            <a:avLst/>
          </a:prstGeom>
          <a:noFill/>
          <a:ln w="9525" cap="flat" cmpd="sng" algn="ctr">
            <a:solidFill>
              <a:srgbClr val="FFFFFF">
                <a:lumMod val="75000"/>
              </a:srgbClr>
            </a:solidFill>
            <a:prstDash val="sysDot"/>
          </a:ln>
          <a:effectLst/>
        </p:spPr>
      </p:cxnSp>
      <p:sp>
        <p:nvSpPr>
          <p:cNvPr id="55" name="Oval 54">
            <a:extLst>
              <a:ext uri="{FF2B5EF4-FFF2-40B4-BE49-F238E27FC236}">
                <a16:creationId xmlns:a16="http://schemas.microsoft.com/office/drawing/2014/main" id="{16AF5165-E293-71CD-1576-22E0A9C22B6B}"/>
              </a:ext>
            </a:extLst>
          </p:cNvPr>
          <p:cNvSpPr/>
          <p:nvPr/>
        </p:nvSpPr>
        <p:spPr>
          <a:xfrm>
            <a:off x="7562055" y="4572194"/>
            <a:ext cx="726331" cy="726329"/>
          </a:xfrm>
          <a:prstGeom prst="ellipse">
            <a:avLst/>
          </a:prstGeom>
          <a:solidFill>
            <a:srgbClr val="003B3E"/>
          </a:solidFill>
          <a:ln w="5715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ctr" defTabSz="584200" eaLnBrk="0" hangingPunct="0">
              <a:defRPr/>
            </a:pPr>
            <a:endParaRPr lang="en-US" sz="1600">
              <a:solidFill>
                <a:srgbClr val="FFFFFF"/>
              </a:solidFill>
              <a:latin typeface="+mj-lt"/>
              <a:ea typeface="Helvetica Neue Medium"/>
              <a:cs typeface="Helvetica Neue Medium"/>
              <a:sym typeface="Helvetica Neue Medium"/>
            </a:endParaRPr>
          </a:p>
        </p:txBody>
      </p:sp>
      <p:pic>
        <p:nvPicPr>
          <p:cNvPr id="56" name="Graphic 55" descr="Flag">
            <a:extLst>
              <a:ext uri="{FF2B5EF4-FFF2-40B4-BE49-F238E27FC236}">
                <a16:creationId xmlns:a16="http://schemas.microsoft.com/office/drawing/2014/main" id="{C4E12B02-D91E-A098-A445-B00CCC24B5A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89081" y="4700888"/>
            <a:ext cx="506512" cy="506512"/>
          </a:xfrm>
          <a:prstGeom prst="rect">
            <a:avLst/>
          </a:prstGeom>
        </p:spPr>
      </p:pic>
      <p:sp>
        <p:nvSpPr>
          <p:cNvPr id="57" name="Rectangle 56">
            <a:extLst>
              <a:ext uri="{FF2B5EF4-FFF2-40B4-BE49-F238E27FC236}">
                <a16:creationId xmlns:a16="http://schemas.microsoft.com/office/drawing/2014/main" id="{CB4CB75F-F4D8-3845-FF21-F7774DB3F27B}"/>
              </a:ext>
            </a:extLst>
          </p:cNvPr>
          <p:cNvSpPr/>
          <p:nvPr/>
        </p:nvSpPr>
        <p:spPr>
          <a:xfrm>
            <a:off x="1588" y="1208207"/>
            <a:ext cx="2539675" cy="3034203"/>
          </a:xfrm>
          <a:prstGeom prst="rect">
            <a:avLst/>
          </a:prstGeom>
          <a:solidFill>
            <a:schemeClr val="tx2"/>
          </a:solidFill>
          <a:ln w="19050" cap="flat" cmpd="sng" algn="ctr">
            <a:noFill/>
            <a:prstDash val="solid"/>
          </a:ln>
          <a:effectLst/>
        </p:spPr>
        <p:txBody>
          <a:bodyPr wrap="square" lIns="274320" tIns="76200" rIns="274320" bIns="76200" rtlCol="0" anchor="ctr">
            <a:noAutofit/>
          </a:bodyPr>
          <a:lstStyle/>
          <a:p>
            <a:pPr algn="ctr">
              <a:lnSpc>
                <a:spcPct val="120000"/>
              </a:lnSpc>
              <a:spcBef>
                <a:spcPts val="600"/>
              </a:spcBef>
              <a:spcAft>
                <a:spcPts val="600"/>
              </a:spcAft>
              <a:buClr>
                <a:srgbClr val="0070C0"/>
              </a:buClr>
              <a:buSzPct val="125000"/>
              <a:defRPr/>
            </a:pPr>
            <a:r>
              <a:rPr lang="en-US" sz="1400" b="1" dirty="0">
                <a:solidFill>
                  <a:schemeClr val="bg1"/>
                </a:solidFill>
                <a:latin typeface="+mj-lt"/>
              </a:rPr>
              <a:t>Champions are the engine of this model</a:t>
            </a:r>
            <a:br>
              <a:rPr lang="en-US" sz="1400" dirty="0">
                <a:solidFill>
                  <a:schemeClr val="bg1"/>
                </a:solidFill>
                <a:latin typeface="+mj-lt"/>
              </a:rPr>
            </a:br>
            <a:r>
              <a:rPr lang="en-US" sz="1400" dirty="0">
                <a:solidFill>
                  <a:schemeClr val="bg1"/>
                </a:solidFill>
                <a:latin typeface="+mj-lt"/>
              </a:rPr>
              <a:t>Your role is to turn real domain problems into prioritized use cases, partner with AI to build credible demos, and position solutions in client conversations.</a:t>
            </a:r>
            <a:endParaRPr lang="en-US" sz="1400" b="1" kern="0" dirty="0">
              <a:solidFill>
                <a:schemeClr val="bg1"/>
              </a:solidFill>
              <a:latin typeface="+mj-lt"/>
            </a:endParaRPr>
          </a:p>
        </p:txBody>
      </p:sp>
      <p:sp>
        <p:nvSpPr>
          <p:cNvPr id="58" name="Rectangle 57">
            <a:extLst>
              <a:ext uri="{FF2B5EF4-FFF2-40B4-BE49-F238E27FC236}">
                <a16:creationId xmlns:a16="http://schemas.microsoft.com/office/drawing/2014/main" id="{32334AEC-1D5A-8A7D-662F-F43C639C66A7}"/>
              </a:ext>
            </a:extLst>
          </p:cNvPr>
          <p:cNvSpPr/>
          <p:nvPr/>
        </p:nvSpPr>
        <p:spPr>
          <a:xfrm>
            <a:off x="1589" y="1334778"/>
            <a:ext cx="2571032" cy="2765168"/>
          </a:xfrm>
          <a:prstGeom prst="rect">
            <a:avLst/>
          </a:prstGeom>
          <a:noFill/>
          <a:ln w="38100">
            <a:solidFill>
              <a:srgbClr val="005F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solidFill>
                <a:srgbClr val="FFFFFF"/>
              </a:solidFill>
              <a:latin typeface="+mj-lt"/>
            </a:endParaRPr>
          </a:p>
        </p:txBody>
      </p:sp>
      <p:sp>
        <p:nvSpPr>
          <p:cNvPr id="6" name="Rectangle 5">
            <a:extLst>
              <a:ext uri="{FF2B5EF4-FFF2-40B4-BE49-F238E27FC236}">
                <a16:creationId xmlns:a16="http://schemas.microsoft.com/office/drawing/2014/main" id="{03A16B3E-2F81-4003-7D6D-62C6D408A3CE}"/>
              </a:ext>
            </a:extLst>
          </p:cNvPr>
          <p:cNvSpPr/>
          <p:nvPr/>
        </p:nvSpPr>
        <p:spPr>
          <a:xfrm>
            <a:off x="2765790" y="1440745"/>
            <a:ext cx="4325665" cy="28016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dirty="0">
              <a:solidFill>
                <a:srgbClr val="FFFFFF"/>
              </a:solidFill>
              <a:latin typeface="+mj-lt"/>
            </a:endParaRPr>
          </a:p>
        </p:txBody>
      </p:sp>
      <p:sp>
        <p:nvSpPr>
          <p:cNvPr id="63" name="Arrow: Pentagon 62">
            <a:extLst>
              <a:ext uri="{FF2B5EF4-FFF2-40B4-BE49-F238E27FC236}">
                <a16:creationId xmlns:a16="http://schemas.microsoft.com/office/drawing/2014/main" id="{28876418-FDF9-7171-5BE2-E49D46F3560A}"/>
              </a:ext>
            </a:extLst>
          </p:cNvPr>
          <p:cNvSpPr/>
          <p:nvPr/>
        </p:nvSpPr>
        <p:spPr>
          <a:xfrm rot="5400000">
            <a:off x="4699582" y="-732477"/>
            <a:ext cx="458081" cy="4325664"/>
          </a:xfrm>
          <a:prstGeom prst="homePlate">
            <a:avLst>
              <a:gd name="adj" fmla="val 25587"/>
            </a:avLst>
          </a:prstGeom>
          <a:solidFill>
            <a:srgbClr val="003B3E"/>
          </a:solidFill>
          <a:ln w="19050" cap="flat" cmpd="sng" algn="ctr">
            <a:noFill/>
            <a:prstDash val="solid"/>
          </a:ln>
          <a:effectLst/>
        </p:spPr>
        <p:txBody>
          <a:bodyPr vert="vert270" wrap="square" lIns="76200" tIns="76200" rIns="76200" bIns="76200" rtlCol="0" anchor="ctr">
            <a:noAutofit/>
          </a:bodyPr>
          <a:lstStyle/>
          <a:p>
            <a:pPr algn="ctr">
              <a:defRPr/>
            </a:pPr>
            <a:r>
              <a:rPr lang="en-US" sz="1400" b="1" kern="0" dirty="0">
                <a:solidFill>
                  <a:srgbClr val="FFFFFF"/>
                </a:solidFill>
                <a:latin typeface="+mj-lt"/>
              </a:rPr>
              <a:t>Cadence</a:t>
            </a:r>
          </a:p>
        </p:txBody>
      </p:sp>
      <p:sp>
        <p:nvSpPr>
          <p:cNvPr id="67" name="TextBox 66">
            <a:extLst>
              <a:ext uri="{FF2B5EF4-FFF2-40B4-BE49-F238E27FC236}">
                <a16:creationId xmlns:a16="http://schemas.microsoft.com/office/drawing/2014/main" id="{08EED8EA-027E-2D8F-BCF1-636FAC0A4815}"/>
              </a:ext>
            </a:extLst>
          </p:cNvPr>
          <p:cNvSpPr txBox="1"/>
          <p:nvPr/>
        </p:nvSpPr>
        <p:spPr>
          <a:xfrm>
            <a:off x="2866230" y="5687311"/>
            <a:ext cx="990056" cy="738664"/>
          </a:xfrm>
          <a:prstGeom prst="rect">
            <a:avLst/>
          </a:prstGeom>
          <a:noFill/>
        </p:spPr>
        <p:txBody>
          <a:bodyPr wrap="square" lIns="0" tIns="0" rIns="0" bIns="0">
            <a:spAutoFit/>
          </a:bodyPr>
          <a:lstStyle>
            <a:defPPr>
              <a:defRPr lang="en-US"/>
            </a:defPPr>
            <a:lvl1pPr indent="0">
              <a:spcBef>
                <a:spcPct val="20000"/>
              </a:spcBef>
              <a:buClr>
                <a:schemeClr val="accent4"/>
              </a:buClr>
              <a:buSzPct val="125000"/>
              <a:buFont typeface="Arial" panose="020B0604020202020204" pitchFamily="34" charset="0"/>
              <a:buNone/>
              <a:defRPr sz="1200"/>
            </a:lvl1pPr>
            <a:lvl2pPr marL="447675" indent="-238125">
              <a:spcBef>
                <a:spcPct val="20000"/>
              </a:spcBef>
              <a:buClr>
                <a:schemeClr val="accent4"/>
              </a:buClr>
              <a:buSzPct val="115000"/>
              <a:buFont typeface="Century Gothic" panose="020B0502020202020204" pitchFamily="34" charset="0"/>
              <a:buChar char="−"/>
              <a:defRPr sz="1600"/>
            </a:lvl2pPr>
            <a:lvl3pPr marL="647700" indent="-200025">
              <a:spcBef>
                <a:spcPct val="20000"/>
              </a:spcBef>
              <a:buClr>
                <a:schemeClr val="accent4"/>
              </a:buClr>
              <a:buSzPct val="110000"/>
              <a:buFont typeface="Arial" pitchFamily="34" charset="0"/>
              <a:buChar char="•"/>
              <a:defRPr sz="1600"/>
            </a:lvl3pPr>
            <a:lvl4pPr marL="809625" indent="-180975">
              <a:spcBef>
                <a:spcPct val="20000"/>
              </a:spcBef>
              <a:buClr>
                <a:schemeClr val="accent4"/>
              </a:buClr>
              <a:buFont typeface="Calibri" panose="020F0502020204030204" pitchFamily="34" charset="0"/>
              <a:buChar char="▫"/>
              <a:defRPr sz="1600"/>
            </a:lvl4pPr>
            <a:lvl5pPr marL="2057400" indent="-228600">
              <a:spcBef>
                <a:spcPct val="20000"/>
              </a:spcBef>
              <a:buFont typeface="Arial" pitchFamily="34" charset="0"/>
              <a:buChar cha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ctr">
              <a:spcBef>
                <a:spcPts val="0"/>
              </a:spcBef>
              <a:buClrTx/>
              <a:buSzTx/>
              <a:defRPr/>
            </a:pPr>
            <a:r>
              <a:rPr lang="en-US" dirty="0">
                <a:latin typeface="+mj-lt"/>
              </a:rPr>
              <a:t>Build Touchpoint (Champion + FDE)</a:t>
            </a:r>
            <a:endParaRPr lang="en-US" b="1" dirty="0">
              <a:solidFill>
                <a:srgbClr val="0070C0"/>
              </a:solidFill>
              <a:latin typeface="+mj-lt"/>
            </a:endParaRPr>
          </a:p>
        </p:txBody>
      </p:sp>
      <p:sp>
        <p:nvSpPr>
          <p:cNvPr id="78" name="Rectangle 77">
            <a:extLst>
              <a:ext uri="{FF2B5EF4-FFF2-40B4-BE49-F238E27FC236}">
                <a16:creationId xmlns:a16="http://schemas.microsoft.com/office/drawing/2014/main" id="{F2886B5C-C994-5E00-5917-BE9A94EFBEA8}"/>
              </a:ext>
            </a:extLst>
          </p:cNvPr>
          <p:cNvSpPr/>
          <p:nvPr/>
        </p:nvSpPr>
        <p:spPr>
          <a:xfrm>
            <a:off x="7315981" y="1440745"/>
            <a:ext cx="4491588" cy="28016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solidFill>
                <a:srgbClr val="FFFFFF"/>
              </a:solidFill>
              <a:latin typeface="+mj-lt"/>
            </a:endParaRPr>
          </a:p>
        </p:txBody>
      </p:sp>
      <p:sp>
        <p:nvSpPr>
          <p:cNvPr id="80" name="Arrow: Pentagon 79">
            <a:extLst>
              <a:ext uri="{FF2B5EF4-FFF2-40B4-BE49-F238E27FC236}">
                <a16:creationId xmlns:a16="http://schemas.microsoft.com/office/drawing/2014/main" id="{C3C59B19-FDA2-40D7-CD70-63BE716252C4}"/>
              </a:ext>
            </a:extLst>
          </p:cNvPr>
          <p:cNvSpPr/>
          <p:nvPr/>
        </p:nvSpPr>
        <p:spPr>
          <a:xfrm rot="5400000">
            <a:off x="9332732" y="-815437"/>
            <a:ext cx="458081" cy="4491585"/>
          </a:xfrm>
          <a:prstGeom prst="homePlate">
            <a:avLst>
              <a:gd name="adj" fmla="val 25587"/>
            </a:avLst>
          </a:prstGeom>
          <a:solidFill>
            <a:srgbClr val="005F65"/>
          </a:solidFill>
          <a:ln w="19050" cap="flat" cmpd="sng" algn="ctr">
            <a:noFill/>
            <a:prstDash val="solid"/>
          </a:ln>
          <a:effectLst/>
        </p:spPr>
        <p:txBody>
          <a:bodyPr vert="vert270" wrap="square" lIns="76200" tIns="76200" rIns="76200" bIns="76200" rtlCol="0" anchor="ctr">
            <a:noAutofit/>
          </a:bodyPr>
          <a:lstStyle/>
          <a:p>
            <a:pPr algn="ctr">
              <a:defRPr/>
            </a:pPr>
            <a:r>
              <a:rPr lang="en-US" sz="1400" b="1" kern="0" dirty="0">
                <a:solidFill>
                  <a:srgbClr val="FFFFFF"/>
                </a:solidFill>
                <a:latin typeface="+mj-lt"/>
              </a:rPr>
              <a:t>Workflow &amp; Ownership</a:t>
            </a:r>
          </a:p>
        </p:txBody>
      </p:sp>
      <p:sp>
        <p:nvSpPr>
          <p:cNvPr id="82" name="Rectangle 1">
            <a:extLst>
              <a:ext uri="{FF2B5EF4-FFF2-40B4-BE49-F238E27FC236}">
                <a16:creationId xmlns:a16="http://schemas.microsoft.com/office/drawing/2014/main" id="{F9FC83BA-9A4C-CFD3-098C-2B6876BE6A4A}"/>
              </a:ext>
            </a:extLst>
          </p:cNvPr>
          <p:cNvSpPr>
            <a:spLocks noChangeArrowheads="1"/>
          </p:cNvSpPr>
          <p:nvPr/>
        </p:nvSpPr>
        <p:spPr bwMode="auto">
          <a:xfrm>
            <a:off x="2780159" y="1714470"/>
            <a:ext cx="4311295"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ts val="600"/>
              </a:spcBef>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Maintain a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light, repeatable rhythm</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that keeps momentum without heavy prep</a:t>
            </a:r>
          </a:p>
          <a:p>
            <a:pPr marL="285750" marR="0" lvl="0" indent="-285750" algn="l" defTabSz="914400" rtl="0" eaLnBrk="0" fontAlgn="base" latinLnBrk="0" hangingPunct="0">
              <a:lnSpc>
                <a:spcPct val="100000"/>
              </a:lnSpc>
              <a:spcBef>
                <a:spcPts val="600"/>
              </a:spcBef>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Align domains, AI Lab, and Sales on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what’s being built</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and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what’s being sold</a:t>
            </a:r>
            <a:endPar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ts val="600"/>
              </a:spcBef>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Create consistent opportunities for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cross-sell</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and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pipeline activation</a:t>
            </a:r>
            <a:endPar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ts val="600"/>
              </a:spcBef>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Use the bi-weekly forum to scale confidence: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“where it fits” + “how to talk about it”</a:t>
            </a:r>
            <a:endPar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p:txBody>
      </p:sp>
      <p:sp>
        <p:nvSpPr>
          <p:cNvPr id="85" name="Rectangle 2">
            <a:extLst>
              <a:ext uri="{FF2B5EF4-FFF2-40B4-BE49-F238E27FC236}">
                <a16:creationId xmlns:a16="http://schemas.microsoft.com/office/drawing/2014/main" id="{73703506-8DDF-E421-8D8E-D0E12A7B0021}"/>
              </a:ext>
            </a:extLst>
          </p:cNvPr>
          <p:cNvSpPr>
            <a:spLocks noChangeArrowheads="1"/>
          </p:cNvSpPr>
          <p:nvPr/>
        </p:nvSpPr>
        <p:spPr bwMode="auto">
          <a:xfrm>
            <a:off x="7328281" y="1714470"/>
            <a:ext cx="4431777"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Start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problem-first</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(not catalog-first) to ensure domain relevance and differentiation</a:t>
            </a:r>
          </a:p>
          <a:p>
            <a:pPr marL="285750" marR="0" lvl="0" indent="-285750" algn="l" defTabSz="914400" rtl="0" eaLnBrk="0" fontAlgn="base" latinLnBrk="0" hangingPunct="0">
              <a:lnSpc>
                <a:spcPct val="100000"/>
              </a:lnSpc>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Prioritize 1–2 items at a time and move them through a clear build path: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Idea → Demo → GTM</a:t>
            </a:r>
            <a:endPar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Partner with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Forward Deployed Engineers + AI Lab</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for build support, standards, and guardrails</a:t>
            </a:r>
          </a:p>
          <a:p>
            <a:pPr marL="285750" marR="0" lvl="0" indent="-285750" algn="l" defTabSz="914400" rtl="0" eaLnBrk="0" fontAlgn="base" latinLnBrk="0" hangingPunct="0">
              <a:lnSpc>
                <a:spcPct val="100000"/>
              </a:lnSpc>
              <a:buClrTx/>
              <a:buSzTx/>
              <a:buFont typeface="Arial" panose="020B0604020202020204" pitchFamily="34" charset="0"/>
              <a:buChar char="•"/>
              <a:tabLst/>
            </a:pP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Translate solutions into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client-ready positioning</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(AI vs. non-AI, value, buyers, next best accounts)</a:t>
            </a:r>
          </a:p>
        </p:txBody>
      </p:sp>
      <p:sp>
        <p:nvSpPr>
          <p:cNvPr id="86" name="TextBox 85">
            <a:extLst>
              <a:ext uri="{FF2B5EF4-FFF2-40B4-BE49-F238E27FC236}">
                <a16:creationId xmlns:a16="http://schemas.microsoft.com/office/drawing/2014/main" id="{8334EE73-D889-A52A-376E-89A440AC6796}"/>
              </a:ext>
            </a:extLst>
          </p:cNvPr>
          <p:cNvSpPr txBox="1"/>
          <p:nvPr/>
        </p:nvSpPr>
        <p:spPr>
          <a:xfrm>
            <a:off x="6196486" y="5724081"/>
            <a:ext cx="883386" cy="553998"/>
          </a:xfrm>
          <a:prstGeom prst="rect">
            <a:avLst/>
          </a:prstGeom>
          <a:noFill/>
        </p:spPr>
        <p:txBody>
          <a:bodyPr wrap="square" lIns="0" tIns="0" rIns="0" bIns="0">
            <a:spAutoFit/>
          </a:bodyPr>
          <a:lstStyle>
            <a:defPPr>
              <a:defRPr lang="en-US"/>
            </a:defPPr>
            <a:lvl1pPr indent="0">
              <a:spcBef>
                <a:spcPct val="20000"/>
              </a:spcBef>
              <a:buClr>
                <a:schemeClr val="accent4"/>
              </a:buClr>
              <a:buSzPct val="125000"/>
              <a:buFont typeface="Arial" panose="020B0604020202020204" pitchFamily="34" charset="0"/>
              <a:buNone/>
              <a:defRPr sz="1200"/>
            </a:lvl1pPr>
            <a:lvl2pPr marL="447675" indent="-238125">
              <a:spcBef>
                <a:spcPct val="20000"/>
              </a:spcBef>
              <a:buClr>
                <a:schemeClr val="accent4"/>
              </a:buClr>
              <a:buSzPct val="115000"/>
              <a:buFont typeface="Century Gothic" panose="020B0502020202020204" pitchFamily="34" charset="0"/>
              <a:buChar char="−"/>
              <a:defRPr sz="1600"/>
            </a:lvl2pPr>
            <a:lvl3pPr marL="647700" indent="-200025">
              <a:spcBef>
                <a:spcPct val="20000"/>
              </a:spcBef>
              <a:buClr>
                <a:schemeClr val="accent4"/>
              </a:buClr>
              <a:buSzPct val="110000"/>
              <a:buFont typeface="Arial" pitchFamily="34" charset="0"/>
              <a:buChar char="•"/>
              <a:defRPr sz="1600"/>
            </a:lvl3pPr>
            <a:lvl4pPr marL="809625" indent="-180975">
              <a:spcBef>
                <a:spcPct val="20000"/>
              </a:spcBef>
              <a:buClr>
                <a:schemeClr val="accent4"/>
              </a:buClr>
              <a:buFont typeface="Calibri" panose="020F0502020204030204" pitchFamily="34" charset="0"/>
              <a:buChar char="▫"/>
              <a:defRPr sz="1600"/>
            </a:lvl4pPr>
            <a:lvl5pPr marL="2057400" indent="-228600">
              <a:spcBef>
                <a:spcPct val="20000"/>
              </a:spcBef>
              <a:buFont typeface="Arial" pitchFamily="34" charset="0"/>
              <a:buChar cha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ctr">
              <a:spcBef>
                <a:spcPts val="0"/>
              </a:spcBef>
              <a:buClrTx/>
              <a:buSzTx/>
              <a:defRPr/>
            </a:pPr>
            <a:r>
              <a:rPr lang="en-US" dirty="0">
                <a:latin typeface="+mj-lt"/>
              </a:rPr>
              <a:t>GTM &amp; Pursuit Activation</a:t>
            </a:r>
            <a:endParaRPr lang="en-US" b="1" dirty="0">
              <a:solidFill>
                <a:srgbClr val="0070C0"/>
              </a:solidFill>
              <a:latin typeface="+mj-lt"/>
            </a:endParaRPr>
          </a:p>
        </p:txBody>
      </p:sp>
      <p:sp>
        <p:nvSpPr>
          <p:cNvPr id="88" name="Oval 87">
            <a:extLst>
              <a:ext uri="{FF2B5EF4-FFF2-40B4-BE49-F238E27FC236}">
                <a16:creationId xmlns:a16="http://schemas.microsoft.com/office/drawing/2014/main" id="{D428FD8F-66E1-613F-6E70-7C48DF1D4A5E}"/>
              </a:ext>
            </a:extLst>
          </p:cNvPr>
          <p:cNvSpPr/>
          <p:nvPr/>
        </p:nvSpPr>
        <p:spPr>
          <a:xfrm>
            <a:off x="6275014" y="4792616"/>
            <a:ext cx="726331" cy="726329"/>
          </a:xfrm>
          <a:prstGeom prst="ellipse">
            <a:avLst/>
          </a:prstGeom>
          <a:solidFill>
            <a:srgbClr val="005F65"/>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ctr" defTabSz="584200" eaLnBrk="0" hangingPunct="0">
              <a:defRPr/>
            </a:pPr>
            <a:endParaRPr lang="en-US" sz="1600">
              <a:solidFill>
                <a:srgbClr val="FFFFFF"/>
              </a:solidFill>
              <a:latin typeface="+mj-lt"/>
              <a:ea typeface="Helvetica Neue Medium"/>
              <a:cs typeface="Helvetica Neue Medium"/>
              <a:sym typeface="Helvetica Neue Medium"/>
            </a:endParaRPr>
          </a:p>
        </p:txBody>
      </p:sp>
      <p:sp>
        <p:nvSpPr>
          <p:cNvPr id="89" name="Freeform 43">
            <a:extLst>
              <a:ext uri="{FF2B5EF4-FFF2-40B4-BE49-F238E27FC236}">
                <a16:creationId xmlns:a16="http://schemas.microsoft.com/office/drawing/2014/main" id="{8E9AF7A8-3CB4-CF10-C6C8-A435A9A6DFF3}"/>
              </a:ext>
            </a:extLst>
          </p:cNvPr>
          <p:cNvSpPr>
            <a:spLocks noEditPoints="1"/>
          </p:cNvSpPr>
          <p:nvPr/>
        </p:nvSpPr>
        <p:spPr bwMode="auto">
          <a:xfrm>
            <a:off x="6422541" y="4951928"/>
            <a:ext cx="431277" cy="407704"/>
          </a:xfrm>
          <a:custGeom>
            <a:avLst/>
            <a:gdLst>
              <a:gd name="T0" fmla="*/ 2868 w 6558"/>
              <a:gd name="T1" fmla="*/ 5893 h 6354"/>
              <a:gd name="T2" fmla="*/ 205 w 6558"/>
              <a:gd name="T3" fmla="*/ 6354 h 6354"/>
              <a:gd name="T4" fmla="*/ 6 w 6558"/>
              <a:gd name="T5" fmla="*/ 5857 h 6354"/>
              <a:gd name="T6" fmla="*/ 2383 w 6558"/>
              <a:gd name="T7" fmla="*/ 5049 h 6354"/>
              <a:gd name="T8" fmla="*/ 46 w 6558"/>
              <a:gd name="T9" fmla="*/ 5477 h 6354"/>
              <a:gd name="T10" fmla="*/ 115 w 6558"/>
              <a:gd name="T11" fmla="*/ 4934 h 6354"/>
              <a:gd name="T12" fmla="*/ 2293 w 6558"/>
              <a:gd name="T13" fmla="*/ 4713 h 6354"/>
              <a:gd name="T14" fmla="*/ 0 w 6558"/>
              <a:gd name="T15" fmla="*/ 4253 h 6354"/>
              <a:gd name="T16" fmla="*/ 2502 w 6558"/>
              <a:gd name="T17" fmla="*/ 3278 h 6354"/>
              <a:gd name="T18" fmla="*/ 78 w 6558"/>
              <a:gd name="T19" fmla="*/ 3859 h 6354"/>
              <a:gd name="T20" fmla="*/ 78 w 6558"/>
              <a:gd name="T21" fmla="*/ 3312 h 6354"/>
              <a:gd name="T22" fmla="*/ 4855 w 6558"/>
              <a:gd name="T23" fmla="*/ 3358 h 6354"/>
              <a:gd name="T24" fmla="*/ 4748 w 6558"/>
              <a:gd name="T25" fmla="*/ 3730 h 6354"/>
              <a:gd name="T26" fmla="*/ 4362 w 6558"/>
              <a:gd name="T27" fmla="*/ 3653 h 6354"/>
              <a:gd name="T28" fmla="*/ 4388 w 6558"/>
              <a:gd name="T29" fmla="*/ 3953 h 6354"/>
              <a:gd name="T30" fmla="*/ 4987 w 6558"/>
              <a:gd name="T31" fmla="*/ 4229 h 6354"/>
              <a:gd name="T32" fmla="*/ 5174 w 6558"/>
              <a:gd name="T33" fmla="*/ 4810 h 6354"/>
              <a:gd name="T34" fmla="*/ 4714 w 6558"/>
              <a:gd name="T35" fmla="*/ 5242 h 6354"/>
              <a:gd name="T36" fmla="*/ 4022 w 6558"/>
              <a:gd name="T37" fmla="*/ 5101 h 6354"/>
              <a:gd name="T38" fmla="*/ 4247 w 6558"/>
              <a:gd name="T39" fmla="*/ 4800 h 6354"/>
              <a:gd name="T40" fmla="*/ 4650 w 6558"/>
              <a:gd name="T41" fmla="*/ 4912 h 6354"/>
              <a:gd name="T42" fmla="*/ 4740 w 6558"/>
              <a:gd name="T43" fmla="*/ 4595 h 6354"/>
              <a:gd name="T44" fmla="*/ 4195 w 6558"/>
              <a:gd name="T45" fmla="*/ 4345 h 6354"/>
              <a:gd name="T46" fmla="*/ 3893 w 6558"/>
              <a:gd name="T47" fmla="*/ 3857 h 6354"/>
              <a:gd name="T48" fmla="*/ 4235 w 6558"/>
              <a:gd name="T49" fmla="*/ 3328 h 6354"/>
              <a:gd name="T50" fmla="*/ 3841 w 6558"/>
              <a:gd name="T51" fmla="*/ 2807 h 6354"/>
              <a:gd name="T52" fmla="*/ 3011 w 6558"/>
              <a:gd name="T53" fmla="*/ 3635 h 6354"/>
              <a:gd name="T54" fmla="*/ 2962 w 6558"/>
              <a:gd name="T55" fmla="*/ 4848 h 6354"/>
              <a:gd name="T56" fmla="*/ 3720 w 6558"/>
              <a:gd name="T57" fmla="*/ 5741 h 6354"/>
              <a:gd name="T58" fmla="*/ 4921 w 6558"/>
              <a:gd name="T59" fmla="*/ 5891 h 6354"/>
              <a:gd name="T60" fmla="*/ 5876 w 6558"/>
              <a:gd name="T61" fmla="*/ 5206 h 6354"/>
              <a:gd name="T62" fmla="*/ 6124 w 6558"/>
              <a:gd name="T63" fmla="*/ 4025 h 6354"/>
              <a:gd name="T64" fmla="*/ 5518 w 6558"/>
              <a:gd name="T65" fmla="*/ 3014 h 6354"/>
              <a:gd name="T66" fmla="*/ 205 w 6558"/>
              <a:gd name="T67" fmla="*/ 2459 h 6354"/>
              <a:gd name="T68" fmla="*/ 2868 w 6558"/>
              <a:gd name="T69" fmla="*/ 2761 h 6354"/>
              <a:gd name="T70" fmla="*/ 20 w 6558"/>
              <a:gd name="T71" fmla="*/ 2988 h 6354"/>
              <a:gd name="T72" fmla="*/ 157 w 6558"/>
              <a:gd name="T73" fmla="*/ 2463 h 6354"/>
              <a:gd name="T74" fmla="*/ 5544 w 6558"/>
              <a:gd name="T75" fmla="*/ 2534 h 6354"/>
              <a:gd name="T76" fmla="*/ 6411 w 6558"/>
              <a:gd name="T77" fmla="*/ 3541 h 6354"/>
              <a:gd name="T78" fmla="*/ 6463 w 6558"/>
              <a:gd name="T79" fmla="*/ 4922 h 6354"/>
              <a:gd name="T80" fmla="*/ 5669 w 6558"/>
              <a:gd name="T81" fmla="*/ 5992 h 6354"/>
              <a:gd name="T82" fmla="*/ 4348 w 6558"/>
              <a:gd name="T83" fmla="*/ 6348 h 6354"/>
              <a:gd name="T84" fmla="*/ 3113 w 6558"/>
              <a:gd name="T85" fmla="*/ 5805 h 6354"/>
              <a:gd name="T86" fmla="*/ 2484 w 6558"/>
              <a:gd name="T87" fmla="*/ 4621 h 6354"/>
              <a:gd name="T88" fmla="*/ 2739 w 6558"/>
              <a:gd name="T89" fmla="*/ 3269 h 6354"/>
              <a:gd name="T90" fmla="*/ 3745 w 6558"/>
              <a:gd name="T91" fmla="*/ 2401 h 6354"/>
              <a:gd name="T92" fmla="*/ 5828 w 6558"/>
              <a:gd name="T93" fmla="*/ 1655 h 6354"/>
              <a:gd name="T94" fmla="*/ 5898 w 6558"/>
              <a:gd name="T95" fmla="*/ 2196 h 6354"/>
              <a:gd name="T96" fmla="*/ 4835 w 6558"/>
              <a:gd name="T97" fmla="*/ 2073 h 6354"/>
              <a:gd name="T98" fmla="*/ 3278 w 6558"/>
              <a:gd name="T99" fmla="*/ 2254 h 6354"/>
              <a:gd name="T100" fmla="*/ 3079 w 6558"/>
              <a:gd name="T101" fmla="*/ 1759 h 6354"/>
              <a:gd name="T102" fmla="*/ 2711 w 6558"/>
              <a:gd name="T103" fmla="*/ 1643 h 6354"/>
              <a:gd name="T104" fmla="*/ 2848 w 6558"/>
              <a:gd name="T105" fmla="*/ 2168 h 6354"/>
              <a:gd name="T106" fmla="*/ 78 w 6558"/>
              <a:gd name="T107" fmla="*/ 2220 h 6354"/>
              <a:gd name="T108" fmla="*/ 78 w 6558"/>
              <a:gd name="T109" fmla="*/ 1673 h 6354"/>
              <a:gd name="T110" fmla="*/ 5898 w 6558"/>
              <a:gd name="T111" fmla="*/ 877 h 6354"/>
              <a:gd name="T112" fmla="*/ 5828 w 6558"/>
              <a:gd name="T113" fmla="*/ 1418 h 6354"/>
              <a:gd name="T114" fmla="*/ 3079 w 6558"/>
              <a:gd name="T115" fmla="*/ 1317 h 6354"/>
              <a:gd name="T116" fmla="*/ 3278 w 6558"/>
              <a:gd name="T117" fmla="*/ 820 h 6354"/>
              <a:gd name="T118" fmla="*/ 5943 w 6558"/>
              <a:gd name="T119" fmla="*/ 153 h 6354"/>
              <a:gd name="T120" fmla="*/ 3278 w 6558"/>
              <a:gd name="T121" fmla="*/ 615 h 6354"/>
              <a:gd name="T122" fmla="*/ 3079 w 6558"/>
              <a:gd name="T123" fmla="*/ 117 h 6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58" h="6354">
                <a:moveTo>
                  <a:pt x="205" y="5739"/>
                </a:moveTo>
                <a:lnTo>
                  <a:pt x="2663" y="5739"/>
                </a:lnTo>
                <a:lnTo>
                  <a:pt x="2711" y="5743"/>
                </a:lnTo>
                <a:lnTo>
                  <a:pt x="2755" y="5753"/>
                </a:lnTo>
                <a:lnTo>
                  <a:pt x="2793" y="5773"/>
                </a:lnTo>
                <a:lnTo>
                  <a:pt x="2825" y="5797"/>
                </a:lnTo>
                <a:lnTo>
                  <a:pt x="2848" y="5825"/>
                </a:lnTo>
                <a:lnTo>
                  <a:pt x="2864" y="5857"/>
                </a:lnTo>
                <a:lnTo>
                  <a:pt x="2868" y="5893"/>
                </a:lnTo>
                <a:lnTo>
                  <a:pt x="2868" y="6199"/>
                </a:lnTo>
                <a:lnTo>
                  <a:pt x="2864" y="6235"/>
                </a:lnTo>
                <a:lnTo>
                  <a:pt x="2848" y="6267"/>
                </a:lnTo>
                <a:lnTo>
                  <a:pt x="2825" y="6296"/>
                </a:lnTo>
                <a:lnTo>
                  <a:pt x="2793" y="6320"/>
                </a:lnTo>
                <a:lnTo>
                  <a:pt x="2755" y="6338"/>
                </a:lnTo>
                <a:lnTo>
                  <a:pt x="2711" y="6350"/>
                </a:lnTo>
                <a:lnTo>
                  <a:pt x="2663" y="6354"/>
                </a:lnTo>
                <a:lnTo>
                  <a:pt x="205" y="6354"/>
                </a:lnTo>
                <a:lnTo>
                  <a:pt x="157" y="6350"/>
                </a:lnTo>
                <a:lnTo>
                  <a:pt x="115" y="6338"/>
                </a:lnTo>
                <a:lnTo>
                  <a:pt x="78" y="6320"/>
                </a:lnTo>
                <a:lnTo>
                  <a:pt x="46" y="6296"/>
                </a:lnTo>
                <a:lnTo>
                  <a:pt x="20" y="6267"/>
                </a:lnTo>
                <a:lnTo>
                  <a:pt x="6" y="6235"/>
                </a:lnTo>
                <a:lnTo>
                  <a:pt x="0" y="6199"/>
                </a:lnTo>
                <a:lnTo>
                  <a:pt x="0" y="5893"/>
                </a:lnTo>
                <a:lnTo>
                  <a:pt x="6" y="5857"/>
                </a:lnTo>
                <a:lnTo>
                  <a:pt x="20" y="5825"/>
                </a:lnTo>
                <a:lnTo>
                  <a:pt x="46" y="5797"/>
                </a:lnTo>
                <a:lnTo>
                  <a:pt x="78" y="5773"/>
                </a:lnTo>
                <a:lnTo>
                  <a:pt x="115" y="5753"/>
                </a:lnTo>
                <a:lnTo>
                  <a:pt x="157" y="5743"/>
                </a:lnTo>
                <a:lnTo>
                  <a:pt x="205" y="5739"/>
                </a:lnTo>
                <a:close/>
                <a:moveTo>
                  <a:pt x="205" y="4918"/>
                </a:moveTo>
                <a:lnTo>
                  <a:pt x="2341" y="4918"/>
                </a:lnTo>
                <a:lnTo>
                  <a:pt x="2383" y="5049"/>
                </a:lnTo>
                <a:lnTo>
                  <a:pt x="2433" y="5176"/>
                </a:lnTo>
                <a:lnTo>
                  <a:pt x="2488" y="5300"/>
                </a:lnTo>
                <a:lnTo>
                  <a:pt x="2552" y="5419"/>
                </a:lnTo>
                <a:lnTo>
                  <a:pt x="2622" y="5534"/>
                </a:lnTo>
                <a:lnTo>
                  <a:pt x="205" y="5534"/>
                </a:lnTo>
                <a:lnTo>
                  <a:pt x="157" y="5530"/>
                </a:lnTo>
                <a:lnTo>
                  <a:pt x="115" y="5519"/>
                </a:lnTo>
                <a:lnTo>
                  <a:pt x="78" y="5501"/>
                </a:lnTo>
                <a:lnTo>
                  <a:pt x="46" y="5477"/>
                </a:lnTo>
                <a:lnTo>
                  <a:pt x="20" y="5447"/>
                </a:lnTo>
                <a:lnTo>
                  <a:pt x="6" y="5415"/>
                </a:lnTo>
                <a:lnTo>
                  <a:pt x="0" y="5379"/>
                </a:lnTo>
                <a:lnTo>
                  <a:pt x="0" y="5073"/>
                </a:lnTo>
                <a:lnTo>
                  <a:pt x="6" y="5037"/>
                </a:lnTo>
                <a:lnTo>
                  <a:pt x="20" y="5005"/>
                </a:lnTo>
                <a:lnTo>
                  <a:pt x="46" y="4975"/>
                </a:lnTo>
                <a:lnTo>
                  <a:pt x="78" y="4952"/>
                </a:lnTo>
                <a:lnTo>
                  <a:pt x="115" y="4934"/>
                </a:lnTo>
                <a:lnTo>
                  <a:pt x="157" y="4924"/>
                </a:lnTo>
                <a:lnTo>
                  <a:pt x="205" y="4918"/>
                </a:lnTo>
                <a:close/>
                <a:moveTo>
                  <a:pt x="205" y="4098"/>
                </a:moveTo>
                <a:lnTo>
                  <a:pt x="2264" y="4098"/>
                </a:lnTo>
                <a:lnTo>
                  <a:pt x="2258" y="4202"/>
                </a:lnTo>
                <a:lnTo>
                  <a:pt x="2254" y="4303"/>
                </a:lnTo>
                <a:lnTo>
                  <a:pt x="2260" y="4442"/>
                </a:lnTo>
                <a:lnTo>
                  <a:pt x="2272" y="4580"/>
                </a:lnTo>
                <a:lnTo>
                  <a:pt x="2293" y="4713"/>
                </a:lnTo>
                <a:lnTo>
                  <a:pt x="205" y="4713"/>
                </a:lnTo>
                <a:lnTo>
                  <a:pt x="157" y="4709"/>
                </a:lnTo>
                <a:lnTo>
                  <a:pt x="115" y="4699"/>
                </a:lnTo>
                <a:lnTo>
                  <a:pt x="78" y="4679"/>
                </a:lnTo>
                <a:lnTo>
                  <a:pt x="46" y="4657"/>
                </a:lnTo>
                <a:lnTo>
                  <a:pt x="20" y="4627"/>
                </a:lnTo>
                <a:lnTo>
                  <a:pt x="6" y="4595"/>
                </a:lnTo>
                <a:lnTo>
                  <a:pt x="0" y="4560"/>
                </a:lnTo>
                <a:lnTo>
                  <a:pt x="0" y="4253"/>
                </a:lnTo>
                <a:lnTo>
                  <a:pt x="6" y="4217"/>
                </a:lnTo>
                <a:lnTo>
                  <a:pt x="20" y="4186"/>
                </a:lnTo>
                <a:lnTo>
                  <a:pt x="46" y="4156"/>
                </a:lnTo>
                <a:lnTo>
                  <a:pt x="78" y="4132"/>
                </a:lnTo>
                <a:lnTo>
                  <a:pt x="115" y="4114"/>
                </a:lnTo>
                <a:lnTo>
                  <a:pt x="157" y="4102"/>
                </a:lnTo>
                <a:lnTo>
                  <a:pt x="205" y="4098"/>
                </a:lnTo>
                <a:close/>
                <a:moveTo>
                  <a:pt x="205" y="3278"/>
                </a:moveTo>
                <a:lnTo>
                  <a:pt x="2502" y="3278"/>
                </a:lnTo>
                <a:lnTo>
                  <a:pt x="2447" y="3396"/>
                </a:lnTo>
                <a:lnTo>
                  <a:pt x="2399" y="3515"/>
                </a:lnTo>
                <a:lnTo>
                  <a:pt x="2357" y="3639"/>
                </a:lnTo>
                <a:lnTo>
                  <a:pt x="2321" y="3764"/>
                </a:lnTo>
                <a:lnTo>
                  <a:pt x="2293" y="3893"/>
                </a:lnTo>
                <a:lnTo>
                  <a:pt x="205" y="3893"/>
                </a:lnTo>
                <a:lnTo>
                  <a:pt x="157" y="3889"/>
                </a:lnTo>
                <a:lnTo>
                  <a:pt x="115" y="3879"/>
                </a:lnTo>
                <a:lnTo>
                  <a:pt x="78" y="3859"/>
                </a:lnTo>
                <a:lnTo>
                  <a:pt x="46" y="3836"/>
                </a:lnTo>
                <a:lnTo>
                  <a:pt x="20" y="3808"/>
                </a:lnTo>
                <a:lnTo>
                  <a:pt x="6" y="3776"/>
                </a:lnTo>
                <a:lnTo>
                  <a:pt x="0" y="3740"/>
                </a:lnTo>
                <a:lnTo>
                  <a:pt x="0" y="3434"/>
                </a:lnTo>
                <a:lnTo>
                  <a:pt x="6" y="3398"/>
                </a:lnTo>
                <a:lnTo>
                  <a:pt x="20" y="3366"/>
                </a:lnTo>
                <a:lnTo>
                  <a:pt x="46" y="3336"/>
                </a:lnTo>
                <a:lnTo>
                  <a:pt x="78" y="3312"/>
                </a:lnTo>
                <a:lnTo>
                  <a:pt x="115" y="3294"/>
                </a:lnTo>
                <a:lnTo>
                  <a:pt x="157" y="3282"/>
                </a:lnTo>
                <a:lnTo>
                  <a:pt x="205" y="3278"/>
                </a:lnTo>
                <a:close/>
                <a:moveTo>
                  <a:pt x="4392" y="3074"/>
                </a:moveTo>
                <a:lnTo>
                  <a:pt x="4627" y="3074"/>
                </a:lnTo>
                <a:lnTo>
                  <a:pt x="4627" y="3288"/>
                </a:lnTo>
                <a:lnTo>
                  <a:pt x="4708" y="3304"/>
                </a:lnTo>
                <a:lnTo>
                  <a:pt x="4786" y="3326"/>
                </a:lnTo>
                <a:lnTo>
                  <a:pt x="4855" y="3358"/>
                </a:lnTo>
                <a:lnTo>
                  <a:pt x="4919" y="3400"/>
                </a:lnTo>
                <a:lnTo>
                  <a:pt x="4975" y="3450"/>
                </a:lnTo>
                <a:lnTo>
                  <a:pt x="5024" y="3507"/>
                </a:lnTo>
                <a:lnTo>
                  <a:pt x="5066" y="3573"/>
                </a:lnTo>
                <a:lnTo>
                  <a:pt x="5102" y="3647"/>
                </a:lnTo>
                <a:lnTo>
                  <a:pt x="5132" y="3730"/>
                </a:lnTo>
                <a:lnTo>
                  <a:pt x="4810" y="3863"/>
                </a:lnTo>
                <a:lnTo>
                  <a:pt x="4782" y="3792"/>
                </a:lnTo>
                <a:lnTo>
                  <a:pt x="4748" y="3730"/>
                </a:lnTo>
                <a:lnTo>
                  <a:pt x="4710" y="3680"/>
                </a:lnTo>
                <a:lnTo>
                  <a:pt x="4670" y="3641"/>
                </a:lnTo>
                <a:lnTo>
                  <a:pt x="4625" y="3615"/>
                </a:lnTo>
                <a:lnTo>
                  <a:pt x="4575" y="3597"/>
                </a:lnTo>
                <a:lnTo>
                  <a:pt x="4519" y="3591"/>
                </a:lnTo>
                <a:lnTo>
                  <a:pt x="4473" y="3595"/>
                </a:lnTo>
                <a:lnTo>
                  <a:pt x="4432" y="3607"/>
                </a:lnTo>
                <a:lnTo>
                  <a:pt x="4394" y="3627"/>
                </a:lnTo>
                <a:lnTo>
                  <a:pt x="4362" y="3653"/>
                </a:lnTo>
                <a:lnTo>
                  <a:pt x="4336" y="3684"/>
                </a:lnTo>
                <a:lnTo>
                  <a:pt x="4316" y="3720"/>
                </a:lnTo>
                <a:lnTo>
                  <a:pt x="4306" y="3758"/>
                </a:lnTo>
                <a:lnTo>
                  <a:pt x="4302" y="3800"/>
                </a:lnTo>
                <a:lnTo>
                  <a:pt x="4306" y="3840"/>
                </a:lnTo>
                <a:lnTo>
                  <a:pt x="4316" y="3877"/>
                </a:lnTo>
                <a:lnTo>
                  <a:pt x="4334" y="3907"/>
                </a:lnTo>
                <a:lnTo>
                  <a:pt x="4360" y="3933"/>
                </a:lnTo>
                <a:lnTo>
                  <a:pt x="4388" y="3953"/>
                </a:lnTo>
                <a:lnTo>
                  <a:pt x="4426" y="3975"/>
                </a:lnTo>
                <a:lnTo>
                  <a:pt x="4475" y="3999"/>
                </a:lnTo>
                <a:lnTo>
                  <a:pt x="4535" y="4023"/>
                </a:lnTo>
                <a:lnTo>
                  <a:pt x="4607" y="4050"/>
                </a:lnTo>
                <a:lnTo>
                  <a:pt x="4704" y="4088"/>
                </a:lnTo>
                <a:lnTo>
                  <a:pt x="4792" y="4124"/>
                </a:lnTo>
                <a:lnTo>
                  <a:pt x="4867" y="4160"/>
                </a:lnTo>
                <a:lnTo>
                  <a:pt x="4931" y="4194"/>
                </a:lnTo>
                <a:lnTo>
                  <a:pt x="4987" y="4229"/>
                </a:lnTo>
                <a:lnTo>
                  <a:pt x="5038" y="4273"/>
                </a:lnTo>
                <a:lnTo>
                  <a:pt x="5082" y="4323"/>
                </a:lnTo>
                <a:lnTo>
                  <a:pt x="5120" y="4379"/>
                </a:lnTo>
                <a:lnTo>
                  <a:pt x="5150" y="4442"/>
                </a:lnTo>
                <a:lnTo>
                  <a:pt x="5174" y="4508"/>
                </a:lnTo>
                <a:lnTo>
                  <a:pt x="5186" y="4580"/>
                </a:lnTo>
                <a:lnTo>
                  <a:pt x="5190" y="4657"/>
                </a:lnTo>
                <a:lnTo>
                  <a:pt x="5186" y="4737"/>
                </a:lnTo>
                <a:lnTo>
                  <a:pt x="5174" y="4810"/>
                </a:lnTo>
                <a:lnTo>
                  <a:pt x="5154" y="4880"/>
                </a:lnTo>
                <a:lnTo>
                  <a:pt x="5126" y="4946"/>
                </a:lnTo>
                <a:lnTo>
                  <a:pt x="5090" y="5007"/>
                </a:lnTo>
                <a:lnTo>
                  <a:pt x="5044" y="5063"/>
                </a:lnTo>
                <a:lnTo>
                  <a:pt x="4993" y="5115"/>
                </a:lnTo>
                <a:lnTo>
                  <a:pt x="4933" y="5156"/>
                </a:lnTo>
                <a:lnTo>
                  <a:pt x="4867" y="5192"/>
                </a:lnTo>
                <a:lnTo>
                  <a:pt x="4794" y="5222"/>
                </a:lnTo>
                <a:lnTo>
                  <a:pt x="4714" y="5242"/>
                </a:lnTo>
                <a:lnTo>
                  <a:pt x="4627" y="5256"/>
                </a:lnTo>
                <a:lnTo>
                  <a:pt x="4627" y="5534"/>
                </a:lnTo>
                <a:lnTo>
                  <a:pt x="4392" y="5534"/>
                </a:lnTo>
                <a:lnTo>
                  <a:pt x="4392" y="5256"/>
                </a:lnTo>
                <a:lnTo>
                  <a:pt x="4304" y="5242"/>
                </a:lnTo>
                <a:lnTo>
                  <a:pt x="4225" y="5220"/>
                </a:lnTo>
                <a:lnTo>
                  <a:pt x="4149" y="5188"/>
                </a:lnTo>
                <a:lnTo>
                  <a:pt x="4084" y="5149"/>
                </a:lnTo>
                <a:lnTo>
                  <a:pt x="4022" y="5101"/>
                </a:lnTo>
                <a:lnTo>
                  <a:pt x="3970" y="5043"/>
                </a:lnTo>
                <a:lnTo>
                  <a:pt x="3924" y="4977"/>
                </a:lnTo>
                <a:lnTo>
                  <a:pt x="3885" y="4902"/>
                </a:lnTo>
                <a:lnTo>
                  <a:pt x="3853" y="4818"/>
                </a:lnTo>
                <a:lnTo>
                  <a:pt x="3827" y="4725"/>
                </a:lnTo>
                <a:lnTo>
                  <a:pt x="4187" y="4631"/>
                </a:lnTo>
                <a:lnTo>
                  <a:pt x="4201" y="4695"/>
                </a:lnTo>
                <a:lnTo>
                  <a:pt x="4221" y="4751"/>
                </a:lnTo>
                <a:lnTo>
                  <a:pt x="4247" y="4800"/>
                </a:lnTo>
                <a:lnTo>
                  <a:pt x="4277" y="4842"/>
                </a:lnTo>
                <a:lnTo>
                  <a:pt x="4314" y="4876"/>
                </a:lnTo>
                <a:lnTo>
                  <a:pt x="4356" y="4902"/>
                </a:lnTo>
                <a:lnTo>
                  <a:pt x="4404" y="4922"/>
                </a:lnTo>
                <a:lnTo>
                  <a:pt x="4460" y="4932"/>
                </a:lnTo>
                <a:lnTo>
                  <a:pt x="4519" y="4936"/>
                </a:lnTo>
                <a:lnTo>
                  <a:pt x="4569" y="4934"/>
                </a:lnTo>
                <a:lnTo>
                  <a:pt x="4613" y="4926"/>
                </a:lnTo>
                <a:lnTo>
                  <a:pt x="4650" y="4912"/>
                </a:lnTo>
                <a:lnTo>
                  <a:pt x="4684" y="4894"/>
                </a:lnTo>
                <a:lnTo>
                  <a:pt x="4712" y="4870"/>
                </a:lnTo>
                <a:lnTo>
                  <a:pt x="4740" y="4836"/>
                </a:lnTo>
                <a:lnTo>
                  <a:pt x="4758" y="4798"/>
                </a:lnTo>
                <a:lnTo>
                  <a:pt x="4770" y="4759"/>
                </a:lnTo>
                <a:lnTo>
                  <a:pt x="4774" y="4713"/>
                </a:lnTo>
                <a:lnTo>
                  <a:pt x="4770" y="4669"/>
                </a:lnTo>
                <a:lnTo>
                  <a:pt x="4758" y="4629"/>
                </a:lnTo>
                <a:lnTo>
                  <a:pt x="4740" y="4595"/>
                </a:lnTo>
                <a:lnTo>
                  <a:pt x="4712" y="4570"/>
                </a:lnTo>
                <a:lnTo>
                  <a:pt x="4680" y="4548"/>
                </a:lnTo>
                <a:lnTo>
                  <a:pt x="4639" y="4526"/>
                </a:lnTo>
                <a:lnTo>
                  <a:pt x="4583" y="4500"/>
                </a:lnTo>
                <a:lnTo>
                  <a:pt x="4515" y="4474"/>
                </a:lnTo>
                <a:lnTo>
                  <a:pt x="4436" y="4444"/>
                </a:lnTo>
                <a:lnTo>
                  <a:pt x="4346" y="4410"/>
                </a:lnTo>
                <a:lnTo>
                  <a:pt x="4265" y="4379"/>
                </a:lnTo>
                <a:lnTo>
                  <a:pt x="4195" y="4345"/>
                </a:lnTo>
                <a:lnTo>
                  <a:pt x="4135" y="4311"/>
                </a:lnTo>
                <a:lnTo>
                  <a:pt x="4086" y="4277"/>
                </a:lnTo>
                <a:lnTo>
                  <a:pt x="4038" y="4233"/>
                </a:lnTo>
                <a:lnTo>
                  <a:pt x="3996" y="4186"/>
                </a:lnTo>
                <a:lnTo>
                  <a:pt x="3960" y="4130"/>
                </a:lnTo>
                <a:lnTo>
                  <a:pt x="3930" y="4068"/>
                </a:lnTo>
                <a:lnTo>
                  <a:pt x="3911" y="4003"/>
                </a:lnTo>
                <a:lnTo>
                  <a:pt x="3897" y="3933"/>
                </a:lnTo>
                <a:lnTo>
                  <a:pt x="3893" y="3857"/>
                </a:lnTo>
                <a:lnTo>
                  <a:pt x="3899" y="3776"/>
                </a:lnTo>
                <a:lnTo>
                  <a:pt x="3913" y="3700"/>
                </a:lnTo>
                <a:lnTo>
                  <a:pt x="3936" y="3627"/>
                </a:lnTo>
                <a:lnTo>
                  <a:pt x="3970" y="3555"/>
                </a:lnTo>
                <a:lnTo>
                  <a:pt x="4014" y="3489"/>
                </a:lnTo>
                <a:lnTo>
                  <a:pt x="4058" y="3438"/>
                </a:lnTo>
                <a:lnTo>
                  <a:pt x="4109" y="3394"/>
                </a:lnTo>
                <a:lnTo>
                  <a:pt x="4169" y="3358"/>
                </a:lnTo>
                <a:lnTo>
                  <a:pt x="4235" y="3328"/>
                </a:lnTo>
                <a:lnTo>
                  <a:pt x="4310" y="3304"/>
                </a:lnTo>
                <a:lnTo>
                  <a:pt x="4392" y="3288"/>
                </a:lnTo>
                <a:lnTo>
                  <a:pt x="4392" y="3074"/>
                </a:lnTo>
                <a:close/>
                <a:moveTo>
                  <a:pt x="4509" y="2664"/>
                </a:moveTo>
                <a:lnTo>
                  <a:pt x="4368" y="2670"/>
                </a:lnTo>
                <a:lnTo>
                  <a:pt x="4229" y="2688"/>
                </a:lnTo>
                <a:lnTo>
                  <a:pt x="4096" y="2717"/>
                </a:lnTo>
                <a:lnTo>
                  <a:pt x="3964" y="2757"/>
                </a:lnTo>
                <a:lnTo>
                  <a:pt x="3841" y="2807"/>
                </a:lnTo>
                <a:lnTo>
                  <a:pt x="3720" y="2867"/>
                </a:lnTo>
                <a:lnTo>
                  <a:pt x="3606" y="2934"/>
                </a:lnTo>
                <a:lnTo>
                  <a:pt x="3499" y="3014"/>
                </a:lnTo>
                <a:lnTo>
                  <a:pt x="3397" y="3099"/>
                </a:lnTo>
                <a:lnTo>
                  <a:pt x="3304" y="3193"/>
                </a:lnTo>
                <a:lnTo>
                  <a:pt x="3218" y="3294"/>
                </a:lnTo>
                <a:lnTo>
                  <a:pt x="3141" y="3402"/>
                </a:lnTo>
                <a:lnTo>
                  <a:pt x="3071" y="3515"/>
                </a:lnTo>
                <a:lnTo>
                  <a:pt x="3011" y="3635"/>
                </a:lnTo>
                <a:lnTo>
                  <a:pt x="2962" y="3760"/>
                </a:lnTo>
                <a:lnTo>
                  <a:pt x="2922" y="3891"/>
                </a:lnTo>
                <a:lnTo>
                  <a:pt x="2892" y="4025"/>
                </a:lnTo>
                <a:lnTo>
                  <a:pt x="2874" y="4162"/>
                </a:lnTo>
                <a:lnTo>
                  <a:pt x="2868" y="4303"/>
                </a:lnTo>
                <a:lnTo>
                  <a:pt x="2874" y="4444"/>
                </a:lnTo>
                <a:lnTo>
                  <a:pt x="2892" y="4584"/>
                </a:lnTo>
                <a:lnTo>
                  <a:pt x="2922" y="4717"/>
                </a:lnTo>
                <a:lnTo>
                  <a:pt x="2962" y="4848"/>
                </a:lnTo>
                <a:lnTo>
                  <a:pt x="3011" y="4971"/>
                </a:lnTo>
                <a:lnTo>
                  <a:pt x="3071" y="5093"/>
                </a:lnTo>
                <a:lnTo>
                  <a:pt x="3141" y="5206"/>
                </a:lnTo>
                <a:lnTo>
                  <a:pt x="3218" y="5314"/>
                </a:lnTo>
                <a:lnTo>
                  <a:pt x="3304" y="5415"/>
                </a:lnTo>
                <a:lnTo>
                  <a:pt x="3397" y="5509"/>
                </a:lnTo>
                <a:lnTo>
                  <a:pt x="3499" y="5594"/>
                </a:lnTo>
                <a:lnTo>
                  <a:pt x="3606" y="5672"/>
                </a:lnTo>
                <a:lnTo>
                  <a:pt x="3720" y="5741"/>
                </a:lnTo>
                <a:lnTo>
                  <a:pt x="3841" y="5801"/>
                </a:lnTo>
                <a:lnTo>
                  <a:pt x="3964" y="5851"/>
                </a:lnTo>
                <a:lnTo>
                  <a:pt x="4096" y="5891"/>
                </a:lnTo>
                <a:lnTo>
                  <a:pt x="4229" y="5920"/>
                </a:lnTo>
                <a:lnTo>
                  <a:pt x="4368" y="5938"/>
                </a:lnTo>
                <a:lnTo>
                  <a:pt x="4509" y="5944"/>
                </a:lnTo>
                <a:lnTo>
                  <a:pt x="4650" y="5938"/>
                </a:lnTo>
                <a:lnTo>
                  <a:pt x="4788" y="5920"/>
                </a:lnTo>
                <a:lnTo>
                  <a:pt x="4921" y="5891"/>
                </a:lnTo>
                <a:lnTo>
                  <a:pt x="5052" y="5851"/>
                </a:lnTo>
                <a:lnTo>
                  <a:pt x="5178" y="5801"/>
                </a:lnTo>
                <a:lnTo>
                  <a:pt x="5297" y="5741"/>
                </a:lnTo>
                <a:lnTo>
                  <a:pt x="5410" y="5672"/>
                </a:lnTo>
                <a:lnTo>
                  <a:pt x="5518" y="5594"/>
                </a:lnTo>
                <a:lnTo>
                  <a:pt x="5619" y="5509"/>
                </a:lnTo>
                <a:lnTo>
                  <a:pt x="5713" y="5415"/>
                </a:lnTo>
                <a:lnTo>
                  <a:pt x="5798" y="5314"/>
                </a:lnTo>
                <a:lnTo>
                  <a:pt x="5876" y="5206"/>
                </a:lnTo>
                <a:lnTo>
                  <a:pt x="5945" y="5093"/>
                </a:lnTo>
                <a:lnTo>
                  <a:pt x="6005" y="4971"/>
                </a:lnTo>
                <a:lnTo>
                  <a:pt x="6055" y="4848"/>
                </a:lnTo>
                <a:lnTo>
                  <a:pt x="6095" y="4717"/>
                </a:lnTo>
                <a:lnTo>
                  <a:pt x="6124" y="4584"/>
                </a:lnTo>
                <a:lnTo>
                  <a:pt x="6142" y="4444"/>
                </a:lnTo>
                <a:lnTo>
                  <a:pt x="6148" y="4303"/>
                </a:lnTo>
                <a:lnTo>
                  <a:pt x="6142" y="4162"/>
                </a:lnTo>
                <a:lnTo>
                  <a:pt x="6124" y="4025"/>
                </a:lnTo>
                <a:lnTo>
                  <a:pt x="6095" y="3891"/>
                </a:lnTo>
                <a:lnTo>
                  <a:pt x="6055" y="3760"/>
                </a:lnTo>
                <a:lnTo>
                  <a:pt x="6005" y="3635"/>
                </a:lnTo>
                <a:lnTo>
                  <a:pt x="5945" y="3515"/>
                </a:lnTo>
                <a:lnTo>
                  <a:pt x="5876" y="3402"/>
                </a:lnTo>
                <a:lnTo>
                  <a:pt x="5798" y="3294"/>
                </a:lnTo>
                <a:lnTo>
                  <a:pt x="5713" y="3193"/>
                </a:lnTo>
                <a:lnTo>
                  <a:pt x="5619" y="3099"/>
                </a:lnTo>
                <a:lnTo>
                  <a:pt x="5518" y="3014"/>
                </a:lnTo>
                <a:lnTo>
                  <a:pt x="5410" y="2934"/>
                </a:lnTo>
                <a:lnTo>
                  <a:pt x="5297" y="2867"/>
                </a:lnTo>
                <a:lnTo>
                  <a:pt x="5178" y="2807"/>
                </a:lnTo>
                <a:lnTo>
                  <a:pt x="5052" y="2757"/>
                </a:lnTo>
                <a:lnTo>
                  <a:pt x="4921" y="2717"/>
                </a:lnTo>
                <a:lnTo>
                  <a:pt x="4788" y="2688"/>
                </a:lnTo>
                <a:lnTo>
                  <a:pt x="4650" y="2670"/>
                </a:lnTo>
                <a:lnTo>
                  <a:pt x="4509" y="2664"/>
                </a:lnTo>
                <a:close/>
                <a:moveTo>
                  <a:pt x="205" y="2459"/>
                </a:moveTo>
                <a:lnTo>
                  <a:pt x="2663" y="2459"/>
                </a:lnTo>
                <a:lnTo>
                  <a:pt x="2711" y="2463"/>
                </a:lnTo>
                <a:lnTo>
                  <a:pt x="2755" y="2475"/>
                </a:lnTo>
                <a:lnTo>
                  <a:pt x="2793" y="2493"/>
                </a:lnTo>
                <a:lnTo>
                  <a:pt x="2825" y="2517"/>
                </a:lnTo>
                <a:lnTo>
                  <a:pt x="2848" y="2544"/>
                </a:lnTo>
                <a:lnTo>
                  <a:pt x="2864" y="2578"/>
                </a:lnTo>
                <a:lnTo>
                  <a:pt x="2868" y="2612"/>
                </a:lnTo>
                <a:lnTo>
                  <a:pt x="2868" y="2761"/>
                </a:lnTo>
                <a:lnTo>
                  <a:pt x="2781" y="2861"/>
                </a:lnTo>
                <a:lnTo>
                  <a:pt x="2697" y="2964"/>
                </a:lnTo>
                <a:lnTo>
                  <a:pt x="2622" y="3074"/>
                </a:lnTo>
                <a:lnTo>
                  <a:pt x="205" y="3074"/>
                </a:lnTo>
                <a:lnTo>
                  <a:pt x="157" y="3070"/>
                </a:lnTo>
                <a:lnTo>
                  <a:pt x="115" y="3058"/>
                </a:lnTo>
                <a:lnTo>
                  <a:pt x="78" y="3040"/>
                </a:lnTo>
                <a:lnTo>
                  <a:pt x="46" y="3016"/>
                </a:lnTo>
                <a:lnTo>
                  <a:pt x="20" y="2988"/>
                </a:lnTo>
                <a:lnTo>
                  <a:pt x="6" y="2956"/>
                </a:lnTo>
                <a:lnTo>
                  <a:pt x="0" y="2920"/>
                </a:lnTo>
                <a:lnTo>
                  <a:pt x="0" y="2612"/>
                </a:lnTo>
                <a:lnTo>
                  <a:pt x="6" y="2578"/>
                </a:lnTo>
                <a:lnTo>
                  <a:pt x="20" y="2544"/>
                </a:lnTo>
                <a:lnTo>
                  <a:pt x="46" y="2517"/>
                </a:lnTo>
                <a:lnTo>
                  <a:pt x="78" y="2493"/>
                </a:lnTo>
                <a:lnTo>
                  <a:pt x="115" y="2475"/>
                </a:lnTo>
                <a:lnTo>
                  <a:pt x="157" y="2463"/>
                </a:lnTo>
                <a:lnTo>
                  <a:pt x="205" y="2459"/>
                </a:lnTo>
                <a:close/>
                <a:moveTo>
                  <a:pt x="4509" y="2254"/>
                </a:moveTo>
                <a:lnTo>
                  <a:pt x="4668" y="2260"/>
                </a:lnTo>
                <a:lnTo>
                  <a:pt x="4826" y="2278"/>
                </a:lnTo>
                <a:lnTo>
                  <a:pt x="4979" y="2308"/>
                </a:lnTo>
                <a:lnTo>
                  <a:pt x="5128" y="2349"/>
                </a:lnTo>
                <a:lnTo>
                  <a:pt x="5271" y="2401"/>
                </a:lnTo>
                <a:lnTo>
                  <a:pt x="5410" y="2463"/>
                </a:lnTo>
                <a:lnTo>
                  <a:pt x="5544" y="2534"/>
                </a:lnTo>
                <a:lnTo>
                  <a:pt x="5669" y="2614"/>
                </a:lnTo>
                <a:lnTo>
                  <a:pt x="5790" y="2704"/>
                </a:lnTo>
                <a:lnTo>
                  <a:pt x="5904" y="2803"/>
                </a:lnTo>
                <a:lnTo>
                  <a:pt x="6009" y="2908"/>
                </a:lnTo>
                <a:lnTo>
                  <a:pt x="6107" y="3022"/>
                </a:lnTo>
                <a:lnTo>
                  <a:pt x="6198" y="3143"/>
                </a:lnTo>
                <a:lnTo>
                  <a:pt x="6278" y="3269"/>
                </a:lnTo>
                <a:lnTo>
                  <a:pt x="6349" y="3402"/>
                </a:lnTo>
                <a:lnTo>
                  <a:pt x="6411" y="3541"/>
                </a:lnTo>
                <a:lnTo>
                  <a:pt x="6463" y="3684"/>
                </a:lnTo>
                <a:lnTo>
                  <a:pt x="6504" y="3834"/>
                </a:lnTo>
                <a:lnTo>
                  <a:pt x="6534" y="3987"/>
                </a:lnTo>
                <a:lnTo>
                  <a:pt x="6552" y="4144"/>
                </a:lnTo>
                <a:lnTo>
                  <a:pt x="6558" y="4303"/>
                </a:lnTo>
                <a:lnTo>
                  <a:pt x="6552" y="4464"/>
                </a:lnTo>
                <a:lnTo>
                  <a:pt x="6534" y="4621"/>
                </a:lnTo>
                <a:lnTo>
                  <a:pt x="6504" y="4775"/>
                </a:lnTo>
                <a:lnTo>
                  <a:pt x="6463" y="4922"/>
                </a:lnTo>
                <a:lnTo>
                  <a:pt x="6411" y="5067"/>
                </a:lnTo>
                <a:lnTo>
                  <a:pt x="6349" y="5206"/>
                </a:lnTo>
                <a:lnTo>
                  <a:pt x="6278" y="5338"/>
                </a:lnTo>
                <a:lnTo>
                  <a:pt x="6198" y="5465"/>
                </a:lnTo>
                <a:lnTo>
                  <a:pt x="6107" y="5586"/>
                </a:lnTo>
                <a:lnTo>
                  <a:pt x="6009" y="5700"/>
                </a:lnTo>
                <a:lnTo>
                  <a:pt x="5904" y="5805"/>
                </a:lnTo>
                <a:lnTo>
                  <a:pt x="5790" y="5902"/>
                </a:lnTo>
                <a:lnTo>
                  <a:pt x="5669" y="5992"/>
                </a:lnTo>
                <a:lnTo>
                  <a:pt x="5544" y="6074"/>
                </a:lnTo>
                <a:lnTo>
                  <a:pt x="5410" y="6145"/>
                </a:lnTo>
                <a:lnTo>
                  <a:pt x="5271" y="6207"/>
                </a:lnTo>
                <a:lnTo>
                  <a:pt x="5128" y="6259"/>
                </a:lnTo>
                <a:lnTo>
                  <a:pt x="4979" y="6298"/>
                </a:lnTo>
                <a:lnTo>
                  <a:pt x="4826" y="6328"/>
                </a:lnTo>
                <a:lnTo>
                  <a:pt x="4668" y="6348"/>
                </a:lnTo>
                <a:lnTo>
                  <a:pt x="4509" y="6354"/>
                </a:lnTo>
                <a:lnTo>
                  <a:pt x="4348" y="6348"/>
                </a:lnTo>
                <a:lnTo>
                  <a:pt x="4191" y="6328"/>
                </a:lnTo>
                <a:lnTo>
                  <a:pt x="4038" y="6298"/>
                </a:lnTo>
                <a:lnTo>
                  <a:pt x="3891" y="6259"/>
                </a:lnTo>
                <a:lnTo>
                  <a:pt x="3745" y="6207"/>
                </a:lnTo>
                <a:lnTo>
                  <a:pt x="3606" y="6145"/>
                </a:lnTo>
                <a:lnTo>
                  <a:pt x="3475" y="6074"/>
                </a:lnTo>
                <a:lnTo>
                  <a:pt x="3348" y="5992"/>
                </a:lnTo>
                <a:lnTo>
                  <a:pt x="3226" y="5902"/>
                </a:lnTo>
                <a:lnTo>
                  <a:pt x="3113" y="5805"/>
                </a:lnTo>
                <a:lnTo>
                  <a:pt x="3008" y="5700"/>
                </a:lnTo>
                <a:lnTo>
                  <a:pt x="2910" y="5586"/>
                </a:lnTo>
                <a:lnTo>
                  <a:pt x="2821" y="5465"/>
                </a:lnTo>
                <a:lnTo>
                  <a:pt x="2739" y="5338"/>
                </a:lnTo>
                <a:lnTo>
                  <a:pt x="2667" y="5206"/>
                </a:lnTo>
                <a:lnTo>
                  <a:pt x="2606" y="5067"/>
                </a:lnTo>
                <a:lnTo>
                  <a:pt x="2554" y="4922"/>
                </a:lnTo>
                <a:lnTo>
                  <a:pt x="2514" y="4775"/>
                </a:lnTo>
                <a:lnTo>
                  <a:pt x="2484" y="4621"/>
                </a:lnTo>
                <a:lnTo>
                  <a:pt x="2464" y="4464"/>
                </a:lnTo>
                <a:lnTo>
                  <a:pt x="2459" y="4303"/>
                </a:lnTo>
                <a:lnTo>
                  <a:pt x="2464" y="4144"/>
                </a:lnTo>
                <a:lnTo>
                  <a:pt x="2484" y="3987"/>
                </a:lnTo>
                <a:lnTo>
                  <a:pt x="2514" y="3834"/>
                </a:lnTo>
                <a:lnTo>
                  <a:pt x="2554" y="3684"/>
                </a:lnTo>
                <a:lnTo>
                  <a:pt x="2606" y="3541"/>
                </a:lnTo>
                <a:lnTo>
                  <a:pt x="2667" y="3402"/>
                </a:lnTo>
                <a:lnTo>
                  <a:pt x="2739" y="3269"/>
                </a:lnTo>
                <a:lnTo>
                  <a:pt x="2821" y="3143"/>
                </a:lnTo>
                <a:lnTo>
                  <a:pt x="2910" y="3022"/>
                </a:lnTo>
                <a:lnTo>
                  <a:pt x="3008" y="2908"/>
                </a:lnTo>
                <a:lnTo>
                  <a:pt x="3113" y="2803"/>
                </a:lnTo>
                <a:lnTo>
                  <a:pt x="3226" y="2704"/>
                </a:lnTo>
                <a:lnTo>
                  <a:pt x="3348" y="2614"/>
                </a:lnTo>
                <a:lnTo>
                  <a:pt x="3475" y="2534"/>
                </a:lnTo>
                <a:lnTo>
                  <a:pt x="3606" y="2463"/>
                </a:lnTo>
                <a:lnTo>
                  <a:pt x="3745" y="2401"/>
                </a:lnTo>
                <a:lnTo>
                  <a:pt x="3891" y="2349"/>
                </a:lnTo>
                <a:lnTo>
                  <a:pt x="4038" y="2308"/>
                </a:lnTo>
                <a:lnTo>
                  <a:pt x="4191" y="2278"/>
                </a:lnTo>
                <a:lnTo>
                  <a:pt x="4348" y="2260"/>
                </a:lnTo>
                <a:lnTo>
                  <a:pt x="4509" y="2254"/>
                </a:lnTo>
                <a:close/>
                <a:moveTo>
                  <a:pt x="3278" y="1639"/>
                </a:moveTo>
                <a:lnTo>
                  <a:pt x="5739" y="1639"/>
                </a:lnTo>
                <a:lnTo>
                  <a:pt x="5784" y="1643"/>
                </a:lnTo>
                <a:lnTo>
                  <a:pt x="5828" y="1655"/>
                </a:lnTo>
                <a:lnTo>
                  <a:pt x="5866" y="1673"/>
                </a:lnTo>
                <a:lnTo>
                  <a:pt x="5898" y="1697"/>
                </a:lnTo>
                <a:lnTo>
                  <a:pt x="5922" y="1725"/>
                </a:lnTo>
                <a:lnTo>
                  <a:pt x="5937" y="1759"/>
                </a:lnTo>
                <a:lnTo>
                  <a:pt x="5943" y="1792"/>
                </a:lnTo>
                <a:lnTo>
                  <a:pt x="5943" y="2101"/>
                </a:lnTo>
                <a:lnTo>
                  <a:pt x="5937" y="2137"/>
                </a:lnTo>
                <a:lnTo>
                  <a:pt x="5922" y="2168"/>
                </a:lnTo>
                <a:lnTo>
                  <a:pt x="5898" y="2196"/>
                </a:lnTo>
                <a:lnTo>
                  <a:pt x="5866" y="2220"/>
                </a:lnTo>
                <a:lnTo>
                  <a:pt x="5828" y="2238"/>
                </a:lnTo>
                <a:lnTo>
                  <a:pt x="5784" y="2250"/>
                </a:lnTo>
                <a:lnTo>
                  <a:pt x="5739" y="2254"/>
                </a:lnTo>
                <a:lnTo>
                  <a:pt x="5442" y="2254"/>
                </a:lnTo>
                <a:lnTo>
                  <a:pt x="5297" y="2194"/>
                </a:lnTo>
                <a:lnTo>
                  <a:pt x="5148" y="2143"/>
                </a:lnTo>
                <a:lnTo>
                  <a:pt x="4993" y="2103"/>
                </a:lnTo>
                <a:lnTo>
                  <a:pt x="4835" y="2073"/>
                </a:lnTo>
                <a:lnTo>
                  <a:pt x="4672" y="2055"/>
                </a:lnTo>
                <a:lnTo>
                  <a:pt x="4509" y="2049"/>
                </a:lnTo>
                <a:lnTo>
                  <a:pt x="4344" y="2055"/>
                </a:lnTo>
                <a:lnTo>
                  <a:pt x="4181" y="2073"/>
                </a:lnTo>
                <a:lnTo>
                  <a:pt x="4024" y="2103"/>
                </a:lnTo>
                <a:lnTo>
                  <a:pt x="3869" y="2143"/>
                </a:lnTo>
                <a:lnTo>
                  <a:pt x="3720" y="2194"/>
                </a:lnTo>
                <a:lnTo>
                  <a:pt x="3574" y="2254"/>
                </a:lnTo>
                <a:lnTo>
                  <a:pt x="3278" y="2254"/>
                </a:lnTo>
                <a:lnTo>
                  <a:pt x="3232" y="2250"/>
                </a:lnTo>
                <a:lnTo>
                  <a:pt x="3189" y="2238"/>
                </a:lnTo>
                <a:lnTo>
                  <a:pt x="3151" y="2220"/>
                </a:lnTo>
                <a:lnTo>
                  <a:pt x="3119" y="2196"/>
                </a:lnTo>
                <a:lnTo>
                  <a:pt x="3095" y="2168"/>
                </a:lnTo>
                <a:lnTo>
                  <a:pt x="3079" y="2137"/>
                </a:lnTo>
                <a:lnTo>
                  <a:pt x="3073" y="2101"/>
                </a:lnTo>
                <a:lnTo>
                  <a:pt x="3073" y="1792"/>
                </a:lnTo>
                <a:lnTo>
                  <a:pt x="3079" y="1759"/>
                </a:lnTo>
                <a:lnTo>
                  <a:pt x="3095" y="1725"/>
                </a:lnTo>
                <a:lnTo>
                  <a:pt x="3119" y="1697"/>
                </a:lnTo>
                <a:lnTo>
                  <a:pt x="3151" y="1673"/>
                </a:lnTo>
                <a:lnTo>
                  <a:pt x="3189" y="1655"/>
                </a:lnTo>
                <a:lnTo>
                  <a:pt x="3232" y="1643"/>
                </a:lnTo>
                <a:lnTo>
                  <a:pt x="3278" y="1639"/>
                </a:lnTo>
                <a:close/>
                <a:moveTo>
                  <a:pt x="205" y="1639"/>
                </a:moveTo>
                <a:lnTo>
                  <a:pt x="2663" y="1639"/>
                </a:lnTo>
                <a:lnTo>
                  <a:pt x="2711" y="1643"/>
                </a:lnTo>
                <a:lnTo>
                  <a:pt x="2755" y="1655"/>
                </a:lnTo>
                <a:lnTo>
                  <a:pt x="2793" y="1673"/>
                </a:lnTo>
                <a:lnTo>
                  <a:pt x="2825" y="1697"/>
                </a:lnTo>
                <a:lnTo>
                  <a:pt x="2848" y="1725"/>
                </a:lnTo>
                <a:lnTo>
                  <a:pt x="2864" y="1759"/>
                </a:lnTo>
                <a:lnTo>
                  <a:pt x="2868" y="1792"/>
                </a:lnTo>
                <a:lnTo>
                  <a:pt x="2868" y="2101"/>
                </a:lnTo>
                <a:lnTo>
                  <a:pt x="2864" y="2137"/>
                </a:lnTo>
                <a:lnTo>
                  <a:pt x="2848" y="2168"/>
                </a:lnTo>
                <a:lnTo>
                  <a:pt x="2825" y="2196"/>
                </a:lnTo>
                <a:lnTo>
                  <a:pt x="2793" y="2220"/>
                </a:lnTo>
                <a:lnTo>
                  <a:pt x="2755" y="2238"/>
                </a:lnTo>
                <a:lnTo>
                  <a:pt x="2711" y="2250"/>
                </a:lnTo>
                <a:lnTo>
                  <a:pt x="2663" y="2254"/>
                </a:lnTo>
                <a:lnTo>
                  <a:pt x="205" y="2254"/>
                </a:lnTo>
                <a:lnTo>
                  <a:pt x="157" y="2250"/>
                </a:lnTo>
                <a:lnTo>
                  <a:pt x="115" y="2238"/>
                </a:lnTo>
                <a:lnTo>
                  <a:pt x="78" y="2220"/>
                </a:lnTo>
                <a:lnTo>
                  <a:pt x="46" y="2196"/>
                </a:lnTo>
                <a:lnTo>
                  <a:pt x="20" y="2168"/>
                </a:lnTo>
                <a:lnTo>
                  <a:pt x="6" y="2137"/>
                </a:lnTo>
                <a:lnTo>
                  <a:pt x="0" y="2101"/>
                </a:lnTo>
                <a:lnTo>
                  <a:pt x="0" y="1792"/>
                </a:lnTo>
                <a:lnTo>
                  <a:pt x="6" y="1759"/>
                </a:lnTo>
                <a:lnTo>
                  <a:pt x="20" y="1725"/>
                </a:lnTo>
                <a:lnTo>
                  <a:pt x="46" y="1697"/>
                </a:lnTo>
                <a:lnTo>
                  <a:pt x="78" y="1673"/>
                </a:lnTo>
                <a:lnTo>
                  <a:pt x="115" y="1655"/>
                </a:lnTo>
                <a:lnTo>
                  <a:pt x="157" y="1643"/>
                </a:lnTo>
                <a:lnTo>
                  <a:pt x="205" y="1639"/>
                </a:lnTo>
                <a:close/>
                <a:moveTo>
                  <a:pt x="3278" y="820"/>
                </a:moveTo>
                <a:lnTo>
                  <a:pt x="5739" y="820"/>
                </a:lnTo>
                <a:lnTo>
                  <a:pt x="5784" y="824"/>
                </a:lnTo>
                <a:lnTo>
                  <a:pt x="5828" y="836"/>
                </a:lnTo>
                <a:lnTo>
                  <a:pt x="5866" y="853"/>
                </a:lnTo>
                <a:lnTo>
                  <a:pt x="5898" y="877"/>
                </a:lnTo>
                <a:lnTo>
                  <a:pt x="5922" y="905"/>
                </a:lnTo>
                <a:lnTo>
                  <a:pt x="5937" y="939"/>
                </a:lnTo>
                <a:lnTo>
                  <a:pt x="5943" y="973"/>
                </a:lnTo>
                <a:lnTo>
                  <a:pt x="5943" y="1281"/>
                </a:lnTo>
                <a:lnTo>
                  <a:pt x="5937" y="1317"/>
                </a:lnTo>
                <a:lnTo>
                  <a:pt x="5922" y="1349"/>
                </a:lnTo>
                <a:lnTo>
                  <a:pt x="5898" y="1377"/>
                </a:lnTo>
                <a:lnTo>
                  <a:pt x="5866" y="1401"/>
                </a:lnTo>
                <a:lnTo>
                  <a:pt x="5828" y="1418"/>
                </a:lnTo>
                <a:lnTo>
                  <a:pt x="5784" y="1430"/>
                </a:lnTo>
                <a:lnTo>
                  <a:pt x="5739" y="1434"/>
                </a:lnTo>
                <a:lnTo>
                  <a:pt x="3278" y="1434"/>
                </a:lnTo>
                <a:lnTo>
                  <a:pt x="3232" y="1430"/>
                </a:lnTo>
                <a:lnTo>
                  <a:pt x="3189" y="1418"/>
                </a:lnTo>
                <a:lnTo>
                  <a:pt x="3151" y="1401"/>
                </a:lnTo>
                <a:lnTo>
                  <a:pt x="3119" y="1377"/>
                </a:lnTo>
                <a:lnTo>
                  <a:pt x="3095" y="1349"/>
                </a:lnTo>
                <a:lnTo>
                  <a:pt x="3079" y="1317"/>
                </a:lnTo>
                <a:lnTo>
                  <a:pt x="3073" y="1281"/>
                </a:lnTo>
                <a:lnTo>
                  <a:pt x="3073" y="973"/>
                </a:lnTo>
                <a:lnTo>
                  <a:pt x="3079" y="939"/>
                </a:lnTo>
                <a:lnTo>
                  <a:pt x="3095" y="905"/>
                </a:lnTo>
                <a:lnTo>
                  <a:pt x="3119" y="877"/>
                </a:lnTo>
                <a:lnTo>
                  <a:pt x="3151" y="853"/>
                </a:lnTo>
                <a:lnTo>
                  <a:pt x="3189" y="836"/>
                </a:lnTo>
                <a:lnTo>
                  <a:pt x="3232" y="824"/>
                </a:lnTo>
                <a:lnTo>
                  <a:pt x="3278" y="820"/>
                </a:lnTo>
                <a:close/>
                <a:moveTo>
                  <a:pt x="3278" y="0"/>
                </a:moveTo>
                <a:lnTo>
                  <a:pt x="5739" y="0"/>
                </a:lnTo>
                <a:lnTo>
                  <a:pt x="5784" y="4"/>
                </a:lnTo>
                <a:lnTo>
                  <a:pt x="5828" y="16"/>
                </a:lnTo>
                <a:lnTo>
                  <a:pt x="5866" y="34"/>
                </a:lnTo>
                <a:lnTo>
                  <a:pt x="5898" y="58"/>
                </a:lnTo>
                <a:lnTo>
                  <a:pt x="5922" y="86"/>
                </a:lnTo>
                <a:lnTo>
                  <a:pt x="5937" y="117"/>
                </a:lnTo>
                <a:lnTo>
                  <a:pt x="5943" y="153"/>
                </a:lnTo>
                <a:lnTo>
                  <a:pt x="5943" y="462"/>
                </a:lnTo>
                <a:lnTo>
                  <a:pt x="5937" y="495"/>
                </a:lnTo>
                <a:lnTo>
                  <a:pt x="5922" y="529"/>
                </a:lnTo>
                <a:lnTo>
                  <a:pt x="5898" y="557"/>
                </a:lnTo>
                <a:lnTo>
                  <a:pt x="5866" y="581"/>
                </a:lnTo>
                <a:lnTo>
                  <a:pt x="5828" y="599"/>
                </a:lnTo>
                <a:lnTo>
                  <a:pt x="5784" y="611"/>
                </a:lnTo>
                <a:lnTo>
                  <a:pt x="5739" y="615"/>
                </a:lnTo>
                <a:lnTo>
                  <a:pt x="3278" y="615"/>
                </a:lnTo>
                <a:lnTo>
                  <a:pt x="3232" y="611"/>
                </a:lnTo>
                <a:lnTo>
                  <a:pt x="3189" y="599"/>
                </a:lnTo>
                <a:lnTo>
                  <a:pt x="3151" y="581"/>
                </a:lnTo>
                <a:lnTo>
                  <a:pt x="3119" y="557"/>
                </a:lnTo>
                <a:lnTo>
                  <a:pt x="3095" y="529"/>
                </a:lnTo>
                <a:lnTo>
                  <a:pt x="3079" y="495"/>
                </a:lnTo>
                <a:lnTo>
                  <a:pt x="3073" y="462"/>
                </a:lnTo>
                <a:lnTo>
                  <a:pt x="3073" y="153"/>
                </a:lnTo>
                <a:lnTo>
                  <a:pt x="3079" y="117"/>
                </a:lnTo>
                <a:lnTo>
                  <a:pt x="3095" y="86"/>
                </a:lnTo>
                <a:lnTo>
                  <a:pt x="3119" y="58"/>
                </a:lnTo>
                <a:lnTo>
                  <a:pt x="3151" y="34"/>
                </a:lnTo>
                <a:lnTo>
                  <a:pt x="3189" y="16"/>
                </a:lnTo>
                <a:lnTo>
                  <a:pt x="3232" y="4"/>
                </a:lnTo>
                <a:lnTo>
                  <a:pt x="327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srgbClr val="3F3F3F"/>
              </a:solidFill>
              <a:latin typeface="+mj-lt"/>
            </a:endParaRPr>
          </a:p>
        </p:txBody>
      </p:sp>
      <p:cxnSp>
        <p:nvCxnSpPr>
          <p:cNvPr id="90" name="Straight Connector 89">
            <a:extLst>
              <a:ext uri="{FF2B5EF4-FFF2-40B4-BE49-F238E27FC236}">
                <a16:creationId xmlns:a16="http://schemas.microsoft.com/office/drawing/2014/main" id="{C710B5F2-98D5-A816-98FC-632CE2DE6C72}"/>
              </a:ext>
            </a:extLst>
          </p:cNvPr>
          <p:cNvCxnSpPr>
            <a:cxnSpLocks/>
          </p:cNvCxnSpPr>
          <p:nvPr/>
        </p:nvCxnSpPr>
        <p:spPr>
          <a:xfrm>
            <a:off x="6152568" y="4817545"/>
            <a:ext cx="9730" cy="1608430"/>
          </a:xfrm>
          <a:prstGeom prst="line">
            <a:avLst/>
          </a:prstGeom>
          <a:noFill/>
          <a:ln w="9525" cap="flat" cmpd="sng" algn="ctr">
            <a:solidFill>
              <a:srgbClr val="FFFFFF">
                <a:lumMod val="75000"/>
              </a:srgbClr>
            </a:solidFill>
            <a:prstDash val="sysDot"/>
          </a:ln>
          <a:effectLst/>
        </p:spPr>
      </p:cxnSp>
      <p:pic>
        <p:nvPicPr>
          <p:cNvPr id="92" name="Graphic 91" descr="Performance Curtains with solid fill">
            <a:extLst>
              <a:ext uri="{FF2B5EF4-FFF2-40B4-BE49-F238E27FC236}">
                <a16:creationId xmlns:a16="http://schemas.microsoft.com/office/drawing/2014/main" id="{19C4FC88-EEF5-CD55-3719-A22D1ACBDE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83792" y="4913851"/>
            <a:ext cx="471775" cy="471775"/>
          </a:xfrm>
          <a:prstGeom prst="rect">
            <a:avLst/>
          </a:prstGeom>
        </p:spPr>
      </p:pic>
    </p:spTree>
    <p:extLst>
      <p:ext uri="{BB962C8B-B14F-4D97-AF65-F5344CB8AC3E}">
        <p14:creationId xmlns:p14="http://schemas.microsoft.com/office/powerpoint/2010/main" val="2898503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76DEA14-481A-F87C-141F-B3C1AEC9EF0A}"/>
              </a:ext>
            </a:extLst>
          </p:cNvPr>
          <p:cNvSpPr/>
          <p:nvPr/>
        </p:nvSpPr>
        <p:spPr>
          <a:xfrm>
            <a:off x="8207928" y="1485900"/>
            <a:ext cx="3693486" cy="4753147"/>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8EB4D2D-6804-0F48-F395-B5098F333073}"/>
              </a:ext>
            </a:extLst>
          </p:cNvPr>
          <p:cNvSpPr/>
          <p:nvPr/>
        </p:nvSpPr>
        <p:spPr>
          <a:xfrm>
            <a:off x="263103" y="1485900"/>
            <a:ext cx="3693486" cy="475314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BB15EE-730B-9472-8599-78459734AA2A}"/>
              </a:ext>
            </a:extLst>
          </p:cNvPr>
          <p:cNvSpPr>
            <a:spLocks noGrp="1"/>
          </p:cNvSpPr>
          <p:nvPr>
            <p:ph type="title"/>
          </p:nvPr>
        </p:nvSpPr>
        <p:spPr/>
        <p:txBody>
          <a:bodyPr/>
          <a:lstStyle/>
          <a:p>
            <a:r>
              <a:rPr lang="en-US" b="1" dirty="0"/>
              <a:t>How We’ll Scale: Rotating Showcases That Enable Selling</a:t>
            </a:r>
          </a:p>
        </p:txBody>
      </p:sp>
      <p:sp>
        <p:nvSpPr>
          <p:cNvPr id="3" name="Text Placeholder 2">
            <a:extLst>
              <a:ext uri="{FF2B5EF4-FFF2-40B4-BE49-F238E27FC236}">
                <a16:creationId xmlns:a16="http://schemas.microsoft.com/office/drawing/2014/main" id="{11D2B100-89E3-E984-EAD0-97A50CF69CE6}"/>
              </a:ext>
            </a:extLst>
          </p:cNvPr>
          <p:cNvSpPr>
            <a:spLocks noGrp="1"/>
          </p:cNvSpPr>
          <p:nvPr>
            <p:ph type="body" sz="quarter" idx="10"/>
          </p:nvPr>
        </p:nvSpPr>
        <p:spPr>
          <a:xfrm>
            <a:off x="542647" y="814367"/>
            <a:ext cx="11098999" cy="553998"/>
          </a:xfrm>
        </p:spPr>
        <p:txBody>
          <a:bodyPr/>
          <a:lstStyle/>
          <a:p>
            <a:r>
              <a:rPr lang="en-US" dirty="0"/>
              <a:t>Champions will help the firm learn what’s sellable, where it fits, and how to position it in client conversations</a:t>
            </a:r>
          </a:p>
        </p:txBody>
      </p:sp>
      <p:grpSp>
        <p:nvGrpSpPr>
          <p:cNvPr id="4" name="Group 3">
            <a:extLst>
              <a:ext uri="{FF2B5EF4-FFF2-40B4-BE49-F238E27FC236}">
                <a16:creationId xmlns:a16="http://schemas.microsoft.com/office/drawing/2014/main" id="{2E309AC0-144A-9F8F-B785-C504E5D20FA9}"/>
              </a:ext>
            </a:extLst>
          </p:cNvPr>
          <p:cNvGrpSpPr/>
          <p:nvPr/>
        </p:nvGrpSpPr>
        <p:grpSpPr>
          <a:xfrm>
            <a:off x="4159075" y="1648603"/>
            <a:ext cx="3855309" cy="3855309"/>
            <a:chOff x="4044775" y="1377776"/>
            <a:chExt cx="3855309" cy="3855309"/>
          </a:xfrm>
        </p:grpSpPr>
        <p:sp>
          <p:nvSpPr>
            <p:cNvPr id="5" name="Half Frame 4">
              <a:extLst>
                <a:ext uri="{FF2B5EF4-FFF2-40B4-BE49-F238E27FC236}">
                  <a16:creationId xmlns:a16="http://schemas.microsoft.com/office/drawing/2014/main" id="{4292A941-AC73-94FD-2627-242B9AD72A5C}"/>
                </a:ext>
              </a:extLst>
            </p:cNvPr>
            <p:cNvSpPr/>
            <p:nvPr/>
          </p:nvSpPr>
          <p:spPr>
            <a:xfrm>
              <a:off x="4044775" y="1377776"/>
              <a:ext cx="3855309" cy="3855309"/>
            </a:xfrm>
            <a:prstGeom prst="halfFram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Freeform: Shape 5">
              <a:extLst>
                <a:ext uri="{FF2B5EF4-FFF2-40B4-BE49-F238E27FC236}">
                  <a16:creationId xmlns:a16="http://schemas.microsoft.com/office/drawing/2014/main" id="{21398538-7BE2-8CF8-6AE6-04F20140E7F6}"/>
                </a:ext>
              </a:extLst>
            </p:cNvPr>
            <p:cNvSpPr/>
            <p:nvPr/>
          </p:nvSpPr>
          <p:spPr>
            <a:xfrm>
              <a:off x="5095101" y="2428101"/>
              <a:ext cx="1754658" cy="1754658"/>
            </a:xfrm>
            <a:custGeom>
              <a:avLst/>
              <a:gdLst>
                <a:gd name="connsiteX0" fmla="*/ 0 w 1754658"/>
                <a:gd name="connsiteY0" fmla="*/ 0 h 1754658"/>
                <a:gd name="connsiteX1" fmla="*/ 1754658 w 1754658"/>
                <a:gd name="connsiteY1" fmla="*/ 0 h 1754658"/>
                <a:gd name="connsiteX2" fmla="*/ 1519893 w 1754658"/>
                <a:gd name="connsiteY2" fmla="*/ 234765 h 1754658"/>
                <a:gd name="connsiteX3" fmla="*/ 234764 w 1754658"/>
                <a:gd name="connsiteY3" fmla="*/ 234765 h 1754658"/>
                <a:gd name="connsiteX4" fmla="*/ 234764 w 1754658"/>
                <a:gd name="connsiteY4" fmla="*/ 1519894 h 1754658"/>
                <a:gd name="connsiteX5" fmla="*/ 0 w 1754658"/>
                <a:gd name="connsiteY5" fmla="*/ 1754658 h 1754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4658" h="1754658">
                  <a:moveTo>
                    <a:pt x="0" y="0"/>
                  </a:moveTo>
                  <a:lnTo>
                    <a:pt x="1754658" y="0"/>
                  </a:lnTo>
                  <a:lnTo>
                    <a:pt x="1519893" y="234765"/>
                  </a:lnTo>
                  <a:lnTo>
                    <a:pt x="234764" y="234765"/>
                  </a:lnTo>
                  <a:lnTo>
                    <a:pt x="234764" y="1519894"/>
                  </a:lnTo>
                  <a:lnTo>
                    <a:pt x="0" y="1754658"/>
                  </a:lnTo>
                  <a:close/>
                </a:path>
              </a:pathLst>
            </a:cu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8" name="Half Frame 7">
            <a:extLst>
              <a:ext uri="{FF2B5EF4-FFF2-40B4-BE49-F238E27FC236}">
                <a16:creationId xmlns:a16="http://schemas.microsoft.com/office/drawing/2014/main" id="{EC942D47-DAC6-CB2B-DCD1-084B62CC3FE5}"/>
              </a:ext>
            </a:extLst>
          </p:cNvPr>
          <p:cNvSpPr/>
          <p:nvPr/>
        </p:nvSpPr>
        <p:spPr>
          <a:xfrm rot="10800000">
            <a:off x="4215716" y="1895743"/>
            <a:ext cx="3855309" cy="3855309"/>
          </a:xfrm>
          <a:prstGeom prst="halfFrame">
            <a:avLst/>
          </a:prstGeom>
          <a:solidFill>
            <a:srgbClr val="005F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Freeform: Shape 8">
            <a:extLst>
              <a:ext uri="{FF2B5EF4-FFF2-40B4-BE49-F238E27FC236}">
                <a16:creationId xmlns:a16="http://schemas.microsoft.com/office/drawing/2014/main" id="{529D2E74-1909-1D85-F3F7-ADCB581E2551}"/>
              </a:ext>
            </a:extLst>
          </p:cNvPr>
          <p:cNvSpPr/>
          <p:nvPr/>
        </p:nvSpPr>
        <p:spPr>
          <a:xfrm rot="10800000">
            <a:off x="5342243" y="2946070"/>
            <a:ext cx="1754655" cy="1754655"/>
          </a:xfrm>
          <a:custGeom>
            <a:avLst/>
            <a:gdLst>
              <a:gd name="connsiteX0" fmla="*/ 0 w 1754655"/>
              <a:gd name="connsiteY0" fmla="*/ 1754655 h 1754655"/>
              <a:gd name="connsiteX1" fmla="*/ 0 w 1754655"/>
              <a:gd name="connsiteY1" fmla="*/ 0 h 1754655"/>
              <a:gd name="connsiteX2" fmla="*/ 1754655 w 1754655"/>
              <a:gd name="connsiteY2" fmla="*/ 0 h 1754655"/>
              <a:gd name="connsiteX3" fmla="*/ 1519892 w 1754655"/>
              <a:gd name="connsiteY3" fmla="*/ 234763 h 1754655"/>
              <a:gd name="connsiteX4" fmla="*/ 234763 w 1754655"/>
              <a:gd name="connsiteY4" fmla="*/ 234763 h 1754655"/>
              <a:gd name="connsiteX5" fmla="*/ 234763 w 1754655"/>
              <a:gd name="connsiteY5" fmla="*/ 1519892 h 175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4655" h="1754655">
                <a:moveTo>
                  <a:pt x="0" y="1754655"/>
                </a:moveTo>
                <a:lnTo>
                  <a:pt x="0" y="0"/>
                </a:lnTo>
                <a:lnTo>
                  <a:pt x="1754655" y="0"/>
                </a:lnTo>
                <a:lnTo>
                  <a:pt x="1519892" y="234763"/>
                </a:lnTo>
                <a:lnTo>
                  <a:pt x="234763" y="234763"/>
                </a:lnTo>
                <a:lnTo>
                  <a:pt x="234763" y="1519892"/>
                </a:lnTo>
                <a:close/>
              </a:path>
            </a:pathLst>
          </a:custGeom>
          <a:solidFill>
            <a:schemeClr val="tx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 name="Graphic 9" descr="Lights On outline">
            <a:extLst>
              <a:ext uri="{FF2B5EF4-FFF2-40B4-BE49-F238E27FC236}">
                <a16:creationId xmlns:a16="http://schemas.microsoft.com/office/drawing/2014/main" id="{14390767-547C-9989-844D-AA4B0944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2600" y="3166427"/>
            <a:ext cx="1066800" cy="1066800"/>
          </a:xfrm>
          <a:prstGeom prst="rect">
            <a:avLst/>
          </a:prstGeom>
        </p:spPr>
      </p:pic>
      <p:sp>
        <p:nvSpPr>
          <p:cNvPr id="11" name="TextBox 10">
            <a:extLst>
              <a:ext uri="{FF2B5EF4-FFF2-40B4-BE49-F238E27FC236}">
                <a16:creationId xmlns:a16="http://schemas.microsoft.com/office/drawing/2014/main" id="{4A6591E6-375E-A6C4-4C83-25B1ED708E26}"/>
              </a:ext>
            </a:extLst>
          </p:cNvPr>
          <p:cNvSpPr txBox="1"/>
          <p:nvPr/>
        </p:nvSpPr>
        <p:spPr>
          <a:xfrm>
            <a:off x="4165019" y="1758266"/>
            <a:ext cx="809838" cy="830997"/>
          </a:xfrm>
          <a:prstGeom prst="rect">
            <a:avLst/>
          </a:prstGeom>
          <a:noFill/>
        </p:spPr>
        <p:txBody>
          <a:bodyPr wrap="none" rtlCol="0">
            <a:spAutoFit/>
          </a:bodyPr>
          <a:lstStyle/>
          <a:p>
            <a:pPr algn="ctr"/>
            <a:r>
              <a:rPr lang="en-US" sz="4800" b="1" dirty="0">
                <a:solidFill>
                  <a:schemeClr val="accent2">
                    <a:lumMod val="50000"/>
                  </a:schemeClr>
                </a:solidFill>
              </a:rPr>
              <a:t>01</a:t>
            </a:r>
          </a:p>
        </p:txBody>
      </p:sp>
      <p:sp>
        <p:nvSpPr>
          <p:cNvPr id="12" name="TextBox 11">
            <a:extLst>
              <a:ext uri="{FF2B5EF4-FFF2-40B4-BE49-F238E27FC236}">
                <a16:creationId xmlns:a16="http://schemas.microsoft.com/office/drawing/2014/main" id="{529A3C3B-260A-EAF3-8E51-A80ED63E26A9}"/>
              </a:ext>
            </a:extLst>
          </p:cNvPr>
          <p:cNvSpPr txBox="1"/>
          <p:nvPr/>
        </p:nvSpPr>
        <p:spPr>
          <a:xfrm>
            <a:off x="7185082" y="4810392"/>
            <a:ext cx="873957" cy="830997"/>
          </a:xfrm>
          <a:prstGeom prst="rect">
            <a:avLst/>
          </a:prstGeom>
          <a:noFill/>
        </p:spPr>
        <p:txBody>
          <a:bodyPr wrap="none" rtlCol="0">
            <a:spAutoFit/>
          </a:bodyPr>
          <a:lstStyle/>
          <a:p>
            <a:pPr algn="ctr"/>
            <a:r>
              <a:rPr lang="en-US" sz="4800" b="1" dirty="0">
                <a:solidFill>
                  <a:srgbClr val="003B3E"/>
                </a:solidFill>
              </a:rPr>
              <a:t>02</a:t>
            </a:r>
          </a:p>
        </p:txBody>
      </p:sp>
      <p:sp>
        <p:nvSpPr>
          <p:cNvPr id="20" name="TextBox 19">
            <a:extLst>
              <a:ext uri="{FF2B5EF4-FFF2-40B4-BE49-F238E27FC236}">
                <a16:creationId xmlns:a16="http://schemas.microsoft.com/office/drawing/2014/main" id="{DF5D5D08-6065-DEDD-AD35-531479125617}"/>
              </a:ext>
            </a:extLst>
          </p:cNvPr>
          <p:cNvSpPr txBox="1"/>
          <p:nvPr/>
        </p:nvSpPr>
        <p:spPr>
          <a:xfrm>
            <a:off x="263103" y="1622399"/>
            <a:ext cx="3681558" cy="4616648"/>
          </a:xfrm>
          <a:prstGeom prst="rect">
            <a:avLst/>
          </a:prstGeom>
          <a:noFill/>
        </p:spPr>
        <p:txBody>
          <a:bodyPr wrap="square">
            <a:spAutoFit/>
          </a:bodyPr>
          <a:lstStyle/>
          <a:p>
            <a:pPr algn="ctr">
              <a:buNone/>
            </a:pPr>
            <a:r>
              <a:rPr lang="en-US" sz="1400" b="1" dirty="0"/>
              <a:t>Section 1 — Two rotating showcase formats</a:t>
            </a:r>
          </a:p>
          <a:p>
            <a:pPr>
              <a:buNone/>
            </a:pPr>
            <a:r>
              <a:rPr lang="en-US" sz="1400" b="1" dirty="0"/>
              <a:t>A) Use Case / Capability Showcase</a:t>
            </a:r>
            <a:endParaRPr lang="en-US" sz="1400" dirty="0"/>
          </a:p>
          <a:p>
            <a:pPr marL="285750" indent="-285750">
              <a:buFont typeface="Arial" panose="020B0604020202020204" pitchFamily="34" charset="0"/>
              <a:buChar char="•"/>
            </a:pPr>
            <a:r>
              <a:rPr lang="en-US" sz="1400" b="1" dirty="0"/>
              <a:t>What it is:</a:t>
            </a:r>
            <a:r>
              <a:rPr lang="en-US" sz="1400" dirty="0"/>
              <a:t> demo (or short video) + the problem it solves</a:t>
            </a:r>
          </a:p>
          <a:p>
            <a:pPr marL="285750" indent="-285750">
              <a:buFont typeface="Arial" panose="020B0604020202020204" pitchFamily="34" charset="0"/>
              <a:buChar char="•"/>
            </a:pPr>
            <a:r>
              <a:rPr lang="en-US" sz="1400" b="1" dirty="0"/>
              <a:t>What people need to learn:</a:t>
            </a:r>
            <a:r>
              <a:rPr lang="en-US" sz="1400" dirty="0"/>
              <a:t> where it fits, best-fit buyers, “AI vs non-AI” positioning</a:t>
            </a:r>
          </a:p>
          <a:p>
            <a:pPr marL="285750" indent="-285750">
              <a:buFont typeface="Arial" panose="020B0604020202020204" pitchFamily="34" charset="0"/>
              <a:buChar char="•"/>
            </a:pPr>
            <a:r>
              <a:rPr lang="en-US" sz="1400" b="1" dirty="0"/>
              <a:t>Outcome:</a:t>
            </a:r>
            <a:r>
              <a:rPr lang="en-US" sz="1400" dirty="0"/>
              <a:t> confidence to take it into client meetings + identify target accounts</a:t>
            </a:r>
          </a:p>
          <a:p>
            <a:pPr>
              <a:buNone/>
            </a:pPr>
            <a:r>
              <a:rPr lang="en-US" sz="1400" b="1" dirty="0"/>
              <a:t>B) AI-Infused Deal Spotlight (Delivery + Commercials)</a:t>
            </a:r>
            <a:endParaRPr lang="en-US" sz="1400" dirty="0"/>
          </a:p>
          <a:p>
            <a:pPr marL="285750" indent="-285750">
              <a:buFont typeface="Arial" panose="020B0604020202020204" pitchFamily="34" charset="0"/>
              <a:buChar char="•"/>
            </a:pPr>
            <a:r>
              <a:rPr lang="en-US" sz="1400" b="1" dirty="0"/>
              <a:t>What it is:</a:t>
            </a:r>
            <a:r>
              <a:rPr lang="en-US" sz="1400" dirty="0"/>
              <a:t> a real pursuit/deal story with the “how we did it”</a:t>
            </a:r>
          </a:p>
          <a:p>
            <a:pPr marL="285750" indent="-285750">
              <a:buFont typeface="Arial" panose="020B0604020202020204" pitchFamily="34" charset="0"/>
              <a:buChar char="•"/>
            </a:pPr>
            <a:r>
              <a:rPr lang="en-US" sz="1400" b="1" dirty="0"/>
              <a:t>Covers:</a:t>
            </a:r>
            <a:r>
              <a:rPr lang="en-US" sz="1400" dirty="0"/>
              <a:t> how we sourced it → AI vs without AI → how we structured commercials</a:t>
            </a:r>
          </a:p>
          <a:p>
            <a:pPr marL="285750" indent="-285750">
              <a:buFont typeface="Arial" panose="020B0604020202020204" pitchFamily="34" charset="0"/>
              <a:buChar char="•"/>
            </a:pPr>
            <a:r>
              <a:rPr lang="en-US" sz="1400" b="1" dirty="0"/>
              <a:t>Outcome:</a:t>
            </a:r>
            <a:r>
              <a:rPr lang="en-US" sz="1400" dirty="0"/>
              <a:t> repeatable pattern others can use to shape and price similar work</a:t>
            </a:r>
          </a:p>
        </p:txBody>
      </p:sp>
      <p:sp>
        <p:nvSpPr>
          <p:cNvPr id="22" name="TextBox 21">
            <a:extLst>
              <a:ext uri="{FF2B5EF4-FFF2-40B4-BE49-F238E27FC236}">
                <a16:creationId xmlns:a16="http://schemas.microsoft.com/office/drawing/2014/main" id="{DE640E3F-D82F-4B74-A77B-84A21F07D6C7}"/>
              </a:ext>
            </a:extLst>
          </p:cNvPr>
          <p:cNvSpPr txBox="1"/>
          <p:nvPr/>
        </p:nvSpPr>
        <p:spPr>
          <a:xfrm>
            <a:off x="8247338" y="1622399"/>
            <a:ext cx="3614666" cy="4570482"/>
          </a:xfrm>
          <a:prstGeom prst="rect">
            <a:avLst/>
          </a:prstGeom>
          <a:noFill/>
        </p:spPr>
        <p:txBody>
          <a:bodyPr wrap="square">
            <a:spAutoFit/>
          </a:bodyPr>
          <a:lstStyle/>
          <a:p>
            <a:pPr algn="ctr">
              <a:spcBef>
                <a:spcPts val="300"/>
              </a:spcBef>
              <a:buNone/>
            </a:pPr>
            <a:r>
              <a:rPr lang="en-US" sz="1400" b="1" dirty="0">
                <a:solidFill>
                  <a:schemeClr val="bg1"/>
                </a:solidFill>
              </a:rPr>
              <a:t>Section 2 — Presenter checklist + scheduling (combined)</a:t>
            </a:r>
          </a:p>
          <a:p>
            <a:pPr>
              <a:spcBef>
                <a:spcPts val="300"/>
              </a:spcBef>
              <a:buNone/>
            </a:pPr>
            <a:r>
              <a:rPr lang="en-US" sz="1400" b="1" dirty="0">
                <a:solidFill>
                  <a:schemeClr val="bg1"/>
                </a:solidFill>
              </a:rPr>
              <a:t>To get on the calendar, bring (lightweight):</a:t>
            </a:r>
            <a:endParaRPr lang="en-US" sz="1400" dirty="0">
              <a:solidFill>
                <a:schemeClr val="bg1"/>
              </a:solidFill>
            </a:endParaRPr>
          </a:p>
          <a:p>
            <a:pPr marL="285750" indent="-285750">
              <a:spcBef>
                <a:spcPts val="300"/>
              </a:spcBef>
              <a:buFont typeface="Arial" panose="020B0604020202020204" pitchFamily="34" charset="0"/>
              <a:buChar char="•"/>
            </a:pPr>
            <a:r>
              <a:rPr lang="en-US" sz="1400" dirty="0">
                <a:solidFill>
                  <a:schemeClr val="bg1"/>
                </a:solidFill>
              </a:rPr>
              <a:t>5–10 min </a:t>
            </a:r>
            <a:r>
              <a:rPr lang="en-US" sz="1400" b="1" dirty="0">
                <a:solidFill>
                  <a:schemeClr val="bg1"/>
                </a:solidFill>
              </a:rPr>
              <a:t>demo/video or walkthrough</a:t>
            </a:r>
            <a:endParaRPr lang="en-US" sz="1400" dirty="0">
              <a:solidFill>
                <a:schemeClr val="bg1"/>
              </a:solidFill>
            </a:endParaRPr>
          </a:p>
          <a:p>
            <a:pPr marL="285750" indent="-285750">
              <a:spcBef>
                <a:spcPts val="300"/>
              </a:spcBef>
              <a:buFont typeface="Arial" panose="020B0604020202020204" pitchFamily="34" charset="0"/>
              <a:buChar char="•"/>
            </a:pPr>
            <a:r>
              <a:rPr lang="en-US" sz="1400" dirty="0">
                <a:solidFill>
                  <a:schemeClr val="bg1"/>
                </a:solidFill>
              </a:rPr>
              <a:t>3–5 bullet </a:t>
            </a:r>
            <a:r>
              <a:rPr lang="en-US" sz="1400" b="1" dirty="0">
                <a:solidFill>
                  <a:schemeClr val="bg1"/>
                </a:solidFill>
              </a:rPr>
              <a:t>talk track</a:t>
            </a:r>
            <a:r>
              <a:rPr lang="en-US" sz="1400" dirty="0">
                <a:solidFill>
                  <a:schemeClr val="bg1"/>
                </a:solidFill>
              </a:rPr>
              <a:t> (non-technical)</a:t>
            </a:r>
          </a:p>
          <a:p>
            <a:pPr marL="285750" indent="-285750">
              <a:spcBef>
                <a:spcPts val="300"/>
              </a:spcBef>
              <a:buFont typeface="Arial" panose="020B0604020202020204" pitchFamily="34" charset="0"/>
              <a:buChar char="•"/>
            </a:pPr>
            <a:r>
              <a:rPr lang="en-US" sz="1400" b="1" dirty="0">
                <a:solidFill>
                  <a:schemeClr val="bg1"/>
                </a:solidFill>
              </a:rPr>
              <a:t>Best-fit buyers</a:t>
            </a:r>
            <a:r>
              <a:rPr lang="en-US" sz="1400" dirty="0">
                <a:solidFill>
                  <a:schemeClr val="bg1"/>
                </a:solidFill>
              </a:rPr>
              <a:t> + where it fits</a:t>
            </a:r>
          </a:p>
          <a:p>
            <a:pPr marL="285750" indent="-285750">
              <a:spcBef>
                <a:spcPts val="300"/>
              </a:spcBef>
              <a:buFont typeface="Arial" panose="020B0604020202020204" pitchFamily="34" charset="0"/>
              <a:buChar char="•"/>
            </a:pPr>
            <a:r>
              <a:rPr lang="en-US" sz="1400" dirty="0">
                <a:solidFill>
                  <a:schemeClr val="bg1"/>
                </a:solidFill>
              </a:rPr>
              <a:t>2–3 </a:t>
            </a:r>
            <a:r>
              <a:rPr lang="en-US" sz="1400" b="1" dirty="0">
                <a:solidFill>
                  <a:schemeClr val="bg1"/>
                </a:solidFill>
              </a:rPr>
              <a:t>target accounts/pursuits</a:t>
            </a:r>
            <a:r>
              <a:rPr lang="en-US" sz="1400" dirty="0">
                <a:solidFill>
                  <a:schemeClr val="bg1"/>
                </a:solidFill>
              </a:rPr>
              <a:t> to activate</a:t>
            </a:r>
          </a:p>
          <a:p>
            <a:pPr marL="285750" indent="-285750">
              <a:spcBef>
                <a:spcPts val="300"/>
              </a:spcBef>
              <a:buFont typeface="Arial" panose="020B0604020202020204" pitchFamily="34" charset="0"/>
              <a:buChar char="•"/>
            </a:pPr>
            <a:r>
              <a:rPr lang="en-US" sz="1400" b="1" dirty="0">
                <a:solidFill>
                  <a:schemeClr val="bg1"/>
                </a:solidFill>
              </a:rPr>
              <a:t>Follow-ups</a:t>
            </a:r>
            <a:r>
              <a:rPr lang="en-US" sz="1400" dirty="0">
                <a:solidFill>
                  <a:schemeClr val="bg1"/>
                </a:solidFill>
              </a:rPr>
              <a:t> (owners + next steps)</a:t>
            </a:r>
          </a:p>
          <a:p>
            <a:pPr>
              <a:spcBef>
                <a:spcPts val="300"/>
              </a:spcBef>
              <a:buNone/>
            </a:pPr>
            <a:r>
              <a:rPr lang="en-US" sz="1400" b="1" dirty="0">
                <a:solidFill>
                  <a:schemeClr val="bg1"/>
                </a:solidFill>
              </a:rPr>
              <a:t>How it gets scheduled:</a:t>
            </a:r>
            <a:endParaRPr lang="en-US" sz="1400" dirty="0">
              <a:solidFill>
                <a:schemeClr val="bg1"/>
              </a:solidFill>
            </a:endParaRPr>
          </a:p>
          <a:p>
            <a:pPr marL="285750" indent="-285750">
              <a:spcBef>
                <a:spcPts val="300"/>
              </a:spcBef>
              <a:buFont typeface="Arial" panose="020B0604020202020204" pitchFamily="34" charset="0"/>
              <a:buChar char="•"/>
            </a:pPr>
            <a:r>
              <a:rPr lang="en-US" sz="1400" b="1" dirty="0">
                <a:solidFill>
                  <a:schemeClr val="bg1"/>
                </a:solidFill>
              </a:rPr>
              <a:t>Chinmoy / AI team</a:t>
            </a:r>
            <a:r>
              <a:rPr lang="en-US" sz="1400" dirty="0">
                <a:solidFill>
                  <a:schemeClr val="bg1"/>
                </a:solidFill>
              </a:rPr>
              <a:t> maintains the showcase calendar</a:t>
            </a:r>
          </a:p>
          <a:p>
            <a:pPr marL="285750" indent="-285750">
              <a:spcBef>
                <a:spcPts val="300"/>
              </a:spcBef>
              <a:buFont typeface="Arial" panose="020B0604020202020204" pitchFamily="34" charset="0"/>
              <a:buChar char="•"/>
            </a:pPr>
            <a:r>
              <a:rPr lang="en-US" sz="1400" dirty="0">
                <a:solidFill>
                  <a:schemeClr val="bg1"/>
                </a:solidFill>
              </a:rPr>
              <a:t>Champions </a:t>
            </a:r>
            <a:r>
              <a:rPr lang="en-US" sz="1400" b="1" dirty="0">
                <a:solidFill>
                  <a:schemeClr val="bg1"/>
                </a:solidFill>
              </a:rPr>
              <a:t>claim a slot</a:t>
            </a:r>
            <a:r>
              <a:rPr lang="en-US" sz="1400" dirty="0">
                <a:solidFill>
                  <a:schemeClr val="bg1"/>
                </a:solidFill>
              </a:rPr>
              <a:t> once an item is demo-ready or story-ready</a:t>
            </a:r>
          </a:p>
          <a:p>
            <a:pPr marL="285750" indent="-285750">
              <a:spcBef>
                <a:spcPts val="300"/>
              </a:spcBef>
              <a:buFont typeface="Arial" panose="020B0604020202020204" pitchFamily="34" charset="0"/>
              <a:buChar char="•"/>
            </a:pPr>
            <a:r>
              <a:rPr lang="en-US" sz="1400" dirty="0">
                <a:solidFill>
                  <a:schemeClr val="bg1"/>
                </a:solidFill>
              </a:rPr>
              <a:t>Topics, owners, and actions are logged in the workbook </a:t>
            </a:r>
            <a:r>
              <a:rPr lang="en-US" sz="1400" b="1" dirty="0">
                <a:solidFill>
                  <a:schemeClr val="bg1"/>
                </a:solidFill>
              </a:rPr>
              <a:t>Cadence Planner</a:t>
            </a:r>
            <a:endParaRPr lang="en-US" sz="1400" dirty="0">
              <a:solidFill>
                <a:schemeClr val="bg1"/>
              </a:solidFill>
            </a:endParaRPr>
          </a:p>
        </p:txBody>
      </p:sp>
    </p:spTree>
    <p:extLst>
      <p:ext uri="{BB962C8B-B14F-4D97-AF65-F5344CB8AC3E}">
        <p14:creationId xmlns:p14="http://schemas.microsoft.com/office/powerpoint/2010/main" val="3838767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B693B-8C1B-D7E5-9825-B8C541803D3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7D0E74-64A6-10BB-B80F-1EE0DE637161}"/>
              </a:ext>
            </a:extLst>
          </p:cNvPr>
          <p:cNvSpPr>
            <a:spLocks noGrp="1"/>
          </p:cNvSpPr>
          <p:nvPr>
            <p:ph type="title"/>
          </p:nvPr>
        </p:nvSpPr>
        <p:spPr/>
        <p:txBody>
          <a:bodyPr/>
          <a:lstStyle/>
          <a:p>
            <a:r>
              <a:rPr lang="en-US" dirty="0"/>
              <a:t>US AI Service Offerings: How We Scale</a:t>
            </a:r>
          </a:p>
        </p:txBody>
      </p:sp>
      <p:sp>
        <p:nvSpPr>
          <p:cNvPr id="9" name="Text Placeholder 8">
            <a:extLst>
              <a:ext uri="{FF2B5EF4-FFF2-40B4-BE49-F238E27FC236}">
                <a16:creationId xmlns:a16="http://schemas.microsoft.com/office/drawing/2014/main" id="{0778EE9D-847C-6AEE-50A2-6CCD65926225}"/>
              </a:ext>
            </a:extLst>
          </p:cNvPr>
          <p:cNvSpPr>
            <a:spLocks noGrp="1"/>
          </p:cNvSpPr>
          <p:nvPr>
            <p:ph type="body" sz="quarter" idx="10"/>
          </p:nvPr>
        </p:nvSpPr>
        <p:spPr>
          <a:xfrm>
            <a:off x="542647" y="814367"/>
            <a:ext cx="11098999" cy="553998"/>
          </a:xfrm>
        </p:spPr>
        <p:txBody>
          <a:bodyPr/>
          <a:lstStyle/>
          <a:p>
            <a:r>
              <a:rPr lang="en-US" dirty="0"/>
              <a:t>A practice-led approach to turn domain problems into market-ready, client-facing AI offerings (built for reuse and cross-sell)</a:t>
            </a:r>
          </a:p>
        </p:txBody>
      </p:sp>
      <p:grpSp>
        <p:nvGrpSpPr>
          <p:cNvPr id="10" name="Group 9">
            <a:extLst>
              <a:ext uri="{FF2B5EF4-FFF2-40B4-BE49-F238E27FC236}">
                <a16:creationId xmlns:a16="http://schemas.microsoft.com/office/drawing/2014/main" id="{1B51B789-5CCF-054E-23A8-E8DE3B20B64B}"/>
              </a:ext>
            </a:extLst>
          </p:cNvPr>
          <p:cNvGrpSpPr/>
          <p:nvPr/>
        </p:nvGrpSpPr>
        <p:grpSpPr>
          <a:xfrm>
            <a:off x="542647" y="1455168"/>
            <a:ext cx="7262748" cy="430283"/>
            <a:chOff x="542646" y="1886195"/>
            <a:chExt cx="7262748" cy="430283"/>
          </a:xfrm>
        </p:grpSpPr>
        <p:cxnSp>
          <p:nvCxnSpPr>
            <p:cNvPr id="11" name="Straight Connector 10">
              <a:extLst>
                <a:ext uri="{FF2B5EF4-FFF2-40B4-BE49-F238E27FC236}">
                  <a16:creationId xmlns:a16="http://schemas.microsoft.com/office/drawing/2014/main" id="{D626DAA4-EA1D-3350-D04C-36B325632F00}"/>
                </a:ext>
              </a:extLst>
            </p:cNvPr>
            <p:cNvCxnSpPr>
              <a:cxnSpLocks/>
            </p:cNvCxnSpPr>
            <p:nvPr/>
          </p:nvCxnSpPr>
          <p:spPr>
            <a:xfrm flipV="1">
              <a:off x="4264089" y="2101337"/>
              <a:ext cx="3541305" cy="8796"/>
            </a:xfrm>
            <a:prstGeom prst="line">
              <a:avLst/>
            </a:prstGeom>
            <a:ln w="28575">
              <a:solidFill>
                <a:srgbClr val="005F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9DC8B0D-5217-B07D-3302-5BB8C78F0E0C}"/>
                </a:ext>
              </a:extLst>
            </p:cNvPr>
            <p:cNvSpPr/>
            <p:nvPr/>
          </p:nvSpPr>
          <p:spPr>
            <a:xfrm>
              <a:off x="542646" y="1886195"/>
              <a:ext cx="3805467" cy="4302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effectLst/>
                  <a:uLnTx/>
                  <a:uFillTx/>
                  <a:latin typeface="Century Gothic" panose="020B0502020202020204" pitchFamily="34" charset="0"/>
                  <a:ea typeface="Helvetica Neue Medium"/>
                  <a:cs typeface="Helvetica Neue Medium"/>
                  <a:sym typeface="Helvetica Neue Medium"/>
                </a:rPr>
                <a:t>WHY THIS MATTERS (PRACTICE VALUE)</a:t>
              </a:r>
              <a:endParaRPr kumimoji="0" lang="en-US" sz="1600" b="1" i="0" u="none" strike="noStrike" kern="1200" cap="none" spc="0" normalizeH="0" baseline="0" noProof="0" dirty="0">
                <a:ln>
                  <a:noFill/>
                </a:ln>
                <a:effectLst/>
                <a:uLnTx/>
                <a:uFillTx/>
                <a:latin typeface="Tungsten Semibold"/>
                <a:ea typeface="Helvetica Neue Medium"/>
                <a:cs typeface="Helvetica Neue Medium"/>
                <a:sym typeface="Helvetica Neue Medium"/>
              </a:endParaRPr>
            </a:p>
          </p:txBody>
        </p:sp>
      </p:grpSp>
      <p:graphicFrame>
        <p:nvGraphicFramePr>
          <p:cNvPr id="13" name="Table 12">
            <a:extLst>
              <a:ext uri="{FF2B5EF4-FFF2-40B4-BE49-F238E27FC236}">
                <a16:creationId xmlns:a16="http://schemas.microsoft.com/office/drawing/2014/main" id="{04D64BFB-FEBC-6E70-CCF3-3E6C7A189CDA}"/>
              </a:ext>
            </a:extLst>
          </p:cNvPr>
          <p:cNvGraphicFramePr>
            <a:graphicFrameLocks noGrp="1"/>
          </p:cNvGraphicFramePr>
          <p:nvPr/>
        </p:nvGraphicFramePr>
        <p:xfrm>
          <a:off x="542648" y="1894247"/>
          <a:ext cx="7291067" cy="4248459"/>
        </p:xfrm>
        <a:graphic>
          <a:graphicData uri="http://schemas.openxmlformats.org/drawingml/2006/table">
            <a:tbl>
              <a:tblPr/>
              <a:tblGrid>
                <a:gridCol w="727410">
                  <a:extLst>
                    <a:ext uri="{9D8B030D-6E8A-4147-A177-3AD203B41FA5}">
                      <a16:colId xmlns:a16="http://schemas.microsoft.com/office/drawing/2014/main" val="2307090623"/>
                    </a:ext>
                  </a:extLst>
                </a:gridCol>
                <a:gridCol w="1503548">
                  <a:extLst>
                    <a:ext uri="{9D8B030D-6E8A-4147-A177-3AD203B41FA5}">
                      <a16:colId xmlns:a16="http://schemas.microsoft.com/office/drawing/2014/main" val="20000"/>
                    </a:ext>
                  </a:extLst>
                </a:gridCol>
                <a:gridCol w="5060109">
                  <a:extLst>
                    <a:ext uri="{9D8B030D-6E8A-4147-A177-3AD203B41FA5}">
                      <a16:colId xmlns:a16="http://schemas.microsoft.com/office/drawing/2014/main" val="1588909181"/>
                    </a:ext>
                  </a:extLst>
                </a:gridCol>
              </a:tblGrid>
              <a:tr h="1416153">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algn="ctr">
                        <a:spcAft>
                          <a:spcPts val="0"/>
                        </a:spcAft>
                      </a:pPr>
                      <a:r>
                        <a:rPr lang="en-US" sz="1200" b="0" i="0" dirty="0">
                          <a:solidFill>
                            <a:schemeClr val="tx1"/>
                          </a:solidFill>
                          <a:latin typeface="+mj-lt"/>
                        </a:rPr>
                        <a:t> </a:t>
                      </a:r>
                    </a:p>
                  </a:txBody>
                  <a:tcPr marL="137160" marR="137160" marT="137160" marB="137160" anchor="ctr">
                    <a:lnL w="12700" cap="flat" cmpd="sng" algn="ctr">
                      <a:noFill/>
                      <a:prstDash val="sysDash"/>
                      <a:round/>
                      <a:headEnd type="none" w="med" len="med"/>
                      <a:tailEnd type="none" w="med" len="med"/>
                    </a:lnL>
                    <a:lnR w="6350" cap="flat" cmpd="sng" algn="ctr">
                      <a:noFill/>
                      <a:prstDash val="solid"/>
                      <a:round/>
                      <a:headEnd type="none" w="med" len="med"/>
                      <a:tailEnd type="none" w="med" len="med"/>
                    </a:lnR>
                    <a:lnT w="12700" cap="flat" cmpd="sng" algn="ctr">
                      <a:noFill/>
                      <a:prstDash val="sysDash"/>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lvl="0" algn="l" defTabSz="740368"/>
                      <a:r>
                        <a:rPr lang="en-US" sz="1100" b="0" i="0" dirty="0">
                          <a:solidFill>
                            <a:schemeClr val="tx1"/>
                          </a:solidFill>
                          <a:latin typeface="+mj-lt"/>
                          <a:ea typeface="Arial Narrow" charset="0"/>
                          <a:cs typeface="Arial Narrow" charset="0"/>
                        </a:rPr>
                        <a:t>Practice-led, domain-relevant offerings</a:t>
                      </a:r>
                    </a:p>
                  </a:txBody>
                  <a:tcPr marL="45720" marR="45720" anchor="ctr">
                    <a:lnL w="12700" cmpd="sng">
                      <a:noFill/>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alpha val="34118"/>
                      </a:srgbClr>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128588" indent="-128588" algn="l" defTabSz="555276" rtl="0" eaLnBrk="1" fontAlgn="base" latinLnBrk="0" hangingPunct="1">
                        <a:lnSpc>
                          <a:spcPct val="110000"/>
                        </a:lnSpc>
                        <a:spcBef>
                          <a:spcPts val="300"/>
                        </a:spcBef>
                        <a:buClr>
                          <a:schemeClr val="tx1"/>
                        </a:buClr>
                        <a:buFont typeface="Wingdings" charset="2"/>
                        <a:buChar char="§"/>
                      </a:pPr>
                      <a:r>
                        <a:rPr lang="en-US" sz="1050" b="0" i="0" kern="1200" baseline="0" dirty="0">
                          <a:solidFill>
                            <a:schemeClr val="tx1"/>
                          </a:solidFill>
                          <a:latin typeface="+mj-lt"/>
                          <a:ea typeface="Roboto Condensed" charset="0"/>
                          <a:cs typeface="Tungsten Medium"/>
                        </a:rPr>
                        <a:t>Practices define the highest-value domain problems worth solving with AI (problem-first, buyer-first)</a:t>
                      </a:r>
                    </a:p>
                    <a:p>
                      <a:pPr marL="128588" indent="-128588" algn="l" defTabSz="555276" rtl="0" eaLnBrk="1" fontAlgn="base" latinLnBrk="0" hangingPunct="1">
                        <a:lnSpc>
                          <a:spcPct val="110000"/>
                        </a:lnSpc>
                        <a:spcBef>
                          <a:spcPts val="300"/>
                        </a:spcBef>
                        <a:buClr>
                          <a:schemeClr val="tx1"/>
                        </a:buClr>
                        <a:buFont typeface="Wingdings" charset="2"/>
                        <a:buChar char="§"/>
                      </a:pPr>
                      <a:r>
                        <a:rPr lang="en-US" sz="1050" b="0" i="0" kern="1200" baseline="0" dirty="0">
                          <a:solidFill>
                            <a:schemeClr val="tx1"/>
                          </a:solidFill>
                          <a:latin typeface="+mj-lt"/>
                          <a:ea typeface="Roboto Condensed" charset="0"/>
                          <a:cs typeface="Tungsten Medium"/>
                        </a:rPr>
                        <a:t>Champions prioritize a backlog focused on repeatable offerings (scalable to 2+ clients)</a:t>
                      </a:r>
                    </a:p>
                    <a:p>
                      <a:pPr marL="128588" indent="-128588" algn="l" defTabSz="555276" rtl="0" eaLnBrk="1" fontAlgn="base" latinLnBrk="0" hangingPunct="1">
                        <a:lnSpc>
                          <a:spcPct val="110000"/>
                        </a:lnSpc>
                        <a:spcBef>
                          <a:spcPts val="300"/>
                        </a:spcBef>
                        <a:buClr>
                          <a:schemeClr val="tx1"/>
                        </a:buClr>
                        <a:buFont typeface="Wingdings" charset="2"/>
                        <a:buChar char="§"/>
                      </a:pPr>
                      <a:r>
                        <a:rPr lang="en-US" sz="1050" b="0" i="0" kern="1200" baseline="0" dirty="0">
                          <a:solidFill>
                            <a:schemeClr val="tx1"/>
                          </a:solidFill>
                          <a:latin typeface="+mj-lt"/>
                          <a:ea typeface="Roboto Condensed" charset="0"/>
                          <a:cs typeface="Tungsten Medium"/>
                        </a:rPr>
                        <a:t>We translate domain demand into sellable solutions—not generic AI concepts</a:t>
                      </a:r>
                    </a:p>
                  </a:txBody>
                  <a:tcPr marL="45720" marR="45720" anchor="ctr">
                    <a:lnL w="12700" cmpd="sng">
                      <a:noFill/>
                    </a:lnL>
                    <a:lnR w="12700" cap="flat" cmpd="sng" algn="ctr">
                      <a:noFill/>
                      <a:prstDash val="sysDash"/>
                      <a:round/>
                      <a:headEnd type="none" w="med" len="med"/>
                      <a:tailEnd type="none" w="med" len="med"/>
                    </a:lnR>
                    <a:lnT w="12700"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F2121">
                        <a:alpha val="5000"/>
                      </a:srgbClr>
                    </a:solidFill>
                  </a:tcPr>
                </a:tc>
                <a:extLst>
                  <a:ext uri="{0D108BD9-81ED-4DB2-BD59-A6C34878D82A}">
                    <a16:rowId xmlns:a16="http://schemas.microsoft.com/office/drawing/2014/main" val="10000"/>
                  </a:ext>
                </a:extLst>
              </a:tr>
              <a:tr h="1416153">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0" marR="0" lvl="0" indent="0" algn="ctr" defTabSz="410751"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j-lt"/>
                          <a:ea typeface="+mn-ea"/>
                          <a:cs typeface="+mn-cs"/>
                          <a:sym typeface="Helvetica Neue Light"/>
                        </a:rPr>
                        <a:t> </a:t>
                      </a:r>
                    </a:p>
                  </a:txBody>
                  <a:tcPr marL="137160" marR="137160" marT="137160" marB="137160" anchor="ctr">
                    <a:lnL w="12700" cap="flat" cmpd="sng" algn="ctr">
                      <a:noFill/>
                      <a:prstDash val="sysDash"/>
                      <a:round/>
                      <a:headEnd type="none" w="med" len="med"/>
                      <a:tailEnd type="none" w="med" len="med"/>
                    </a:lnL>
                    <a:lnR w="635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lvl="0" algn="l" defTabSz="740368"/>
                      <a:r>
                        <a:rPr lang="en-US" sz="1100" b="0" i="0" dirty="0">
                          <a:solidFill>
                            <a:schemeClr val="tx1"/>
                          </a:solidFill>
                          <a:latin typeface="+mj-lt"/>
                          <a:ea typeface="Arial Narrow" charset="0"/>
                          <a:cs typeface="Arial Narrow" charset="0"/>
                        </a:rPr>
                        <a:t>AI build support to move fast</a:t>
                      </a:r>
                    </a:p>
                  </a:txBody>
                  <a:tcPr marL="45720" marR="45720" anchor="ctr">
                    <a:lnL w="12700" cmpd="sng">
                      <a:noFill/>
                    </a:lnL>
                    <a:lnR w="1270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alpha val="34118"/>
                      </a:srgbClr>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128588" indent="-128588" algn="l" defTabSz="555276" rtl="0" eaLnBrk="1" fontAlgn="base" latinLnBrk="0" hangingPunct="1">
                        <a:lnSpc>
                          <a:spcPct val="110000"/>
                        </a:lnSpc>
                        <a:spcBef>
                          <a:spcPts val="300"/>
                        </a:spcBef>
                        <a:buClr>
                          <a:schemeClr val="tx1"/>
                        </a:buClr>
                        <a:buFont typeface="Wingdings" charset="2"/>
                        <a:buChar char="§"/>
                      </a:pPr>
                      <a:r>
                        <a:rPr lang="en-US" sz="1050" b="0" i="0" kern="1200" baseline="0" dirty="0">
                          <a:solidFill>
                            <a:schemeClr val="tx1"/>
                          </a:solidFill>
                          <a:latin typeface="+mj-lt"/>
                          <a:ea typeface="Roboto Condensed" charset="0"/>
                          <a:cs typeface="Roboto Condensed" charset="0"/>
                        </a:rPr>
                        <a:t>AI Forward Deployed Engineers + AI Lab partner with champions to build MVPs, demos, and reusable assets</a:t>
                      </a:r>
                    </a:p>
                    <a:p>
                      <a:pPr marL="128588" indent="-128588" algn="l" defTabSz="555276" rtl="0" eaLnBrk="1" fontAlgn="base" latinLnBrk="0" hangingPunct="1">
                        <a:lnSpc>
                          <a:spcPct val="110000"/>
                        </a:lnSpc>
                        <a:spcBef>
                          <a:spcPts val="300"/>
                        </a:spcBef>
                        <a:buClr>
                          <a:schemeClr val="tx1"/>
                        </a:buClr>
                        <a:buFont typeface="Wingdings" charset="2"/>
                        <a:buChar char="§"/>
                      </a:pPr>
                      <a:r>
                        <a:rPr lang="en-US" sz="1050" b="0" i="0" kern="1200" baseline="0" dirty="0">
                          <a:solidFill>
                            <a:schemeClr val="tx1"/>
                          </a:solidFill>
                          <a:latin typeface="+mj-lt"/>
                          <a:ea typeface="Roboto Condensed" charset="0"/>
                          <a:cs typeface="Roboto Condensed" charset="0"/>
                        </a:rPr>
                        <a:t>Standards, templates, and guardrails enable faster development without heavy lift from the practice</a:t>
                      </a:r>
                    </a:p>
                    <a:p>
                      <a:pPr marL="128588" indent="-128588" algn="l" defTabSz="555276" rtl="0" eaLnBrk="1" fontAlgn="base" latinLnBrk="0" hangingPunct="1">
                        <a:lnSpc>
                          <a:spcPct val="110000"/>
                        </a:lnSpc>
                        <a:spcBef>
                          <a:spcPts val="300"/>
                        </a:spcBef>
                        <a:buClr>
                          <a:schemeClr val="tx1"/>
                        </a:buClr>
                        <a:buFont typeface="Wingdings" charset="2"/>
                        <a:buChar char="§"/>
                      </a:pPr>
                      <a:r>
                        <a:rPr lang="en-US" sz="1050" b="0" i="0" kern="1200" baseline="0" dirty="0">
                          <a:solidFill>
                            <a:schemeClr val="tx1"/>
                          </a:solidFill>
                          <a:latin typeface="+mj-lt"/>
                          <a:ea typeface="Roboto Condensed" charset="0"/>
                          <a:cs typeface="Roboto Condensed" charset="0"/>
                        </a:rPr>
                        <a:t>Clear handoffs accelerate “idea → demo-ready → GTM-ready”</a:t>
                      </a:r>
                    </a:p>
                  </a:txBody>
                  <a:tcPr marL="45720" marR="45720" anchor="ctr">
                    <a:lnL w="12700" cmpd="sng">
                      <a:noFill/>
                    </a:lnL>
                    <a:lnR w="1270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F2121">
                        <a:alpha val="5000"/>
                      </a:srgbClr>
                    </a:solidFill>
                  </a:tcPr>
                </a:tc>
                <a:extLst>
                  <a:ext uri="{0D108BD9-81ED-4DB2-BD59-A6C34878D82A}">
                    <a16:rowId xmlns:a16="http://schemas.microsoft.com/office/drawing/2014/main" val="10001"/>
                  </a:ext>
                </a:extLst>
              </a:tr>
              <a:tr h="1416153">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0" marR="0" lvl="0" indent="0" algn="ctr" defTabSz="410751"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j-lt"/>
                          <a:ea typeface="+mn-ea"/>
                          <a:cs typeface="+mn-cs"/>
                          <a:sym typeface="Helvetica Neue Light"/>
                        </a:rPr>
                        <a:t> </a:t>
                      </a:r>
                    </a:p>
                  </a:txBody>
                  <a:tcPr marL="137160" marR="137160" marT="137160" marB="137160" anchor="ctr">
                    <a:lnL w="12700" cap="flat" cmpd="sng" algn="ctr">
                      <a:noFill/>
                      <a:prstDash val="sysDash"/>
                      <a:round/>
                      <a:headEnd type="none" w="med" len="med"/>
                      <a:tailEnd type="none" w="med" len="med"/>
                    </a:lnL>
                    <a:lnR w="635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rgbClr val="005F65"/>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lvl="0" algn="l" defTabSz="740368"/>
                      <a:r>
                        <a:rPr lang="en-US" sz="1100" b="0" i="0" dirty="0">
                          <a:solidFill>
                            <a:schemeClr val="tx1"/>
                          </a:solidFill>
                          <a:latin typeface="+mj-lt"/>
                          <a:ea typeface="Arial Narrow" charset="0"/>
                          <a:cs typeface="Arial Narrow" charset="0"/>
                        </a:rPr>
                        <a:t>Cross-sell visibility + pipeline activation</a:t>
                      </a:r>
                    </a:p>
                  </a:txBody>
                  <a:tcPr marL="45720" marR="45720" anchor="ctr">
                    <a:lnL w="12700" cmpd="sng">
                      <a:noFill/>
                    </a:lnL>
                    <a:lnR w="1270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rgbClr val="005F65">
                        <a:alpha val="34118"/>
                      </a:srgbClr>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128588" indent="-128588" algn="l" defTabSz="555276" rtl="0" eaLnBrk="1" fontAlgn="base" latinLnBrk="0" hangingPunct="1">
                        <a:lnSpc>
                          <a:spcPct val="110000"/>
                        </a:lnSpc>
                        <a:spcBef>
                          <a:spcPts val="300"/>
                        </a:spcBef>
                        <a:buClr>
                          <a:schemeClr val="tx1"/>
                        </a:buClr>
                        <a:buFont typeface="Wingdings" charset="2"/>
                        <a:buChar char="§"/>
                      </a:pPr>
                      <a:r>
                        <a:rPr lang="en-US" sz="1050" b="0" i="0" kern="1200" baseline="0" dirty="0">
                          <a:solidFill>
                            <a:schemeClr val="tx1"/>
                          </a:solidFill>
                          <a:latin typeface="+mj-lt"/>
                          <a:ea typeface="Roboto Condensed" charset="0"/>
                          <a:cs typeface="Roboto Condensed" charset="0"/>
                        </a:rPr>
                        <a:t>A shared system of record makes it easy to see what’s ready, where it fits, and who to contact</a:t>
                      </a:r>
                    </a:p>
                    <a:p>
                      <a:pPr marL="128588" indent="-128588" algn="l" defTabSz="555276" rtl="0" eaLnBrk="1" fontAlgn="base" latinLnBrk="0" hangingPunct="1">
                        <a:lnSpc>
                          <a:spcPct val="110000"/>
                        </a:lnSpc>
                        <a:spcBef>
                          <a:spcPts val="300"/>
                        </a:spcBef>
                        <a:buClr>
                          <a:schemeClr val="tx1"/>
                        </a:buClr>
                        <a:buFont typeface="Wingdings" charset="2"/>
                        <a:buChar char="§"/>
                      </a:pPr>
                      <a:r>
                        <a:rPr lang="en-US" sz="1050" b="0" i="0" kern="1200" baseline="0" dirty="0">
                          <a:solidFill>
                            <a:schemeClr val="tx1"/>
                          </a:solidFill>
                          <a:latin typeface="+mj-lt"/>
                          <a:ea typeface="Roboto Condensed" charset="0"/>
                          <a:cs typeface="Roboto Condensed" charset="0"/>
                        </a:rPr>
                        <a:t>Bi-weekly showcases build confidence in how to position offerings in client conversations (non-technical)</a:t>
                      </a:r>
                    </a:p>
                    <a:p>
                      <a:pPr marL="128588" indent="-128588" algn="l" defTabSz="555276" rtl="0" eaLnBrk="1" fontAlgn="base" latinLnBrk="0" hangingPunct="1">
                        <a:lnSpc>
                          <a:spcPct val="110000"/>
                        </a:lnSpc>
                        <a:spcBef>
                          <a:spcPts val="300"/>
                        </a:spcBef>
                        <a:buClr>
                          <a:schemeClr val="tx1"/>
                        </a:buClr>
                        <a:buFont typeface="Wingdings" charset="2"/>
                        <a:buChar char="§"/>
                      </a:pPr>
                      <a:r>
                        <a:rPr lang="en-US" sz="1050" b="0" i="0" kern="1200" baseline="0" dirty="0">
                          <a:solidFill>
                            <a:schemeClr val="tx1"/>
                          </a:solidFill>
                          <a:latin typeface="+mj-lt"/>
                          <a:ea typeface="Roboto Condensed" charset="0"/>
                          <a:cs typeface="Roboto Condensed" charset="0"/>
                        </a:rPr>
                        <a:t>Sales interlock helps activate target accounts/pursuits and convert capability into pipeline</a:t>
                      </a:r>
                      <a:endParaRPr lang="en-US" sz="1050" b="0" i="0" kern="1200" baseline="0" dirty="0">
                        <a:solidFill>
                          <a:schemeClr val="tx1"/>
                        </a:solidFill>
                        <a:latin typeface="+mj-lt"/>
                        <a:ea typeface="Roboto Condensed" charset="0"/>
                        <a:cs typeface="Arial Narrow" charset="0"/>
                      </a:endParaRPr>
                    </a:p>
                  </a:txBody>
                  <a:tcPr marL="45720" marR="45720" anchor="ctr">
                    <a:lnL w="12700" cmpd="sng">
                      <a:noFill/>
                    </a:lnL>
                    <a:lnR w="1270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rgbClr val="1F2121">
                        <a:alpha val="5000"/>
                      </a:srgbClr>
                    </a:solidFill>
                  </a:tcPr>
                </a:tc>
                <a:extLst>
                  <a:ext uri="{0D108BD9-81ED-4DB2-BD59-A6C34878D82A}">
                    <a16:rowId xmlns:a16="http://schemas.microsoft.com/office/drawing/2014/main" val="10002"/>
                  </a:ext>
                </a:extLst>
              </a:tr>
            </a:tbl>
          </a:graphicData>
        </a:graphic>
      </p:graphicFrame>
      <p:pic>
        <p:nvPicPr>
          <p:cNvPr id="14" name="Picture 13">
            <a:extLst>
              <a:ext uri="{FF2B5EF4-FFF2-40B4-BE49-F238E27FC236}">
                <a16:creationId xmlns:a16="http://schemas.microsoft.com/office/drawing/2014/main" id="{32FDEAE3-A2D4-B1C3-8202-A3BC29401C3D}"/>
              </a:ext>
            </a:extLst>
          </p:cNvPr>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626825" y="5221086"/>
            <a:ext cx="562284" cy="363491"/>
          </a:xfrm>
          <a:prstGeom prst="rect">
            <a:avLst/>
          </a:prstGeom>
        </p:spPr>
      </p:pic>
      <p:pic>
        <p:nvPicPr>
          <p:cNvPr id="15" name="Picture 14">
            <a:extLst>
              <a:ext uri="{FF2B5EF4-FFF2-40B4-BE49-F238E27FC236}">
                <a16:creationId xmlns:a16="http://schemas.microsoft.com/office/drawing/2014/main" id="{91355E7A-D716-936E-3AEB-B92511E12EA4}"/>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88224" y="2406401"/>
            <a:ext cx="434000" cy="434000"/>
          </a:xfrm>
          <a:prstGeom prst="rect">
            <a:avLst/>
          </a:prstGeom>
        </p:spPr>
      </p:pic>
      <p:pic>
        <p:nvPicPr>
          <p:cNvPr id="16" name="Graphic 15" descr="Cloud">
            <a:extLst>
              <a:ext uri="{FF2B5EF4-FFF2-40B4-BE49-F238E27FC236}">
                <a16:creationId xmlns:a16="http://schemas.microsoft.com/office/drawing/2014/main" id="{8E850184-D55A-BAA9-82D4-3627289099C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1338" y="3732565"/>
            <a:ext cx="567771" cy="567771"/>
          </a:xfrm>
          <a:prstGeom prst="rect">
            <a:avLst/>
          </a:prstGeom>
        </p:spPr>
      </p:pic>
      <p:sp>
        <p:nvSpPr>
          <p:cNvPr id="17" name="Rectangle 16">
            <a:extLst>
              <a:ext uri="{FF2B5EF4-FFF2-40B4-BE49-F238E27FC236}">
                <a16:creationId xmlns:a16="http://schemas.microsoft.com/office/drawing/2014/main" id="{7977F787-8F9E-56A6-B852-4FF531FC1141}"/>
              </a:ext>
            </a:extLst>
          </p:cNvPr>
          <p:cNvSpPr/>
          <p:nvPr/>
        </p:nvSpPr>
        <p:spPr>
          <a:xfrm>
            <a:off x="8268930" y="1894247"/>
            <a:ext cx="3687097" cy="1778984"/>
          </a:xfrm>
          <a:prstGeom prst="rect">
            <a:avLst/>
          </a:prstGeom>
          <a:noFill/>
          <a:ln>
            <a:solidFill>
              <a:srgbClr val="005F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8270" marR="0" lvl="0" indent="-128270" algn="l" defTabSz="555276" rtl="0" eaLnBrk="1" fontAlgn="auto" latinLnBrk="0" hangingPunct="1">
              <a:lnSpc>
                <a:spcPct val="100000"/>
              </a:lnSpc>
              <a:spcBef>
                <a:spcPts val="300"/>
              </a:spcBef>
              <a:spcAft>
                <a:spcPts val="0"/>
              </a:spcAft>
              <a:buClr>
                <a:srgbClr val="FFFFFF"/>
              </a:buClr>
              <a:buSzTx/>
              <a:buFont typeface="Wingdings" charset="2"/>
              <a:buChar char="§"/>
              <a:tabLst/>
              <a:defRPr/>
            </a:pPr>
            <a:endParaRPr kumimoji="0" lang="en-US" sz="1050" b="0" i="0" u="none" strike="noStrike" kern="1200" cap="none" spc="0" normalizeH="0" baseline="0" noProof="0" dirty="0">
              <a:ln>
                <a:noFill/>
              </a:ln>
              <a:solidFill>
                <a:schemeClr val="tx1"/>
              </a:solidFill>
              <a:effectLst/>
              <a:uLnTx/>
              <a:uFillTx/>
              <a:latin typeface="Calibri" panose="020F0502020204030204"/>
              <a:ea typeface="Roboto Condensed" charset="0"/>
              <a:cs typeface="Helvetica"/>
            </a:endParaRPr>
          </a:p>
        </p:txBody>
      </p:sp>
      <p:sp>
        <p:nvSpPr>
          <p:cNvPr id="18" name="Rectangle 17">
            <a:extLst>
              <a:ext uri="{FF2B5EF4-FFF2-40B4-BE49-F238E27FC236}">
                <a16:creationId xmlns:a16="http://schemas.microsoft.com/office/drawing/2014/main" id="{F59C7AD3-6EC4-0DC5-F974-EC88ED1CE229}"/>
              </a:ext>
            </a:extLst>
          </p:cNvPr>
          <p:cNvSpPr/>
          <p:nvPr/>
        </p:nvSpPr>
        <p:spPr>
          <a:xfrm>
            <a:off x="8276079" y="4008723"/>
            <a:ext cx="3687097" cy="2133983"/>
          </a:xfrm>
          <a:prstGeom prst="rect">
            <a:avLst/>
          </a:prstGeom>
          <a:noFill/>
          <a:ln>
            <a:solidFill>
              <a:srgbClr val="005F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8270" marR="0" lvl="0" indent="-128270" algn="l" defTabSz="555276" rtl="0" eaLnBrk="1" fontAlgn="auto" latinLnBrk="0" hangingPunct="1">
              <a:lnSpc>
                <a:spcPct val="100000"/>
              </a:lnSpc>
              <a:spcBef>
                <a:spcPts val="300"/>
              </a:spcBef>
              <a:spcAft>
                <a:spcPts val="0"/>
              </a:spcAft>
              <a:buClr>
                <a:srgbClr val="FFFFFF"/>
              </a:buClr>
              <a:buSzTx/>
              <a:buFont typeface="Wingdings" charset="2"/>
              <a:buChar char="§"/>
              <a:tabLst/>
              <a:defRPr/>
            </a:pPr>
            <a:endParaRPr kumimoji="0" lang="en-US" sz="1050" b="0" i="0" u="none" strike="noStrike" kern="1200" cap="none" spc="0" normalizeH="0" baseline="0" noProof="0" dirty="0">
              <a:ln>
                <a:noFill/>
              </a:ln>
              <a:solidFill>
                <a:schemeClr val="tx1"/>
              </a:solidFill>
              <a:effectLst/>
              <a:uLnTx/>
              <a:uFillTx/>
              <a:latin typeface="Calibri" panose="020F0502020204030204"/>
              <a:ea typeface="Roboto Condensed" charset="0"/>
              <a:cs typeface="Helvetica"/>
            </a:endParaRPr>
          </a:p>
        </p:txBody>
      </p:sp>
      <p:sp>
        <p:nvSpPr>
          <p:cNvPr id="19" name="Rectangle 18">
            <a:extLst>
              <a:ext uri="{FF2B5EF4-FFF2-40B4-BE49-F238E27FC236}">
                <a16:creationId xmlns:a16="http://schemas.microsoft.com/office/drawing/2014/main" id="{A91B129A-D0DB-298E-0A66-261D75E4AD12}"/>
              </a:ext>
            </a:extLst>
          </p:cNvPr>
          <p:cNvSpPr/>
          <p:nvPr/>
        </p:nvSpPr>
        <p:spPr>
          <a:xfrm>
            <a:off x="8599946" y="1679106"/>
            <a:ext cx="3025063" cy="430283"/>
          </a:xfrm>
          <a:prstGeom prst="rect">
            <a:avLst/>
          </a:prstGeom>
          <a:solidFill>
            <a:srgbClr val="47727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Century Gothic" panose="020B0502020202020204" pitchFamily="34" charset="0"/>
                <a:ea typeface="Helvetica Neue Medium"/>
                <a:cs typeface="Helvetica Neue Medium"/>
                <a:sym typeface="Helvetica Neue Medium"/>
              </a:rPr>
              <a:t>WHAT THIS DECK COVERS</a:t>
            </a:r>
            <a:endParaRPr kumimoji="0" lang="en-US" sz="1400" b="1" i="0" u="none" strike="noStrike" kern="1200" cap="none" spc="0" normalizeH="0" baseline="0" noProof="0" dirty="0">
              <a:ln>
                <a:noFill/>
              </a:ln>
              <a:solidFill>
                <a:schemeClr val="bg1"/>
              </a:solidFill>
              <a:effectLst/>
              <a:uLnTx/>
              <a:uFillTx/>
              <a:latin typeface="Tungsten Semibold"/>
              <a:ea typeface="Helvetica Neue Medium"/>
              <a:cs typeface="Helvetica Neue Medium"/>
              <a:sym typeface="Helvetica Neue Medium"/>
            </a:endParaRPr>
          </a:p>
        </p:txBody>
      </p:sp>
      <p:sp>
        <p:nvSpPr>
          <p:cNvPr id="23" name="Rectangle 22">
            <a:extLst>
              <a:ext uri="{FF2B5EF4-FFF2-40B4-BE49-F238E27FC236}">
                <a16:creationId xmlns:a16="http://schemas.microsoft.com/office/drawing/2014/main" id="{6C8F8AF8-43FF-453A-D66B-1D96BB579311}"/>
              </a:ext>
            </a:extLst>
          </p:cNvPr>
          <p:cNvSpPr/>
          <p:nvPr/>
        </p:nvSpPr>
        <p:spPr>
          <a:xfrm>
            <a:off x="8599946" y="3783747"/>
            <a:ext cx="3025063" cy="430283"/>
          </a:xfrm>
          <a:prstGeom prst="rect">
            <a:avLst/>
          </a:prstGeom>
          <a:solidFill>
            <a:srgbClr val="47727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Century Gothic" panose="020B0502020202020204" pitchFamily="34" charset="0"/>
                <a:ea typeface="Helvetica Neue Medium"/>
                <a:cs typeface="Helvetica Neue Medium"/>
                <a:sym typeface="Helvetica Neue Medium"/>
              </a:rPr>
              <a:t>WHAT PRACTICES CAN EXPECT</a:t>
            </a:r>
            <a:endParaRPr kumimoji="0" lang="en-US" sz="1400" b="1" i="0" u="none" strike="noStrike" kern="1200" cap="none" spc="0" normalizeH="0" baseline="0" noProof="0" dirty="0">
              <a:ln>
                <a:noFill/>
              </a:ln>
              <a:solidFill>
                <a:schemeClr val="bg1"/>
              </a:solidFill>
              <a:effectLst/>
              <a:uLnTx/>
              <a:uFillTx/>
              <a:latin typeface="Tungsten Semibold"/>
              <a:ea typeface="Helvetica Neue Medium"/>
              <a:cs typeface="Helvetica Neue Medium"/>
              <a:sym typeface="Helvetica Neue Medium"/>
            </a:endParaRPr>
          </a:p>
        </p:txBody>
      </p:sp>
      <p:sp>
        <p:nvSpPr>
          <p:cNvPr id="25" name="Rectangle 2">
            <a:extLst>
              <a:ext uri="{FF2B5EF4-FFF2-40B4-BE49-F238E27FC236}">
                <a16:creationId xmlns:a16="http://schemas.microsoft.com/office/drawing/2014/main" id="{95AC5BF9-7E19-99D6-D0BF-DBDEE12D3521}"/>
              </a:ext>
            </a:extLst>
          </p:cNvPr>
          <p:cNvSpPr>
            <a:spLocks noChangeArrowheads="1"/>
          </p:cNvSpPr>
          <p:nvPr/>
        </p:nvSpPr>
        <p:spPr bwMode="auto">
          <a:xfrm>
            <a:off x="8268930" y="2163799"/>
            <a:ext cx="3687097" cy="137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lvl="0" indent="-171450" eaLnBrk="0" fontAlgn="base" hangingPunct="0">
              <a:spcBef>
                <a:spcPts val="600"/>
              </a:spcBef>
              <a:spcAft>
                <a:spcPct val="0"/>
              </a:spcAft>
              <a:buFont typeface="Arial" panose="020B0604020202020204" pitchFamily="34" charset="0"/>
              <a:buChar char="•"/>
            </a:pPr>
            <a:r>
              <a:rPr lang="en-US" sz="1050" dirty="0"/>
              <a:t>The </a:t>
            </a:r>
            <a:r>
              <a:rPr lang="en-US" sz="1050" b="1" dirty="0"/>
              <a:t>roadmap</a:t>
            </a:r>
            <a:r>
              <a:rPr lang="en-US" sz="1050" dirty="0"/>
              <a:t>: Champions identified → Use cases defined → Develop with AI build + Sales → Demo/asset ready → Bring to market</a:t>
            </a:r>
          </a:p>
          <a:p>
            <a:pPr marL="171450" lvl="0" indent="-171450" eaLnBrk="0" fontAlgn="base" hangingPunct="0">
              <a:spcBef>
                <a:spcPts val="600"/>
              </a:spcBef>
              <a:spcAft>
                <a:spcPct val="0"/>
              </a:spcAft>
              <a:buFont typeface="Arial" panose="020B0604020202020204" pitchFamily="34" charset="0"/>
              <a:buChar char="•"/>
            </a:pPr>
            <a:r>
              <a:rPr kumimoji="0" lang="en-US" altLang="en-US" sz="1050" b="0" i="0" u="none" strike="noStrike" cap="none" normalizeH="0" baseline="0" dirty="0">
                <a:ln>
                  <a:noFill/>
                </a:ln>
                <a:solidFill>
                  <a:schemeClr val="tx1"/>
                </a:solidFill>
                <a:effectLst/>
                <a:latin typeface="+mj-lt"/>
              </a:rPr>
              <a:t>The interlock model: </a:t>
            </a:r>
            <a:r>
              <a:rPr kumimoji="0" lang="en-US" altLang="en-US" sz="1050" b="1" i="0" u="none" strike="noStrike" cap="none" normalizeH="0" baseline="0" dirty="0">
                <a:ln>
                  <a:noFill/>
                </a:ln>
                <a:solidFill>
                  <a:schemeClr val="tx1"/>
                </a:solidFill>
                <a:effectLst/>
                <a:latin typeface="+mj-lt"/>
              </a:rPr>
              <a:t>Champion + AI Build Support + AI Sales Force</a:t>
            </a:r>
            <a:endParaRPr kumimoji="0" lang="en-US" altLang="en-US" sz="1050" b="0" i="0" u="none" strike="noStrike" cap="none" normalizeH="0" baseline="0" dirty="0">
              <a:ln>
                <a:noFill/>
              </a:ln>
              <a:solidFill>
                <a:schemeClr val="tx1"/>
              </a:solidFill>
              <a:effectLst/>
              <a:latin typeface="+mj-lt"/>
            </a:endParaRPr>
          </a:p>
          <a:p>
            <a:pPr marL="171450" marR="0" lvl="0" indent="-1714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050" b="0" i="0" u="none" strike="noStrike" cap="none" normalizeH="0" baseline="0" dirty="0">
                <a:ln>
                  <a:noFill/>
                </a:ln>
                <a:solidFill>
                  <a:schemeClr val="tx1"/>
                </a:solidFill>
                <a:effectLst/>
                <a:latin typeface="+mj-lt"/>
              </a:rPr>
              <a:t>The cadence that keeps momentum and drives cross-sell</a:t>
            </a:r>
          </a:p>
        </p:txBody>
      </p:sp>
      <p:sp>
        <p:nvSpPr>
          <p:cNvPr id="26" name="Rectangle 3">
            <a:extLst>
              <a:ext uri="{FF2B5EF4-FFF2-40B4-BE49-F238E27FC236}">
                <a16:creationId xmlns:a16="http://schemas.microsoft.com/office/drawing/2014/main" id="{A56EA8E9-5FE2-0F4E-0F88-BC294AC3DC14}"/>
              </a:ext>
            </a:extLst>
          </p:cNvPr>
          <p:cNvSpPr>
            <a:spLocks noChangeArrowheads="1"/>
          </p:cNvSpPr>
          <p:nvPr/>
        </p:nvSpPr>
        <p:spPr bwMode="auto">
          <a:xfrm>
            <a:off x="8276079" y="4272992"/>
            <a:ext cx="3679948" cy="181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ts val="200"/>
              </a:spcBef>
              <a:spcAft>
                <a:spcPct val="0"/>
              </a:spcAft>
              <a:buClrTx/>
              <a:buSzTx/>
              <a:buFont typeface="Arial" panose="020B0604020202020204" pitchFamily="34" charset="0"/>
              <a:buChar char="•"/>
              <a:tabLst/>
            </a:pPr>
            <a:r>
              <a:rPr kumimoji="0" lang="en-US" altLang="en-US" sz="1050" b="0" i="0" u="none" strike="noStrike" cap="none" normalizeH="0" baseline="0" dirty="0">
                <a:ln>
                  <a:noFill/>
                </a:ln>
                <a:solidFill>
                  <a:schemeClr val="tx1"/>
                </a:solidFill>
                <a:effectLst/>
                <a:latin typeface="+mj-lt"/>
              </a:rPr>
              <a:t>A prioritized backlog of </a:t>
            </a:r>
            <a:r>
              <a:rPr kumimoji="0" lang="en-US" altLang="en-US" sz="1050" b="1" i="0" u="none" strike="noStrike" cap="none" normalizeH="0" baseline="0" dirty="0">
                <a:ln>
                  <a:noFill/>
                </a:ln>
                <a:solidFill>
                  <a:schemeClr val="tx1"/>
                </a:solidFill>
                <a:effectLst/>
                <a:latin typeface="+mj-lt"/>
              </a:rPr>
              <a:t>domain AI service offerings</a:t>
            </a:r>
            <a:r>
              <a:rPr kumimoji="0" lang="en-US" altLang="en-US" sz="1050" b="0" i="0" u="none" strike="noStrike" cap="none" normalizeH="0" baseline="0" dirty="0">
                <a:ln>
                  <a:noFill/>
                </a:ln>
                <a:solidFill>
                  <a:schemeClr val="tx1"/>
                </a:solidFill>
                <a:effectLst/>
                <a:latin typeface="+mj-lt"/>
              </a:rPr>
              <a:t> (problem-first)</a:t>
            </a:r>
          </a:p>
          <a:p>
            <a:pPr marL="285750" marR="0" lvl="0" indent="-285750" algn="l" defTabSz="914400" rtl="0" eaLnBrk="0" fontAlgn="base" latinLnBrk="0" hangingPunct="0">
              <a:lnSpc>
                <a:spcPct val="100000"/>
              </a:lnSpc>
              <a:spcBef>
                <a:spcPts val="200"/>
              </a:spcBef>
              <a:spcAft>
                <a:spcPct val="0"/>
              </a:spcAft>
              <a:buClrTx/>
              <a:buSzTx/>
              <a:buFont typeface="Arial" panose="020B0604020202020204" pitchFamily="34" charset="0"/>
              <a:buChar char="•"/>
              <a:tabLst/>
            </a:pPr>
            <a:r>
              <a:rPr kumimoji="0" lang="en-US" altLang="en-US" sz="1050" b="1" i="0" u="none" strike="noStrike" cap="none" normalizeH="0" baseline="0" dirty="0">
                <a:ln>
                  <a:noFill/>
                </a:ln>
                <a:solidFill>
                  <a:schemeClr val="tx1"/>
                </a:solidFill>
                <a:effectLst/>
                <a:latin typeface="+mj-lt"/>
              </a:rPr>
              <a:t>Demo-ready assets</a:t>
            </a:r>
            <a:r>
              <a:rPr kumimoji="0" lang="en-US" altLang="en-US" sz="1050" b="0" i="0" u="none" strike="noStrike" cap="none" normalizeH="0" baseline="0" dirty="0">
                <a:ln>
                  <a:noFill/>
                </a:ln>
                <a:solidFill>
                  <a:schemeClr val="tx1"/>
                </a:solidFill>
                <a:effectLst/>
                <a:latin typeface="+mj-lt"/>
              </a:rPr>
              <a:t> (demo/video/walkthrough) with simple talk tracks</a:t>
            </a:r>
          </a:p>
          <a:p>
            <a:pPr marL="285750" marR="0" lvl="0" indent="-285750" algn="l" defTabSz="914400" rtl="0" eaLnBrk="0" fontAlgn="base" latinLnBrk="0" hangingPunct="0">
              <a:lnSpc>
                <a:spcPct val="100000"/>
              </a:lnSpc>
              <a:spcBef>
                <a:spcPts val="200"/>
              </a:spcBef>
              <a:spcAft>
                <a:spcPct val="0"/>
              </a:spcAft>
              <a:buClrTx/>
              <a:buSzTx/>
              <a:buFont typeface="Arial" panose="020B0604020202020204" pitchFamily="34" charset="0"/>
              <a:buChar char="•"/>
              <a:tabLst/>
            </a:pPr>
            <a:r>
              <a:rPr kumimoji="0" lang="en-US" altLang="en-US" sz="1050" b="0" i="0" u="none" strike="noStrike" cap="none" normalizeH="0" baseline="0" dirty="0">
                <a:ln>
                  <a:noFill/>
                </a:ln>
                <a:solidFill>
                  <a:schemeClr val="tx1"/>
                </a:solidFill>
                <a:effectLst/>
                <a:latin typeface="+mj-lt"/>
              </a:rPr>
              <a:t>Clear “where it fits” guidance: </a:t>
            </a:r>
            <a:r>
              <a:rPr kumimoji="0" lang="en-US" altLang="en-US" sz="1050" b="1" i="0" u="none" strike="noStrike" cap="none" normalizeH="0" baseline="0" dirty="0">
                <a:ln>
                  <a:noFill/>
                </a:ln>
                <a:solidFill>
                  <a:schemeClr val="tx1"/>
                </a:solidFill>
                <a:effectLst/>
                <a:latin typeface="+mj-lt"/>
              </a:rPr>
              <a:t>best-fit buyers + target accounts</a:t>
            </a:r>
            <a:endParaRPr kumimoji="0" lang="en-US" altLang="en-US" sz="105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ts val="200"/>
              </a:spcBef>
              <a:spcAft>
                <a:spcPct val="0"/>
              </a:spcAft>
              <a:buClrTx/>
              <a:buSzTx/>
              <a:buFont typeface="Arial" panose="020B0604020202020204" pitchFamily="34" charset="0"/>
              <a:buChar char="•"/>
              <a:tabLst/>
            </a:pPr>
            <a:r>
              <a:rPr kumimoji="0" lang="en-US" altLang="en-US" sz="1050" b="0" i="0" u="none" strike="noStrike" cap="none" normalizeH="0" baseline="0" dirty="0">
                <a:ln>
                  <a:noFill/>
                </a:ln>
                <a:solidFill>
                  <a:schemeClr val="tx1"/>
                </a:solidFill>
                <a:effectLst/>
                <a:latin typeface="+mj-lt"/>
              </a:rPr>
              <a:t>A repeatable cadence to move offerings into </a:t>
            </a:r>
            <a:r>
              <a:rPr kumimoji="0" lang="en-US" altLang="en-US" sz="1050" b="1" i="0" u="none" strike="noStrike" cap="none" normalizeH="0" baseline="0" dirty="0">
                <a:ln>
                  <a:noFill/>
                </a:ln>
                <a:solidFill>
                  <a:schemeClr val="tx1"/>
                </a:solidFill>
                <a:effectLst/>
                <a:latin typeface="+mj-lt"/>
              </a:rPr>
              <a:t>active pursuits</a:t>
            </a:r>
            <a:endParaRPr kumimoji="0" lang="en-US" altLang="en-US" sz="105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00000"/>
              </a:lnSpc>
              <a:spcBef>
                <a:spcPts val="200"/>
              </a:spcBef>
              <a:spcAft>
                <a:spcPct val="0"/>
              </a:spcAft>
              <a:buClrTx/>
              <a:buSzTx/>
              <a:buFont typeface="Arial" panose="020B0604020202020204" pitchFamily="34" charset="0"/>
              <a:buChar char="•"/>
              <a:tabLst/>
            </a:pPr>
            <a:r>
              <a:rPr kumimoji="0" lang="en-US" altLang="en-US" sz="1050" b="0" i="0" u="none" strike="noStrike" cap="none" normalizeH="0" baseline="0" dirty="0">
                <a:ln>
                  <a:noFill/>
                </a:ln>
                <a:solidFill>
                  <a:schemeClr val="tx1"/>
                </a:solidFill>
                <a:effectLst/>
                <a:latin typeface="+mj-lt"/>
              </a:rPr>
              <a:t>Visibility into what’s ready now vs. what needs building (for reuse and cross-sell)</a:t>
            </a:r>
          </a:p>
        </p:txBody>
      </p:sp>
      <p:sp>
        <p:nvSpPr>
          <p:cNvPr id="2" name="Rectangle 1">
            <a:extLst>
              <a:ext uri="{FF2B5EF4-FFF2-40B4-BE49-F238E27FC236}">
                <a16:creationId xmlns:a16="http://schemas.microsoft.com/office/drawing/2014/main" id="{3D14E918-75E6-96DA-6835-5170823833FA}"/>
              </a:ext>
            </a:extLst>
          </p:cNvPr>
          <p:cNvSpPr/>
          <p:nvPr/>
        </p:nvSpPr>
        <p:spPr>
          <a:xfrm>
            <a:off x="-1290864" y="329407"/>
            <a:ext cx="1668003" cy="2183735"/>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Around </a:t>
            </a:r>
            <a:r>
              <a:rPr lang="en-US" sz="1100" dirty="0" err="1"/>
              <a:t>Chinmoys</a:t>
            </a:r>
            <a:r>
              <a:rPr lang="en-US" sz="1100" dirty="0"/>
              <a:t> ambition—</a:t>
            </a:r>
            <a:r>
              <a:rPr lang="en-US" sz="1100" b="1" dirty="0"/>
              <a:t>refer to </a:t>
            </a:r>
            <a:r>
              <a:rPr lang="en-US" sz="1100" b="1" dirty="0" err="1"/>
              <a:t>hanni’s</a:t>
            </a:r>
            <a:r>
              <a:rPr lang="en-US" sz="1100" b="1" dirty="0"/>
              <a:t> email</a:t>
            </a:r>
          </a:p>
          <a:p>
            <a:pPr algn="ctr"/>
            <a:endParaRPr lang="en-US" sz="1100" dirty="0"/>
          </a:p>
          <a:p>
            <a:pPr algn="ctr"/>
            <a:r>
              <a:rPr lang="en-US" sz="1100" dirty="0"/>
              <a:t>What’s in it for you and why this matters in that context (generate excitement around involvement)</a:t>
            </a:r>
          </a:p>
        </p:txBody>
      </p:sp>
    </p:spTree>
    <p:extLst>
      <p:ext uri="{BB962C8B-B14F-4D97-AF65-F5344CB8AC3E}">
        <p14:creationId xmlns:p14="http://schemas.microsoft.com/office/powerpoint/2010/main" val="2140935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3DBE6-F5E9-6404-875D-675F327E1452}"/>
              </a:ext>
            </a:extLst>
          </p:cNvPr>
          <p:cNvSpPr>
            <a:spLocks noGrp="1"/>
          </p:cNvSpPr>
          <p:nvPr>
            <p:ph type="title"/>
          </p:nvPr>
        </p:nvSpPr>
        <p:spPr/>
        <p:txBody>
          <a:bodyPr/>
          <a:lstStyle/>
          <a:p>
            <a:r>
              <a:rPr lang="en-US"/>
              <a:t>Bi-Weekly Sales Activation</a:t>
            </a:r>
          </a:p>
        </p:txBody>
      </p:sp>
      <p:sp>
        <p:nvSpPr>
          <p:cNvPr id="3" name="Text Placeholder 2">
            <a:extLst>
              <a:ext uri="{FF2B5EF4-FFF2-40B4-BE49-F238E27FC236}">
                <a16:creationId xmlns:a16="http://schemas.microsoft.com/office/drawing/2014/main" id="{639DCEA9-3501-63E8-77A1-6A6EC05C5589}"/>
              </a:ext>
            </a:extLst>
          </p:cNvPr>
          <p:cNvSpPr>
            <a:spLocks noGrp="1"/>
          </p:cNvSpPr>
          <p:nvPr>
            <p:ph type="body" sz="quarter" idx="11"/>
          </p:nvPr>
        </p:nvSpPr>
        <p:spPr/>
        <p:txBody>
          <a:bodyPr/>
          <a:lstStyle/>
          <a:p>
            <a:r>
              <a:rPr lang="en-US"/>
              <a:t>Two Separate Cadence &amp; Focuses to power up sales &amp; wins</a:t>
            </a:r>
          </a:p>
        </p:txBody>
      </p:sp>
      <p:sp>
        <p:nvSpPr>
          <p:cNvPr id="9" name="TextBox 8">
            <a:extLst>
              <a:ext uri="{FF2B5EF4-FFF2-40B4-BE49-F238E27FC236}">
                <a16:creationId xmlns:a16="http://schemas.microsoft.com/office/drawing/2014/main" id="{A8D4D7CD-671D-29B3-47B1-C6906F5F21B1}"/>
              </a:ext>
            </a:extLst>
          </p:cNvPr>
          <p:cNvSpPr txBox="1"/>
          <p:nvPr/>
        </p:nvSpPr>
        <p:spPr>
          <a:xfrm>
            <a:off x="626942" y="3038699"/>
            <a:ext cx="4805049" cy="1015663"/>
          </a:xfrm>
          <a:prstGeom prst="rect">
            <a:avLst/>
          </a:prstGeom>
          <a:noFill/>
        </p:spPr>
        <p:txBody>
          <a:bodyPr wrap="square">
            <a:spAutoFit/>
          </a:bodyPr>
          <a:lstStyle/>
          <a:p>
            <a:pPr eaLnBrk="0" fontAlgn="base" hangingPunct="0">
              <a:spcBef>
                <a:spcPct val="0"/>
              </a:spcBef>
              <a:spcAft>
                <a:spcPct val="0"/>
              </a:spcAft>
            </a:pPr>
            <a:r>
              <a:rPr lang="en-US" altLang="en-US" sz="1050" dirty="0"/>
              <a:t>✅ About identifying &amp; prioritizing what’s hot in the market</a:t>
            </a:r>
          </a:p>
          <a:p>
            <a:pPr marL="628650" lvl="1" indent="-171450" eaLnBrk="0" fontAlgn="base" hangingPunct="0">
              <a:spcBef>
                <a:spcPct val="0"/>
              </a:spcBef>
              <a:spcAft>
                <a:spcPct val="0"/>
              </a:spcAft>
              <a:buFont typeface="Arial" panose="020B0604020202020204" pitchFamily="34" charset="0"/>
              <a:buChar char="•"/>
            </a:pPr>
            <a:r>
              <a:rPr lang="en-US" altLang="en-US" sz="900" i="1" dirty="0"/>
              <a:t>Criteria #1: Can take to 2+ clients</a:t>
            </a:r>
          </a:p>
          <a:p>
            <a:pPr marL="628650" lvl="1" indent="-171450" eaLnBrk="0" fontAlgn="base" hangingPunct="0">
              <a:spcBef>
                <a:spcPct val="0"/>
              </a:spcBef>
              <a:spcAft>
                <a:spcPct val="0"/>
              </a:spcAft>
              <a:buFont typeface="Arial" panose="020B0604020202020204" pitchFamily="34" charset="0"/>
              <a:buChar char="•"/>
            </a:pPr>
            <a:r>
              <a:rPr lang="en-US" altLang="en-US" sz="900" i="1" dirty="0"/>
              <a:t>Criteria #2: Area where we demonstrate strong capability &amp; credentials</a:t>
            </a:r>
          </a:p>
          <a:p>
            <a:pPr marL="628650" lvl="1" indent="-171450" eaLnBrk="0" fontAlgn="base" hangingPunct="0">
              <a:spcBef>
                <a:spcPct val="0"/>
              </a:spcBef>
              <a:spcAft>
                <a:spcPct val="0"/>
              </a:spcAft>
              <a:buFont typeface="Arial" panose="020B0604020202020204" pitchFamily="34" charset="0"/>
              <a:buChar char="•"/>
            </a:pPr>
            <a:r>
              <a:rPr lang="en-US" altLang="en-US" sz="900" i="1" dirty="0"/>
              <a:t>Criteria #3: Brand New &amp; Cutting Edge</a:t>
            </a:r>
          </a:p>
          <a:p>
            <a:pPr lvl="0" eaLnBrk="0" fontAlgn="base" hangingPunct="0">
              <a:spcBef>
                <a:spcPct val="0"/>
              </a:spcBef>
              <a:spcAft>
                <a:spcPct val="0"/>
              </a:spcAft>
            </a:pPr>
            <a:r>
              <a:rPr lang="en-US" altLang="en-US" sz="1050" dirty="0"/>
              <a:t>✅ About sharing stories in getting that 1st &amp; 2nd meeting</a:t>
            </a:r>
          </a:p>
          <a:p>
            <a:pPr lvl="0" eaLnBrk="0" fontAlgn="base" hangingPunct="0">
              <a:spcBef>
                <a:spcPct val="0"/>
              </a:spcBef>
              <a:spcAft>
                <a:spcPct val="0"/>
              </a:spcAft>
            </a:pPr>
            <a:r>
              <a:rPr lang="en-US" altLang="en-US" sz="1050" dirty="0"/>
              <a:t>✅ About mobilizing around opportunities</a:t>
            </a:r>
          </a:p>
        </p:txBody>
      </p:sp>
      <p:sp>
        <p:nvSpPr>
          <p:cNvPr id="10" name="Rectangle 9">
            <a:extLst>
              <a:ext uri="{FF2B5EF4-FFF2-40B4-BE49-F238E27FC236}">
                <a16:creationId xmlns:a16="http://schemas.microsoft.com/office/drawing/2014/main" id="{F38B806D-0F38-5C24-8EA4-9EB850B23677}"/>
              </a:ext>
            </a:extLst>
          </p:cNvPr>
          <p:cNvSpPr/>
          <p:nvPr/>
        </p:nvSpPr>
        <p:spPr>
          <a:xfrm>
            <a:off x="705765" y="1386354"/>
            <a:ext cx="3657600" cy="230498"/>
          </a:xfrm>
          <a:prstGeom prst="rect">
            <a:avLst/>
          </a:prstGeom>
          <a:noFill/>
          <a:ln w="12700" cap="flat" cmpd="sng" algn="ctr">
            <a:noFill/>
            <a:prstDash val="solid"/>
            <a:miter lim="800000"/>
          </a:ln>
          <a:effectLst/>
        </p:spPr>
        <p:txBody>
          <a:bodyPr wrap="square" lIns="0" bIns="68580" rtlCol="0" anchor="ctr">
            <a:noAutofit/>
          </a:bodyPr>
          <a:lstStyle/>
          <a:p>
            <a:pPr marL="365760" marR="0" lvl="0" indent="0" algn="ctr" defTabSz="914400" rtl="0" eaLnBrk="1" fontAlgn="auto" latinLnBrk="0" hangingPunct="1">
              <a:lnSpc>
                <a:spcPct val="90000"/>
              </a:lnSpc>
              <a:spcBef>
                <a:spcPct val="0"/>
              </a:spcBef>
              <a:spcAft>
                <a:spcPts val="0"/>
              </a:spcAft>
              <a:buClrTx/>
              <a:buSzTx/>
              <a:buFontTx/>
              <a:buNone/>
              <a:tabLst/>
              <a:defRPr/>
            </a:pPr>
            <a:r>
              <a:rPr lang="en-US" sz="1600" b="1" cap="all">
                <a:solidFill>
                  <a:srgbClr val="005F65"/>
                </a:solidFill>
                <a:latin typeface="Century Gothic" panose="020B0502020202020204" pitchFamily="34" charset="0"/>
                <a:sym typeface="+mn-lt"/>
              </a:rPr>
              <a:t>Bi-Weekly Sales Activation</a:t>
            </a:r>
          </a:p>
          <a:p>
            <a:pPr marL="365760" marR="0" lvl="0" indent="0" algn="ctr" defTabSz="914400" rtl="0" eaLnBrk="1" fontAlgn="auto" latinLnBrk="0" hangingPunct="1">
              <a:lnSpc>
                <a:spcPct val="90000"/>
              </a:lnSpc>
              <a:spcBef>
                <a:spcPct val="0"/>
              </a:spcBef>
              <a:spcAft>
                <a:spcPts val="0"/>
              </a:spcAft>
              <a:buClrTx/>
              <a:buSzTx/>
              <a:buFontTx/>
              <a:buNone/>
              <a:tabLst/>
              <a:defRPr/>
            </a:pPr>
            <a:r>
              <a:rPr kumimoji="0" lang="en-US" sz="1600" b="1" i="0" u="none" strike="noStrike" kern="1200" cap="all" spc="0" normalizeH="0" baseline="0" noProof="0">
                <a:ln>
                  <a:noFill/>
                </a:ln>
                <a:solidFill>
                  <a:srgbClr val="005F65"/>
                </a:solidFill>
                <a:effectLst/>
                <a:uLnTx/>
                <a:uFillTx/>
                <a:latin typeface="Century Gothic" panose="020B0502020202020204" pitchFamily="34" charset="0"/>
                <a:ea typeface="+mn-ea"/>
                <a:cs typeface="+mn-cs"/>
                <a:sym typeface="+mn-lt"/>
              </a:rPr>
              <a:t>(Building more pipeline)</a:t>
            </a:r>
          </a:p>
        </p:txBody>
      </p:sp>
      <p:sp>
        <p:nvSpPr>
          <p:cNvPr id="12" name="Rectangle 11">
            <a:extLst>
              <a:ext uri="{FF2B5EF4-FFF2-40B4-BE49-F238E27FC236}">
                <a16:creationId xmlns:a16="http://schemas.microsoft.com/office/drawing/2014/main" id="{EBD0EB69-5F56-B282-7D31-482529BF6C52}"/>
              </a:ext>
            </a:extLst>
          </p:cNvPr>
          <p:cNvSpPr/>
          <p:nvPr/>
        </p:nvSpPr>
        <p:spPr>
          <a:xfrm>
            <a:off x="705765" y="1265531"/>
            <a:ext cx="444552" cy="423085"/>
          </a:xfrm>
          <a:prstGeom prst="rect">
            <a:avLst/>
          </a:prstGeom>
          <a:solidFill>
            <a:srgbClr val="005F6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Tungsten Semibold"/>
                <a:ea typeface="Helvetica Neue Medium"/>
                <a:cs typeface="Helvetica Neue Medium"/>
                <a:sym typeface="Helvetica Neue Medium"/>
              </a:rPr>
              <a:t>1</a:t>
            </a:r>
          </a:p>
        </p:txBody>
      </p:sp>
      <p:sp>
        <p:nvSpPr>
          <p:cNvPr id="16" name="TextBox 15">
            <a:extLst>
              <a:ext uri="{FF2B5EF4-FFF2-40B4-BE49-F238E27FC236}">
                <a16:creationId xmlns:a16="http://schemas.microsoft.com/office/drawing/2014/main" id="{EE68621A-2A01-B336-FC14-454E5976BFC7}"/>
              </a:ext>
            </a:extLst>
          </p:cNvPr>
          <p:cNvSpPr txBox="1"/>
          <p:nvPr/>
        </p:nvSpPr>
        <p:spPr>
          <a:xfrm>
            <a:off x="6696016" y="3047901"/>
            <a:ext cx="4873294" cy="1015663"/>
          </a:xfrm>
          <a:prstGeom prst="rect">
            <a:avLst/>
          </a:prstGeom>
          <a:noFill/>
        </p:spPr>
        <p:txBody>
          <a:bodyPr wrap="square">
            <a:spAutoFit/>
          </a:bodyPr>
          <a:lstStyle/>
          <a:p>
            <a:pPr eaLnBrk="0" fontAlgn="base" hangingPunct="0">
              <a:spcBef>
                <a:spcPct val="0"/>
              </a:spcBef>
              <a:spcAft>
                <a:spcPct val="0"/>
              </a:spcAft>
            </a:pPr>
            <a:r>
              <a:rPr lang="en-US" altLang="en-US" sz="1100"/>
              <a:t>✅ About deal positioning &amp; how we respond early in sales stage</a:t>
            </a:r>
          </a:p>
          <a:p>
            <a:pPr marL="628650" lvl="1" indent="-171450" eaLnBrk="0" fontAlgn="base" hangingPunct="0">
              <a:spcBef>
                <a:spcPct val="0"/>
              </a:spcBef>
              <a:spcAft>
                <a:spcPct val="0"/>
              </a:spcAft>
              <a:buFont typeface="Arial" panose="020B0604020202020204" pitchFamily="34" charset="0"/>
              <a:buChar char="•"/>
            </a:pPr>
            <a:r>
              <a:rPr lang="en-US" altLang="en-US" sz="900" i="1"/>
              <a:t>Criteria #1: Strategic / Game Changer</a:t>
            </a:r>
          </a:p>
          <a:p>
            <a:pPr marL="628650" lvl="1" indent="-171450" eaLnBrk="0" fontAlgn="base" hangingPunct="0">
              <a:spcBef>
                <a:spcPct val="0"/>
              </a:spcBef>
              <a:spcAft>
                <a:spcPct val="0"/>
              </a:spcAft>
              <a:buFont typeface="Arial" panose="020B0604020202020204" pitchFamily="34" charset="0"/>
              <a:buChar char="•"/>
            </a:pPr>
            <a:r>
              <a:rPr lang="en-US" altLang="en-US" sz="900" i="1"/>
              <a:t>Criteria #2: Early-stage prior RFP</a:t>
            </a:r>
          </a:p>
          <a:p>
            <a:pPr marL="628650" lvl="1" indent="-171450" eaLnBrk="0" fontAlgn="base" hangingPunct="0">
              <a:spcBef>
                <a:spcPct val="0"/>
              </a:spcBef>
              <a:spcAft>
                <a:spcPct val="0"/>
              </a:spcAft>
              <a:buFont typeface="Arial" panose="020B0604020202020204" pitchFamily="34" charset="0"/>
              <a:buChar char="•"/>
            </a:pPr>
            <a:r>
              <a:rPr lang="en-US" altLang="en-US" sz="900" i="1"/>
              <a:t>Criteria #3: Gaps exist (capability, price, etc.)</a:t>
            </a:r>
          </a:p>
          <a:p>
            <a:pPr lvl="0" eaLnBrk="0" fontAlgn="base" hangingPunct="0">
              <a:spcBef>
                <a:spcPct val="0"/>
              </a:spcBef>
              <a:spcAft>
                <a:spcPct val="0"/>
              </a:spcAft>
            </a:pPr>
            <a:r>
              <a:rPr lang="en-US" altLang="en-US" sz="1100"/>
              <a:t>✅ About improving win rates</a:t>
            </a:r>
          </a:p>
          <a:p>
            <a:pPr lvl="0" eaLnBrk="0" fontAlgn="base" hangingPunct="0">
              <a:spcBef>
                <a:spcPct val="0"/>
              </a:spcBef>
              <a:spcAft>
                <a:spcPct val="0"/>
              </a:spcAft>
            </a:pPr>
            <a:r>
              <a:rPr lang="en-US" altLang="en-US" sz="1100"/>
              <a:t>✅ About bringing in the right people &amp; making the right investments</a:t>
            </a:r>
          </a:p>
        </p:txBody>
      </p:sp>
      <p:sp>
        <p:nvSpPr>
          <p:cNvPr id="17" name="Rectangle 16">
            <a:extLst>
              <a:ext uri="{FF2B5EF4-FFF2-40B4-BE49-F238E27FC236}">
                <a16:creationId xmlns:a16="http://schemas.microsoft.com/office/drawing/2014/main" id="{AB57F2A7-A4DB-CA1B-B541-F70EA4FFA8D0}"/>
              </a:ext>
            </a:extLst>
          </p:cNvPr>
          <p:cNvSpPr/>
          <p:nvPr/>
        </p:nvSpPr>
        <p:spPr>
          <a:xfrm>
            <a:off x="146390" y="2689347"/>
            <a:ext cx="3307853" cy="421116"/>
          </a:xfrm>
          <a:prstGeom prst="rect">
            <a:avLst/>
          </a:prstGeom>
        </p:spPr>
        <p:txBody>
          <a:bodyPr wrap="square" lIns="548640" anchor="ctr">
            <a:noAutofit/>
          </a:bodyPr>
          <a:lstStyle/>
          <a:p>
            <a:pPr lvl="0">
              <a:defRPr/>
            </a:pPr>
            <a:r>
              <a:rPr lang="en-CA" sz="1200" b="1">
                <a:solidFill>
                  <a:srgbClr val="005F65"/>
                </a:solidFill>
              </a:rPr>
              <a:t>Objective</a:t>
            </a:r>
            <a:endParaRPr kumimoji="0" lang="en-US" sz="1200" b="1" i="0" u="none" strike="noStrike" kern="1200" cap="none" spc="0" normalizeH="0" baseline="0" noProof="0">
              <a:ln>
                <a:noFill/>
              </a:ln>
              <a:solidFill>
                <a:srgbClr val="005F65"/>
              </a:solidFill>
              <a:effectLst/>
              <a:uLnTx/>
              <a:uFillTx/>
              <a:latin typeface="Century Gothic" panose="020B0502020202020204" pitchFamily="34" charset="0"/>
              <a:ea typeface="+mn-ea"/>
              <a:cs typeface="+mn-cs"/>
            </a:endParaRPr>
          </a:p>
        </p:txBody>
      </p:sp>
      <p:sp>
        <p:nvSpPr>
          <p:cNvPr id="18" name="Rectangle 17">
            <a:extLst>
              <a:ext uri="{FF2B5EF4-FFF2-40B4-BE49-F238E27FC236}">
                <a16:creationId xmlns:a16="http://schemas.microsoft.com/office/drawing/2014/main" id="{EB67E5BC-FC39-A984-7B74-CB26ED37AC07}"/>
              </a:ext>
            </a:extLst>
          </p:cNvPr>
          <p:cNvSpPr/>
          <p:nvPr/>
        </p:nvSpPr>
        <p:spPr>
          <a:xfrm>
            <a:off x="146390" y="4063945"/>
            <a:ext cx="3307853" cy="421116"/>
          </a:xfrm>
          <a:prstGeom prst="rect">
            <a:avLst/>
          </a:prstGeom>
        </p:spPr>
        <p:txBody>
          <a:bodyPr wrap="square" lIns="548640" anchor="ctr">
            <a:noAutofit/>
          </a:bodyPr>
          <a:lstStyle/>
          <a:p>
            <a:pPr lvl="0">
              <a:defRPr/>
            </a:pPr>
            <a:r>
              <a:rPr lang="en-CA" sz="1200" b="1">
                <a:solidFill>
                  <a:srgbClr val="005F65"/>
                </a:solidFill>
              </a:rPr>
              <a:t>Agenda</a:t>
            </a:r>
            <a:endParaRPr kumimoji="0" lang="en-US" sz="1200" b="1" i="0" u="none" strike="noStrike" kern="1200" cap="none" spc="0" normalizeH="0" baseline="0" noProof="0">
              <a:ln>
                <a:noFill/>
              </a:ln>
              <a:solidFill>
                <a:srgbClr val="005F65"/>
              </a:solidFill>
              <a:effectLst/>
              <a:uLnTx/>
              <a:uFillTx/>
              <a:latin typeface="Century Gothic" panose="020B0502020202020204" pitchFamily="34" charset="0"/>
              <a:ea typeface="+mn-ea"/>
              <a:cs typeface="+mn-cs"/>
            </a:endParaRPr>
          </a:p>
        </p:txBody>
      </p:sp>
      <p:sp>
        <p:nvSpPr>
          <p:cNvPr id="19" name="Rectangle 18">
            <a:extLst>
              <a:ext uri="{FF2B5EF4-FFF2-40B4-BE49-F238E27FC236}">
                <a16:creationId xmlns:a16="http://schemas.microsoft.com/office/drawing/2014/main" id="{420A6491-3FCD-BD06-51D6-68B323A6F57F}"/>
              </a:ext>
            </a:extLst>
          </p:cNvPr>
          <p:cNvSpPr/>
          <p:nvPr/>
        </p:nvSpPr>
        <p:spPr>
          <a:xfrm>
            <a:off x="642391" y="4391077"/>
            <a:ext cx="3899791" cy="2161138"/>
          </a:xfrm>
          <a:prstGeom prst="rect">
            <a:avLst/>
          </a:prstGeom>
        </p:spPr>
        <p:txBody>
          <a:bodyPr wrap="square">
            <a:noAutofit/>
          </a:bodyPr>
          <a:lstStyle/>
          <a:p>
            <a:pPr marL="171450" lvl="0" indent="-171450" eaLnBrk="0" fontAlgn="base" hangingPunct="0">
              <a:spcBef>
                <a:spcPct val="0"/>
              </a:spcBef>
              <a:spcAft>
                <a:spcPct val="0"/>
              </a:spcAft>
              <a:buFont typeface="Arial" panose="020B0604020202020204" pitchFamily="34" charset="0"/>
              <a:buChar char="•"/>
            </a:pPr>
            <a:r>
              <a:rPr lang="en-US" altLang="en-US" sz="1050" b="1"/>
              <a:t>Kick Off:</a:t>
            </a:r>
          </a:p>
          <a:p>
            <a:pPr marL="628650" lvl="1" indent="-171450" eaLnBrk="0" fontAlgn="base" hangingPunct="0">
              <a:spcBef>
                <a:spcPct val="0"/>
              </a:spcBef>
              <a:spcAft>
                <a:spcPct val="0"/>
              </a:spcAft>
              <a:buFont typeface="Arial" panose="020B0604020202020204" pitchFamily="34" charset="0"/>
              <a:buChar char="•"/>
            </a:pPr>
            <a:r>
              <a:rPr lang="en-US" altLang="en-US" sz="900"/>
              <a:t>Celebrating wins</a:t>
            </a:r>
          </a:p>
          <a:p>
            <a:pPr marL="628650" lvl="1" indent="-171450" eaLnBrk="0" fontAlgn="base" hangingPunct="0">
              <a:spcBef>
                <a:spcPct val="0"/>
              </a:spcBef>
              <a:spcAft>
                <a:spcPct val="0"/>
              </a:spcAft>
              <a:buFont typeface="Arial" panose="020B0604020202020204" pitchFamily="34" charset="0"/>
              <a:buChar char="•"/>
            </a:pPr>
            <a:r>
              <a:rPr lang="en-US" altLang="en-US" sz="900"/>
              <a:t>Rolling scorecard on pipeline</a:t>
            </a:r>
          </a:p>
          <a:p>
            <a:pPr marL="171450" indent="-171450" eaLnBrk="0" fontAlgn="base" hangingPunct="0">
              <a:spcBef>
                <a:spcPct val="0"/>
              </a:spcBef>
              <a:spcAft>
                <a:spcPct val="0"/>
              </a:spcAft>
              <a:buFont typeface="Arial" panose="020B0604020202020204" pitchFamily="34" charset="0"/>
              <a:buChar char="•"/>
            </a:pPr>
            <a:r>
              <a:rPr lang="en-US" altLang="en-US" sz="1050" b="1"/>
              <a:t>Around the Room: What’s Hot in the Market (10 mins)? </a:t>
            </a:r>
            <a:endParaRPr lang="en-US" altLang="en-US" sz="1050" b="1" i="1"/>
          </a:p>
          <a:p>
            <a:pPr marL="628650" lvl="1" indent="-171450" eaLnBrk="0" fontAlgn="base" hangingPunct="0">
              <a:spcBef>
                <a:spcPct val="0"/>
              </a:spcBef>
              <a:spcAft>
                <a:spcPct val="0"/>
              </a:spcAft>
              <a:buFont typeface="Arial" panose="020B0604020202020204" pitchFamily="34" charset="0"/>
              <a:buChar char="•"/>
            </a:pPr>
            <a:r>
              <a:rPr lang="en-US" altLang="en-US" sz="900"/>
              <a:t>1 solution gaining traction</a:t>
            </a:r>
          </a:p>
          <a:p>
            <a:pPr marL="628650" lvl="1" indent="-171450" eaLnBrk="0" fontAlgn="base" hangingPunct="0">
              <a:spcBef>
                <a:spcPct val="0"/>
              </a:spcBef>
              <a:spcAft>
                <a:spcPct val="0"/>
              </a:spcAft>
              <a:buFont typeface="Arial" panose="020B0604020202020204" pitchFamily="34" charset="0"/>
              <a:buChar char="•"/>
            </a:pPr>
            <a:r>
              <a:rPr lang="en-US" altLang="en-US" sz="900"/>
              <a:t>1 client signal or theme emerging</a:t>
            </a:r>
          </a:p>
          <a:p>
            <a:pPr marL="171450" indent="-171450" eaLnBrk="0" fontAlgn="base" hangingPunct="0">
              <a:spcBef>
                <a:spcPct val="0"/>
              </a:spcBef>
              <a:spcAft>
                <a:spcPct val="0"/>
              </a:spcAft>
              <a:buFont typeface="Arial" panose="020B0604020202020204" pitchFamily="34" charset="0"/>
              <a:buChar char="•"/>
            </a:pPr>
            <a:r>
              <a:rPr lang="en-US" altLang="en-US" sz="1050" b="1"/>
              <a:t>Round table on origination stories</a:t>
            </a:r>
          </a:p>
          <a:p>
            <a:pPr marL="628650" lvl="1" indent="-171450" eaLnBrk="0" fontAlgn="base" hangingPunct="0">
              <a:spcBef>
                <a:spcPct val="0"/>
              </a:spcBef>
              <a:spcAft>
                <a:spcPct val="0"/>
              </a:spcAft>
              <a:buFont typeface="Arial" panose="020B0604020202020204" pitchFamily="34" charset="0"/>
              <a:buChar char="•"/>
            </a:pPr>
            <a:r>
              <a:rPr lang="en-US" altLang="en-US" sz="900"/>
              <a:t>What was the hook?</a:t>
            </a:r>
          </a:p>
          <a:p>
            <a:pPr marL="628650" lvl="1" indent="-171450" eaLnBrk="0" fontAlgn="base" hangingPunct="0">
              <a:spcBef>
                <a:spcPct val="0"/>
              </a:spcBef>
              <a:spcAft>
                <a:spcPct val="0"/>
              </a:spcAft>
              <a:buFont typeface="Arial" panose="020B0604020202020204" pitchFamily="34" charset="0"/>
              <a:buChar char="•"/>
            </a:pPr>
            <a:r>
              <a:rPr lang="en-US" altLang="en-US" sz="900"/>
              <a:t>How did you get the #1 or #2 meeting?</a:t>
            </a:r>
          </a:p>
          <a:p>
            <a:pPr marL="628650" lvl="1" indent="-171450" eaLnBrk="0" fontAlgn="base" hangingPunct="0">
              <a:spcBef>
                <a:spcPct val="0"/>
              </a:spcBef>
              <a:spcAft>
                <a:spcPct val="0"/>
              </a:spcAft>
              <a:buFont typeface="Arial" panose="020B0604020202020204" pitchFamily="34" charset="0"/>
              <a:buChar char="•"/>
            </a:pPr>
            <a:r>
              <a:rPr lang="en-US" altLang="en-US" sz="900"/>
              <a:t>What would you do differently? </a:t>
            </a:r>
          </a:p>
          <a:p>
            <a:pPr marL="171450" indent="-171450" eaLnBrk="0" fontAlgn="base" hangingPunct="0">
              <a:spcBef>
                <a:spcPct val="0"/>
              </a:spcBef>
              <a:spcAft>
                <a:spcPct val="0"/>
              </a:spcAft>
              <a:buFont typeface="Arial" panose="020B0604020202020204" pitchFamily="34" charset="0"/>
              <a:buChar char="•"/>
            </a:pPr>
            <a:r>
              <a:rPr lang="en-US" altLang="en-US" sz="1050" b="1"/>
              <a:t>Round Table Commitment: Mobilization Sprint</a:t>
            </a:r>
          </a:p>
          <a:p>
            <a:pPr marL="628650" lvl="1" indent="-171450" eaLnBrk="0" fontAlgn="base" hangingPunct="0">
              <a:spcBef>
                <a:spcPct val="0"/>
              </a:spcBef>
              <a:spcAft>
                <a:spcPct val="0"/>
              </a:spcAft>
              <a:buFont typeface="Arial" panose="020B0604020202020204" pitchFamily="34" charset="0"/>
              <a:buChar char="•"/>
            </a:pPr>
            <a:r>
              <a:rPr lang="en-US" altLang="en-US" sz="900"/>
              <a:t>Identify 3 target clients </a:t>
            </a:r>
          </a:p>
          <a:p>
            <a:pPr marL="628650" lvl="1" indent="-171450" eaLnBrk="0" fontAlgn="base" hangingPunct="0">
              <a:spcBef>
                <a:spcPct val="0"/>
              </a:spcBef>
              <a:spcAft>
                <a:spcPct val="0"/>
              </a:spcAft>
              <a:buFont typeface="Arial" panose="020B0604020202020204" pitchFamily="34" charset="0"/>
              <a:buChar char="•"/>
            </a:pPr>
            <a:r>
              <a:rPr lang="en-US" altLang="en-US" sz="900"/>
              <a:t>Define sprint goals to meet till next meeting</a:t>
            </a:r>
          </a:p>
          <a:p>
            <a:pPr marL="628650" lvl="1" indent="-171450" eaLnBrk="0" fontAlgn="base" hangingPunct="0">
              <a:spcBef>
                <a:spcPct val="0"/>
              </a:spcBef>
              <a:spcAft>
                <a:spcPct val="0"/>
              </a:spcAft>
              <a:buFont typeface="Arial" panose="020B0604020202020204" pitchFamily="34" charset="0"/>
              <a:buChar char="•"/>
            </a:pPr>
            <a:r>
              <a:rPr lang="en-CA" sz="900"/>
              <a:t>What are you putting into the market this week</a:t>
            </a:r>
            <a:endParaRPr lang="en-US" altLang="en-US" sz="900"/>
          </a:p>
          <a:p>
            <a:pPr marL="171450" lvl="0" indent="-171450" eaLnBrk="0" fontAlgn="base" hangingPunct="0">
              <a:spcBef>
                <a:spcPct val="0"/>
              </a:spcBef>
              <a:spcAft>
                <a:spcPct val="0"/>
              </a:spcAft>
              <a:buFont typeface="Arial" panose="020B0604020202020204" pitchFamily="34" charset="0"/>
              <a:buChar char="•"/>
            </a:pPr>
            <a:endParaRPr lang="en-US" altLang="en-US" sz="1100"/>
          </a:p>
        </p:txBody>
      </p:sp>
      <p:sp>
        <p:nvSpPr>
          <p:cNvPr id="20" name="Rectangle 19">
            <a:extLst>
              <a:ext uri="{FF2B5EF4-FFF2-40B4-BE49-F238E27FC236}">
                <a16:creationId xmlns:a16="http://schemas.microsoft.com/office/drawing/2014/main" id="{48042C27-0E86-61BD-F321-B7647DFC4778}"/>
              </a:ext>
            </a:extLst>
          </p:cNvPr>
          <p:cNvSpPr/>
          <p:nvPr/>
        </p:nvSpPr>
        <p:spPr>
          <a:xfrm>
            <a:off x="6110437" y="2689347"/>
            <a:ext cx="3307853" cy="421116"/>
          </a:xfrm>
          <a:prstGeom prst="rect">
            <a:avLst/>
          </a:prstGeom>
        </p:spPr>
        <p:txBody>
          <a:bodyPr wrap="square" lIns="548640" anchor="ctr">
            <a:noAutofit/>
          </a:bodyPr>
          <a:lstStyle/>
          <a:p>
            <a:pPr lvl="0">
              <a:defRPr/>
            </a:pPr>
            <a:r>
              <a:rPr lang="en-CA" sz="1200" b="1">
                <a:solidFill>
                  <a:srgbClr val="005F65"/>
                </a:solidFill>
              </a:rPr>
              <a:t>Objective</a:t>
            </a:r>
            <a:endParaRPr kumimoji="0" lang="en-US" sz="1200" b="1" i="0" u="none" strike="noStrike" kern="1200" cap="none" spc="0" normalizeH="0" baseline="0" noProof="0">
              <a:ln>
                <a:noFill/>
              </a:ln>
              <a:solidFill>
                <a:srgbClr val="005F65"/>
              </a:solidFill>
              <a:effectLst/>
              <a:uLnTx/>
              <a:uFillTx/>
              <a:latin typeface="Century Gothic" panose="020B0502020202020204" pitchFamily="34" charset="0"/>
              <a:ea typeface="+mn-ea"/>
              <a:cs typeface="+mn-cs"/>
            </a:endParaRPr>
          </a:p>
        </p:txBody>
      </p:sp>
      <p:sp>
        <p:nvSpPr>
          <p:cNvPr id="21" name="Rectangle 20">
            <a:extLst>
              <a:ext uri="{FF2B5EF4-FFF2-40B4-BE49-F238E27FC236}">
                <a16:creationId xmlns:a16="http://schemas.microsoft.com/office/drawing/2014/main" id="{3568761A-4F9B-88E6-6BDB-FA03EAB32084}"/>
              </a:ext>
            </a:extLst>
          </p:cNvPr>
          <p:cNvSpPr/>
          <p:nvPr/>
        </p:nvSpPr>
        <p:spPr>
          <a:xfrm>
            <a:off x="6607044" y="1369057"/>
            <a:ext cx="3657600" cy="230498"/>
          </a:xfrm>
          <a:prstGeom prst="rect">
            <a:avLst/>
          </a:prstGeom>
          <a:noFill/>
          <a:ln w="12700" cap="flat" cmpd="sng" algn="ctr">
            <a:noFill/>
            <a:prstDash val="solid"/>
            <a:miter lim="800000"/>
          </a:ln>
          <a:effectLst/>
        </p:spPr>
        <p:txBody>
          <a:bodyPr wrap="square" lIns="0" bIns="68580" rtlCol="0" anchor="ctr">
            <a:noAutofit/>
          </a:bodyPr>
          <a:lstStyle/>
          <a:p>
            <a:pPr marL="365760" marR="0" lvl="0" indent="0" algn="ctr" defTabSz="914400" rtl="0" eaLnBrk="1" fontAlgn="auto" latinLnBrk="0" hangingPunct="1">
              <a:lnSpc>
                <a:spcPct val="90000"/>
              </a:lnSpc>
              <a:spcBef>
                <a:spcPct val="0"/>
              </a:spcBef>
              <a:spcAft>
                <a:spcPts val="0"/>
              </a:spcAft>
              <a:buClrTx/>
              <a:buSzTx/>
              <a:buFontTx/>
              <a:buNone/>
              <a:tabLst/>
              <a:defRPr/>
            </a:pPr>
            <a:r>
              <a:rPr lang="en-US" sz="1600" b="1" cap="all">
                <a:solidFill>
                  <a:srgbClr val="005F65"/>
                </a:solidFill>
                <a:latin typeface="Century Gothic" panose="020B0502020202020204" pitchFamily="34" charset="0"/>
                <a:sym typeface="+mn-lt"/>
              </a:rPr>
              <a:t>Bi-Weekly Sales Strategy (Closing more Pipe)</a:t>
            </a:r>
            <a:endParaRPr kumimoji="0" lang="en-US" sz="1600" b="1" i="0" u="none" strike="noStrike" kern="1200" cap="all" spc="0" normalizeH="0" baseline="0" noProof="0">
              <a:ln>
                <a:noFill/>
              </a:ln>
              <a:solidFill>
                <a:srgbClr val="005F65"/>
              </a:solidFill>
              <a:effectLst/>
              <a:uLnTx/>
              <a:uFillTx/>
              <a:latin typeface="Century Gothic" panose="020B0502020202020204" pitchFamily="34" charset="0"/>
              <a:ea typeface="+mn-ea"/>
              <a:cs typeface="+mn-cs"/>
              <a:sym typeface="+mn-lt"/>
            </a:endParaRPr>
          </a:p>
        </p:txBody>
      </p:sp>
      <p:sp>
        <p:nvSpPr>
          <p:cNvPr id="22" name="Rectangle 21">
            <a:extLst>
              <a:ext uri="{FF2B5EF4-FFF2-40B4-BE49-F238E27FC236}">
                <a16:creationId xmlns:a16="http://schemas.microsoft.com/office/drawing/2014/main" id="{685D43A8-95EC-76D6-43CF-D6275451ED4F}"/>
              </a:ext>
            </a:extLst>
          </p:cNvPr>
          <p:cNvSpPr/>
          <p:nvPr/>
        </p:nvSpPr>
        <p:spPr>
          <a:xfrm>
            <a:off x="6714621" y="1248234"/>
            <a:ext cx="444552" cy="423085"/>
          </a:xfrm>
          <a:prstGeom prst="rect">
            <a:avLst/>
          </a:prstGeom>
          <a:solidFill>
            <a:srgbClr val="005F6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lang="en-US" sz="1600">
                <a:solidFill>
                  <a:srgbClr val="FFFFFF"/>
                </a:solidFill>
                <a:latin typeface="Tungsten Semibold"/>
                <a:ea typeface="Helvetica Neue Medium"/>
                <a:cs typeface="Helvetica Neue Medium"/>
                <a:sym typeface="Helvetica Neue Medium"/>
              </a:rPr>
              <a:t>2</a:t>
            </a:r>
            <a:endParaRPr kumimoji="0" lang="en-US" sz="1600" b="0" i="0" u="none" strike="noStrike" kern="1200" cap="none" spc="0" normalizeH="0" baseline="0" noProof="0">
              <a:ln>
                <a:noFill/>
              </a:ln>
              <a:solidFill>
                <a:srgbClr val="FFFFFF"/>
              </a:solidFill>
              <a:effectLst/>
              <a:uLnTx/>
              <a:uFillTx/>
              <a:latin typeface="Tungsten Semibold"/>
              <a:ea typeface="Helvetica Neue Medium"/>
              <a:cs typeface="Helvetica Neue Medium"/>
              <a:sym typeface="Helvetica Neue Medium"/>
            </a:endParaRPr>
          </a:p>
        </p:txBody>
      </p:sp>
      <p:sp>
        <p:nvSpPr>
          <p:cNvPr id="23" name="Rectangle 22">
            <a:extLst>
              <a:ext uri="{FF2B5EF4-FFF2-40B4-BE49-F238E27FC236}">
                <a16:creationId xmlns:a16="http://schemas.microsoft.com/office/drawing/2014/main" id="{D2B943E6-A34A-08ED-CDBB-C7E7A2AADC21}"/>
              </a:ext>
            </a:extLst>
          </p:cNvPr>
          <p:cNvSpPr/>
          <p:nvPr/>
        </p:nvSpPr>
        <p:spPr>
          <a:xfrm>
            <a:off x="6117372" y="4017721"/>
            <a:ext cx="3307853" cy="421116"/>
          </a:xfrm>
          <a:prstGeom prst="rect">
            <a:avLst/>
          </a:prstGeom>
        </p:spPr>
        <p:txBody>
          <a:bodyPr wrap="square" lIns="548640" anchor="ctr">
            <a:noAutofit/>
          </a:bodyPr>
          <a:lstStyle/>
          <a:p>
            <a:pPr lvl="0">
              <a:defRPr/>
            </a:pPr>
            <a:r>
              <a:rPr lang="en-CA" sz="1200" b="1">
                <a:solidFill>
                  <a:srgbClr val="005F65"/>
                </a:solidFill>
              </a:rPr>
              <a:t>Agenda</a:t>
            </a:r>
            <a:endParaRPr kumimoji="0" lang="en-US" sz="1200" b="1" i="0" u="none" strike="noStrike" kern="1200" cap="none" spc="0" normalizeH="0" baseline="0" noProof="0">
              <a:ln>
                <a:noFill/>
              </a:ln>
              <a:solidFill>
                <a:srgbClr val="005F65"/>
              </a:solidFill>
              <a:effectLst/>
              <a:uLnTx/>
              <a:uFillTx/>
              <a:latin typeface="Century Gothic" panose="020B0502020202020204" pitchFamily="34" charset="0"/>
              <a:ea typeface="+mn-ea"/>
              <a:cs typeface="+mn-cs"/>
            </a:endParaRPr>
          </a:p>
        </p:txBody>
      </p:sp>
      <p:sp>
        <p:nvSpPr>
          <p:cNvPr id="24" name="Rectangle 23">
            <a:extLst>
              <a:ext uri="{FF2B5EF4-FFF2-40B4-BE49-F238E27FC236}">
                <a16:creationId xmlns:a16="http://schemas.microsoft.com/office/drawing/2014/main" id="{79B917AF-9FCB-7F3D-7AC5-6FEDC6CF73F7}"/>
              </a:ext>
            </a:extLst>
          </p:cNvPr>
          <p:cNvSpPr/>
          <p:nvPr/>
        </p:nvSpPr>
        <p:spPr>
          <a:xfrm>
            <a:off x="6658142" y="4391077"/>
            <a:ext cx="4357151" cy="1487099"/>
          </a:xfrm>
          <a:prstGeom prst="rect">
            <a:avLst/>
          </a:prstGeom>
        </p:spPr>
        <p:txBody>
          <a:bodyPr wrap="square">
            <a:noAutofit/>
          </a:bodyPr>
          <a:lstStyle/>
          <a:p>
            <a:pPr marL="171450" lvl="0" indent="-171450" eaLnBrk="0" fontAlgn="base" hangingPunct="0">
              <a:spcBef>
                <a:spcPct val="0"/>
              </a:spcBef>
              <a:spcAft>
                <a:spcPct val="0"/>
              </a:spcAft>
              <a:buFont typeface="Arial" panose="020B0604020202020204" pitchFamily="34" charset="0"/>
              <a:buChar char="•"/>
            </a:pPr>
            <a:r>
              <a:rPr lang="en-US" altLang="en-US" sz="1100" b="1"/>
              <a:t>Select 2 deals max for review</a:t>
            </a:r>
          </a:p>
          <a:p>
            <a:pPr marL="171450" indent="-171450" eaLnBrk="0" fontAlgn="base" hangingPunct="0">
              <a:spcBef>
                <a:spcPct val="0"/>
              </a:spcBef>
              <a:spcAft>
                <a:spcPct val="0"/>
              </a:spcAft>
              <a:buFont typeface="Arial" panose="020B0604020202020204" pitchFamily="34" charset="0"/>
              <a:buChar char="•"/>
            </a:pPr>
            <a:r>
              <a:rPr lang="en-US" altLang="en-US" sz="1100" b="1"/>
              <a:t>Quick deal overview (5 mins)</a:t>
            </a:r>
          </a:p>
          <a:p>
            <a:pPr marL="171450" indent="-171450" eaLnBrk="0" fontAlgn="base" hangingPunct="0">
              <a:spcBef>
                <a:spcPct val="0"/>
              </a:spcBef>
              <a:spcAft>
                <a:spcPct val="0"/>
              </a:spcAft>
              <a:buFont typeface="Arial" panose="020B0604020202020204" pitchFamily="34" charset="0"/>
              <a:buChar char="•"/>
            </a:pPr>
            <a:r>
              <a:rPr lang="en-US" altLang="en-US" sz="1100" b="1"/>
              <a:t>Strategy Discussion</a:t>
            </a:r>
          </a:p>
          <a:p>
            <a:pPr marL="628650" lvl="1" indent="-171450" eaLnBrk="0" fontAlgn="base" hangingPunct="0">
              <a:spcBef>
                <a:spcPct val="0"/>
              </a:spcBef>
              <a:spcAft>
                <a:spcPct val="0"/>
              </a:spcAft>
              <a:buFont typeface="Arial" panose="020B0604020202020204" pitchFamily="34" charset="0"/>
              <a:buChar char="•"/>
            </a:pPr>
            <a:r>
              <a:rPr lang="en-US" altLang="en-US" sz="900"/>
              <a:t>Should we structure differently</a:t>
            </a:r>
          </a:p>
          <a:p>
            <a:pPr marL="628650" lvl="1" indent="-171450" eaLnBrk="0" fontAlgn="base" hangingPunct="0">
              <a:spcBef>
                <a:spcPct val="0"/>
              </a:spcBef>
              <a:spcAft>
                <a:spcPct val="0"/>
              </a:spcAft>
              <a:buFont typeface="Arial" panose="020B0604020202020204" pitchFamily="34" charset="0"/>
              <a:buChar char="•"/>
            </a:pPr>
            <a:r>
              <a:rPr lang="en-US" altLang="en-US" sz="900"/>
              <a:t>Is it AI Infused?</a:t>
            </a:r>
          </a:p>
          <a:p>
            <a:pPr marL="628650" lvl="1" indent="-171450" eaLnBrk="0" fontAlgn="base" hangingPunct="0">
              <a:spcBef>
                <a:spcPct val="0"/>
              </a:spcBef>
              <a:spcAft>
                <a:spcPct val="0"/>
              </a:spcAft>
              <a:buFont typeface="Arial" panose="020B0604020202020204" pitchFamily="34" charset="0"/>
              <a:buChar char="•"/>
            </a:pPr>
            <a:r>
              <a:rPr lang="en-US" altLang="en-US" sz="900"/>
              <a:t>Do we need more executive / capability air cover?</a:t>
            </a:r>
          </a:p>
          <a:p>
            <a:pPr marL="171450" indent="-171450" eaLnBrk="0" fontAlgn="base" hangingPunct="0">
              <a:spcBef>
                <a:spcPct val="0"/>
              </a:spcBef>
              <a:spcAft>
                <a:spcPct val="0"/>
              </a:spcAft>
              <a:buFont typeface="Arial" panose="020B0604020202020204" pitchFamily="34" charset="0"/>
              <a:buChar char="•"/>
            </a:pPr>
            <a:r>
              <a:rPr lang="en-US" altLang="en-US" sz="1100" b="1"/>
              <a:t>Actions</a:t>
            </a:r>
          </a:p>
          <a:p>
            <a:pPr marL="628650" lvl="1" indent="-171450" eaLnBrk="0" fontAlgn="base" hangingPunct="0">
              <a:spcBef>
                <a:spcPct val="0"/>
              </a:spcBef>
              <a:spcAft>
                <a:spcPct val="0"/>
              </a:spcAft>
              <a:buFont typeface="Arial" panose="020B0604020202020204" pitchFamily="34" charset="0"/>
              <a:buChar char="•"/>
            </a:pPr>
            <a:r>
              <a:rPr lang="en-US" altLang="en-US" sz="900"/>
              <a:t>Who needs to be involved?</a:t>
            </a:r>
          </a:p>
          <a:p>
            <a:pPr marL="628650" lvl="1" indent="-171450" eaLnBrk="0" fontAlgn="base" hangingPunct="0">
              <a:spcBef>
                <a:spcPct val="0"/>
              </a:spcBef>
              <a:spcAft>
                <a:spcPct val="0"/>
              </a:spcAft>
              <a:buFont typeface="Arial" panose="020B0604020202020204" pitchFamily="34" charset="0"/>
              <a:buChar char="•"/>
            </a:pPr>
            <a:r>
              <a:rPr lang="en-US" altLang="en-US" sz="900"/>
              <a:t>What Capacity gaps must be filled</a:t>
            </a:r>
            <a:endParaRPr lang="en-US" altLang="en-US" sz="1050"/>
          </a:p>
          <a:p>
            <a:pPr marL="171450" indent="-171450" eaLnBrk="0" fontAlgn="base" hangingPunct="0">
              <a:spcBef>
                <a:spcPct val="0"/>
              </a:spcBef>
              <a:spcAft>
                <a:spcPct val="0"/>
              </a:spcAft>
              <a:buFont typeface="Arial" panose="020B0604020202020204" pitchFamily="34" charset="0"/>
              <a:buChar char="•"/>
            </a:pPr>
            <a:r>
              <a:rPr lang="en-US" altLang="en-US" sz="1100" b="1"/>
              <a:t>Next Steps</a:t>
            </a:r>
          </a:p>
          <a:p>
            <a:pPr marL="171450" lvl="0" indent="-171450" eaLnBrk="0" fontAlgn="base" hangingPunct="0">
              <a:spcBef>
                <a:spcPct val="0"/>
              </a:spcBef>
              <a:spcAft>
                <a:spcPct val="0"/>
              </a:spcAft>
              <a:buFont typeface="Arial" panose="020B0604020202020204" pitchFamily="34" charset="0"/>
              <a:buChar char="•"/>
            </a:pPr>
            <a:endParaRPr lang="en-US" altLang="en-US" sz="1100"/>
          </a:p>
        </p:txBody>
      </p:sp>
      <p:sp>
        <p:nvSpPr>
          <p:cNvPr id="25" name="Rectangle 24">
            <a:extLst>
              <a:ext uri="{FF2B5EF4-FFF2-40B4-BE49-F238E27FC236}">
                <a16:creationId xmlns:a16="http://schemas.microsoft.com/office/drawing/2014/main" id="{DCDA7A5D-702D-8AFC-920D-35AD2B0DB3E9}"/>
              </a:ext>
            </a:extLst>
          </p:cNvPr>
          <p:cNvSpPr/>
          <p:nvPr/>
        </p:nvSpPr>
        <p:spPr>
          <a:xfrm>
            <a:off x="642391" y="1985788"/>
            <a:ext cx="3657600" cy="282064"/>
          </a:xfrm>
          <a:prstGeom prst="rect">
            <a:avLst/>
          </a:prstGeom>
        </p:spPr>
        <p:txBody>
          <a:bodyPr wrap="square">
            <a:noAutofit/>
          </a:bodyPr>
          <a:lstStyle/>
          <a:p>
            <a:pPr marL="171450" lvl="0" indent="-171450">
              <a:buFont typeface="Arial" panose="020B0604020202020204" pitchFamily="34" charset="0"/>
              <a:buChar char="•"/>
              <a:defRPr/>
            </a:pPr>
            <a:r>
              <a:rPr lang="en-US" sz="1050"/>
              <a:t>Sales Directors (Rotating Facilitator)</a:t>
            </a:r>
            <a:endParaRPr lang="en-US" sz="1050">
              <a:solidFill>
                <a:srgbClr val="000000"/>
              </a:solidFill>
            </a:endParaRPr>
          </a:p>
          <a:p>
            <a:pPr marL="171450" lvl="0" indent="-171450">
              <a:buFont typeface="Arial" panose="020B0604020202020204" pitchFamily="34" charset="0"/>
              <a:buChar char="•"/>
              <a:defRPr/>
            </a:pPr>
            <a:r>
              <a:rPr lang="en-US" sz="1050">
                <a:solidFill>
                  <a:srgbClr val="000000"/>
                </a:solidFill>
              </a:rPr>
              <a:t>Partners / EDs</a:t>
            </a:r>
          </a:p>
          <a:p>
            <a:pPr marL="171450" lvl="0" indent="-171450">
              <a:buFont typeface="Arial" panose="020B0604020202020204" pitchFamily="34" charset="0"/>
              <a:buChar char="•"/>
              <a:defRPr/>
            </a:pPr>
            <a:r>
              <a:rPr lang="en-US" sz="1050">
                <a:solidFill>
                  <a:srgbClr val="000000"/>
                </a:solidFill>
              </a:rPr>
              <a:t>Sales MPs </a:t>
            </a:r>
          </a:p>
          <a:p>
            <a:pPr marL="171450" lvl="0" indent="-171450">
              <a:buFont typeface="Arial" panose="020B0604020202020204" pitchFamily="34" charset="0"/>
              <a:buChar char="•"/>
              <a:defRPr/>
            </a:pPr>
            <a:r>
              <a:rPr lang="en-US" sz="1050">
                <a:solidFill>
                  <a:srgbClr val="000000"/>
                </a:solidFill>
              </a:rPr>
              <a:t>Nominated SCs &amp; PCs </a:t>
            </a:r>
            <a:endParaRPr lang="en-US" sz="1050"/>
          </a:p>
        </p:txBody>
      </p:sp>
      <p:sp>
        <p:nvSpPr>
          <p:cNvPr id="26" name="Rectangle 25">
            <a:extLst>
              <a:ext uri="{FF2B5EF4-FFF2-40B4-BE49-F238E27FC236}">
                <a16:creationId xmlns:a16="http://schemas.microsoft.com/office/drawing/2014/main" id="{0962170D-A326-FE44-2F82-89C15C3924A6}"/>
              </a:ext>
            </a:extLst>
          </p:cNvPr>
          <p:cNvSpPr/>
          <p:nvPr/>
        </p:nvSpPr>
        <p:spPr>
          <a:xfrm>
            <a:off x="146390" y="1711903"/>
            <a:ext cx="3307853" cy="421116"/>
          </a:xfrm>
          <a:prstGeom prst="rect">
            <a:avLst/>
          </a:prstGeom>
        </p:spPr>
        <p:txBody>
          <a:bodyPr wrap="square" lIns="54864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5F65"/>
                </a:solidFill>
                <a:latin typeface="Century Gothic" panose="020B0502020202020204" pitchFamily="34" charset="0"/>
              </a:rPr>
              <a:t>Audience</a:t>
            </a:r>
            <a:endParaRPr kumimoji="0" lang="en-US" sz="1200" b="1" i="0" u="none" strike="noStrike" kern="1200" cap="none" spc="0" normalizeH="0" baseline="0" noProof="0">
              <a:ln>
                <a:noFill/>
              </a:ln>
              <a:solidFill>
                <a:srgbClr val="005F65"/>
              </a:solidFill>
              <a:effectLst/>
              <a:uLnTx/>
              <a:uFillTx/>
              <a:latin typeface="Century Gothic" panose="020B0502020202020204" pitchFamily="34" charset="0"/>
              <a:ea typeface="+mn-ea"/>
              <a:cs typeface="+mn-cs"/>
            </a:endParaRPr>
          </a:p>
        </p:txBody>
      </p:sp>
      <p:sp>
        <p:nvSpPr>
          <p:cNvPr id="27" name="Rectangle 26">
            <a:extLst>
              <a:ext uri="{FF2B5EF4-FFF2-40B4-BE49-F238E27FC236}">
                <a16:creationId xmlns:a16="http://schemas.microsoft.com/office/drawing/2014/main" id="{4A797431-F5C2-4B02-6C69-83BCC896D329}"/>
              </a:ext>
            </a:extLst>
          </p:cNvPr>
          <p:cNvSpPr/>
          <p:nvPr/>
        </p:nvSpPr>
        <p:spPr>
          <a:xfrm>
            <a:off x="6606438" y="1934048"/>
            <a:ext cx="3657600" cy="858017"/>
          </a:xfrm>
          <a:prstGeom prst="rect">
            <a:avLst/>
          </a:prstGeom>
        </p:spPr>
        <p:txBody>
          <a:bodyPr wrap="square">
            <a:noAutofit/>
          </a:bodyPr>
          <a:lstStyle/>
          <a:p>
            <a:pPr marL="171450" lvl="0" indent="-171450">
              <a:buFont typeface="Arial" panose="020B0604020202020204" pitchFamily="34" charset="0"/>
              <a:buChar char="•"/>
              <a:defRPr/>
            </a:pPr>
            <a:r>
              <a:rPr lang="en-US" sz="1100"/>
              <a:t>Domain &amp; </a:t>
            </a:r>
            <a:r>
              <a:rPr lang="en-US" sz="1050"/>
              <a:t>Service</a:t>
            </a:r>
            <a:r>
              <a:rPr lang="en-US" sz="1100"/>
              <a:t> Leaders</a:t>
            </a:r>
            <a:endParaRPr lang="en-US" sz="1100">
              <a:solidFill>
                <a:srgbClr val="000000"/>
              </a:solidFill>
            </a:endParaRPr>
          </a:p>
          <a:p>
            <a:pPr marL="171450" lvl="0" indent="-171450">
              <a:buFont typeface="Arial" panose="020B0604020202020204" pitchFamily="34" charset="0"/>
              <a:buChar char="•"/>
              <a:defRPr/>
            </a:pPr>
            <a:r>
              <a:rPr lang="en-US" sz="1100">
                <a:solidFill>
                  <a:srgbClr val="000000"/>
                </a:solidFill>
              </a:rPr>
              <a:t>Sales Enablement &amp; Commercial Team</a:t>
            </a:r>
          </a:p>
          <a:p>
            <a:pPr marL="171450" lvl="0" indent="-171450">
              <a:buFont typeface="Arial" panose="020B0604020202020204" pitchFamily="34" charset="0"/>
              <a:buChar char="•"/>
              <a:defRPr/>
            </a:pPr>
            <a:r>
              <a:rPr lang="en-US" sz="1100">
                <a:solidFill>
                  <a:srgbClr val="000000"/>
                </a:solidFill>
              </a:rPr>
              <a:t>Deal Teams </a:t>
            </a:r>
            <a:endParaRPr lang="en-US" sz="1100"/>
          </a:p>
        </p:txBody>
      </p:sp>
      <p:sp>
        <p:nvSpPr>
          <p:cNvPr id="28" name="Rectangle 27">
            <a:extLst>
              <a:ext uri="{FF2B5EF4-FFF2-40B4-BE49-F238E27FC236}">
                <a16:creationId xmlns:a16="http://schemas.microsoft.com/office/drawing/2014/main" id="{0D330984-D427-7310-3EF4-E99CD5C88AEB}"/>
              </a:ext>
            </a:extLst>
          </p:cNvPr>
          <p:cNvSpPr/>
          <p:nvPr/>
        </p:nvSpPr>
        <p:spPr>
          <a:xfrm>
            <a:off x="6110437" y="1660164"/>
            <a:ext cx="3307853" cy="421116"/>
          </a:xfrm>
          <a:prstGeom prst="rect">
            <a:avLst/>
          </a:prstGeom>
        </p:spPr>
        <p:txBody>
          <a:bodyPr wrap="square" lIns="54864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5F65"/>
                </a:solidFill>
                <a:latin typeface="Century Gothic" panose="020B0502020202020204" pitchFamily="34" charset="0"/>
              </a:rPr>
              <a:t>Audience</a:t>
            </a:r>
            <a:endParaRPr kumimoji="0" lang="en-US" sz="1200" b="1" i="0" u="none" strike="noStrike" kern="1200" cap="none" spc="0" normalizeH="0" baseline="0" noProof="0">
              <a:ln>
                <a:noFill/>
              </a:ln>
              <a:solidFill>
                <a:srgbClr val="005F65"/>
              </a:solidFill>
              <a:effectLst/>
              <a:uLnTx/>
              <a:uFillTx/>
              <a:latin typeface="Century Gothic" panose="020B0502020202020204" pitchFamily="34" charset="0"/>
              <a:ea typeface="+mn-ea"/>
              <a:cs typeface="+mn-cs"/>
            </a:endParaRPr>
          </a:p>
        </p:txBody>
      </p:sp>
      <p:sp>
        <p:nvSpPr>
          <p:cNvPr id="4" name="Rectangle 3">
            <a:extLst>
              <a:ext uri="{FF2B5EF4-FFF2-40B4-BE49-F238E27FC236}">
                <a16:creationId xmlns:a16="http://schemas.microsoft.com/office/drawing/2014/main" id="{2E0879D7-0D36-AB9E-862F-16D7E6134730}"/>
              </a:ext>
            </a:extLst>
          </p:cNvPr>
          <p:cNvSpPr/>
          <p:nvPr/>
        </p:nvSpPr>
        <p:spPr>
          <a:xfrm>
            <a:off x="-1763798" y="1091367"/>
            <a:ext cx="1732434" cy="2982023"/>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Repurpose this slide: 1. AI Use case showcase 2. AI Sales Infusion</a:t>
            </a:r>
          </a:p>
          <a:p>
            <a:pPr algn="ctr"/>
            <a:endParaRPr lang="en-US" sz="1400" dirty="0"/>
          </a:p>
          <a:p>
            <a:pPr algn="ctr"/>
            <a:r>
              <a:rPr lang="en-US" sz="1400" dirty="0"/>
              <a:t>Presenter tools inclusion </a:t>
            </a:r>
          </a:p>
          <a:p>
            <a:pPr algn="ctr"/>
            <a:endParaRPr lang="en-US" sz="1400" dirty="0"/>
          </a:p>
          <a:p>
            <a:pPr algn="ctr"/>
            <a:r>
              <a:rPr lang="en-US" sz="1400" dirty="0"/>
              <a:t>Match content with following slides</a:t>
            </a:r>
          </a:p>
          <a:p>
            <a:pPr algn="ctr"/>
            <a:endParaRPr lang="en-US" sz="1400" dirty="0"/>
          </a:p>
        </p:txBody>
      </p:sp>
    </p:spTree>
    <p:extLst>
      <p:ext uri="{BB962C8B-B14F-4D97-AF65-F5344CB8AC3E}">
        <p14:creationId xmlns:p14="http://schemas.microsoft.com/office/powerpoint/2010/main" val="7352442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5fb00820-03f3-486d-a607-a14c9784a4d9"/>
</p:tagLst>
</file>

<file path=ppt/theme/theme1.xml><?xml version="1.0" encoding="utf-8"?>
<a:theme xmlns:a="http://schemas.openxmlformats.org/drawingml/2006/main" name="Standard Template Short">
  <a:themeElements>
    <a:clrScheme name="Custom 1">
      <a:dk1>
        <a:srgbClr val="000000"/>
      </a:dk1>
      <a:lt1>
        <a:srgbClr val="FFFFFF"/>
      </a:lt1>
      <a:dk2>
        <a:srgbClr val="7F7F7F"/>
      </a:dk2>
      <a:lt2>
        <a:srgbClr val="D8D8D8"/>
      </a:lt2>
      <a:accent1>
        <a:srgbClr val="C00D0D"/>
      </a:accent1>
      <a:accent2>
        <a:srgbClr val="5B5D60"/>
      </a:accent2>
      <a:accent3>
        <a:srgbClr val="3F3F3F"/>
      </a:accent3>
      <a:accent4>
        <a:srgbClr val="005F65"/>
      </a:accent4>
      <a:accent5>
        <a:srgbClr val="00B3BB"/>
      </a:accent5>
      <a:accent6>
        <a:srgbClr val="FDC437"/>
      </a:accent6>
      <a:hlink>
        <a:srgbClr val="009BFF"/>
      </a:hlink>
      <a:folHlink>
        <a:srgbClr val="7F7F7F"/>
      </a:folHlink>
    </a:clrScheme>
    <a:fontScheme name="capco 2024">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400" dirty="0"/>
        </a:defPPr>
      </a:lstStyle>
    </a:txDef>
  </a:objectDefaults>
  <a:extraClrSchemeLst/>
  <a:extLst>
    <a:ext uri="{05A4C25C-085E-4340-85A3-A5531E510DB2}">
      <thm15:themeFamily xmlns:thm15="http://schemas.microsoft.com/office/thememl/2012/main" name="Capco_global_16x9_template_short_v1_jan_2025.potx" id="{32165016-86B2-4F5C-93C4-F088B029EF6D}" vid="{AFD0ED78-79E3-40D2-BEF2-47573A37DF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59C555C59AAF043AB8A9C7A4B4055CC" ma:contentTypeVersion="3" ma:contentTypeDescription="Create a new document." ma:contentTypeScope="" ma:versionID="c7e0197f26c87d752a04fb8cd72c34c7">
  <xsd:schema xmlns:xsd="http://www.w3.org/2001/XMLSchema" xmlns:xs="http://www.w3.org/2001/XMLSchema" xmlns:p="http://schemas.microsoft.com/office/2006/metadata/properties" xmlns:ns2="da6b6372-a01b-41ec-a00c-91e04a676171" targetNamespace="http://schemas.microsoft.com/office/2006/metadata/properties" ma:root="true" ma:fieldsID="acaf03794919dfc8eaa70e1f9e768504" ns2:_="">
    <xsd:import namespace="da6b6372-a01b-41ec-a00c-91e04a67617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6b6372-a01b-41ec-a00c-91e04a6761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FAC2729-16B4-452E-A0BB-1DF94751167C}">
  <ds:schemaRefs>
    <ds:schemaRef ds:uri="http://purl.org/dc/dcmitype/"/>
    <ds:schemaRef ds:uri="http://schemas.microsoft.com/office/2006/documentManagement/types"/>
    <ds:schemaRef ds:uri="http://schemas.openxmlformats.org/package/2006/metadata/core-properties"/>
    <ds:schemaRef ds:uri="http://www.w3.org/XML/1998/namespace"/>
    <ds:schemaRef ds:uri="http://purl.org/dc/terms/"/>
    <ds:schemaRef ds:uri="http://schemas.microsoft.com/office/2006/metadata/properties"/>
    <ds:schemaRef ds:uri="http://schemas.microsoft.com/office/infopath/2007/PartnerControls"/>
    <ds:schemaRef ds:uri="da6b6372-a01b-41ec-a00c-91e04a676171"/>
    <ds:schemaRef ds:uri="http://purl.org/dc/elements/1.1/"/>
  </ds:schemaRefs>
</ds:datastoreItem>
</file>

<file path=customXml/itemProps2.xml><?xml version="1.0" encoding="utf-8"?>
<ds:datastoreItem xmlns:ds="http://schemas.openxmlformats.org/officeDocument/2006/customXml" ds:itemID="{1A255A0B-18D6-45F6-8797-CD214BB8D56B}">
  <ds:schemaRefs>
    <ds:schemaRef ds:uri="http://schemas.microsoft.com/sharepoint/v3/contenttype/forms"/>
  </ds:schemaRefs>
</ds:datastoreItem>
</file>

<file path=customXml/itemProps3.xml><?xml version="1.0" encoding="utf-8"?>
<ds:datastoreItem xmlns:ds="http://schemas.openxmlformats.org/officeDocument/2006/customXml" ds:itemID="{844B3DAB-A2D9-452F-9965-FADE26BF88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6b6372-a01b-41ec-a00c-91e04a67617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26639</TotalTime>
  <Words>4215</Words>
  <Application>Microsoft Macintosh PowerPoint</Application>
  <PresentationFormat>Widescreen</PresentationFormat>
  <Paragraphs>574</Paragraphs>
  <Slides>18</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Aptos Narrow</vt:lpstr>
      <vt:lpstr>Arial</vt:lpstr>
      <vt:lpstr>Arial Narrow</vt:lpstr>
      <vt:lpstr>Calibri</vt:lpstr>
      <vt:lpstr>Century Gothic</vt:lpstr>
      <vt:lpstr>Century Gothic (Headings)</vt:lpstr>
      <vt:lpstr>Tungsten Semibold</vt:lpstr>
      <vt:lpstr>Wingdings</vt:lpstr>
      <vt:lpstr>Standard Template Short</vt:lpstr>
      <vt:lpstr>HOW WE NEED TO ORGANIZE</vt:lpstr>
      <vt:lpstr>AI Power Teams Kick Off</vt:lpstr>
      <vt:lpstr>Meet Your “AI Power Team”: Assembled to Win in Every Practice</vt:lpstr>
      <vt:lpstr>AI Sales Offerings Process Roadmap</vt:lpstr>
      <vt:lpstr>Next Steps: First cycle expectations + key dates</vt:lpstr>
      <vt:lpstr>AI Use Case Identification Roadmap</vt:lpstr>
      <vt:lpstr>AI Use Case Identification Roadmap: Desirability </vt:lpstr>
      <vt:lpstr>Bi-Weekly AI Capability showcase</vt:lpstr>
      <vt:lpstr>Friday AI Showcase (1 of 2): Use Case / Capability Showcase</vt:lpstr>
      <vt:lpstr>Friday AI Showcase (2 of 2): Deal Spotlight (AI-Infused Solutions)</vt:lpstr>
      <vt:lpstr>How We Operate: Two Phases to Scale Service Offerings</vt:lpstr>
      <vt:lpstr>Cadence: How we keep service offerings moving</vt:lpstr>
      <vt:lpstr>From Domain Problems to Market-Ready Offerings</vt:lpstr>
      <vt:lpstr>You’ve Been Selected As An AI Champion — Here’s What It Means</vt:lpstr>
      <vt:lpstr>How We’ll Work</vt:lpstr>
      <vt:lpstr>How We’ll Scale: Rotating Showcases That Enable Selling</vt:lpstr>
      <vt:lpstr>US AI Service Offerings: How We Scale</vt:lpstr>
      <vt:lpstr>Bi-Weekly Sales Activation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Woods, Ryan</dc:creator>
  <cp:lastModifiedBy>Sha, Hanni</cp:lastModifiedBy>
  <cp:revision>4</cp:revision>
  <dcterms:created xsi:type="dcterms:W3CDTF">2026-02-23T03:40:41Z</dcterms:created>
  <dcterms:modified xsi:type="dcterms:W3CDTF">2026-03-13T20:58:07Z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0x010100E59C555C59AAF043AB8A9C7A4B4055CC</vt:lpwstr>
  </property>
  <property fmtid="{D5CDD505-2E9C-101B-9397-08002B2CF9AE}" pid="3" name="MediaServiceImageTags">
    <vt:lpwstr/>
  </property>
</Properties>
</file>