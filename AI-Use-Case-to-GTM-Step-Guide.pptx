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5303520"/>
            <a:ext cx="12191695" cy="1554480"/>
          </a:xfrm>
          <a:prstGeom prst="rect">
            <a:avLst/>
          </a:prstGeom>
          <a:solidFill>
            <a:srgbClr val="2B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4000" b="1">
                <a:solidFill>
                  <a:srgbClr val="1A1A2E"/>
                </a:solidFill>
                <a:latin typeface="Calibri"/>
              </a:rPr>
              <a:t>AI Use Case Intake</a:t>
            </a:r>
          </a:p>
          <a:p>
            <a:pPr algn="l">
              <a:spcAft>
                <a:spcPts val="400"/>
              </a:spcAft>
            </a:pPr>
            <a:r>
              <a:rPr sz="4000" b="1">
                <a:solidFill>
                  <a:srgbClr val="2B477A"/>
                </a:solidFill>
                <a:latin typeface="Calibri"/>
              </a:rPr>
              <a:t>to Go-To-Market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200400"/>
            <a:ext cx="73152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000" b="0">
                <a:solidFill>
                  <a:srgbClr val="6B7280"/>
                </a:solidFill>
                <a:latin typeface="Calibri"/>
              </a:rPr>
              <a:t>Step-by-Step Guide</a:t>
            </a:r>
          </a:p>
          <a:p>
            <a:pPr algn="l">
              <a:spcAft>
                <a:spcPts val="400"/>
              </a:spcAft>
            </a:pPr>
            <a:r>
              <a:rPr sz="1300" b="0">
                <a:solidFill>
                  <a:srgbClr val="6B7280"/>
                </a:solidFill>
                <a:latin typeface="Calibri"/>
              </a:rPr>
              <a:t>8 steps from ideation to launch — who does what at every stage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577840"/>
            <a:ext cx="54864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AI Power Team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A0B0C8"/>
                </a:solidFill>
                <a:latin typeface="Calibri"/>
              </a:rPr>
              <a:t>April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B47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54864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800" b="1">
                <a:solidFill>
                  <a:srgbClr val="1A1A2E"/>
                </a:solidFill>
                <a:latin typeface="Calibri"/>
              </a:rPr>
              <a:t>Table of Contents</a:t>
            </a:r>
          </a:p>
        </p:txBody>
      </p:sp>
      <p:sp>
        <p:nvSpPr>
          <p:cNvPr id="4" name="Oval 3"/>
          <p:cNvSpPr/>
          <p:nvPr/>
        </p:nvSpPr>
        <p:spPr>
          <a:xfrm>
            <a:off x="914400" y="1280160"/>
            <a:ext cx="365760" cy="36576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54480" y="129844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Identify &amp; Generate AI Use Cases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13350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Ideation</a:t>
            </a:r>
          </a:p>
        </p:txBody>
      </p:sp>
      <p:sp>
        <p:nvSpPr>
          <p:cNvPr id="7" name="Oval 6"/>
          <p:cNvSpPr/>
          <p:nvPr/>
        </p:nvSpPr>
        <p:spPr>
          <a:xfrm>
            <a:off x="914400" y="1828800"/>
            <a:ext cx="365760" cy="36576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184708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Submit Use Case Intake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0" y="188366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Intake</a:t>
            </a:r>
          </a:p>
        </p:txBody>
      </p:sp>
      <p:sp>
        <p:nvSpPr>
          <p:cNvPr id="10" name="Oval 9"/>
          <p:cNvSpPr/>
          <p:nvPr/>
        </p:nvSpPr>
        <p:spPr>
          <a:xfrm>
            <a:off x="914400" y="2377440"/>
            <a:ext cx="365760" cy="36576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239572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AI Enablement Team Review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43230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Assessment</a:t>
            </a:r>
          </a:p>
        </p:txBody>
      </p:sp>
      <p:sp>
        <p:nvSpPr>
          <p:cNvPr id="13" name="Oval 12"/>
          <p:cNvSpPr/>
          <p:nvPr/>
        </p:nvSpPr>
        <p:spPr>
          <a:xfrm>
            <a:off x="914400" y="2926080"/>
            <a:ext cx="365760" cy="36576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294436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Project Setup &amp; Resource Allocation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98094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Setup</a:t>
            </a:r>
          </a:p>
        </p:txBody>
      </p:sp>
      <p:sp>
        <p:nvSpPr>
          <p:cNvPr id="16" name="Oval 15"/>
          <p:cNvSpPr/>
          <p:nvPr/>
        </p:nvSpPr>
        <p:spPr>
          <a:xfrm>
            <a:off x="914400" y="3474720"/>
            <a:ext cx="365760" cy="36576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9300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Define the MVP &amp; Build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352958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Build</a:t>
            </a:r>
          </a:p>
        </p:txBody>
      </p:sp>
      <p:sp>
        <p:nvSpPr>
          <p:cNvPr id="19" name="Oval 18"/>
          <p:cNvSpPr/>
          <p:nvPr/>
        </p:nvSpPr>
        <p:spPr>
          <a:xfrm>
            <a:off x="914400" y="4023360"/>
            <a:ext cx="365760" cy="36576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54480" y="404164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GTM Ready: Package the Solution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07822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GTM Ready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4572000"/>
            <a:ext cx="365760" cy="36576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459028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GTM Push: Showcase &amp; Sales Activation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462686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Go-To-Market</a:t>
            </a:r>
          </a:p>
        </p:txBody>
      </p:sp>
      <p:sp>
        <p:nvSpPr>
          <p:cNvPr id="25" name="Oval 24"/>
          <p:cNvSpPr/>
          <p:nvPr/>
        </p:nvSpPr>
        <p:spPr>
          <a:xfrm>
            <a:off x="914400" y="5120640"/>
            <a:ext cx="365760" cy="36576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5138928"/>
            <a:ext cx="6400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1A1A2E"/>
                </a:solidFill>
                <a:latin typeface="Calibri"/>
              </a:rPr>
              <a:t>Track Results &amp; Continuous Improvement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0" y="5175504"/>
            <a:ext cx="2286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B7280"/>
                </a:solidFill>
                <a:latin typeface="Calibri"/>
              </a:rPr>
              <a:t>Measure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Identify &amp; Generate AI Use 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IDEATION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Talk to your Practice Lead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about client pain points and market gaps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Practice Lead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Brainstorm from in-flight projects, client conversations &amp; market demand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Check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Catalog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(79+ solutions, 10 domains) to avoid duplication. Interested in a solution?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Request a demo directly with the Product Owner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Submit Use Case Intake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INTAKE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Complete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AI Use-Case Intake Form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(one row per use case)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Answer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4 Core Questions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What pain? Who feels it? Why it matters? Why unsolved?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Provide: title, practice, persona, business value, revenue potential, target accounts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Assign priority: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High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/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Medium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/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Low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Practice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AI Enablement Team 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ASSESSMENT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Determine scope: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POC / MVP / Full Build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based on business value &amp; tech depth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Assess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strategic alignment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, data maturity &amp; regulatory impact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 + 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Confirm resource availability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across AI Forward Engineers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Prioritize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top 1–2 use cases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per champion for development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0" y="2011680"/>
            <a:ext cx="5760720" cy="2286000"/>
          </a:xfrm>
          <a:prstGeom prst="rect">
            <a:avLst/>
          </a:prstGeom>
          <a:solidFill>
            <a:srgbClr val="FEF3C7"/>
          </a:solidFill>
          <a:ln w="25400">
            <a:solidFill>
              <a:srgbClr val="D9770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2800" b="1">
                <a:solidFill>
                  <a:srgbClr val="D97706"/>
                </a:solidFill>
                <a:latin typeface="Calibri"/>
              </a:rPr>
              <a:t>RELEASE GATE</a:t>
            </a:r>
          </a:p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Approved to proceed?  Yes → continue to build   |   No → return to ideation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Project Setup &amp; Resource Allocation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Asset Register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Model the AI solution into asset register (MP and above)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Business Sponsor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Set Up Jira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Create project, epics, stories &amp; sprint backlog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Allocate Resources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Assign AI Forward Engineers via Retain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Set up healthy check-in cadence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demo → feedback → refine cycles (keep AI Enablement in the loop)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AI Fwd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Define the MVP &amp;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BUILD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Define MVP scope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— features, demo expectations &amp; success criteria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Develop through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sprint cycles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with iterative testing &amp; user feedback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Provide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sample data &amp; real-life use case scenarios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to guide the build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Build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environment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based on provided scenarios &amp; data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Forward Engineer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Track: Backlog → Build In-Progress →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MVP Demo Complete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200400" y="2011680"/>
            <a:ext cx="5760720" cy="2286000"/>
          </a:xfrm>
          <a:prstGeom prst="rect">
            <a:avLst/>
          </a:prstGeom>
          <a:solidFill>
            <a:srgbClr val="FEE2E2"/>
          </a:solidFill>
          <a:ln w="25400"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Aft>
                <a:spcPts val="1200"/>
              </a:spcAft>
            </a:pPr>
            <a:r>
              <a:rPr sz="2800" b="1">
                <a:solidFill>
                  <a:srgbClr val="DC2626"/>
                </a:solidFill>
                <a:latin typeface="Calibri"/>
              </a:rPr>
              <a:t>GOVERNANCE GATE</a:t>
            </a:r>
          </a:p>
          <a:p>
            <a:pPr algn="ctr"/>
            <a:r>
              <a:rPr sz="1400">
                <a:solidFill>
                  <a:srgbClr val="6B7280"/>
                </a:solidFill>
                <a:latin typeface="Calibri"/>
              </a:rPr>
              <a:t>AI Governance  •  Compliance Checks  •  Data Security Review  •  Model Risk Validation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0891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GTM Ready — Package the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GTM READY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Prepare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materials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demo script, mock data &amp; demo video recording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Finalize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demo script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and conduct full run-throughs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Fwd Engineer + AI Champion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Prepare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"AI vs. Non-AI" talk track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(competitive differentiation)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Sales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Create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one-pager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, pricing template &amp; engagement model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Domain Leader + Sales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Map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target accounts &amp; buyer personas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; register in Demo Catalog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Sales + 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GTM Push — Showcase &amp; Sales Activation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GO-TO-MARKET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AI Capability Showcases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(bi-weekly) — all AI Power Team members should attend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All AI Power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Run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Sales Activations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targeting specific accounts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Sales + Account Partner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Assign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follow-up actions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with owners and due dates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Assemble GTM Folder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demo video, demo script, sales one-slider &amp; sales deck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Publish to Capco MarketHub &amp; AI Lab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to reach a larger audience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31520" y="365760"/>
            <a:ext cx="502920" cy="502920"/>
          </a:xfrm>
          <a:prstGeom prst="ellipse">
            <a:avLst/>
          </a:prstGeom>
          <a:solidFill>
            <a:srgbClr val="0D94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400"/>
              </a:spcBef>
            </a:pPr>
            <a:r>
              <a:rPr sz="22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384048"/>
            <a:ext cx="7315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1">
                <a:solidFill>
                  <a:srgbClr val="1A1A2E"/>
                </a:solidFill>
                <a:latin typeface="Calibri"/>
              </a:rPr>
              <a:t>Track Results &amp; Continuous Improvement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961120" y="438912"/>
            <a:ext cx="18288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spcAft>
                <a:spcPts val="400"/>
              </a:spcAft>
            </a:pPr>
            <a:r>
              <a:rPr sz="1000" b="1">
                <a:solidFill>
                  <a:srgbClr val="6B7280"/>
                </a:solidFill>
                <a:latin typeface="Calibri"/>
              </a:rPr>
              <a:t>MEASURE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097280"/>
          <a:ext cx="10698479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98079"/>
                <a:gridCol w="3200400"/>
              </a:tblGrid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Task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Owner</a:t>
                      </a:r>
                    </a:p>
                  </a:txBody>
                  <a:tcPr>
                    <a:solidFill>
                      <a:srgbClr val="2B477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Track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CTAR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(Client Target Account Revenue): pipeline generated, deals won, revenue attributed to each AI solution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+ AI Champion + Sponsor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Monitor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revenue metrics per solution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: total pipeline value, win rate, avg deal size &amp; time-to-close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+ Business Sponsor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Monitor maturity: Idea → In Build → Demo-Ready → GTM-Ready →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In Pursuit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Enablement Team</a:t>
                      </a:r>
                    </a:p>
                  </a:txBody>
                  <a:tcPr>
                    <a:solidFill>
                      <a:srgbClr val="F3F4F6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Capture </a:t>
                      </a:r>
                      <a:r>
                        <a:rPr sz="1200" b="1">
                          <a:solidFill>
                            <a:srgbClr val="1A1A2E"/>
                          </a:solidFill>
                          <a:latin typeface="Calibri"/>
                        </a:rPr>
                        <a:t>client feedback</a:t>
                      </a:r>
                      <a:r>
                        <a:rPr sz="1200">
                          <a:solidFill>
                            <a:srgbClr val="1A1A2E"/>
                          </a:solidFill>
                          <a:latin typeface="Calibri"/>
                        </a:rPr>
                        <a:t> &amp; feed learnings back into next intake cycle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2B477A"/>
                          </a:solidFill>
                          <a:latin typeface="Calibri"/>
                        </a:rPr>
                        <a:t>AI Champion + Domain Leader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