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4A4F6E"/>
                </a:solidFill>
                <a:latin typeface="Inter"/>
              </a:defRPr>
            </a:pPr>
            <a:r>
              <a:t>CAPCO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457200"/>
            <a:ext cx="2560320" cy="365760"/>
          </a:xfrm>
          <a:prstGeom prst="rect">
            <a:avLst/>
          </a:prstGeom>
          <a:solidFill>
            <a:srgbClr val="2A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502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E6007E"/>
                </a:solidFill>
                <a:latin typeface="Inter"/>
              </a:defRPr>
            </a:pPr>
            <a:r>
              <a:t>AI SOLUTION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31520" cy="4572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Inter"/>
              </a:defRPr>
            </a:pPr>
            <a:r>
              <a:t>AI Demo</a:t>
            </a:r>
            <a:br/>
            <a:r>
              <a:t>One Slider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8B90B0"/>
                </a:solidFill>
                <a:latin typeface="Inter"/>
              </a:defRPr>
            </a:pPr>
            <a:r>
              <a:t>Business context, AI solution, and measurable impact — one slide to set the stage before your live demo.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669280"/>
            <a:ext cx="7772400" cy="640080"/>
          </a:xfrm>
          <a:prstGeom prst="rect">
            <a:avLst/>
          </a:prstGeom>
          <a:solidFill>
            <a:srgbClr val="191C30"/>
          </a:solidFill>
          <a:ln w="12700">
            <a:solidFill>
              <a:srgbClr val="2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806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007E"/>
                </a:solidFill>
                <a:latin typeface="Inter"/>
              </a:rPr>
              <a:t>▶ 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[Solution Name]</a:t>
            </a:r>
            <a:r>
              <a:rPr sz="1300" b="0" i="0">
                <a:solidFill>
                  <a:srgbClr val="4A4F6E"/>
                </a:solidFill>
                <a:latin typeface="Inter"/>
              </a:rPr>
              <a:t>  —  One-line description of what it does and why it matters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SDLC Transformation with BA 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A4F6E"/>
                </a:solidFill>
                <a:latin typeface="Inter"/>
              </a:defRPr>
            </a:pPr>
            <a:r>
              <a:t>Financial Services  •  Requirements Engineering  •  Custom AI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4A4F6E"/>
                </a:solidFill>
                <a:latin typeface="Inter"/>
              </a:defRPr>
            </a:pPr>
            <a:r>
              <a:t>CAPCO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22960"/>
            <a:ext cx="12191695" cy="868680"/>
          </a:xfrm>
          <a:prstGeom prst="rect">
            <a:avLst/>
          </a:prstGeom>
          <a:solidFill>
            <a:srgbClr val="1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0"/>
            <a:ext cx="3038779" cy="868680"/>
          </a:xfrm>
          <a:prstGeom prst="rect">
            <a:avLst/>
          </a:prstGeom>
          <a:solidFill>
            <a:srgbClr val="14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E6007E"/>
                </a:solidFill>
                <a:latin typeface="Inter"/>
              </a:defRPr>
            </a:pPr>
            <a:r>
              <a:t>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8B90B0"/>
                </a:solidFill>
                <a:latin typeface="Inter"/>
              </a:defRPr>
            </a:pPr>
            <a:r>
              <a:t>Manual Effort Reduction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7923" y="822960"/>
            <a:ext cx="3038779" cy="868680"/>
          </a:xfrm>
          <a:prstGeom prst="rect">
            <a:avLst/>
          </a:prstGeom>
          <a:solidFill>
            <a:srgbClr val="14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2243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Inter"/>
              </a:defRPr>
            </a:pPr>
            <a:r>
              <a:t>1.5x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243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8B90B0"/>
                </a:solidFill>
                <a:latin typeface="Inter"/>
              </a:defRPr>
            </a:pPr>
            <a:r>
              <a:t>Throughput Increase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822960"/>
            <a:ext cx="3038779" cy="868680"/>
          </a:xfrm>
          <a:prstGeom prst="rect">
            <a:avLst/>
          </a:prstGeom>
          <a:solidFill>
            <a:srgbClr val="14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Inter"/>
              </a:defRPr>
            </a:pPr>
            <a:r>
              <a:t>~19.5%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8B90B0"/>
                </a:solidFill>
                <a:latin typeface="Inter"/>
              </a:defRPr>
            </a:pPr>
            <a:r>
              <a:t>Total Cost 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3771" y="822960"/>
            <a:ext cx="3047923" cy="868680"/>
          </a:xfrm>
          <a:prstGeom prst="rect">
            <a:avLst/>
          </a:prstGeom>
          <a:solidFill>
            <a:srgbClr val="14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091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Inter"/>
              </a:defRPr>
            </a:pPr>
            <a:r>
              <a:t>2 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091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8B90B0"/>
                </a:solidFill>
                <a:latin typeface="Inter"/>
              </a:defRPr>
            </a:pPr>
            <a:r>
              <a:t>Pilot to Production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1828800"/>
            <a:ext cx="3850538" cy="4297680"/>
          </a:xfrm>
          <a:prstGeom prst="rect">
            <a:avLst/>
          </a:prstGeom>
          <a:solidFill>
            <a:srgbClr val="191C30"/>
          </a:solidFill>
          <a:ln w="12700">
            <a:solidFill>
              <a:srgbClr val="2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1828800"/>
            <a:ext cx="3850538" cy="36576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" y="205740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0665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E6007E"/>
                </a:solidFill>
                <a:latin typeface="Inter"/>
              </a:defRPr>
            </a:pPr>
            <a:r>
              <a:t>PROBLEM &amp; COMPLICATIONS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2423160"/>
            <a:ext cx="3393338" cy="9144"/>
          </a:xfrm>
          <a:prstGeom prst="rect">
            <a:avLst/>
          </a:prstGeom>
          <a:solidFill>
            <a:srgbClr val="2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2560320"/>
            <a:ext cx="339333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Requirements are the #1 bottleneck </a:t>
            </a:r>
            <a:r>
              <a:rPr sz="950">
                <a:solidFill>
                  <a:srgbClr val="8B90B0"/>
                </a:solidFill>
                <a:latin typeface="Inter"/>
              </a:rPr>
              <a:t>in SDLC — 30% of projects delayed by spec gaps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64% of failed projects </a:t>
            </a:r>
            <a:r>
              <a:rPr sz="950">
                <a:solidFill>
                  <a:srgbClr val="8B90B0"/>
                </a:solidFill>
                <a:latin typeface="Inter"/>
              </a:rPr>
              <a:t>trace root cause to errors in requirements gathering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Rework costs 15x more </a:t>
            </a:r>
            <a:r>
              <a:rPr sz="950">
                <a:solidFill>
                  <a:srgbClr val="8B90B0"/>
                </a:solidFill>
                <a:latin typeface="Inter"/>
              </a:rPr>
              <a:t>when defects from requirements surface in production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BAs spend most time on low-value tasks </a:t>
            </a:r>
            <a:r>
              <a:rPr sz="950">
                <a:solidFill>
                  <a:srgbClr val="8B90B0"/>
                </a:solidFill>
                <a:latin typeface="Inter"/>
              </a:rPr>
              <a:t>— formatting &amp; consistency checks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No scalable alternative </a:t>
            </a:r>
            <a:r>
              <a:rPr sz="950">
                <a:solidFill>
                  <a:srgbClr val="8B90B0"/>
                </a:solidFill>
                <a:latin typeface="Inter"/>
              </a:rPr>
              <a:t>— tools lack financial services domain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16298" y="1828800"/>
            <a:ext cx="3850538" cy="4297680"/>
          </a:xfrm>
          <a:prstGeom prst="rect">
            <a:avLst/>
          </a:prstGeom>
          <a:solidFill>
            <a:srgbClr val="191C30"/>
          </a:solidFill>
          <a:ln w="12700">
            <a:solidFill>
              <a:srgbClr val="2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16298" y="1828800"/>
            <a:ext cx="385053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44898" y="205740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938" y="20665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8B5CF6"/>
                </a:solidFill>
                <a:latin typeface="Inter"/>
              </a:defRPr>
            </a:pPr>
            <a:r>
              <a:t>AI SOLUTION &amp;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44898" y="2423160"/>
            <a:ext cx="3393338" cy="9144"/>
          </a:xfrm>
          <a:prstGeom prst="rect">
            <a:avLst/>
          </a:prstGeom>
          <a:solidFill>
            <a:srgbClr val="2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4898" y="2560320"/>
            <a:ext cx="339333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Automates generation </a:t>
            </a:r>
            <a:r>
              <a:rPr sz="950">
                <a:solidFill>
                  <a:srgbClr val="8B90B0"/>
                </a:solidFill>
                <a:latin typeface="Inter"/>
              </a:rPr>
              <a:t>of epics, stories, and test cases from high-level inputs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Custom-built AI </a:t>
            </a:r>
            <a:r>
              <a:rPr sz="950">
                <a:solidFill>
                  <a:srgbClr val="8B90B0"/>
                </a:solidFill>
                <a:latin typeface="Inter"/>
              </a:rPr>
              <a:t>trained on 6 corpuses of regulatory &amp; standards docs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Outputs conform to internal standards </a:t>
            </a:r>
            <a:r>
              <a:rPr sz="950">
                <a:solidFill>
                  <a:srgbClr val="8B90B0"/>
                </a:solidFill>
                <a:latin typeface="Inter"/>
              </a:rPr>
              <a:t>— templates, taxonomy, criteria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Model &amp; tech agnostic </a:t>
            </a:r>
            <a:r>
              <a:rPr sz="950">
                <a:solidFill>
                  <a:srgbClr val="8B90B0"/>
                </a:solidFill>
                <a:latin typeface="Inter"/>
              </a:rPr>
              <a:t>— swap underlying LLMs as capabilities evolve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Zero-disruption deployment </a:t>
            </a:r>
            <a:r>
              <a:rPr sz="950">
                <a:solidFill>
                  <a:srgbClr val="8B90B0"/>
                </a:solidFill>
                <a:latin typeface="Inter"/>
              </a:rPr>
              <a:t>— parallel to existing pipelines; 2 wk pilot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6564" y="1828800"/>
            <a:ext cx="3850538" cy="4297680"/>
          </a:xfrm>
          <a:prstGeom prst="rect">
            <a:avLst/>
          </a:prstGeom>
          <a:solidFill>
            <a:srgbClr val="191C30"/>
          </a:solidFill>
          <a:ln w="12700">
            <a:solidFill>
              <a:srgbClr val="2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6564" y="1828800"/>
            <a:ext cx="385053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05164" y="205740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5204" y="20665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3B82F6"/>
                </a:solidFill>
                <a:latin typeface="Inter"/>
              </a:defRPr>
            </a:pPr>
            <a:r>
              <a:t>IMPACT &amp; OUTCOMES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05164" y="2423160"/>
            <a:ext cx="3393338" cy="9144"/>
          </a:xfrm>
          <a:prstGeom prst="rect">
            <a:avLst/>
          </a:prstGeom>
          <a:solidFill>
            <a:srgbClr val="2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5164" y="2560320"/>
            <a:ext cx="339333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Up to 45% reduction </a:t>
            </a:r>
            <a:r>
              <a:rPr sz="950">
                <a:solidFill>
                  <a:srgbClr val="8B90B0"/>
                </a:solidFill>
                <a:latin typeface="Inter"/>
              </a:rPr>
              <a:t>in manual effort for requirements authoring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1.5x throughput </a:t>
            </a:r>
            <a:r>
              <a:rPr sz="950">
                <a:solidFill>
                  <a:srgbClr val="8B90B0"/>
                </a:solidFill>
                <a:latin typeface="Inter"/>
              </a:rPr>
              <a:t>— higher-quality requirements in less time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Accuracy &amp; consistency </a:t>
            </a:r>
            <a:r>
              <a:rPr sz="950">
                <a:solidFill>
                  <a:srgbClr val="8B90B0"/>
                </a:solidFill>
                <a:latin typeface="Inter"/>
              </a:rPr>
              <a:t>improved from first draft, fewer review cycles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BAs shift to high-value work </a:t>
            </a:r>
            <a:r>
              <a:rPr sz="950">
                <a:solidFill>
                  <a:srgbClr val="8B90B0"/>
                </a:solidFill>
                <a:latin typeface="Inter"/>
              </a:rPr>
              <a:t>— stakeholder engagement &amp; strategy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•  Sustainable &amp; scalable </a:t>
            </a:r>
            <a:r>
              <a:rPr sz="950">
                <a:solidFill>
                  <a:srgbClr val="8B90B0"/>
                </a:solidFill>
                <a:latin typeface="Inter"/>
              </a:rPr>
              <a:t>— pilot-to-production proven in 7 weeks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2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537960"/>
            <a:ext cx="64008" cy="64008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464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A4F6E"/>
                </a:solidFill>
                <a:latin typeface="Inter"/>
              </a:defRPr>
            </a:pPr>
            <a:r>
              <a:t>Confidential — Capco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6464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4A4F6E"/>
                </a:solidFill>
                <a:latin typeface="Inter"/>
              </a:defRPr>
            </a:pPr>
            <a:r>
              <a:t>BA Genie  •  SDLC / Engineering  •  Financial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4A4F6E"/>
                </a:solidFill>
                <a:latin typeface="Inter"/>
              </a:defRPr>
            </a:pPr>
            <a:r>
              <a:t>[Solution Name] — [Use Case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A4F6E"/>
                </a:solidFill>
                <a:latin typeface="Inter"/>
              </a:defRPr>
            </a:pPr>
            <a:r>
              <a:t>[Industry]  •  [Function / Process Area]  •  [Solution Type]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4A4F6E"/>
                </a:solidFill>
                <a:latin typeface="Inter"/>
              </a:defRPr>
            </a:pPr>
            <a:r>
              <a:t>CAPCO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22960"/>
            <a:ext cx="12191695" cy="868680"/>
          </a:xfrm>
          <a:prstGeom prst="rect">
            <a:avLst/>
          </a:prstGeom>
          <a:solidFill>
            <a:srgbClr val="1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0"/>
            <a:ext cx="3038779" cy="868680"/>
          </a:xfrm>
          <a:prstGeom prst="rect">
            <a:avLst/>
          </a:prstGeom>
          <a:solidFill>
            <a:srgbClr val="14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52840"/>
                </a:solidFill>
                <a:latin typeface="Inter"/>
              </a:defRPr>
            </a:pPr>
            <a:r>
              <a:t>___%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A4F6E"/>
                </a:solidFill>
                <a:latin typeface="Inter"/>
              </a:defRPr>
            </a:pPr>
            <a:r>
              <a:t>Headline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7923" y="822960"/>
            <a:ext cx="3038779" cy="868680"/>
          </a:xfrm>
          <a:prstGeom prst="rect">
            <a:avLst/>
          </a:prstGeom>
          <a:solidFill>
            <a:srgbClr val="14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2243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52840"/>
                </a:solidFill>
                <a:latin typeface="Inter"/>
              </a:defRPr>
            </a:pPr>
            <a:r>
              <a:t>___x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243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A4F6E"/>
                </a:solidFill>
                <a:latin typeface="Inter"/>
              </a:defRPr>
            </a:pPr>
            <a:r>
              <a:t>Secondary 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822960"/>
            <a:ext cx="3038779" cy="868680"/>
          </a:xfrm>
          <a:prstGeom prst="rect">
            <a:avLst/>
          </a:prstGeom>
          <a:solidFill>
            <a:srgbClr val="14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52840"/>
                </a:solidFill>
                <a:latin typeface="Inter"/>
              </a:defRPr>
            </a:pPr>
            <a:r>
              <a:t>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A4F6E"/>
                </a:solidFill>
                <a:latin typeface="Inter"/>
              </a:defRPr>
            </a:pPr>
            <a:r>
              <a:t>Cost / time 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3771" y="822960"/>
            <a:ext cx="3047923" cy="868680"/>
          </a:xfrm>
          <a:prstGeom prst="rect">
            <a:avLst/>
          </a:prstGeom>
          <a:solidFill>
            <a:srgbClr val="14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091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52840"/>
                </a:solidFill>
                <a:latin typeface="Inter"/>
              </a:defRPr>
            </a:pPr>
            <a:r>
              <a:t>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091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A4F6E"/>
                </a:solidFill>
                <a:latin typeface="Inter"/>
              </a:defRPr>
            </a:pPr>
            <a:r>
              <a:t>Deploy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1828800"/>
            <a:ext cx="3850538" cy="4297680"/>
          </a:xfrm>
          <a:prstGeom prst="rect">
            <a:avLst/>
          </a:prstGeom>
          <a:solidFill>
            <a:srgbClr val="191C30"/>
          </a:solidFill>
          <a:ln w="12700">
            <a:solidFill>
              <a:srgbClr val="2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1828800"/>
            <a:ext cx="3850538" cy="36576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" y="205740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0665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E6007E"/>
                </a:solidFill>
                <a:latin typeface="Inter"/>
              </a:defRPr>
            </a:pPr>
            <a:r>
              <a:t>PROBLEM &amp; COMPLICATIONS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2423160"/>
            <a:ext cx="3393338" cy="9144"/>
          </a:xfrm>
          <a:prstGeom prst="rect">
            <a:avLst/>
          </a:prstGeom>
          <a:solidFill>
            <a:srgbClr val="2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2560320"/>
            <a:ext cx="339333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What is the business context? What process or function is affected?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What is the core problem? What breaks, fails, or underperforms?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What makes it worse? Volume, complexity, regulatory pressure?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Why isn't it solved already? What have teams tried that fell short?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Cost of inaction? Risk, lost revenue, attrition, compliance exposure?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16298" y="1828800"/>
            <a:ext cx="3850538" cy="4297680"/>
          </a:xfrm>
          <a:prstGeom prst="rect">
            <a:avLst/>
          </a:prstGeom>
          <a:solidFill>
            <a:srgbClr val="191C30"/>
          </a:solidFill>
          <a:ln w="12700">
            <a:solidFill>
              <a:srgbClr val="2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16298" y="1828800"/>
            <a:ext cx="385053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44898" y="205740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938" y="20665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8B5CF6"/>
                </a:solidFill>
                <a:latin typeface="Inter"/>
              </a:defRPr>
            </a:pPr>
            <a:r>
              <a:t>AI SOLUTION &amp;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44898" y="2423160"/>
            <a:ext cx="3393338" cy="9144"/>
          </a:xfrm>
          <a:prstGeom prst="rect">
            <a:avLst/>
          </a:prstGeom>
          <a:solidFill>
            <a:srgbClr val="2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4898" y="2560320"/>
            <a:ext cx="339333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What does the solution do in one sentence?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What are 2-3 key features? What can the user do with it?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What makes it differentiated? Custom model, proprietary data, UX?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How does it integrate? API, plug-in, standalone, embedded?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How fast to deploy? What is the pilot timeline and effort?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6564" y="1828800"/>
            <a:ext cx="3850538" cy="4297680"/>
          </a:xfrm>
          <a:prstGeom prst="rect">
            <a:avLst/>
          </a:prstGeom>
          <a:solidFill>
            <a:srgbClr val="191C30"/>
          </a:solidFill>
          <a:ln w="12700">
            <a:solidFill>
              <a:srgbClr val="2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6564" y="1828800"/>
            <a:ext cx="385053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05164" y="205740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5204" y="20665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3B82F6"/>
                </a:solidFill>
                <a:latin typeface="Inter"/>
              </a:defRPr>
            </a:pPr>
            <a:r>
              <a:t>IMPACT &amp; OUTCOMES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05164" y="2423160"/>
            <a:ext cx="3393338" cy="9144"/>
          </a:xfrm>
          <a:prstGeom prst="rect">
            <a:avLst/>
          </a:prstGeom>
          <a:solidFill>
            <a:srgbClr val="2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5164" y="2560320"/>
            <a:ext cx="339333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Headline metric? (e.g., X% reduction in time, cost, or errors)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Secondary metric? (e.g., throughput, capacity, accuracy lift)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Qualitative improvements? Speed, confidence, satisfaction?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How does the team's work change? What do they stop/start?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4A4F6E"/>
                </a:solidFill>
                <a:latin typeface="Inter"/>
              </a:rPr>
              <a:t>•  Is it scalable? Can it expand to other teams or regions?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2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537960"/>
            <a:ext cx="64008" cy="64008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464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A4F6E"/>
                </a:solidFill>
                <a:latin typeface="Inter"/>
              </a:defRPr>
            </a:pPr>
            <a:r>
              <a:t>Confidential — Capco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6464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4A4F6E"/>
                </a:solidFill>
                <a:latin typeface="Inter"/>
              </a:defRPr>
            </a:pPr>
            <a:r>
              <a:t>[Solution Name]  •  [Domain]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