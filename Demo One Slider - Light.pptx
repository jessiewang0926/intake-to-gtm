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F1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071183" y="0"/>
            <a:ext cx="5120511" cy="685800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071183" y="6803136"/>
            <a:ext cx="5120511" cy="54864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7B8198"/>
                </a:solidFill>
                <a:latin typeface="Arial"/>
              </a:defRPr>
            </a:pPr>
            <a:r>
              <a:t>CAPCO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457200" cy="4572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943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1A1F3D"/>
                </a:solidFill>
                <a:latin typeface="Arial"/>
              </a:defRPr>
            </a:pPr>
            <a:r>
              <a:t>AI Demo</a:t>
            </a:r>
            <a:br/>
            <a:r>
              <a:t>One Slider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4A5068"/>
                </a:solidFill>
                <a:latin typeface="Arial"/>
              </a:defRPr>
            </a:pPr>
            <a:r>
              <a:t>Your executive primer before the live demo — the business problem, the AI solution, and the impact, all on a single slide.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577840"/>
            <a:ext cx="56692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6692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6007E"/>
                </a:solidFill>
                <a:latin typeface="Arial"/>
              </a:rPr>
              <a:t>▶ </a:t>
            </a:r>
            <a:r>
              <a:rPr sz="1200" b="1" i="0">
                <a:solidFill>
                  <a:srgbClr val="1A1F3D"/>
                </a:solidFill>
                <a:latin typeface="Arial"/>
              </a:rPr>
              <a:t>[Solution Name]</a:t>
            </a:r>
            <a:r>
              <a:rPr sz="1200" b="0" i="0">
                <a:solidFill>
                  <a:srgbClr val="7B8198"/>
                </a:solidFill>
                <a:latin typeface="Arial"/>
              </a:rPr>
              <a:t> — Short description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19823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555A78"/>
                </a:solidFill>
                <a:latin typeface="Arial"/>
              </a:defRPr>
            </a:pPr>
            <a:r>
              <a:t>SLIDE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19823" y="18288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5284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17103" y="1920240"/>
            <a:ext cx="109728" cy="109728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91423" y="184708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0E2EE"/>
                </a:solidFill>
                <a:latin typeface="Arial"/>
              </a:defRPr>
            </a:pPr>
            <a:r>
              <a:t>Problem &amp; Complications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19823" y="33832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5284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17103" y="3474720"/>
            <a:ext cx="109728" cy="109728"/>
          </a:xfrm>
          <a:prstGeom prst="rect">
            <a:avLst/>
          </a:prstGeom>
          <a:solidFill>
            <a:srgbClr val="888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1423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0E2EE"/>
                </a:solidFill>
                <a:latin typeface="Arial"/>
              </a:defRPr>
            </a:pPr>
            <a:r>
              <a:t>AI Solution &amp;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9823" y="4937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25284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17103" y="5029200"/>
            <a:ext cx="109728" cy="109728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91423" y="49560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0E2EE"/>
                </a:solidFill>
                <a:latin typeface="Arial"/>
              </a:defRPr>
            </a:pPr>
            <a:r>
              <a:t>Impact &amp; Outcomes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45720" cy="4572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SDLC Transformation with BA Genie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CB0"/>
                </a:solidFill>
                <a:latin typeface="Arial"/>
              </a:defRPr>
            </a:pPr>
            <a:r>
              <a:t>Financial Services • Requirements Engineering • Custom AI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888CA8"/>
                </a:solidFill>
                <a:latin typeface="Arial"/>
              </a:defRPr>
            </a:pPr>
            <a:r>
              <a:t>CAPCO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777240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78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E6007E"/>
                </a:solidFill>
                <a:latin typeface="Arial"/>
              </a:defRPr>
            </a:pPr>
            <a:r>
              <a:t>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33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A5068"/>
                </a:solidFill>
                <a:latin typeface="Arial"/>
              </a:defRPr>
            </a:pPr>
            <a:r>
              <a:t>Manual Effort Reduction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923" y="1005840"/>
            <a:ext cx="9144" cy="5029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5123" y="978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F3D"/>
                </a:solidFill>
                <a:latin typeface="Arial"/>
              </a:defRPr>
            </a:pPr>
            <a:r>
              <a:t>1.5x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723" y="1033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A5068"/>
                </a:solidFill>
                <a:latin typeface="Arial"/>
              </a:defRPr>
            </a:pPr>
            <a:r>
              <a:t>Throughput Increase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6" y="1005840"/>
            <a:ext cx="9144" cy="5029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6" y="978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F3D"/>
                </a:solidFill>
                <a:latin typeface="Arial"/>
              </a:defRPr>
            </a:pPr>
            <a:r>
              <a:t>~19.5%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646" y="1033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A5068"/>
                </a:solidFill>
                <a:latin typeface="Arial"/>
              </a:defRPr>
            </a:pPr>
            <a:r>
              <a:t>Total Cost Saving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3769" y="1005840"/>
            <a:ext cx="9144" cy="5029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0969" y="978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1A1F3D"/>
                </a:solidFill>
                <a:latin typeface="Arial"/>
              </a:defRPr>
            </a:pPr>
            <a:r>
              <a:t>2 wk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569" y="1033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4A5068"/>
                </a:solidFill>
                <a:latin typeface="Arial"/>
              </a:defRPr>
            </a:pPr>
            <a:r>
              <a:t>Pilot to Production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1645920"/>
            <a:ext cx="12191695" cy="9144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1737360"/>
            <a:ext cx="256032" cy="256032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755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6007E"/>
                </a:solidFill>
                <a:latin typeface="Arial"/>
              </a:defRPr>
            </a:pPr>
            <a:r>
              <a:t>PROBLEM &amp; COMPLICATIONS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075688"/>
            <a:ext cx="3200400" cy="32004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1945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Requirements are the #1 bottleneck </a:t>
            </a:r>
            <a:r>
              <a:rPr sz="950">
                <a:solidFill>
                  <a:srgbClr val="4A5068"/>
                </a:solidFill>
                <a:latin typeface="Arial"/>
              </a:rPr>
              <a:t>in SDLC — 30% of projects delayed by spec gaps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64% of failed projects </a:t>
            </a:r>
            <a:r>
              <a:rPr sz="950">
                <a:solidFill>
                  <a:srgbClr val="4A5068"/>
                </a:solidFill>
                <a:latin typeface="Arial"/>
              </a:rPr>
              <a:t>trace root cause to errors in requirements gathering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Rework costs 15x more </a:t>
            </a:r>
            <a:r>
              <a:rPr sz="950">
                <a:solidFill>
                  <a:srgbClr val="4A5068"/>
                </a:solidFill>
                <a:latin typeface="Arial"/>
              </a:rPr>
              <a:t>when defects from requirements surface in production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BAs spend most time on low-value tasks </a:t>
            </a:r>
            <a:r>
              <a:rPr sz="950">
                <a:solidFill>
                  <a:srgbClr val="4A5068"/>
                </a:solidFill>
                <a:latin typeface="Arial"/>
              </a:rPr>
              <a:t>— formatting &amp; consistency checks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No scalable alternative </a:t>
            </a:r>
            <a:r>
              <a:rPr sz="950">
                <a:solidFill>
                  <a:srgbClr val="4A5068"/>
                </a:solidFill>
                <a:latin typeface="Arial"/>
              </a:rPr>
              <a:t>— tools lack financial services domain context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3898" y="1691640"/>
            <a:ext cx="9144" cy="43891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1098" y="1737360"/>
            <a:ext cx="256032" cy="256032"/>
          </a:xfrm>
          <a:prstGeom prst="ellipse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1138" y="1755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F3D"/>
                </a:solidFill>
                <a:latin typeface="Arial"/>
              </a:defRPr>
            </a:pPr>
            <a:r>
              <a:t>AI SOLUTION &amp;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1098" y="2075688"/>
            <a:ext cx="3200400" cy="32004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1098" y="21945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Automates generation </a:t>
            </a:r>
            <a:r>
              <a:rPr sz="950">
                <a:solidFill>
                  <a:srgbClr val="4A5068"/>
                </a:solidFill>
                <a:latin typeface="Arial"/>
              </a:rPr>
              <a:t>of epics, stories, and test cases from high-level inputs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Custom-built AI </a:t>
            </a:r>
            <a:r>
              <a:rPr sz="950">
                <a:solidFill>
                  <a:srgbClr val="4A5068"/>
                </a:solidFill>
                <a:latin typeface="Arial"/>
              </a:rPr>
              <a:t>trained on 6 corpuses of regulatory &amp; standards docs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Outputs conform to internal standards </a:t>
            </a:r>
            <a:r>
              <a:rPr sz="950">
                <a:solidFill>
                  <a:srgbClr val="4A5068"/>
                </a:solidFill>
                <a:latin typeface="Arial"/>
              </a:rPr>
              <a:t>— templates, taxonomy, criteria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Model &amp; tech agnostic </a:t>
            </a:r>
            <a:r>
              <a:rPr sz="950">
                <a:solidFill>
                  <a:srgbClr val="4A5068"/>
                </a:solidFill>
                <a:latin typeface="Arial"/>
              </a:rPr>
              <a:t>— swap underlying LLMs as capabilities evolve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Zero-disruption deployment </a:t>
            </a:r>
            <a:r>
              <a:rPr sz="950">
                <a:solidFill>
                  <a:srgbClr val="4A5068"/>
                </a:solidFill>
                <a:latin typeface="Arial"/>
              </a:rPr>
              <a:t>— parallel to existing pipelines; 2 wk pilot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7796" y="1691640"/>
            <a:ext cx="9144" cy="43891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84996" y="173736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5036" y="1755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Arial"/>
              </a:defRPr>
            </a:pPr>
            <a:r>
              <a:t>IMPACT &amp; OUTCOMES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84996" y="2075688"/>
            <a:ext cx="32004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84996" y="21945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Up to 45% reduction </a:t>
            </a:r>
            <a:r>
              <a:rPr sz="950">
                <a:solidFill>
                  <a:srgbClr val="4A5068"/>
                </a:solidFill>
                <a:latin typeface="Arial"/>
              </a:rPr>
              <a:t>in manual effort for requirements authoring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1.5x throughput </a:t>
            </a:r>
            <a:r>
              <a:rPr sz="950">
                <a:solidFill>
                  <a:srgbClr val="4A5068"/>
                </a:solidFill>
                <a:latin typeface="Arial"/>
              </a:rPr>
              <a:t>— higher-quality requirements in less time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Accuracy &amp; consistency </a:t>
            </a:r>
            <a:r>
              <a:rPr sz="950">
                <a:solidFill>
                  <a:srgbClr val="4A5068"/>
                </a:solidFill>
                <a:latin typeface="Arial"/>
              </a:rPr>
              <a:t>improved from first draft, fewer review cycles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BAs shift to high-value work </a:t>
            </a:r>
            <a:r>
              <a:rPr sz="950">
                <a:solidFill>
                  <a:srgbClr val="4A5068"/>
                </a:solidFill>
                <a:latin typeface="Arial"/>
              </a:rPr>
              <a:t>— stakeholder engagement &amp; strategy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b="1">
                <a:solidFill>
                  <a:srgbClr val="1A1F3D"/>
                </a:solidFill>
                <a:latin typeface="Arial"/>
              </a:rPr>
              <a:t>•  Sustainable &amp; scalable </a:t>
            </a:r>
            <a:r>
              <a:rPr sz="950">
                <a:solidFill>
                  <a:srgbClr val="4A5068"/>
                </a:solidFill>
                <a:latin typeface="Arial"/>
              </a:rPr>
              <a:t>— pilot-to-production proven in 7 weeks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6537960"/>
            <a:ext cx="73152" cy="73152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464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B8198"/>
                </a:solidFill>
                <a:latin typeface="Arial"/>
              </a:defRPr>
            </a:pPr>
            <a:r>
              <a:t>Confidential — Capco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6464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B8198"/>
                </a:solidFill>
                <a:latin typeface="Arial"/>
              </a:defRPr>
            </a:pPr>
            <a:r>
              <a:t>BA Genie • SDLC / Engineering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01168"/>
            <a:ext cx="45720" cy="457200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Arial"/>
              </a:defRPr>
            </a:pPr>
            <a:r>
              <a:t>[Solution Name] — [Use Case Title]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999CB0"/>
                </a:solidFill>
                <a:latin typeface="Arial"/>
              </a:defRPr>
            </a:pPr>
            <a:r>
              <a:t>[Industry] • [Function / Process Area] • [Solution Type]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 i="0">
                <a:solidFill>
                  <a:srgbClr val="888CA8"/>
                </a:solidFill>
                <a:latin typeface="Arial"/>
              </a:defRPr>
            </a:pPr>
            <a:r>
              <a:t>CAPCO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777240"/>
          </a:xfrm>
          <a:prstGeom prst="rect">
            <a:avLst/>
          </a:prstGeom>
          <a:solidFill>
            <a:srgbClr val="F0F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978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D4DAE5"/>
                </a:solidFill>
                <a:latin typeface="Arial"/>
              </a:defRPr>
            </a:pPr>
            <a:r>
              <a:t>___%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033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7B8198"/>
                </a:solidFill>
                <a:latin typeface="Arial"/>
              </a:defRPr>
            </a:pPr>
            <a:r>
              <a:t>Headline 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47923" y="1005840"/>
            <a:ext cx="9144" cy="5029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5123" y="978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D4DAE5"/>
                </a:solidFill>
                <a:latin typeface="Arial"/>
              </a:defRPr>
            </a:pPr>
            <a:r>
              <a:t>___x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76723" y="1033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7B8198"/>
                </a:solidFill>
                <a:latin typeface="Arial"/>
              </a:defRPr>
            </a:pPr>
            <a:r>
              <a:t>Secondary metric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6" y="1005840"/>
            <a:ext cx="9144" cy="5029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3046" y="978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D4DAE5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646" y="1033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7B8198"/>
                </a:solidFill>
                <a:latin typeface="Arial"/>
              </a:defRPr>
            </a:pPr>
            <a:r>
              <a:t>Cost / time saving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3769" y="1005840"/>
            <a:ext cx="9144" cy="5029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0969" y="978408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D4DAE5"/>
                </a:solidFill>
                <a:latin typeface="Arial"/>
              </a:defRPr>
            </a:pPr>
            <a:r>
              <a:t>___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569" y="1033272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7B8198"/>
                </a:solidFill>
                <a:latin typeface="Arial"/>
              </a:defRPr>
            </a:pPr>
            <a:r>
              <a:t>Deploy timeline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1645920"/>
            <a:ext cx="12191695" cy="9144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1737360"/>
            <a:ext cx="256032" cy="256032"/>
          </a:xfrm>
          <a:prstGeom prst="ellipse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1755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E6007E"/>
                </a:solidFill>
                <a:latin typeface="Arial"/>
              </a:defRPr>
            </a:pPr>
            <a:r>
              <a:t>PROBLEM &amp; COMPLICATIONS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075688"/>
            <a:ext cx="3200400" cy="32004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1945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What is the business context?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What is the core problem?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What makes it worse?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Why isn't it solved?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Cost of inaction?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63898" y="1691640"/>
            <a:ext cx="9144" cy="43891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21098" y="1737360"/>
            <a:ext cx="256032" cy="256032"/>
          </a:xfrm>
          <a:prstGeom prst="ellipse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1138" y="1755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1A1F3D"/>
                </a:solidFill>
                <a:latin typeface="Arial"/>
              </a:defRPr>
            </a:pPr>
            <a:r>
              <a:t>AI SOLUTION &amp; FEATURES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21098" y="2075688"/>
            <a:ext cx="3200400" cy="32004"/>
          </a:xfrm>
          <a:prstGeom prst="rect">
            <a:avLst/>
          </a:prstGeom>
          <a:solidFill>
            <a:srgbClr val="1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1098" y="21945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What does the solution do?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Key features?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What's differentiated?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How does it integrate?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How fast to deploy?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27796" y="1691640"/>
            <a:ext cx="9144" cy="4389120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584996" y="1737360"/>
            <a:ext cx="256032" cy="25603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05036" y="175564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  <a:latin typeface="Arial"/>
              </a:defRPr>
            </a:pPr>
            <a:r>
              <a:t>IMPACT &amp; OUTCOMES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84996" y="2075688"/>
            <a:ext cx="32004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84996" y="2194560"/>
            <a:ext cx="33832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Headline metric?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Secondary metric?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Qualitative improvements?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How does work change?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950" i="1">
                <a:solidFill>
                  <a:srgbClr val="7B8198"/>
                </a:solidFill>
                <a:latin typeface="Arial"/>
              </a:rPr>
              <a:t>•  Is it scalable?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355080"/>
            <a:ext cx="12191695" cy="9144"/>
          </a:xfrm>
          <a:prstGeom prst="rect">
            <a:avLst/>
          </a:prstGeom>
          <a:solidFill>
            <a:srgbClr val="D4D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6537960"/>
            <a:ext cx="73152" cy="73152"/>
          </a:xfrm>
          <a:prstGeom prst="rect">
            <a:avLst/>
          </a:prstGeom>
          <a:solidFill>
            <a:srgbClr val="E600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64648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7B8198"/>
                </a:solidFill>
                <a:latin typeface="Arial"/>
              </a:defRPr>
            </a:pPr>
            <a:r>
              <a:t>Confidential — Capco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0" y="64648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7B8198"/>
                </a:solidFill>
                <a:latin typeface="Arial"/>
              </a:defRPr>
            </a:pPr>
            <a:r>
              <a:t>[Solution Name] • [Domain]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