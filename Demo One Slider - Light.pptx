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7B8198"/>
                </a:solidFill>
                <a:latin typeface="Inter"/>
              </a:defRPr>
            </a:pPr>
            <a:r>
              <a:t>CAPCO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194560"/>
            <a:ext cx="548640" cy="54864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1A1F3D"/>
                </a:solidFill>
                <a:latin typeface="Inter"/>
              </a:defRPr>
            </a:pPr>
            <a:r>
              <a:t>AI Demo</a:t>
            </a:r>
            <a:br/>
            <a:r>
              <a:t>One Slider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4A5068"/>
                </a:solidFill>
                <a:latin typeface="Inter"/>
              </a:defRPr>
            </a:pPr>
            <a:r>
              <a:t>Your executive primer before the live demo — the business problem, the AI solution, and the impact, all on a single slide.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943600"/>
            <a:ext cx="548640" cy="36576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B8198"/>
                </a:solidFill>
                <a:latin typeface="Inter"/>
              </a:defRPr>
            </a:pPr>
            <a:r>
              <a:t>COVER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F3D"/>
                </a:solidFill>
                <a:latin typeface="Inter"/>
              </a:rPr>
              <a:t>[Solution Name]</a:t>
            </a:r>
            <a:r>
              <a:rPr sz="1400" b="0" i="0">
                <a:solidFill>
                  <a:srgbClr val="7B8198"/>
                </a:solidFill>
                <a:latin typeface="Inter"/>
              </a:rPr>
              <a:t>  —  One-line description of what it does and why it matters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"/>
            <a:ext cx="45720" cy="457200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Inter"/>
              </a:defRPr>
            </a:pPr>
            <a:r>
              <a:t>SDLC Transformation with BA 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999CB0"/>
                </a:solidFill>
                <a:latin typeface="Inter"/>
              </a:defRPr>
            </a:pPr>
            <a:r>
              <a:t>Financial Services  •  Requirements Engineering  •  Custom AI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888CA8"/>
                </a:solidFill>
                <a:latin typeface="Inter"/>
              </a:defRPr>
            </a:pPr>
            <a:r>
              <a:t>CAPCO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68680"/>
            <a:ext cx="12191695" cy="777240"/>
          </a:xfrm>
          <a:prstGeom prst="rect">
            <a:avLst/>
          </a:prstGeom>
          <a:solidFill>
            <a:srgbClr val="F0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E6007E"/>
                </a:solidFill>
                <a:latin typeface="Inter"/>
              </a:defRPr>
            </a:pPr>
            <a:r>
              <a:t>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4A5068"/>
                </a:solidFill>
                <a:latin typeface="Inter"/>
              </a:defRPr>
            </a:pPr>
            <a:r>
              <a:t>Manual Effort Reduction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7923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F3D"/>
                </a:solidFill>
                <a:latin typeface="Inter"/>
              </a:defRPr>
            </a:pPr>
            <a:r>
              <a:t>1.5x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723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4A5068"/>
                </a:solidFill>
                <a:latin typeface="Inter"/>
              </a:defRPr>
            </a:pPr>
            <a:r>
              <a:t>Throughput Increase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F3D"/>
                </a:solidFill>
                <a:latin typeface="Inter"/>
              </a:defRPr>
            </a:pPr>
            <a:r>
              <a:t>~19.5%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647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4A5068"/>
                </a:solidFill>
                <a:latin typeface="Inter"/>
              </a:defRPr>
            </a:pPr>
            <a:r>
              <a:t>Total Cost Saving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3771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0971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F3D"/>
                </a:solidFill>
                <a:latin typeface="Inter"/>
              </a:defRPr>
            </a:pPr>
            <a:r>
              <a:t>2 wk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571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0">
                <a:solidFill>
                  <a:srgbClr val="4A5068"/>
                </a:solidFill>
                <a:latin typeface="Inter"/>
              </a:defRPr>
            </a:pPr>
            <a:r>
              <a:t>Pilot to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1645920"/>
            <a:ext cx="12191695" cy="9144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1737360"/>
            <a:ext cx="256032" cy="256032"/>
          </a:xfrm>
          <a:prstGeom prst="ellipse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6007E"/>
                </a:solidFill>
                <a:latin typeface="Inter"/>
              </a:defRPr>
            </a:pPr>
            <a:r>
              <a:t>PROBLEM &amp; COMPLICATIONS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75688"/>
            <a:ext cx="3200400" cy="32004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Requirements are the #1 bottleneck </a:t>
            </a:r>
            <a:r>
              <a:rPr sz="950">
                <a:solidFill>
                  <a:srgbClr val="4A5068"/>
                </a:solidFill>
                <a:latin typeface="Inter"/>
              </a:rPr>
              <a:t>in SDLC — 30% of projects delayed by spec gaps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64% of failed projects </a:t>
            </a:r>
            <a:r>
              <a:rPr sz="950">
                <a:solidFill>
                  <a:srgbClr val="4A5068"/>
                </a:solidFill>
                <a:latin typeface="Inter"/>
              </a:rPr>
              <a:t>trace root cause to errors in requirements gathering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Rework costs 15x more </a:t>
            </a:r>
            <a:r>
              <a:rPr sz="950">
                <a:solidFill>
                  <a:srgbClr val="4A5068"/>
                </a:solidFill>
                <a:latin typeface="Inter"/>
              </a:rPr>
              <a:t>when defects from requirements surface in production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BAs spend most time on low-value tasks </a:t>
            </a:r>
            <a:r>
              <a:rPr sz="950">
                <a:solidFill>
                  <a:srgbClr val="4A5068"/>
                </a:solidFill>
                <a:latin typeface="Inter"/>
              </a:rPr>
              <a:t>— formatting &amp; consistency checks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No scalable alternative </a:t>
            </a:r>
            <a:r>
              <a:rPr sz="950">
                <a:solidFill>
                  <a:srgbClr val="4A5068"/>
                </a:solidFill>
                <a:latin typeface="Inter"/>
              </a:rPr>
              <a:t>— tools lack financial services domain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3898" y="1691640"/>
            <a:ext cx="9144" cy="43891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21098" y="1737360"/>
            <a:ext cx="256032" cy="256032"/>
          </a:xfrm>
          <a:prstGeom prst="ellipse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1138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A1F3D"/>
                </a:solidFill>
                <a:latin typeface="Inter"/>
              </a:defRPr>
            </a:pPr>
            <a:r>
              <a:t>AI SOLUTION &amp;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1098" y="2075688"/>
            <a:ext cx="3200400" cy="32004"/>
          </a:xfrm>
          <a:prstGeom prst="rect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1098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Automates generation </a:t>
            </a:r>
            <a:r>
              <a:rPr sz="950">
                <a:solidFill>
                  <a:srgbClr val="4A5068"/>
                </a:solidFill>
                <a:latin typeface="Inter"/>
              </a:rPr>
              <a:t>of epics, stories, and test cases from high-level inputs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Custom-built AI </a:t>
            </a:r>
            <a:r>
              <a:rPr sz="950">
                <a:solidFill>
                  <a:srgbClr val="4A5068"/>
                </a:solidFill>
                <a:latin typeface="Inter"/>
              </a:rPr>
              <a:t>trained on 6 corpuses of regulatory &amp; standards docs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Outputs conform to internal standards </a:t>
            </a:r>
            <a:r>
              <a:rPr sz="950">
                <a:solidFill>
                  <a:srgbClr val="4A5068"/>
                </a:solidFill>
                <a:latin typeface="Inter"/>
              </a:rPr>
              <a:t>— templates, taxonomy, criteria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Model &amp; tech agnostic </a:t>
            </a:r>
            <a:r>
              <a:rPr sz="950">
                <a:solidFill>
                  <a:srgbClr val="4A5068"/>
                </a:solidFill>
                <a:latin typeface="Inter"/>
              </a:rPr>
              <a:t>— swap underlying LLMs as capabilities evolve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Zero-disruption deployment </a:t>
            </a:r>
            <a:r>
              <a:rPr sz="950">
                <a:solidFill>
                  <a:srgbClr val="4A5068"/>
                </a:solidFill>
                <a:latin typeface="Inter"/>
              </a:rPr>
              <a:t>— parallel to existing pipelines; 2 wk pilot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7796" y="1691640"/>
            <a:ext cx="9144" cy="43891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84996" y="1737360"/>
            <a:ext cx="256032" cy="25603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5036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563EB"/>
                </a:solidFill>
                <a:latin typeface="Inter"/>
              </a:defRPr>
            </a:pPr>
            <a:r>
              <a:t>IMPACT &amp; OUTCOMES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84996" y="2075688"/>
            <a:ext cx="320040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84996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Up to 45% reduction </a:t>
            </a:r>
            <a:r>
              <a:rPr sz="950">
                <a:solidFill>
                  <a:srgbClr val="4A5068"/>
                </a:solidFill>
                <a:latin typeface="Inter"/>
              </a:rPr>
              <a:t>in manual effort for requirements authoring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1.5x throughput </a:t>
            </a:r>
            <a:r>
              <a:rPr sz="950">
                <a:solidFill>
                  <a:srgbClr val="4A5068"/>
                </a:solidFill>
                <a:latin typeface="Inter"/>
              </a:rPr>
              <a:t>— higher-quality requirements in less time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Accuracy &amp; consistency </a:t>
            </a:r>
            <a:r>
              <a:rPr sz="950">
                <a:solidFill>
                  <a:srgbClr val="4A5068"/>
                </a:solidFill>
                <a:latin typeface="Inter"/>
              </a:rPr>
              <a:t>improved from first draft, fewer review cycles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BAs shift to high-value work </a:t>
            </a:r>
            <a:r>
              <a:rPr sz="950">
                <a:solidFill>
                  <a:srgbClr val="4A5068"/>
                </a:solidFill>
                <a:latin typeface="Inter"/>
              </a:rPr>
              <a:t>— stakeholder engagement &amp; strategy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b="1">
                <a:solidFill>
                  <a:srgbClr val="1A1F3D"/>
                </a:solidFill>
                <a:latin typeface="Inter"/>
              </a:rPr>
              <a:t>•  Sustainable &amp; scalable </a:t>
            </a:r>
            <a:r>
              <a:rPr sz="950">
                <a:solidFill>
                  <a:srgbClr val="4A5068"/>
                </a:solidFill>
                <a:latin typeface="Inter"/>
              </a:rPr>
              <a:t>— pilot-to-production proven in 7 weeks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6537960"/>
            <a:ext cx="73152" cy="73152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648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B8198"/>
                </a:solidFill>
                <a:latin typeface="Inter"/>
              </a:defRPr>
            </a:pPr>
            <a:r>
              <a:t>Confidential — Capco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4648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B8198"/>
                </a:solidFill>
                <a:latin typeface="Inter"/>
              </a:defRPr>
            </a:pPr>
            <a:r>
              <a:t>BA Genie  •  SDLC / Engineering  •  Financial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"/>
            <a:ext cx="45720" cy="457200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Inter"/>
              </a:defRPr>
            </a:pPr>
            <a:r>
              <a:t>[Solution Name] — [Use Case Title]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999CB0"/>
                </a:solidFill>
                <a:latin typeface="Inter"/>
              </a:defRPr>
            </a:pPr>
            <a:r>
              <a:t>[Industry]  •  [Function / Process Area]  •  [Solution Type]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888CA8"/>
                </a:solidFill>
                <a:latin typeface="Inter"/>
              </a:defRPr>
            </a:pPr>
            <a:r>
              <a:t>CAPCO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68680"/>
            <a:ext cx="12191695" cy="777240"/>
          </a:xfrm>
          <a:prstGeom prst="rect">
            <a:avLst/>
          </a:prstGeom>
          <a:solidFill>
            <a:srgbClr val="F0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4DAE5"/>
                </a:solidFill>
                <a:latin typeface="Inter"/>
              </a:defRPr>
            </a:pPr>
            <a:r>
              <a:t>___%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7B8198"/>
                </a:solidFill>
                <a:latin typeface="Inter"/>
              </a:defRPr>
            </a:pPr>
            <a:r>
              <a:t>Headline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7923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4DAE5"/>
                </a:solidFill>
                <a:latin typeface="Inter"/>
              </a:defRPr>
            </a:pPr>
            <a:r>
              <a:t>___x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723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7B8198"/>
                </a:solidFill>
                <a:latin typeface="Inter"/>
              </a:defRPr>
            </a:pPr>
            <a:r>
              <a:t>Secondary 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7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4DAE5"/>
                </a:solidFill>
                <a:latin typeface="Inter"/>
              </a:defRPr>
            </a:pPr>
            <a:r>
              <a:t>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647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7B8198"/>
                </a:solidFill>
                <a:latin typeface="Inter"/>
              </a:defRPr>
            </a:pPr>
            <a:r>
              <a:t>Cost / time saving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3771" y="1005840"/>
            <a:ext cx="9144" cy="5029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0971" y="97840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4DAE5"/>
                </a:solidFill>
                <a:latin typeface="Inter"/>
              </a:defRPr>
            </a:pPr>
            <a:r>
              <a:t>___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571" y="10332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 i="1">
                <a:solidFill>
                  <a:srgbClr val="7B8198"/>
                </a:solidFill>
                <a:latin typeface="Inter"/>
              </a:defRPr>
            </a:pPr>
            <a:r>
              <a:t>Deploy timeline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1645920"/>
            <a:ext cx="12191695" cy="9144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1737360"/>
            <a:ext cx="256032" cy="256032"/>
          </a:xfrm>
          <a:prstGeom prst="ellipse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6007E"/>
                </a:solidFill>
                <a:latin typeface="Inter"/>
              </a:defRPr>
            </a:pPr>
            <a:r>
              <a:t>PROBLEM &amp; COMPLICATIONS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75688"/>
            <a:ext cx="3200400" cy="32004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is the business context? What process or function is affected?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is the core problem? What breaks, fails, or underperforms?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makes it worse? Volume, complexity, regulatory pressure?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Why isn't it solved already? What have teams tried that fell short?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Cost of inaction? Risk, lost revenue, attrition, compliance exposure?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3898" y="1691640"/>
            <a:ext cx="9144" cy="43891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21098" y="1737360"/>
            <a:ext cx="256032" cy="256032"/>
          </a:xfrm>
          <a:prstGeom prst="ellipse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1138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A1F3D"/>
                </a:solidFill>
                <a:latin typeface="Inter"/>
              </a:defRPr>
            </a:pPr>
            <a:r>
              <a:t>AI SOLUTION &amp; FEATURES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1098" y="2075688"/>
            <a:ext cx="3200400" cy="32004"/>
          </a:xfrm>
          <a:prstGeom prst="rect">
            <a:avLst/>
          </a:prstGeom>
          <a:solidFill>
            <a:srgbClr val="1A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1098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does the solution do in one sentence?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are 2-3 key features? What can the user do with 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What makes it differentiated? Custom model, proprietary data, UX?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How does it integrate? API, plug-in, standalone, embedded?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How fast to deploy? What is the pilot timeline and effort?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7796" y="1691640"/>
            <a:ext cx="9144" cy="4389120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84996" y="1737360"/>
            <a:ext cx="256032" cy="25603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5036" y="1755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563EB"/>
                </a:solidFill>
                <a:latin typeface="Inter"/>
              </a:defRPr>
            </a:pPr>
            <a:r>
              <a:t>IMPACT &amp; OUTCOMES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84996" y="2075688"/>
            <a:ext cx="320040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84996" y="219456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Headline metric? (e.g., X% reduction in time, cost, or errors)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Secondary metric? (e.g., throughput, capacity, accuracy lift)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Qualitative improvements? Speed, confidence, satisfaction?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How does the team's work change? What do they stop/start?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950" i="1">
                <a:solidFill>
                  <a:srgbClr val="7B8198"/>
                </a:solidFill>
                <a:latin typeface="Inter"/>
              </a:rPr>
              <a:t>•  Is it scalable? Can it expand to other teams or regions?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D4D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6537960"/>
            <a:ext cx="73152" cy="73152"/>
          </a:xfrm>
          <a:prstGeom prst="rect">
            <a:avLst/>
          </a:prstGeom>
          <a:solidFill>
            <a:srgbClr val="E60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648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B8198"/>
                </a:solidFill>
                <a:latin typeface="Inter"/>
              </a:defRPr>
            </a:pPr>
            <a:r>
              <a:t>Confidential — Capco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4648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B8198"/>
                </a:solidFill>
                <a:latin typeface="Inter"/>
              </a:defRPr>
            </a:pPr>
            <a:r>
              <a:t>[Solution Name]  •  [Domain]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