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1183" y="0"/>
            <a:ext cx="5120511" cy="6858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506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" y="1645920"/>
            <a:ext cx="9144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" y="164592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Arial"/>
              </a:defRPr>
            </a:pPr>
            <a:r>
              <a:t>AI Demo</a:t>
            </a:r>
            <a:br/>
            <a:r>
              <a:t>One Slider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8888A0"/>
                </a:solidFill>
                <a:latin typeface="Arial"/>
              </a:defRPr>
            </a:pPr>
            <a:r>
              <a:t>One slide to set the stage. Walk through the problem, the AI solution, and the measurable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77840"/>
            <a:ext cx="5669280" cy="54864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EA5E9"/>
                </a:solidFill>
                <a:latin typeface="Arial"/>
              </a:rPr>
              <a:t>▶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[Solution Name]</a:t>
            </a:r>
            <a:r>
              <a:rPr sz="1200" b="0" i="0">
                <a:solidFill>
                  <a:srgbClr val="505068"/>
                </a:solidFill>
                <a:latin typeface="Arial"/>
              </a:rPr>
              <a:t> — Short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23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05068"/>
                </a:solidFill>
                <a:latin typeface="Arial"/>
              </a:defRPr>
            </a:pPr>
            <a:r>
              <a:t>NARRATIVE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23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8283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17103" y="192024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423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Problem &amp; Complications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23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8283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17103" y="3474720"/>
            <a:ext cx="10972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1423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EA5E9"/>
                </a:solidFill>
                <a:latin typeface="Arial"/>
              </a:defRPr>
            </a:pPr>
            <a:r>
              <a:t>AI Solution 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23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8283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103" y="502920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1423" y="49560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Arial"/>
              </a:defRPr>
            </a:pPr>
            <a:r>
              <a:t>Impact &amp;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t>SDLC Transformation with BA 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05068"/>
                </a:solidFill>
                <a:latin typeface="Arial"/>
              </a:defRPr>
            </a:pPr>
            <a:r>
              <a:t>Financial Services • Requirements Engineering • Custom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50506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"/>
            <a:ext cx="45720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505455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45720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425695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2651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EA5E9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48056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80560"/>
            <a:ext cx="45720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0B981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00584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Requirements are the #1 bottleneck </a:t>
            </a:r>
            <a:r>
              <a:rPr sz="950">
                <a:solidFill>
                  <a:srgbClr val="D0D0DC"/>
                </a:solidFill>
                <a:latin typeface="Arial"/>
              </a:rPr>
              <a:t>in SDLC — 30% of projects delayed by spec gaps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64% of failed projects </a:t>
            </a:r>
            <a:r>
              <a:rPr sz="950">
                <a:solidFill>
                  <a:srgbClr val="D0D0DC"/>
                </a:solidFill>
                <a:latin typeface="Arial"/>
              </a:rPr>
              <a:t>trace root cause to errors in requirements gathering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Rework costs 15x more </a:t>
            </a:r>
            <a:r>
              <a:rPr sz="950">
                <a:solidFill>
                  <a:srgbClr val="D0D0DC"/>
                </a:solidFill>
                <a:latin typeface="Arial"/>
              </a:rPr>
              <a:t>when defects from requirements surface in production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BAs spend most time on low-value tasks </a:t>
            </a:r>
            <a:r>
              <a:rPr sz="950">
                <a:solidFill>
                  <a:srgbClr val="D0D0DC"/>
                </a:solidFill>
                <a:latin typeface="Arial"/>
              </a:rPr>
              <a:t>— formatting &amp; consistency checks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No scalable alternative </a:t>
            </a:r>
            <a:r>
              <a:rPr sz="950">
                <a:solidFill>
                  <a:srgbClr val="D0D0DC"/>
                </a:solidFill>
                <a:latin typeface="Arial"/>
              </a:rPr>
              <a:t>— tools lack financial services domain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914400"/>
            <a:ext cx="2011680" cy="13716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051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9E0B"/>
                </a:solidFill>
                <a:latin typeface="Arial"/>
              </a:defRPr>
            </a:pPr>
            <a:r>
              <a:t>64%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8888A0"/>
                </a:solidFill>
                <a:latin typeface="Arial"/>
              </a:defRPr>
            </a:pPr>
            <a:r>
              <a:t>of failed projects</a:t>
            </a:r>
            <a:br/>
            <a:r>
              <a:t>from bad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EA5E9"/>
                </a:solidFill>
                <a:latin typeface="Arial"/>
              </a:defRPr>
            </a:pPr>
            <a:r>
              <a:t>Auto-Generate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888A0"/>
                </a:solidFill>
                <a:latin typeface="Arial"/>
              </a:defRPr>
            </a:pPr>
            <a:r>
              <a:t>Epics, stories, test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EA5E9"/>
                </a:solidFill>
                <a:latin typeface="Arial"/>
              </a:defRPr>
            </a:pPr>
            <a:r>
              <a:t>Custom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888A0"/>
                </a:solidFill>
                <a:latin typeface="Arial"/>
              </a:defRPr>
            </a:pPr>
            <a:r>
              <a:t>6 regulatory corpuses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EA5E9"/>
                </a:solidFill>
                <a:latin typeface="Arial"/>
              </a:defRPr>
            </a:pPr>
            <a:r>
              <a:t>Standards-Aligned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888A0"/>
                </a:solidFill>
                <a:latin typeface="Arial"/>
              </a:defRPr>
            </a:pPr>
            <a:r>
              <a:t>Client templates &amp; taxonomy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EA5E9"/>
                </a:solidFill>
                <a:latin typeface="Arial"/>
              </a:defRPr>
            </a:pPr>
            <a:r>
              <a:t>Model Agnostic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888A0"/>
                </a:solidFill>
                <a:latin typeface="Arial"/>
              </a:defRPr>
            </a:pPr>
            <a:r>
              <a:t>Swap LLMs freely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9264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EA5E9"/>
                </a:solidFill>
                <a:latin typeface="Arial"/>
              </a:defRPr>
            </a:pPr>
            <a:r>
              <a:t>Zero Disruption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888A0"/>
                </a:solidFill>
                <a:latin typeface="Arial"/>
              </a:defRPr>
            </a:pPr>
            <a:r>
              <a:t>2-week parallel pilot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8888A0"/>
                </a:solidFill>
                <a:latin typeface="Arial"/>
              </a:defRPr>
            </a:pPr>
            <a:r>
              <a:t>Manual Effort Reduction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1.5x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8888A0"/>
                </a:solidFill>
                <a:latin typeface="Arial"/>
              </a:defRPr>
            </a:pPr>
            <a:r>
              <a:t>Throughput Increase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~19.5%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8888A0"/>
                </a:solidFill>
                <a:latin typeface="Arial"/>
              </a:defRPr>
            </a:pPr>
            <a:r>
              <a:t>Total Cost Saving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800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Accuracy &amp; consistency </a:t>
            </a:r>
            <a:r>
              <a:rPr sz="950">
                <a:solidFill>
                  <a:srgbClr val="D0D0DC"/>
                </a:solidFill>
                <a:latin typeface="Arial"/>
              </a:rPr>
              <a:t>improved from first draft, fewer review cycles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BAs shift to high-value work </a:t>
            </a:r>
            <a:r>
              <a:rPr sz="950">
                <a:solidFill>
                  <a:srgbClr val="D0D0DC"/>
                </a:solidFill>
                <a:latin typeface="Arial"/>
              </a:rPr>
              <a:t>— stakeholder engagement &amp;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Sustainable &amp; scalable </a:t>
            </a:r>
            <a:r>
              <a:rPr sz="950">
                <a:solidFill>
                  <a:srgbClr val="D0D0DC"/>
                </a:solidFill>
                <a:latin typeface="Arial"/>
              </a:rPr>
              <a:t>— pilot-to-production proven in 7 weeks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662940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05068"/>
                </a:solidFill>
                <a:latin typeface="Arial"/>
              </a:defRPr>
            </a:pPr>
            <a:r>
              <a:t>Confidential — Capco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505068"/>
                </a:solidFill>
                <a:latin typeface="Arial"/>
              </a:defRPr>
            </a:pPr>
            <a:r>
              <a:t>BA Genie • SDLC /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505068"/>
                </a:solidFill>
                <a:latin typeface="Arial"/>
              </a:defRPr>
            </a:pPr>
            <a:r>
              <a:t>[Solution Name] — [Use Case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05068"/>
                </a:solidFill>
                <a:latin typeface="Arial"/>
              </a:defRPr>
            </a:pPr>
            <a:r>
              <a:t>[Industry] • [Function / Process Area] • [Solution Type]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50506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"/>
            <a:ext cx="45720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505455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45720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425695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2651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EA5E9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480560"/>
            <a:ext cx="12191695" cy="1874519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80560"/>
            <a:ext cx="45720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0B981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00584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What is the business context?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What is the core problem?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What makes it worse?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Why isn't it solved?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Cost of inaction?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914400"/>
            <a:ext cx="2011680" cy="13716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A2A3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505068"/>
                </a:solidFill>
                <a:latin typeface="Arial"/>
              </a:defRPr>
            </a:pPr>
            <a:r>
              <a:t>Key problem</a:t>
            </a:r>
            <a:br/>
            <a:r>
              <a:t>statistic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505068"/>
                </a:solidFill>
                <a:latin typeface="Arial"/>
              </a:defRPr>
            </a:pPr>
            <a:r>
              <a:t>[Feature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05068"/>
                </a:solidFill>
                <a:latin typeface="Arial"/>
              </a:defRPr>
            </a:pPr>
            <a:r>
              <a:t>What does it do?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505068"/>
                </a:solidFill>
                <a:latin typeface="Arial"/>
              </a:defRPr>
            </a:pPr>
            <a:r>
              <a:t>[Feature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05068"/>
                </a:solidFill>
                <a:latin typeface="Arial"/>
              </a:defRPr>
            </a:pPr>
            <a:r>
              <a:t>What does it do?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505068"/>
                </a:solidFill>
                <a:latin typeface="Arial"/>
              </a:defRPr>
            </a:pPr>
            <a:r>
              <a:t>[Feature 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05068"/>
                </a:solidFill>
                <a:latin typeface="Arial"/>
              </a:defRPr>
            </a:pPr>
            <a:r>
              <a:t>What's different?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505068"/>
                </a:solidFill>
                <a:latin typeface="Arial"/>
              </a:defRPr>
            </a:pPr>
            <a:r>
              <a:t>[Integration]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05068"/>
                </a:solidFill>
                <a:latin typeface="Arial"/>
              </a:defRPr>
            </a:pPr>
            <a:r>
              <a:t>How plug in?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2880360"/>
            <a:ext cx="2103120" cy="128016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92640" y="28803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505068"/>
                </a:solidFill>
                <a:latin typeface="Arial"/>
              </a:defRPr>
            </a:pPr>
            <a:r>
              <a:t>[Deploy]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05068"/>
                </a:solidFill>
                <a:latin typeface="Arial"/>
              </a:defRPr>
            </a:pPr>
            <a:r>
              <a:t>Timeline?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2A2A38"/>
                </a:solidFill>
                <a:latin typeface="Arial"/>
              </a:defRPr>
            </a:pPr>
            <a:r>
              <a:t>___%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505068"/>
                </a:solidFill>
                <a:latin typeface="Arial"/>
              </a:defRPr>
            </a:pPr>
            <a:r>
              <a:t>Headline metric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2A2A38"/>
                </a:solidFill>
                <a:latin typeface="Arial"/>
              </a:defRPr>
            </a:pPr>
            <a:r>
              <a:t>___x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505068"/>
                </a:solidFill>
                <a:latin typeface="Arial"/>
              </a:defRPr>
            </a:pPr>
            <a:r>
              <a:t>Secondary metric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4754880"/>
            <a:ext cx="2103120" cy="914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2A2A3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505068"/>
                </a:solidFill>
                <a:latin typeface="Arial"/>
              </a:defRPr>
            </a:pPr>
            <a:r>
              <a:t>Cost / time saving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800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Qualitative improvements?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How does work change?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505068"/>
                </a:solidFill>
                <a:latin typeface="Arial"/>
              </a:rPr>
              <a:t>•  Is it scalable?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91695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662940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05068"/>
                </a:solidFill>
                <a:latin typeface="Arial"/>
              </a:defRPr>
            </a:pPr>
            <a:r>
              <a:t>Confidential — Capco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505068"/>
                </a:solidFill>
                <a:latin typeface="Arial"/>
              </a:defRPr>
            </a:pPr>
            <a:r>
              <a:t>[Solution Name] • [Domain]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