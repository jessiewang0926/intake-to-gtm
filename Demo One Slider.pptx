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4572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457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4572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0F1B2D"/>
                </a:solidFill>
                <a:latin typeface="Calibri"/>
              </a:defRPr>
            </a:pPr>
            <a:r>
              <a:t>CAPCO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solidFill>
            <a:srgbClr val="1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00CEC9"/>
                </a:solidFill>
                <a:latin typeface="Calibri"/>
              </a:defRPr>
            </a:pPr>
            <a:r>
              <a:t>●  CAPCO AI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BA Genie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EA8C4"/>
                </a:solidFill>
                <a:latin typeface="Calibri"/>
              </a:defRPr>
            </a:pPr>
            <a:r>
              <a:t>AI-powered requirements engineering that transforms the SDLC by automating the generation of accurate, complete epics, features, stories, and test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892A6"/>
                </a:solidFill>
                <a:latin typeface="Calibri"/>
              </a:defRPr>
            </a:pPr>
            <a:r>
              <a:t>AT A GLANCE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0312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B2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5915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Manual requirements gathering delays 30% of projects and drives costly rework downstream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200400"/>
            <a:ext cx="365760" cy="36576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0040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B2D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5643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Custom-built AI that generates complete epics, stories, and test cases from business intent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297680"/>
            <a:ext cx="365760" cy="36576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97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976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B2D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55371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45% reduction in manual effort, 19.5% cost savings, pilot-to-production in 7 weeks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5486400"/>
            <a:ext cx="1755648" cy="274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504688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B7A8D"/>
                </a:solidFill>
                <a:latin typeface="Calibri"/>
              </a:defRPr>
            </a:pPr>
            <a:r>
              <a:t>Financial 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0768" y="5486400"/>
            <a:ext cx="2249424" cy="274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5504688"/>
            <a:ext cx="22494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B7A8D"/>
                </a:solidFill>
                <a:latin typeface="Calibri"/>
              </a:defRPr>
            </a:pPr>
            <a:r>
              <a:t>Requirements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71632" y="5486400"/>
            <a:ext cx="1755648" cy="274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71632" y="5504688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B7A8D"/>
                </a:solidFill>
                <a:latin typeface="Calibri"/>
              </a:defRPr>
            </a:pPr>
            <a:r>
              <a:t>Custom AI Solution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519672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08595"/>
                </a:solidFill>
                <a:latin typeface="Calibri"/>
              </a:defRPr>
            </a:pPr>
            <a:r>
              <a:t>© 2026 The Capital Markets Company. Capco Confidential.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82880"/>
            <a:ext cx="36576" cy="50292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SDLC Transformation with BA 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90A8"/>
                </a:solidFill>
                <a:latin typeface="Calibri"/>
              </a:defRPr>
            </a:pPr>
            <a:r>
              <a:t>Financial Services  •  Requirements Engineering  •  Custom AI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607088"/>
                </a:solidFill>
                <a:latin typeface="Calibri"/>
              </a:defRPr>
            </a:pPr>
            <a:r>
              <a:t>CAPCO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9601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810512"/>
            <a:ext cx="12191695" cy="18288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E84393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Reduction in</a:t>
            </a:r>
            <a:br/>
            <a:r>
              <a:t>manual 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695" y="960120"/>
            <a:ext cx="9144" cy="82296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455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F1B2D"/>
                </a:solidFill>
                <a:latin typeface="Calibri"/>
              </a:defRPr>
            </a:pPr>
            <a:r>
              <a:t>1.5x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495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Throughput</a:t>
            </a:r>
            <a:br/>
            <a:r>
              <a:t>increase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390" y="960120"/>
            <a:ext cx="9144" cy="82296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150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~19.5%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190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Total cost</a:t>
            </a:r>
            <a:br/>
            <a:r>
              <a:t>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3085" y="960120"/>
            <a:ext cx="9144" cy="82296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8845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984E3"/>
                </a:solidFill>
                <a:latin typeface="Calibri"/>
              </a:defRPr>
            </a:pPr>
            <a:r>
              <a:t>2 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1885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A8D"/>
                </a:solidFill>
                <a:latin typeface="Calibri"/>
              </a:defRPr>
            </a:pPr>
            <a:r>
              <a:t>Pilot to</a:t>
            </a:r>
            <a:br/>
            <a:r>
              <a:t>production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" y="1965960"/>
            <a:ext cx="274320" cy="274320"/>
          </a:xfrm>
          <a:prstGeom prst="ellipse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842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984248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84393"/>
                </a:solidFill>
                <a:latin typeface="Calibri"/>
              </a:defRPr>
            </a:pPr>
            <a:r>
              <a:t>PROBLEM &amp; COMPLICATIONS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50008"/>
            <a:ext cx="3474720" cy="27432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68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Requirements are the #1 bottleneck</a:t>
            </a:r>
            <a:r>
              <a:rPr sz="1000" b="0">
                <a:solidFill>
                  <a:srgbClr val="3A4556"/>
                </a:solidFill>
                <a:latin typeface="Calibri"/>
              </a:rPr>
              <a:t> in SDLC — 30% of tech projects delayed by specification gaps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64% of failed projects</a:t>
            </a:r>
            <a:r>
              <a:rPr sz="1000" b="0">
                <a:solidFill>
                  <a:srgbClr val="3A4556"/>
                </a:solidFill>
                <a:latin typeface="Calibri"/>
              </a:rPr>
              <a:t> trace root cause to errors in requirements gathering and design phases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Rework costs 15x more</a:t>
            </a:r>
            <a:r>
              <a:rPr sz="1000" b="0">
                <a:solidFill>
                  <a:srgbClr val="3A4556"/>
                </a:solidFill>
                <a:latin typeface="Calibri"/>
              </a:rPr>
              <a:t> when defects from requirements surface in testing or production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BAs spend most time on low-value tasks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formatting, consistency checks, and re-writing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No scalable alternative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off-the-shelf tools lack financial services domain and regulatory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1965960"/>
            <a:ext cx="9144" cy="393192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9" y="1965960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39" y="19842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1984248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F1B2D"/>
                </a:solidFill>
                <a:latin typeface="Calibri"/>
              </a:defRPr>
            </a:pPr>
            <a:r>
              <a:t>AI SOLUTION &amp;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39" y="2350008"/>
            <a:ext cx="3474720" cy="2743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39" y="2468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Automates generation</a:t>
            </a:r>
            <a:r>
              <a:rPr sz="1000" b="0">
                <a:solidFill>
                  <a:srgbClr val="3A4556"/>
                </a:solidFill>
                <a:latin typeface="Calibri"/>
              </a:rPr>
              <a:t> of epics, features, user stories, and test cases from high-level inputs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Custom-built AI</a:t>
            </a:r>
            <a:r>
              <a:rPr sz="1000" b="0">
                <a:solidFill>
                  <a:srgbClr val="3A4556"/>
                </a:solidFill>
                <a:latin typeface="Calibri"/>
              </a:rPr>
              <a:t> trained on 6 corpuses of regulatory and standards documents specific to client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Outputs conform to internal standards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templates, taxonomy, and acceptance criteria formats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Model &amp; tech agnostic architecture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swap underlying LLMs as capabilities evolve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Zero-disruption deployment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runs in parallel to existing pipelines; pilot in 2 weeks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0999" y="1965960"/>
            <a:ext cx="9144" cy="393192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2438" y="1965960"/>
            <a:ext cx="274320" cy="27432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38" y="19842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8" y="1984248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984E3"/>
                </a:solidFill>
                <a:latin typeface="Calibri"/>
              </a:defRPr>
            </a:pPr>
            <a:r>
              <a:t>IMPACT &amp;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38" y="2350008"/>
            <a:ext cx="347472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38" y="2468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Up to 45% reduction</a:t>
            </a:r>
            <a:r>
              <a:rPr sz="1000" b="0">
                <a:solidFill>
                  <a:srgbClr val="3A4556"/>
                </a:solidFill>
                <a:latin typeface="Calibri"/>
              </a:rPr>
              <a:t> in manual effort for requirements authoring across the team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1.5x throughput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more complete, higher-quality requirements delivered in less time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Accuracy, completeness, consistency</a:t>
            </a:r>
            <a:r>
              <a:rPr sz="1000" b="0">
                <a:solidFill>
                  <a:srgbClr val="3A4556"/>
                </a:solidFill>
                <a:latin typeface="Calibri"/>
              </a:rPr>
              <a:t> improved from first draft — less review cycles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BAs shift to high-value work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stakeholder engagement, edge-case analysis, strategy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0F1B2D"/>
                </a:solidFill>
                <a:latin typeface="Calibri"/>
              </a:rPr>
              <a:t>Sustainable &amp; scalable</a:t>
            </a:r>
            <a:r>
              <a:rPr sz="1000" b="0">
                <a:solidFill>
                  <a:srgbClr val="3A4556"/>
                </a:solidFill>
                <a:latin typeface="Calibri"/>
              </a:rPr>
              <a:t> — designed for growing teams; full pilot-to-production in 7 weeks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080760"/>
            <a:ext cx="12191695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6190488"/>
            <a:ext cx="73152" cy="73152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4476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892A6"/>
                </a:solidFill>
                <a:latin typeface="Calibri"/>
              </a:defRPr>
            </a:pPr>
            <a:r>
              <a:t>Confidential — Capco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14476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892A6"/>
                </a:solidFill>
                <a:latin typeface="Calibri"/>
              </a:defRPr>
            </a:pPr>
            <a:r>
              <a:t>BA Genie  •  SDLC / Engineering  •  Financial Services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6519672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08595"/>
                </a:solidFill>
                <a:latin typeface="Calibri"/>
              </a:defRPr>
            </a:pPr>
            <a:r>
              <a:t>© 2026 The Capital Markets Company. Capco Confidential.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4572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457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4572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B0B8C4"/>
                </a:solidFill>
                <a:latin typeface="Calibri"/>
              </a:defRPr>
            </a:pPr>
            <a:r>
              <a:t>CAPCO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4A6A80"/>
                </a:solidFill>
                <a:latin typeface="Calibri"/>
              </a:defRPr>
            </a:pPr>
            <a:r>
              <a:t>●  [TEAM / LAB]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5A7A96"/>
                </a:solidFill>
                <a:latin typeface="Calibri"/>
              </a:defRPr>
            </a:pPr>
            <a:r>
              <a:t>[Solution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7A96"/>
                </a:solidFill>
                <a:latin typeface="Calibri"/>
              </a:defRPr>
            </a:pPr>
            <a:r>
              <a:t>[One sentence describing what this solution does and who it serves. Keep it concise and executive-ready.]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892A6"/>
                </a:solidFill>
                <a:latin typeface="Calibri"/>
              </a:defRPr>
            </a:pPr>
            <a:r>
              <a:t>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0312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B0B8C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5915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[One sentence on the core business problem]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200400"/>
            <a:ext cx="365760" cy="36576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0040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B0B8C4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5643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[One sentence on what the AI solution does]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297680"/>
            <a:ext cx="365760" cy="36576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2976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B0B8C4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5371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[Key metrics and qualitative outcomes]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486400"/>
            <a:ext cx="1097280" cy="274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50468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0B8C4"/>
                </a:solidFill>
                <a:latin typeface="Calibri"/>
              </a:defRPr>
            </a:pPr>
            <a:r>
              <a:t>[Industry]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5486400"/>
            <a:ext cx="932688" cy="274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504688"/>
            <a:ext cx="9326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0B8C4"/>
                </a:solidFill>
                <a:latin typeface="Calibri"/>
              </a:defRPr>
            </a:pPr>
            <a:r>
              <a:t>[Domain]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5486400"/>
            <a:ext cx="1508760" cy="274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96528" y="5504688"/>
            <a:ext cx="1508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B0B8C4"/>
                </a:solidFill>
                <a:latin typeface="Calibri"/>
              </a:defRPr>
            </a:pPr>
            <a:r>
              <a:t>[Solution Type]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519672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08595"/>
                </a:solidFill>
                <a:latin typeface="Calibri"/>
              </a:defRPr>
            </a:pPr>
            <a:r>
              <a:t>© 2026 The Capital Markets Company. Capco Confidential.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82880"/>
            <a:ext cx="36576" cy="50292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607088"/>
                </a:solidFill>
                <a:latin typeface="Calibri"/>
              </a:defRPr>
            </a:pPr>
            <a:r>
              <a:t>[Solution Title with Solution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06078"/>
                </a:solidFill>
                <a:latin typeface="Calibri"/>
              </a:defRPr>
            </a:pPr>
            <a:r>
              <a:t>[Industry]  •  [Domain]  •  [Solution Type]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1">
                <a:solidFill>
                  <a:srgbClr val="607088"/>
                </a:solidFill>
                <a:latin typeface="Calibri"/>
              </a:defRPr>
            </a:pPr>
            <a:r>
              <a:t>CAPCO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9601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810512"/>
            <a:ext cx="12191695" cy="18288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B0B8C4"/>
                </a:solidFill>
                <a:latin typeface="Calibri"/>
              </a:defRPr>
            </a:pPr>
            <a:r>
              <a:t>[XX%]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[Primary</a:t>
            </a:r>
            <a:br/>
            <a:r>
              <a:t>metric]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695" y="960120"/>
            <a:ext cx="9144" cy="82296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455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B0B8C4"/>
                </a:solidFill>
                <a:latin typeface="Calibri"/>
              </a:defRPr>
            </a:pPr>
            <a:r>
              <a:t>[X.Xx]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495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[Throughput</a:t>
            </a:r>
            <a:br/>
            <a:r>
              <a:t>or speed]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390" y="960120"/>
            <a:ext cx="9144" cy="82296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150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B0B8C4"/>
                </a:solidFill>
                <a:latin typeface="Calibri"/>
              </a:defRPr>
            </a:pPr>
            <a:r>
              <a:t>[~XX%]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190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[Cost or</a:t>
            </a:r>
            <a:br/>
            <a:r>
              <a:t>efficiency]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3085" y="960120"/>
            <a:ext cx="9144" cy="82296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8845" y="98755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B0B8C4"/>
                </a:solidFill>
                <a:latin typeface="Calibri"/>
              </a:defRPr>
            </a:pPr>
            <a:r>
              <a:t>[X wk]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1885" y="102412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B8C4"/>
                </a:solidFill>
                <a:latin typeface="Calibri"/>
              </a:defRPr>
            </a:pPr>
            <a:r>
              <a:t>[Time to</a:t>
            </a:r>
            <a:br/>
            <a:r>
              <a:t>value]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" y="1965960"/>
            <a:ext cx="274320" cy="274320"/>
          </a:xfrm>
          <a:prstGeom prst="ellipse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842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984248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84393"/>
                </a:solidFill>
                <a:latin typeface="Calibri"/>
              </a:defRPr>
            </a:pPr>
            <a:r>
              <a:t>PROBLEM &amp; COMPLICATIONS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50008"/>
            <a:ext cx="3474720" cy="27432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68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[Core problem]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what is the business context and what process is affected?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[Quantified pain]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what does this cost in time, money, or quality?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[Compounding effect]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what makes this problem worse over time?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[Barrier to solving]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why hasn't this been solved already?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E8439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[Cost of inaction]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what happens if nothing changes?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1965960"/>
            <a:ext cx="9144" cy="393192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9" y="1965960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39" y="19842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1984248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F1B2D"/>
                </a:solidFill>
                <a:latin typeface="Calibri"/>
              </a:defRPr>
            </a:pPr>
            <a:r>
              <a:t>AI SOLUTION &amp;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39" y="2350008"/>
            <a:ext cx="3474720" cy="2743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39" y="2468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[What it does]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describe the solution at a high level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[Key capability #1]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most important feature or function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[Key capability #2]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how it integrates or deploys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[Differentiation]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what makes this better than alternatives?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[Deployment model]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how quickly can it go live?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0999" y="1965960"/>
            <a:ext cx="9144" cy="3931920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2438" y="1965960"/>
            <a:ext cx="274320" cy="27432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38" y="19842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8" y="1984248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984E3"/>
                </a:solidFill>
                <a:latin typeface="Calibri"/>
              </a:defRPr>
            </a:pPr>
            <a:r>
              <a:t>IMPACT &amp;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38" y="2350008"/>
            <a:ext cx="347472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38" y="2468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[Primary metric]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e.g., % reduction in effort, cost, or time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[Secondary metric]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e.g., throughput increase, error reduction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[Quality improvement]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e.g., accuracy, consistency, compliance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[Workforce impact]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how does this change how people work?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 b="1">
                <a:solidFill>
                  <a:srgbClr val="0984E3"/>
                </a:solidFill>
                <a:latin typeface="Calibri"/>
              </a:rPr>
              <a:t>•  </a:t>
            </a:r>
            <a:r>
              <a:rPr sz="1000" b="1">
                <a:solidFill>
                  <a:srgbClr val="8892A6"/>
                </a:solidFill>
                <a:latin typeface="Calibri"/>
              </a:rPr>
              <a:t>[Scalability]</a:t>
            </a:r>
            <a:r>
              <a:rPr sz="1000" b="0">
                <a:solidFill>
                  <a:srgbClr val="8892A6"/>
                </a:solidFill>
                <a:latin typeface="Calibri"/>
              </a:rPr>
              <a:t> — what does this unlock at enterprise level?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080760"/>
            <a:ext cx="12191695" cy="9144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6190488"/>
            <a:ext cx="73152" cy="73152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4476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892A6"/>
                </a:solidFill>
                <a:latin typeface="Calibri"/>
              </a:defRPr>
            </a:pPr>
            <a:r>
              <a:t>Confidential — Capco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14476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0B8C4"/>
                </a:solidFill>
                <a:latin typeface="Calibri"/>
              </a:defRPr>
            </a:pPr>
            <a:r>
              <a:t>[Solution Name]  •  [Domain]  •  [Industry]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6519672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08595"/>
                </a:solidFill>
                <a:latin typeface="Calibri"/>
              </a:defRPr>
            </a:pPr>
            <a:r>
              <a:t>© 2026 The Capital Markets Company. Capco Confidential.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